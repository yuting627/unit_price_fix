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2.xml" ContentType="application/vnd.openxmlformats-officedocument.theme+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theme/themeOverride13.xml" ContentType="application/vnd.openxmlformats-officedocument.themeOverride+xml"/>
  <Override PartName="/ppt/notesSlides/notesSlide13.xml" ContentType="application/vnd.openxmlformats-officedocument.presentationml.notesSlide+xml"/>
  <Override PartName="/ppt/theme/themeOverride14.xml" ContentType="application/vnd.openxmlformats-officedocument.themeOverride+xml"/>
  <Override PartName="/ppt/notesSlides/notesSlide14.xml" ContentType="application/vnd.openxmlformats-officedocument.presentationml.notesSlide+xml"/>
  <Override PartName="/ppt/theme/themeOverride15.xml" ContentType="application/vnd.openxmlformats-officedocument.themeOverride+xml"/>
  <Override PartName="/ppt/notesSlides/notesSlide15.xml" ContentType="application/vnd.openxmlformats-officedocument.presentationml.notesSlide+xml"/>
  <Override PartName="/ppt/theme/themeOverride16.xml" ContentType="application/vnd.openxmlformats-officedocument.themeOverride+xml"/>
  <Override PartName="/ppt/notesSlides/notesSlide16.xml" ContentType="application/vnd.openxmlformats-officedocument.presentationml.notesSlide+xml"/>
  <Override PartName="/ppt/theme/themeOverride17.xml" ContentType="application/vnd.openxmlformats-officedocument.themeOverride+xml"/>
  <Override PartName="/ppt/notesSlides/notesSlide17.xml" ContentType="application/vnd.openxmlformats-officedocument.presentationml.notesSlide+xml"/>
  <Override PartName="/ppt/theme/themeOverride18.xml" ContentType="application/vnd.openxmlformats-officedocument.themeOverride+xml"/>
  <Override PartName="/ppt/notesSlides/notesSlide18.xml" ContentType="application/vnd.openxmlformats-officedocument.presentationml.notesSlide+xml"/>
  <Override PartName="/ppt/theme/themeOverride19.xml" ContentType="application/vnd.openxmlformats-officedocument.themeOverride+xml"/>
  <Override PartName="/ppt/notesSlides/notesSlide19.xml" ContentType="application/vnd.openxmlformats-officedocument.presentationml.notesSlide+xml"/>
  <Override PartName="/ppt/theme/themeOverride20.xml" ContentType="application/vnd.openxmlformats-officedocument.themeOverride+xml"/>
  <Override PartName="/ppt/notesSlides/notesSlide20.xml" ContentType="application/vnd.openxmlformats-officedocument.presentationml.notesSlide+xml"/>
  <Override PartName="/ppt/theme/themeOverride21.xml" ContentType="application/vnd.openxmlformats-officedocument.themeOverride+xml"/>
  <Override PartName="/ppt/notesSlides/notesSlide21.xml" ContentType="application/vnd.openxmlformats-officedocument.presentationml.notesSlide+xml"/>
  <Override PartName="/ppt/theme/themeOverride22.xml" ContentType="application/vnd.openxmlformats-officedocument.themeOverride+xml"/>
  <Override PartName="/ppt/notesSlides/notesSlide22.xml" ContentType="application/vnd.openxmlformats-officedocument.presentationml.notesSlide+xml"/>
  <Override PartName="/ppt/theme/themeOverride23.xml" ContentType="application/vnd.openxmlformats-officedocument.themeOverride+xml"/>
  <Override PartName="/ppt/notesSlides/notesSlide23.xml" ContentType="application/vnd.openxmlformats-officedocument.presentationml.notesSlide+xml"/>
  <Override PartName="/ppt/theme/themeOverride24.xml" ContentType="application/vnd.openxmlformats-officedocument.themeOverride+xml"/>
  <Override PartName="/ppt/notesSlides/notesSlide24.xml" ContentType="application/vnd.openxmlformats-officedocument.presentationml.notesSlide+xml"/>
  <Override PartName="/ppt/theme/themeOverride25.xml" ContentType="application/vnd.openxmlformats-officedocument.themeOverride+xml"/>
  <Override PartName="/ppt/notesSlides/notesSlide25.xml" ContentType="application/vnd.openxmlformats-officedocument.presentationml.notesSlide+xml"/>
  <Override PartName="/ppt/theme/themeOverride26.xml" ContentType="application/vnd.openxmlformats-officedocument.themeOverride+xml"/>
  <Override PartName="/ppt/notesSlides/notesSlide26.xml" ContentType="application/vnd.openxmlformats-officedocument.presentationml.notesSlide+xml"/>
  <Override PartName="/ppt/theme/themeOverride27.xml" ContentType="application/vnd.openxmlformats-officedocument.themeOverride+xml"/>
  <Override PartName="/ppt/notesSlides/notesSlide27.xml" ContentType="application/vnd.openxmlformats-officedocument.presentationml.notesSlide+xml"/>
  <Override PartName="/ppt/theme/themeOverride28.xml" ContentType="application/vnd.openxmlformats-officedocument.themeOverride+xml"/>
  <Override PartName="/ppt/notesSlides/notesSlide28.xml" ContentType="application/vnd.openxmlformats-officedocument.presentationml.notesSlide+xml"/>
  <Override PartName="/ppt/theme/themeOverride29.xml" ContentType="application/vnd.openxmlformats-officedocument.themeOverride+xml"/>
  <Override PartName="/ppt/notesSlides/notesSlide29.xml" ContentType="application/vnd.openxmlformats-officedocument.presentationml.notesSlide+xml"/>
  <Override PartName="/ppt/theme/themeOverride30.xml" ContentType="application/vnd.openxmlformats-officedocument.themeOverride+xml"/>
  <Override PartName="/ppt/notesSlides/notesSlide30.xml" ContentType="application/vnd.openxmlformats-officedocument.presentationml.notesSlide+xml"/>
  <Override PartName="/ppt/theme/themeOverride31.xml" ContentType="application/vnd.openxmlformats-officedocument.themeOverride+xml"/>
  <Override PartName="/ppt/notesSlides/notesSlide31.xml" ContentType="application/vnd.openxmlformats-officedocument.presentationml.notesSlide+xml"/>
  <Override PartName="/ppt/theme/themeOverride32.xml" ContentType="application/vnd.openxmlformats-officedocument.themeOverride+xml"/>
  <Override PartName="/ppt/notesSlides/notesSlide32.xml" ContentType="application/vnd.openxmlformats-officedocument.presentationml.notesSlide+xml"/>
  <Override PartName="/ppt/theme/themeOverride33.xml" ContentType="application/vnd.openxmlformats-officedocument.themeOverride+xml"/>
  <Override PartName="/ppt/notesSlides/notesSlide33.xml" ContentType="application/vnd.openxmlformats-officedocument.presentationml.notesSlide+xml"/>
  <Override PartName="/ppt/theme/themeOverride34.xml" ContentType="application/vnd.openxmlformats-officedocument.themeOverride+xml"/>
  <Override PartName="/ppt/notesSlides/notesSlide34.xml" ContentType="application/vnd.openxmlformats-officedocument.presentationml.notesSlide+xml"/>
  <Override PartName="/ppt/theme/themeOverride35.xml" ContentType="application/vnd.openxmlformats-officedocument.themeOverride+xml"/>
  <Override PartName="/ppt/notesSlides/notesSlide35.xml" ContentType="application/vnd.openxmlformats-officedocument.presentationml.notesSlide+xml"/>
  <Override PartName="/ppt/theme/themeOverride36.xml" ContentType="application/vnd.openxmlformats-officedocument.themeOverride+xml"/>
  <Override PartName="/ppt/notesSlides/notesSlide36.xml" ContentType="application/vnd.openxmlformats-officedocument.presentationml.notesSlide+xml"/>
  <Override PartName="/ppt/theme/themeOverride37.xml" ContentType="application/vnd.openxmlformats-officedocument.themeOverride+xml"/>
  <Override PartName="/ppt/notesSlides/notesSlide37.xml" ContentType="application/vnd.openxmlformats-officedocument.presentationml.notesSlide+xml"/>
  <Override PartName="/ppt/theme/themeOverride38.xml" ContentType="application/vnd.openxmlformats-officedocument.themeOverride+xml"/>
  <Override PartName="/ppt/notesSlides/notesSlide38.xml" ContentType="application/vnd.openxmlformats-officedocument.presentationml.notesSlide+xml"/>
  <Override PartName="/ppt/theme/themeOverride39.xml" ContentType="application/vnd.openxmlformats-officedocument.themeOverride+xml"/>
  <Override PartName="/ppt/notesSlides/notesSlide39.xml" ContentType="application/vnd.openxmlformats-officedocument.presentationml.notesSlide+xml"/>
  <Override PartName="/ppt/theme/themeOverride40.xml" ContentType="application/vnd.openxmlformats-officedocument.themeOverride+xml"/>
  <Override PartName="/ppt/notesSlides/notesSlide40.xml" ContentType="application/vnd.openxmlformats-officedocument.presentationml.notesSlide+xml"/>
  <Override PartName="/ppt/theme/themeOverride41.xml" ContentType="application/vnd.openxmlformats-officedocument.themeOverride+xml"/>
  <Override PartName="/ppt/notesSlides/notesSlide41.xml" ContentType="application/vnd.openxmlformats-officedocument.presentationml.notesSlide+xml"/>
  <Override PartName="/ppt/theme/themeOverride42.xml" ContentType="application/vnd.openxmlformats-officedocument.themeOverride+xml"/>
  <Override PartName="/ppt/notesSlides/notesSlide42.xml" ContentType="application/vnd.openxmlformats-officedocument.presentationml.notesSlide+xml"/>
  <Override PartName="/ppt/theme/themeOverride43.xml" ContentType="application/vnd.openxmlformats-officedocument.themeOverride+xml"/>
  <Override PartName="/ppt/notesSlides/notesSlide43.xml" ContentType="application/vnd.openxmlformats-officedocument.presentationml.notesSlide+xml"/>
  <Override PartName="/ppt/theme/themeOverride44.xml" ContentType="application/vnd.openxmlformats-officedocument.themeOverride+xml"/>
  <Override PartName="/ppt/notesSlides/notesSlide44.xml" ContentType="application/vnd.openxmlformats-officedocument.presentationml.notesSlide+xml"/>
  <Override PartName="/ppt/theme/themeOverride45.xml" ContentType="application/vnd.openxmlformats-officedocument.themeOverride+xml"/>
  <Override PartName="/ppt/notesSlides/notesSlide45.xml" ContentType="application/vnd.openxmlformats-officedocument.presentationml.notesSlide+xml"/>
  <Override PartName="/ppt/theme/themeOverride46.xml" ContentType="application/vnd.openxmlformats-officedocument.themeOverride+xml"/>
  <Override PartName="/ppt/notesSlides/notesSlide46.xml" ContentType="application/vnd.openxmlformats-officedocument.presentationml.notesSlide+xml"/>
  <Override PartName="/ppt/theme/themeOverride47.xml" ContentType="application/vnd.openxmlformats-officedocument.themeOverride+xml"/>
  <Override PartName="/ppt/notesSlides/notesSlide47.xml" ContentType="application/vnd.openxmlformats-officedocument.presentationml.notesSlide+xml"/>
  <Override PartName="/ppt/theme/themeOverride48.xml" ContentType="application/vnd.openxmlformats-officedocument.themeOverride+xml"/>
  <Override PartName="/ppt/notesSlides/notesSlide48.xml" ContentType="application/vnd.openxmlformats-officedocument.presentationml.notesSlide+xml"/>
  <Override PartName="/ppt/theme/themeOverride49.xml" ContentType="application/vnd.openxmlformats-officedocument.themeOverride+xml"/>
  <Override PartName="/ppt/notesSlides/notesSlide49.xml" ContentType="application/vnd.openxmlformats-officedocument.presentationml.notesSlide+xml"/>
  <Override PartName="/ppt/theme/themeOverride50.xml" ContentType="application/vnd.openxmlformats-officedocument.themeOverride+xml"/>
  <Override PartName="/ppt/notesSlides/notesSlide50.xml" ContentType="application/vnd.openxmlformats-officedocument.presentationml.notesSlide+xml"/>
  <Override PartName="/ppt/theme/themeOverride51.xml" ContentType="application/vnd.openxmlformats-officedocument.themeOverride+xml"/>
  <Override PartName="/ppt/notesSlides/notesSlide51.xml" ContentType="application/vnd.openxmlformats-officedocument.presentationml.notesSlide+xml"/>
  <Override PartName="/ppt/theme/themeOverride52.xml" ContentType="application/vnd.openxmlformats-officedocument.themeOverride+xml"/>
  <Override PartName="/ppt/notesSlides/notesSlide52.xml" ContentType="application/vnd.openxmlformats-officedocument.presentationml.notesSlide+xml"/>
  <Override PartName="/ppt/theme/themeOverride53.xml" ContentType="application/vnd.openxmlformats-officedocument.themeOverride+xml"/>
  <Override PartName="/ppt/notesSlides/notesSlide53.xml" ContentType="application/vnd.openxmlformats-officedocument.presentationml.notesSlide+xml"/>
  <Override PartName="/ppt/theme/themeOverride54.xml" ContentType="application/vnd.openxmlformats-officedocument.themeOverride+xml"/>
  <Override PartName="/ppt/notesSlides/notesSlide54.xml" ContentType="application/vnd.openxmlformats-officedocument.presentationml.notesSlide+xml"/>
  <Override PartName="/ppt/theme/themeOverride55.xml" ContentType="application/vnd.openxmlformats-officedocument.themeOverride+xml"/>
  <Override PartName="/ppt/notesSlides/notesSlide55.xml" ContentType="application/vnd.openxmlformats-officedocument.presentationml.notesSlide+xml"/>
  <Override PartName="/ppt/theme/themeOverride56.xml" ContentType="application/vnd.openxmlformats-officedocument.themeOverride+xml"/>
  <Override PartName="/ppt/notesSlides/notesSlide56.xml" ContentType="application/vnd.openxmlformats-officedocument.presentationml.notesSlide+xml"/>
  <Override PartName="/ppt/theme/themeOverride57.xml" ContentType="application/vnd.openxmlformats-officedocument.themeOverride+xml"/>
  <Override PartName="/ppt/notesSlides/notesSlide57.xml" ContentType="application/vnd.openxmlformats-officedocument.presentationml.notesSlide+xml"/>
  <Override PartName="/ppt/theme/themeOverride58.xml" ContentType="application/vnd.openxmlformats-officedocument.themeOverride+xml"/>
  <Override PartName="/ppt/notesSlides/notesSlide58.xml" ContentType="application/vnd.openxmlformats-officedocument.presentationml.notesSlide+xml"/>
  <Override PartName="/ppt/theme/themeOverride59.xml" ContentType="application/vnd.openxmlformats-officedocument.themeOverride+xml"/>
  <Override PartName="/ppt/notesSlides/notesSlide59.xml" ContentType="application/vnd.openxmlformats-officedocument.presentationml.notesSlide+xml"/>
  <Override PartName="/ppt/theme/themeOverride60.xml" ContentType="application/vnd.openxmlformats-officedocument.themeOverride+xml"/>
  <Override PartName="/ppt/notesSlides/notesSlide60.xml" ContentType="application/vnd.openxmlformats-officedocument.presentationml.notesSlide+xml"/>
  <Override PartName="/ppt/theme/themeOverride61.xml" ContentType="application/vnd.openxmlformats-officedocument.themeOverride+xml"/>
  <Override PartName="/ppt/notesSlides/notesSlide61.xml" ContentType="application/vnd.openxmlformats-officedocument.presentationml.notesSlide+xml"/>
  <Override PartName="/ppt/theme/themeOverride62.xml" ContentType="application/vnd.openxmlformats-officedocument.themeOverride+xml"/>
  <Override PartName="/ppt/notesSlides/notesSlide62.xml" ContentType="application/vnd.openxmlformats-officedocument.presentationml.notesSlide+xml"/>
  <Override PartName="/ppt/theme/themeOverride63.xml" ContentType="application/vnd.openxmlformats-officedocument.themeOverride+xml"/>
  <Override PartName="/ppt/notesSlides/notesSlide63.xml" ContentType="application/vnd.openxmlformats-officedocument.presentationml.notesSlide+xml"/>
  <Override PartName="/ppt/theme/themeOverride64.xml" ContentType="application/vnd.openxmlformats-officedocument.themeOverride+xml"/>
  <Override PartName="/ppt/notesSlides/notesSlide64.xml" ContentType="application/vnd.openxmlformats-officedocument.presentationml.notesSlide+xml"/>
  <Override PartName="/ppt/theme/themeOverride65.xml" ContentType="application/vnd.openxmlformats-officedocument.themeOverride+xml"/>
  <Override PartName="/ppt/notesSlides/notesSlide65.xml" ContentType="application/vnd.openxmlformats-officedocument.presentationml.notesSlide+xml"/>
  <Override PartName="/ppt/theme/themeOverride66.xml" ContentType="application/vnd.openxmlformats-officedocument.themeOverride+xml"/>
  <Override PartName="/ppt/notesSlides/notesSlide66.xml" ContentType="application/vnd.openxmlformats-officedocument.presentationml.notesSlide+xml"/>
  <Override PartName="/ppt/theme/themeOverride67.xml" ContentType="application/vnd.openxmlformats-officedocument.themeOverride+xml"/>
  <Override PartName="/ppt/notesSlides/notesSlide67.xml" ContentType="application/vnd.openxmlformats-officedocument.presentationml.notesSlide+xml"/>
  <Override PartName="/ppt/theme/themeOverride68.xml" ContentType="application/vnd.openxmlformats-officedocument.themeOverride+xml"/>
  <Override PartName="/ppt/notesSlides/notesSlide68.xml" ContentType="application/vnd.openxmlformats-officedocument.presentationml.notesSlide+xml"/>
  <Override PartName="/ppt/theme/themeOverride69.xml" ContentType="application/vnd.openxmlformats-officedocument.themeOverride+xml"/>
  <Override PartName="/ppt/notesSlides/notesSlide69.xml" ContentType="application/vnd.openxmlformats-officedocument.presentationml.notesSlide+xml"/>
  <Override PartName="/ppt/theme/themeOverride70.xml" ContentType="application/vnd.openxmlformats-officedocument.themeOverride+xml"/>
  <Override PartName="/ppt/notesSlides/notesSlide70.xml" ContentType="application/vnd.openxmlformats-officedocument.presentationml.notesSlide+xml"/>
  <Override PartName="/ppt/theme/themeOverride71.xml" ContentType="application/vnd.openxmlformats-officedocument.themeOverride+xml"/>
  <Override PartName="/ppt/notesSlides/notesSlide71.xml" ContentType="application/vnd.openxmlformats-officedocument.presentationml.notesSlide+xml"/>
  <Override PartName="/ppt/theme/themeOverride72.xml" ContentType="application/vnd.openxmlformats-officedocument.themeOverride+xml"/>
  <Override PartName="/ppt/notesSlides/notesSlide72.xml" ContentType="application/vnd.openxmlformats-officedocument.presentationml.notesSlide+xml"/>
  <Override PartName="/ppt/theme/themeOverride73.xml" ContentType="application/vnd.openxmlformats-officedocument.themeOverride+xml"/>
  <Override PartName="/ppt/notesSlides/notesSlide73.xml" ContentType="application/vnd.openxmlformats-officedocument.presentationml.notesSlide+xml"/>
  <Override PartName="/ppt/theme/themeOverride74.xml" ContentType="application/vnd.openxmlformats-officedocument.themeOverride+xml"/>
  <Override PartName="/ppt/notesSlides/notesSlide74.xml" ContentType="application/vnd.openxmlformats-officedocument.presentationml.notesSlide+xml"/>
  <Override PartName="/ppt/theme/themeOverride75.xml" ContentType="application/vnd.openxmlformats-officedocument.themeOverride+xml"/>
  <Override PartName="/ppt/notesSlides/notesSlide75.xml" ContentType="application/vnd.openxmlformats-officedocument.presentationml.notesSlide+xml"/>
  <Override PartName="/ppt/theme/themeOverride76.xml" ContentType="application/vnd.openxmlformats-officedocument.themeOverride+xml"/>
  <Override PartName="/ppt/notesSlides/notesSlide76.xml" ContentType="application/vnd.openxmlformats-officedocument.presentationml.notesSlide+xml"/>
  <Override PartName="/ppt/theme/themeOverride77.xml" ContentType="application/vnd.openxmlformats-officedocument.themeOverride+xml"/>
  <Override PartName="/ppt/notesSlides/notesSlide77.xml" ContentType="application/vnd.openxmlformats-officedocument.presentationml.notesSlide+xml"/>
  <Override PartName="/ppt/theme/themeOverride78.xml" ContentType="application/vnd.openxmlformats-officedocument.themeOverride+xml"/>
  <Override PartName="/ppt/notesSlides/notesSlide78.xml" ContentType="application/vnd.openxmlformats-officedocument.presentationml.notesSlide+xml"/>
  <Override PartName="/ppt/theme/themeOverride79.xml" ContentType="application/vnd.openxmlformats-officedocument.themeOverride+xml"/>
  <Override PartName="/ppt/notesSlides/notesSlide79.xml" ContentType="application/vnd.openxmlformats-officedocument.presentationml.notesSlide+xml"/>
  <Override PartName="/ppt/theme/themeOverride80.xml" ContentType="application/vnd.openxmlformats-officedocument.themeOverride+xml"/>
  <Override PartName="/ppt/notesSlides/notesSlide80.xml" ContentType="application/vnd.openxmlformats-officedocument.presentationml.notesSlide+xml"/>
  <Override PartName="/ppt/theme/themeOverride81.xml" ContentType="application/vnd.openxmlformats-officedocument.themeOverride+xml"/>
  <Override PartName="/ppt/notesSlides/notesSlide81.xml" ContentType="application/vnd.openxmlformats-officedocument.presentationml.notesSlide+xml"/>
  <Override PartName="/ppt/theme/themeOverride82.xml" ContentType="application/vnd.openxmlformats-officedocument.themeOverride+xml"/>
  <Override PartName="/ppt/notesSlides/notesSlide82.xml" ContentType="application/vnd.openxmlformats-officedocument.presentationml.notesSlide+xml"/>
  <Override PartName="/ppt/theme/themeOverride83.xml" ContentType="application/vnd.openxmlformats-officedocument.themeOverride+xml"/>
  <Override PartName="/ppt/notesSlides/notesSlide83.xml" ContentType="application/vnd.openxmlformats-officedocument.presentationml.notesSlide+xml"/>
  <Override PartName="/ppt/theme/themeOverride84.xml" ContentType="application/vnd.openxmlformats-officedocument.themeOverride+xml"/>
  <Override PartName="/ppt/notesSlides/notesSlide84.xml" ContentType="application/vnd.openxmlformats-officedocument.presentationml.notesSlide+xml"/>
  <Override PartName="/ppt/theme/themeOverride85.xml" ContentType="application/vnd.openxmlformats-officedocument.themeOverride+xml"/>
  <Override PartName="/ppt/notesSlides/notesSlide85.xml" ContentType="application/vnd.openxmlformats-officedocument.presentationml.notesSlide+xml"/>
  <Override PartName="/ppt/theme/themeOverride86.xml" ContentType="application/vnd.openxmlformats-officedocument.themeOverride+xml"/>
  <Override PartName="/ppt/notesSlides/notesSlide86.xml" ContentType="application/vnd.openxmlformats-officedocument.presentationml.notesSlide+xml"/>
  <Override PartName="/ppt/theme/themeOverride87.xml" ContentType="application/vnd.openxmlformats-officedocument.themeOverride+xml"/>
  <Override PartName="/ppt/notesSlides/notesSlide87.xml" ContentType="application/vnd.openxmlformats-officedocument.presentationml.notesSlide+xml"/>
  <Override PartName="/ppt/theme/themeOverride88.xml" ContentType="application/vnd.openxmlformats-officedocument.themeOverride+xml"/>
  <Override PartName="/ppt/theme/themeOverride89.xml" ContentType="application/vnd.openxmlformats-officedocument.themeOverride+xml"/>
  <Override PartName="/ppt/theme/themeOverride90.xml" ContentType="application/vnd.openxmlformats-officedocument.themeOverride+xml"/>
  <Override PartName="/ppt/theme/themeOverride91.xml" ContentType="application/vnd.openxmlformats-officedocument.themeOverride+xml"/>
  <Override PartName="/ppt/theme/themeOverride92.xml" ContentType="application/vnd.openxmlformats-officedocument.themeOverride+xml"/>
  <Override PartName="/ppt/theme/themeOverride93.xml" ContentType="application/vnd.openxmlformats-officedocument.themeOverride+xml"/>
  <Override PartName="/ppt/theme/themeOverride94.xml" ContentType="application/vnd.openxmlformats-officedocument.themeOverride+xml"/>
  <Override PartName="/ppt/notesSlides/notesSlide88.xml" ContentType="application/vnd.openxmlformats-officedocument.presentationml.notesSlide+xml"/>
  <Override PartName="/ppt/theme/themeOverride95.xml" ContentType="application/vnd.openxmlformats-officedocument.themeOverride+xml"/>
  <Override PartName="/ppt/notesSlides/notesSlide89.xml" ContentType="application/vnd.openxmlformats-officedocument.presentationml.notesSlide+xml"/>
  <Override PartName="/ppt/theme/themeOverride96.xml" ContentType="application/vnd.openxmlformats-officedocument.themeOverride+xml"/>
  <Override PartName="/ppt/notesSlides/notesSlide90.xml" ContentType="application/vnd.openxmlformats-officedocument.presentationml.notesSlide+xml"/>
  <Override PartName="/ppt/theme/themeOverride97.xml" ContentType="application/vnd.openxmlformats-officedocument.themeOverride+xml"/>
  <Override PartName="/ppt/notesSlides/notesSlide91.xml" ContentType="application/vnd.openxmlformats-officedocument.presentationml.notesSlide+xml"/>
  <Override PartName="/ppt/theme/themeOverride98.xml" ContentType="application/vnd.openxmlformats-officedocument.themeOverride+xml"/>
  <Override PartName="/ppt/notesSlides/notesSlide92.xml" ContentType="application/vnd.openxmlformats-officedocument.presentationml.notesSlide+xml"/>
  <Override PartName="/ppt/theme/themeOverride99.xml" ContentType="application/vnd.openxmlformats-officedocument.themeOverride+xml"/>
  <Override PartName="/ppt/notesSlides/notesSlide93.xml" ContentType="application/vnd.openxmlformats-officedocument.presentationml.notesSlide+xml"/>
  <Override PartName="/ppt/theme/themeOverride100.xml" ContentType="application/vnd.openxmlformats-officedocument.themeOverride+xml"/>
  <Override PartName="/ppt/notesSlides/notesSlide94.xml" ContentType="application/vnd.openxmlformats-officedocument.presentationml.notesSlide+xml"/>
  <Override PartName="/ppt/theme/themeOverride101.xml" ContentType="application/vnd.openxmlformats-officedocument.themeOverride+xml"/>
  <Override PartName="/ppt/notesSlides/notesSlide95.xml" ContentType="application/vnd.openxmlformats-officedocument.presentationml.notesSlide+xml"/>
  <Override PartName="/ppt/theme/themeOverride102.xml" ContentType="application/vnd.openxmlformats-officedocument.themeOverride+xml"/>
  <Override PartName="/ppt/notesSlides/notesSlide96.xml" ContentType="application/vnd.openxmlformats-officedocument.presentationml.notesSlide+xml"/>
  <Override PartName="/ppt/theme/themeOverride103.xml" ContentType="application/vnd.openxmlformats-officedocument.themeOverride+xml"/>
  <Override PartName="/ppt/notesSlides/notesSlide97.xml" ContentType="application/vnd.openxmlformats-officedocument.presentationml.notesSlide+xml"/>
  <Override PartName="/ppt/theme/themeOverride104.xml" ContentType="application/vnd.openxmlformats-officedocument.themeOverride+xml"/>
  <Override PartName="/ppt/notesSlides/notesSlide98.xml" ContentType="application/vnd.openxmlformats-officedocument.presentationml.notesSlide+xml"/>
  <Override PartName="/ppt/theme/themeOverride105.xml" ContentType="application/vnd.openxmlformats-officedocument.themeOverride+xml"/>
  <Override PartName="/ppt/notesSlides/notesSlide99.xml" ContentType="application/vnd.openxmlformats-officedocument.presentationml.notesSlide+xml"/>
  <Override PartName="/ppt/theme/themeOverride106.xml" ContentType="application/vnd.openxmlformats-officedocument.themeOverride+xml"/>
  <Override PartName="/ppt/notesSlides/notesSlide100.xml" ContentType="application/vnd.openxmlformats-officedocument.presentationml.notesSlide+xml"/>
  <Override PartName="/ppt/theme/themeOverride107.xml" ContentType="application/vnd.openxmlformats-officedocument.themeOverride+xml"/>
  <Override PartName="/ppt/notesSlides/notesSlide101.xml" ContentType="application/vnd.openxmlformats-officedocument.presentationml.notesSlide+xml"/>
  <Override PartName="/ppt/theme/themeOverride108.xml" ContentType="application/vnd.openxmlformats-officedocument.themeOverride+xml"/>
  <Override PartName="/ppt/notesSlides/notesSlide102.xml" ContentType="application/vnd.openxmlformats-officedocument.presentationml.notesSlide+xml"/>
  <Override PartName="/ppt/theme/themeOverride109.xml" ContentType="application/vnd.openxmlformats-officedocument.themeOverride+xml"/>
  <Override PartName="/ppt/notesSlides/notesSlide103.xml" ContentType="application/vnd.openxmlformats-officedocument.presentationml.notesSlide+xml"/>
  <Override PartName="/ppt/theme/themeOverride110.xml" ContentType="application/vnd.openxmlformats-officedocument.themeOverride+xml"/>
  <Override PartName="/ppt/notesSlides/notesSlide104.xml" ContentType="application/vnd.openxmlformats-officedocument.presentationml.notesSlide+xml"/>
  <Override PartName="/ppt/theme/themeOverride111.xml" ContentType="application/vnd.openxmlformats-officedocument.themeOverride+xml"/>
  <Override PartName="/ppt/notesSlides/notesSlide105.xml" ContentType="application/vnd.openxmlformats-officedocument.presentationml.notesSlide+xml"/>
  <Override PartName="/ppt/theme/themeOverride112.xml" ContentType="application/vnd.openxmlformats-officedocument.themeOverride+xml"/>
  <Override PartName="/ppt/notesSlides/notesSlide106.xml" ContentType="application/vnd.openxmlformats-officedocument.presentationml.notesSlide+xml"/>
  <Override PartName="/ppt/theme/themeOverride113.xml" ContentType="application/vnd.openxmlformats-officedocument.themeOverride+xml"/>
  <Override PartName="/ppt/notesSlides/notesSlide107.xml" ContentType="application/vnd.openxmlformats-officedocument.presentationml.notesSlide+xml"/>
  <Override PartName="/ppt/theme/themeOverride114.xml" ContentType="application/vnd.openxmlformats-officedocument.themeOverride+xml"/>
  <Override PartName="/ppt/notesSlides/notesSlide108.xml" ContentType="application/vnd.openxmlformats-officedocument.presentationml.notesSlide+xml"/>
  <Override PartName="/ppt/theme/themeOverride115.xml" ContentType="application/vnd.openxmlformats-officedocument.themeOverride+xml"/>
  <Override PartName="/ppt/notesSlides/notesSlide109.xml" ContentType="application/vnd.openxmlformats-officedocument.presentationml.notesSlide+xml"/>
  <Override PartName="/ppt/theme/themeOverride116.xml" ContentType="application/vnd.openxmlformats-officedocument.themeOverride+xml"/>
  <Override PartName="/ppt/notesSlides/notesSlide110.xml" ContentType="application/vnd.openxmlformats-officedocument.presentationml.notesSlide+xml"/>
  <Override PartName="/ppt/theme/themeOverride117.xml" ContentType="application/vnd.openxmlformats-officedocument.themeOverride+xml"/>
  <Override PartName="/ppt/notesSlides/notesSlide111.xml" ContentType="application/vnd.openxmlformats-officedocument.presentationml.notesSlide+xml"/>
  <Override PartName="/ppt/theme/themeOverride118.xml" ContentType="application/vnd.openxmlformats-officedocument.themeOverride+xml"/>
  <Override PartName="/ppt/notesSlides/notesSlide112.xml" ContentType="application/vnd.openxmlformats-officedocument.presentationml.notesSlide+xml"/>
  <Override PartName="/ppt/theme/themeOverride119.xml" ContentType="application/vnd.openxmlformats-officedocument.themeOverride+xml"/>
  <Override PartName="/ppt/notesSlides/notesSlide113.xml" ContentType="application/vnd.openxmlformats-officedocument.presentationml.notesSlide+xml"/>
  <Override PartName="/ppt/theme/themeOverride120.xml" ContentType="application/vnd.openxmlformats-officedocument.themeOverride+xml"/>
  <Override PartName="/ppt/notesSlides/notesSlide114.xml" ContentType="application/vnd.openxmlformats-officedocument.presentationml.notesSlide+xml"/>
  <Override PartName="/ppt/theme/themeOverride121.xml" ContentType="application/vnd.openxmlformats-officedocument.themeOverride+xml"/>
  <Override PartName="/ppt/notesSlides/notesSlide115.xml" ContentType="application/vnd.openxmlformats-officedocument.presentationml.notesSlide+xml"/>
  <Override PartName="/ppt/theme/themeOverride122.xml" ContentType="application/vnd.openxmlformats-officedocument.themeOverride+xml"/>
  <Override PartName="/ppt/notesSlides/notesSlide116.xml" ContentType="application/vnd.openxmlformats-officedocument.presentationml.notesSlide+xml"/>
  <Override PartName="/ppt/theme/themeOverride123.xml" ContentType="application/vnd.openxmlformats-officedocument.themeOverride+xml"/>
  <Override PartName="/ppt/notesSlides/notesSlide117.xml" ContentType="application/vnd.openxmlformats-officedocument.presentationml.notesSlide+xml"/>
  <Override PartName="/ppt/theme/themeOverride124.xml" ContentType="application/vnd.openxmlformats-officedocument.themeOverride+xml"/>
  <Override PartName="/ppt/notesSlides/notesSlide118.xml" ContentType="application/vnd.openxmlformats-officedocument.presentationml.notesSlide+xml"/>
  <Override PartName="/ppt/theme/themeOverride125.xml" ContentType="application/vnd.openxmlformats-officedocument.themeOverride+xml"/>
  <Override PartName="/ppt/notesSlides/notesSlide119.xml" ContentType="application/vnd.openxmlformats-officedocument.presentationml.notesSlide+xml"/>
  <Override PartName="/ppt/theme/themeOverride126.xml" ContentType="application/vnd.openxmlformats-officedocument.themeOverride+xml"/>
  <Override PartName="/ppt/notesSlides/notesSlide120.xml" ContentType="application/vnd.openxmlformats-officedocument.presentationml.notesSlide+xml"/>
  <Override PartName="/ppt/theme/themeOverride127.xml" ContentType="application/vnd.openxmlformats-officedocument.themeOverride+xml"/>
  <Override PartName="/ppt/notesSlides/notesSlide121.xml" ContentType="application/vnd.openxmlformats-officedocument.presentationml.notesSlide+xml"/>
  <Override PartName="/ppt/theme/themeOverride128.xml" ContentType="application/vnd.openxmlformats-officedocument.themeOverride+xml"/>
  <Override PartName="/ppt/notesSlides/notesSlide122.xml" ContentType="application/vnd.openxmlformats-officedocument.presentationml.notesSlide+xml"/>
  <Override PartName="/ppt/theme/themeOverride129.xml" ContentType="application/vnd.openxmlformats-officedocument.themeOverride+xml"/>
  <Override PartName="/ppt/notesSlides/notesSlide123.xml" ContentType="application/vnd.openxmlformats-officedocument.presentationml.notesSlide+xml"/>
  <Override PartName="/ppt/theme/themeOverride130.xml" ContentType="application/vnd.openxmlformats-officedocument.themeOverride+xml"/>
  <Override PartName="/ppt/notesSlides/notesSlide124.xml" ContentType="application/vnd.openxmlformats-officedocument.presentationml.notesSlide+xml"/>
  <Override PartName="/ppt/theme/themeOverride131.xml" ContentType="application/vnd.openxmlformats-officedocument.themeOverride+xml"/>
  <Override PartName="/ppt/notesSlides/notesSlide125.xml" ContentType="application/vnd.openxmlformats-officedocument.presentationml.notesSlide+xml"/>
  <Override PartName="/ppt/theme/themeOverride132.xml" ContentType="application/vnd.openxmlformats-officedocument.themeOverride+xml"/>
  <Override PartName="/ppt/notesSlides/notesSlide126.xml" ContentType="application/vnd.openxmlformats-officedocument.presentationml.notesSlide+xml"/>
  <Override PartName="/ppt/theme/themeOverride133.xml" ContentType="application/vnd.openxmlformats-officedocument.themeOverride+xml"/>
  <Override PartName="/ppt/notesSlides/notesSlide127.xml" ContentType="application/vnd.openxmlformats-officedocument.presentationml.notesSlide+xml"/>
  <Override PartName="/ppt/theme/themeOverride134.xml" ContentType="application/vnd.openxmlformats-officedocument.themeOverride+xml"/>
  <Override PartName="/ppt/notesSlides/notesSlide128.xml" ContentType="application/vnd.openxmlformats-officedocument.presentationml.notesSlide+xml"/>
  <Override PartName="/ppt/theme/themeOverride135.xml" ContentType="application/vnd.openxmlformats-officedocument.themeOverride+xml"/>
  <Override PartName="/ppt/notesSlides/notesSlide129.xml" ContentType="application/vnd.openxmlformats-officedocument.presentationml.notesSlide+xml"/>
  <Override PartName="/ppt/theme/themeOverride136.xml" ContentType="application/vnd.openxmlformats-officedocument.themeOverride+xml"/>
  <Override PartName="/ppt/notesSlides/notesSlide130.xml" ContentType="application/vnd.openxmlformats-officedocument.presentationml.notesSlide+xml"/>
  <Override PartName="/ppt/theme/themeOverride137.xml" ContentType="application/vnd.openxmlformats-officedocument.themeOverride+xml"/>
  <Override PartName="/ppt/notesSlides/notesSlide131.xml" ContentType="application/vnd.openxmlformats-officedocument.presentationml.notesSlide+xml"/>
  <Override PartName="/ppt/theme/themeOverride138.xml" ContentType="application/vnd.openxmlformats-officedocument.themeOverride+xml"/>
  <Override PartName="/ppt/notesSlides/notesSlide132.xml" ContentType="application/vnd.openxmlformats-officedocument.presentationml.notesSlide+xml"/>
  <Override PartName="/ppt/theme/themeOverride139.xml" ContentType="application/vnd.openxmlformats-officedocument.themeOverride+xml"/>
  <Override PartName="/ppt/notesSlides/notesSlide133.xml" ContentType="application/vnd.openxmlformats-officedocument.presentationml.notesSlide+xml"/>
  <Override PartName="/ppt/theme/themeOverride140.xml" ContentType="application/vnd.openxmlformats-officedocument.themeOverride+xml"/>
  <Override PartName="/ppt/notesSlides/notesSlide134.xml" ContentType="application/vnd.openxmlformats-officedocument.presentationml.notesSlide+xml"/>
  <Override PartName="/ppt/theme/themeOverride141.xml" ContentType="application/vnd.openxmlformats-officedocument.themeOverride+xml"/>
  <Override PartName="/ppt/notesSlides/notesSlide135.xml" ContentType="application/vnd.openxmlformats-officedocument.presentationml.notesSlide+xml"/>
  <Override PartName="/ppt/theme/themeOverride142.xml" ContentType="application/vnd.openxmlformats-officedocument.themeOverride+xml"/>
  <Override PartName="/ppt/notesSlides/notesSlide136.xml" ContentType="application/vnd.openxmlformats-officedocument.presentationml.notesSlide+xml"/>
  <Override PartName="/ppt/theme/themeOverride143.xml" ContentType="application/vnd.openxmlformats-officedocument.themeOverride+xml"/>
  <Override PartName="/ppt/notesSlides/notesSlide137.xml" ContentType="application/vnd.openxmlformats-officedocument.presentationml.notesSlide+xml"/>
  <Override PartName="/ppt/theme/themeOverride144.xml" ContentType="application/vnd.openxmlformats-officedocument.themeOverride+xml"/>
  <Override PartName="/ppt/notesSlides/notesSlide138.xml" ContentType="application/vnd.openxmlformats-officedocument.presentationml.notesSlide+xml"/>
  <Override PartName="/ppt/theme/themeOverride145.xml" ContentType="application/vnd.openxmlformats-officedocument.themeOverride+xml"/>
  <Override PartName="/ppt/notesSlides/notesSlide139.xml" ContentType="application/vnd.openxmlformats-officedocument.presentationml.notesSlide+xml"/>
  <Override PartName="/ppt/theme/themeOverride146.xml" ContentType="application/vnd.openxmlformats-officedocument.themeOverride+xml"/>
  <Override PartName="/ppt/notesSlides/notesSlide14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46" r:id="rId4"/>
    <p:sldMasterId id="2147483748" r:id="rId5"/>
    <p:sldMasterId id="2147483769" r:id="rId6"/>
  </p:sldMasterIdLst>
  <p:notesMasterIdLst>
    <p:notesMasterId r:id="rId154"/>
  </p:notesMasterIdLst>
  <p:sldIdLst>
    <p:sldId id="259" r:id="rId7"/>
    <p:sldId id="403" r:id="rId8"/>
    <p:sldId id="257" r:id="rId9"/>
    <p:sldId id="258"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360" r:id="rId38"/>
    <p:sldId id="361" r:id="rId39"/>
    <p:sldId id="362" r:id="rId40"/>
    <p:sldId id="363" r:id="rId41"/>
    <p:sldId id="364" r:id="rId42"/>
    <p:sldId id="365" r:id="rId43"/>
    <p:sldId id="366" r:id="rId44"/>
    <p:sldId id="367" r:id="rId45"/>
    <p:sldId id="368" r:id="rId46"/>
    <p:sldId id="369" r:id="rId47"/>
    <p:sldId id="370" r:id="rId48"/>
    <p:sldId id="371" r:id="rId49"/>
    <p:sldId id="372" r:id="rId50"/>
    <p:sldId id="373" r:id="rId51"/>
    <p:sldId id="374" r:id="rId52"/>
    <p:sldId id="375" r:id="rId53"/>
    <p:sldId id="376" r:id="rId54"/>
    <p:sldId id="377" r:id="rId55"/>
    <p:sldId id="378" r:id="rId56"/>
    <p:sldId id="379" r:id="rId57"/>
    <p:sldId id="380" r:id="rId58"/>
    <p:sldId id="381" r:id="rId59"/>
    <p:sldId id="401" r:id="rId60"/>
    <p:sldId id="402" r:id="rId61"/>
    <p:sldId id="382" r:id="rId62"/>
    <p:sldId id="383" r:id="rId63"/>
    <p:sldId id="384" r:id="rId64"/>
    <p:sldId id="385" r:id="rId65"/>
    <p:sldId id="287" r:id="rId66"/>
    <p:sldId id="288" r:id="rId67"/>
    <p:sldId id="289" r:id="rId68"/>
    <p:sldId id="290" r:id="rId69"/>
    <p:sldId id="291" r:id="rId70"/>
    <p:sldId id="292" r:id="rId71"/>
    <p:sldId id="293" r:id="rId72"/>
    <p:sldId id="294" r:id="rId73"/>
    <p:sldId id="295" r:id="rId74"/>
    <p:sldId id="296" r:id="rId75"/>
    <p:sldId id="297" r:id="rId76"/>
    <p:sldId id="298" r:id="rId77"/>
    <p:sldId id="299" r:id="rId78"/>
    <p:sldId id="300" r:id="rId79"/>
    <p:sldId id="301" r:id="rId80"/>
    <p:sldId id="302" r:id="rId81"/>
    <p:sldId id="400" r:id="rId82"/>
    <p:sldId id="303" r:id="rId83"/>
    <p:sldId id="304" r:id="rId84"/>
    <p:sldId id="305" r:id="rId85"/>
    <p:sldId id="306" r:id="rId86"/>
    <p:sldId id="307" r:id="rId87"/>
    <p:sldId id="308" r:id="rId88"/>
    <p:sldId id="309" r:id="rId89"/>
    <p:sldId id="310" r:id="rId90"/>
    <p:sldId id="311" r:id="rId91"/>
    <p:sldId id="312" r:id="rId92"/>
    <p:sldId id="313" r:id="rId93"/>
    <p:sldId id="314" r:id="rId94"/>
    <p:sldId id="354" r:id="rId95"/>
    <p:sldId id="355" r:id="rId96"/>
    <p:sldId id="357" r:id="rId97"/>
    <p:sldId id="358" r:id="rId98"/>
    <p:sldId id="359" r:id="rId99"/>
    <p:sldId id="356" r:id="rId100"/>
    <p:sldId id="315" r:id="rId101"/>
    <p:sldId id="316" r:id="rId102"/>
    <p:sldId id="317" r:id="rId103"/>
    <p:sldId id="318" r:id="rId104"/>
    <p:sldId id="319" r:id="rId105"/>
    <p:sldId id="320" r:id="rId106"/>
    <p:sldId id="321" r:id="rId107"/>
    <p:sldId id="322" r:id="rId108"/>
    <p:sldId id="323" r:id="rId109"/>
    <p:sldId id="386" r:id="rId110"/>
    <p:sldId id="387" r:id="rId111"/>
    <p:sldId id="388" r:id="rId112"/>
    <p:sldId id="389" r:id="rId113"/>
    <p:sldId id="390" r:id="rId114"/>
    <p:sldId id="391" r:id="rId115"/>
    <p:sldId id="392" r:id="rId116"/>
    <p:sldId id="393" r:id="rId117"/>
    <p:sldId id="394" r:id="rId118"/>
    <p:sldId id="395" r:id="rId119"/>
    <p:sldId id="396" r:id="rId120"/>
    <p:sldId id="397" r:id="rId121"/>
    <p:sldId id="398" r:id="rId122"/>
    <p:sldId id="399" r:id="rId123"/>
    <p:sldId id="324" r:id="rId124"/>
    <p:sldId id="325" r:id="rId125"/>
    <p:sldId id="326" r:id="rId126"/>
    <p:sldId id="327" r:id="rId127"/>
    <p:sldId id="328" r:id="rId128"/>
    <p:sldId id="329" r:id="rId129"/>
    <p:sldId id="330" r:id="rId130"/>
    <p:sldId id="331" r:id="rId131"/>
    <p:sldId id="332" r:id="rId132"/>
    <p:sldId id="333" r:id="rId133"/>
    <p:sldId id="334" r:id="rId134"/>
    <p:sldId id="335" r:id="rId135"/>
    <p:sldId id="336" r:id="rId136"/>
    <p:sldId id="337" r:id="rId137"/>
    <p:sldId id="338" r:id="rId138"/>
    <p:sldId id="339" r:id="rId139"/>
    <p:sldId id="340" r:id="rId140"/>
    <p:sldId id="341" r:id="rId141"/>
    <p:sldId id="342" r:id="rId142"/>
    <p:sldId id="343" r:id="rId143"/>
    <p:sldId id="344" r:id="rId144"/>
    <p:sldId id="345" r:id="rId145"/>
    <p:sldId id="346" r:id="rId146"/>
    <p:sldId id="347" r:id="rId147"/>
    <p:sldId id="348" r:id="rId148"/>
    <p:sldId id="349" r:id="rId149"/>
    <p:sldId id="350" r:id="rId150"/>
    <p:sldId id="351" r:id="rId151"/>
    <p:sldId id="352" r:id="rId152"/>
    <p:sldId id="353" r:id="rId153"/>
  </p:sldIdLst>
  <p:sldSz cx="9144000" cy="5143500" type="screen16x9"/>
  <p:notesSz cx="6858000" cy="9144000"/>
  <p:embeddedFontLst>
    <p:embeddedFont>
      <p:font typeface="Archivo Narrow" panose="02000000000000000000" pitchFamily="50" charset="0"/>
      <p:regular r:id="rId155"/>
      <p:bold r:id="rId156"/>
      <p:italic r:id="rId157"/>
      <p:boldItalic r:id="rId158"/>
    </p:embeddedFont>
    <p:embeddedFont>
      <p:font typeface="Book Antiqua" panose="02040602050305030304" pitchFamily="18" charset="0"/>
      <p:regular r:id="rId159"/>
      <p:bold r:id="rId160"/>
      <p:italic r:id="rId161"/>
      <p:boldItalic r:id="rId162"/>
    </p:embeddedFont>
    <p:embeddedFont>
      <p:font typeface="Calibri" panose="020F0502020204030204" pitchFamily="34" charset="0"/>
      <p:regular r:id="rId163"/>
      <p:bold r:id="rId164"/>
      <p:italic r:id="rId165"/>
      <p:boldItalic r:id="rId166"/>
    </p:embeddedFont>
    <p:embeddedFont>
      <p:font typeface="Open Sans" panose="020B0606030504020204" pitchFamily="34" charset="0"/>
      <p:regular r:id="rId167"/>
      <p:bold r:id="rId168"/>
      <p:italic r:id="rId169"/>
      <p:boldItalic r:id="rId170"/>
    </p:embeddedFont>
    <p:embeddedFont>
      <p:font typeface="Roboto" panose="02000000000000000000" pitchFamily="2" charset="0"/>
      <p:regular r:id="rId171"/>
      <p:bold r:id="rId172"/>
      <p:italic r:id="rId173"/>
      <p:boldItalic r:id="rId174"/>
    </p:embeddedFont>
    <p:embeddedFont>
      <p:font typeface="Times" panose="02020603050405020304" pitchFamily="18" charset="0"/>
      <p:regular r:id="rId175"/>
      <p:bold r:id="rId176"/>
      <p:italic r:id="rId177"/>
      <p:boldItalic r:id="rId1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FD1773-D0EA-8C18-F5A9-ACEE1FE5B0E7}" v="59" dt="2023-02-15T07:01:14.953"/>
    <p1510:client id="{0A6955A9-2BAB-D808-1C86-FDA8E53DDBDF}" v="24" dt="2023-03-16T11:31:32.023"/>
    <p1510:client id="{0CA20847-0D1D-A048-F34E-9B530E873E17}" v="356" dt="2023-06-13T06:06:51.225"/>
    <p1510:client id="{10302134-27F1-B674-58DB-FFF0A4CA9153}" v="1" dt="2023-07-03T09:50:27.684"/>
    <p1510:client id="{36B09552-51DA-5A64-3104-47AE2FA44F7A}" v="2" dt="2023-03-16T07:46:51.601"/>
    <p1510:client id="{36F504D7-43F3-D976-9F67-409B5BAF1B79}" v="97" dt="2023-07-10T18:24:07.877"/>
    <p1510:client id="{3CEFE12F-32A9-AD2C-C794-32FCD6FE9C04}" v="7" dt="2023-03-02T13:27:30.529"/>
    <p1510:client id="{433A82C5-9EB7-A94E-739F-C2EDFFB779EC}" v="3" dt="2023-03-02T12:44:03.524"/>
    <p1510:client id="{581E0D86-814D-DB45-3D43-86525480FA5E}" v="1" dt="2023-06-12T14:55:53.292"/>
    <p1510:client id="{5F7BD21A-718D-2968-3D7D-5A87E74DC8F8}" v="92" dt="2023-02-22T11:38:06.310"/>
    <p1510:client id="{60FBF693-0A56-47E9-6836-22A637F4AE53}" v="123" dt="2023-07-14T04:39:54.964"/>
    <p1510:client id="{72851D60-83E1-2AF0-FD97-296FE12BBA0E}" v="2" dt="2023-07-05T07:30:49.743"/>
    <p1510:client id="{8B5A6E48-5966-3A7A-2FE9-4C04C687A200}" v="1" dt="2023-05-29T08:26:19.292"/>
    <p1510:client id="{8C107CF9-BA4E-2950-7409-59D59CE9F71F}" v="1295" dt="2023-02-15T05:03:04.542"/>
    <p1510:client id="{92014A2E-3B72-EC2A-9C98-70B36D31F83B}" v="76" dt="2023-05-31T08:20:59.817"/>
    <p1510:client id="{99BF02AF-6226-4157-F6FC-D51C1074215E}" v="2" dt="2023-06-15T14:33:03.299"/>
    <p1510:client id="{9EEBE0EB-295B-2775-BD43-75447DD439DA}" v="52" dt="2023-07-10T17:26:18.311"/>
    <p1510:client id="{C7AB86C2-CBBD-4116-6F2C-12D5A7B5B78D}" v="2" dt="2023-06-06T10:50:23.866"/>
    <p1510:client id="{D56D9623-DADE-54B0-8631-707287D4D4F2}" v="2" dt="2023-05-31T09:13:53.727"/>
    <p1510:client id="{DBF6B1A5-9A53-082C-F823-15D7D7BB97FC}" v="3" dt="2023-04-24T04:23:10.470"/>
    <p1510:client id="{E8573EF6-B739-0A33-9331-74D69AB0F52E}" v="6" dt="2023-05-30T08:43:49.559"/>
    <p1510:client id="{ECAC3CB7-E035-911E-2A32-32B74200F2B5}" v="3" dt="2023-06-16T11:30:56.260"/>
    <p1510:client id="{F9B09F72-4EFB-7D4C-008C-9C5BA562213B}" v="8" dt="2023-03-07T07:03:38.554"/>
  </p1510:revLst>
</p1510:revInfo>
</file>

<file path=ppt/tableStyles.xml><?xml version="1.0" encoding="utf-8"?>
<a:tblStyleLst xmlns:a="http://schemas.openxmlformats.org/drawingml/2006/main" def="{C70574C8-F969-49A7-8605-77D3504E23D5}">
  <a:tblStyle styleId="{C70574C8-F969-49A7-8605-77D3504E23D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A269C69B-ADA4-4E08-A26F-B0D481E544DB}" styleName="Table_1">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chemeClr val="accent6"/>
              </a:solidFill>
              <a:prstDash val="solid"/>
              <a:round/>
              <a:headEnd type="none" w="sm" len="sm"/>
              <a:tailEnd type="none" w="sm" len="sm"/>
            </a:ln>
          </a:top>
          <a:bottom>
            <a:ln w="12700" cap="flat" cmpd="sng">
              <a:solidFill>
                <a:schemeClr val="accent6"/>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6">
              <a:alpha val="20000"/>
            </a:schemeClr>
          </a:solidFill>
        </a:fill>
      </a:tcStyle>
    </a:band1H>
    <a:band2H>
      <a:tcTxStyle b="off" i="off"/>
      <a:tcStyle>
        <a:tcBdr/>
      </a:tcStyle>
    </a:band2H>
    <a:band1V>
      <a:tcTxStyle b="off" i="off"/>
      <a:tcStyle>
        <a:tcBdr/>
        <a:fill>
          <a:solidFill>
            <a:schemeClr val="accent6">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chemeClr val="accent6"/>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chemeClr val="accent6"/>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481650DD-5AA0-454B-87A4-94D10214C890}" styleName="Table_2">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114" y="46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1.xml"/><Relationship Id="rId21" Type="http://schemas.openxmlformats.org/officeDocument/2006/relationships/slide" Target="slides/slide15.xml"/><Relationship Id="rId42" Type="http://schemas.openxmlformats.org/officeDocument/2006/relationships/slide" Target="slides/slide36.xml"/><Relationship Id="rId63" Type="http://schemas.openxmlformats.org/officeDocument/2006/relationships/slide" Target="slides/slide57.xml"/><Relationship Id="rId84" Type="http://schemas.openxmlformats.org/officeDocument/2006/relationships/slide" Target="slides/slide78.xml"/><Relationship Id="rId138" Type="http://schemas.openxmlformats.org/officeDocument/2006/relationships/slide" Target="slides/slide132.xml"/><Relationship Id="rId159" Type="http://schemas.openxmlformats.org/officeDocument/2006/relationships/font" Target="fonts/font5.fntdata"/><Relationship Id="rId170" Type="http://schemas.openxmlformats.org/officeDocument/2006/relationships/font" Target="fonts/font16.fntdata"/><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53" Type="http://schemas.openxmlformats.org/officeDocument/2006/relationships/slide" Target="slides/slide47.xml"/><Relationship Id="rId74" Type="http://schemas.openxmlformats.org/officeDocument/2006/relationships/slide" Target="slides/slide68.xml"/><Relationship Id="rId128" Type="http://schemas.openxmlformats.org/officeDocument/2006/relationships/slide" Target="slides/slide122.xml"/><Relationship Id="rId149" Type="http://schemas.openxmlformats.org/officeDocument/2006/relationships/slide" Target="slides/slide143.xml"/><Relationship Id="rId5" Type="http://schemas.openxmlformats.org/officeDocument/2006/relationships/slideMaster" Target="slideMasters/slideMaster2.xml"/><Relationship Id="rId95" Type="http://schemas.openxmlformats.org/officeDocument/2006/relationships/slide" Target="slides/slide89.xml"/><Relationship Id="rId160" Type="http://schemas.openxmlformats.org/officeDocument/2006/relationships/font" Target="fonts/font6.fntdata"/><Relationship Id="rId181" Type="http://schemas.openxmlformats.org/officeDocument/2006/relationships/theme" Target="theme/theme1.xml"/><Relationship Id="rId22" Type="http://schemas.openxmlformats.org/officeDocument/2006/relationships/slide" Target="slides/slide16.xml"/><Relationship Id="rId43" Type="http://schemas.openxmlformats.org/officeDocument/2006/relationships/slide" Target="slides/slide37.xml"/><Relationship Id="rId64" Type="http://schemas.openxmlformats.org/officeDocument/2006/relationships/slide" Target="slides/slide58.xml"/><Relationship Id="rId118" Type="http://schemas.openxmlformats.org/officeDocument/2006/relationships/slide" Target="slides/slide112.xml"/><Relationship Id="rId139" Type="http://schemas.openxmlformats.org/officeDocument/2006/relationships/slide" Target="slides/slide133.xml"/><Relationship Id="rId85" Type="http://schemas.openxmlformats.org/officeDocument/2006/relationships/slide" Target="slides/slide79.xml"/><Relationship Id="rId150" Type="http://schemas.openxmlformats.org/officeDocument/2006/relationships/slide" Target="slides/slide144.xml"/><Relationship Id="rId171" Type="http://schemas.openxmlformats.org/officeDocument/2006/relationships/font" Target="fonts/font17.fntdata"/><Relationship Id="rId12" Type="http://schemas.openxmlformats.org/officeDocument/2006/relationships/slide" Target="slides/slide6.xml"/><Relationship Id="rId33" Type="http://schemas.openxmlformats.org/officeDocument/2006/relationships/slide" Target="slides/slide27.xml"/><Relationship Id="rId108" Type="http://schemas.openxmlformats.org/officeDocument/2006/relationships/slide" Target="slides/slide102.xml"/><Relationship Id="rId129" Type="http://schemas.openxmlformats.org/officeDocument/2006/relationships/slide" Target="slides/slide123.xml"/><Relationship Id="rId54" Type="http://schemas.openxmlformats.org/officeDocument/2006/relationships/slide" Target="slides/slide48.xml"/><Relationship Id="rId75" Type="http://schemas.openxmlformats.org/officeDocument/2006/relationships/slide" Target="slides/slide69.xml"/><Relationship Id="rId96" Type="http://schemas.openxmlformats.org/officeDocument/2006/relationships/slide" Target="slides/slide90.xml"/><Relationship Id="rId140" Type="http://schemas.openxmlformats.org/officeDocument/2006/relationships/slide" Target="slides/slide134.xml"/><Relationship Id="rId161" Type="http://schemas.openxmlformats.org/officeDocument/2006/relationships/font" Target="fonts/font7.fntdata"/><Relationship Id="rId182" Type="http://schemas.openxmlformats.org/officeDocument/2006/relationships/tableStyles" Target="tableStyles.xml"/><Relationship Id="rId6" Type="http://schemas.openxmlformats.org/officeDocument/2006/relationships/slideMaster" Target="slideMasters/slideMaster3.xml"/><Relationship Id="rId23" Type="http://schemas.openxmlformats.org/officeDocument/2006/relationships/slide" Target="slides/slide17.xml"/><Relationship Id="rId119" Type="http://schemas.openxmlformats.org/officeDocument/2006/relationships/slide" Target="slides/slide113.xml"/><Relationship Id="rId44" Type="http://schemas.openxmlformats.org/officeDocument/2006/relationships/slide" Target="slides/slide38.xml"/><Relationship Id="rId60" Type="http://schemas.openxmlformats.org/officeDocument/2006/relationships/slide" Target="slides/slide54.xml"/><Relationship Id="rId65" Type="http://schemas.openxmlformats.org/officeDocument/2006/relationships/slide" Target="slides/slide59.xml"/><Relationship Id="rId81" Type="http://schemas.openxmlformats.org/officeDocument/2006/relationships/slide" Target="slides/slide75.xml"/><Relationship Id="rId86" Type="http://schemas.openxmlformats.org/officeDocument/2006/relationships/slide" Target="slides/slide80.xml"/><Relationship Id="rId130" Type="http://schemas.openxmlformats.org/officeDocument/2006/relationships/slide" Target="slides/slide124.xml"/><Relationship Id="rId135" Type="http://schemas.openxmlformats.org/officeDocument/2006/relationships/slide" Target="slides/slide129.xml"/><Relationship Id="rId151" Type="http://schemas.openxmlformats.org/officeDocument/2006/relationships/slide" Target="slides/slide145.xml"/><Relationship Id="rId156" Type="http://schemas.openxmlformats.org/officeDocument/2006/relationships/font" Target="fonts/font2.fntdata"/><Relationship Id="rId177" Type="http://schemas.openxmlformats.org/officeDocument/2006/relationships/font" Target="fonts/font23.fntdata"/><Relationship Id="rId172" Type="http://schemas.openxmlformats.org/officeDocument/2006/relationships/font" Target="fonts/font18.fntdata"/><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120" Type="http://schemas.openxmlformats.org/officeDocument/2006/relationships/slide" Target="slides/slide114.xml"/><Relationship Id="rId125" Type="http://schemas.openxmlformats.org/officeDocument/2006/relationships/slide" Target="slides/slide119.xml"/><Relationship Id="rId141" Type="http://schemas.openxmlformats.org/officeDocument/2006/relationships/slide" Target="slides/slide135.xml"/><Relationship Id="rId146" Type="http://schemas.openxmlformats.org/officeDocument/2006/relationships/slide" Target="slides/slide140.xml"/><Relationship Id="rId167" Type="http://schemas.openxmlformats.org/officeDocument/2006/relationships/font" Target="fonts/font13.fntdata"/><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162" Type="http://schemas.openxmlformats.org/officeDocument/2006/relationships/font" Target="fonts/font8.fntdata"/><Relationship Id="rId183"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slide" Target="slides/slide104.xml"/><Relationship Id="rId115" Type="http://schemas.openxmlformats.org/officeDocument/2006/relationships/slide" Target="slides/slide109.xml"/><Relationship Id="rId131" Type="http://schemas.openxmlformats.org/officeDocument/2006/relationships/slide" Target="slides/slide125.xml"/><Relationship Id="rId136" Type="http://schemas.openxmlformats.org/officeDocument/2006/relationships/slide" Target="slides/slide130.xml"/><Relationship Id="rId157" Type="http://schemas.openxmlformats.org/officeDocument/2006/relationships/font" Target="fonts/font3.fntdata"/><Relationship Id="rId178" Type="http://schemas.openxmlformats.org/officeDocument/2006/relationships/font" Target="fonts/font24.fntdata"/><Relationship Id="rId61" Type="http://schemas.openxmlformats.org/officeDocument/2006/relationships/slide" Target="slides/slide55.xml"/><Relationship Id="rId82" Type="http://schemas.openxmlformats.org/officeDocument/2006/relationships/slide" Target="slides/slide76.xml"/><Relationship Id="rId152" Type="http://schemas.openxmlformats.org/officeDocument/2006/relationships/slide" Target="slides/slide146.xml"/><Relationship Id="rId173" Type="http://schemas.openxmlformats.org/officeDocument/2006/relationships/font" Target="fonts/font19.fntdata"/><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126" Type="http://schemas.openxmlformats.org/officeDocument/2006/relationships/slide" Target="slides/slide120.xml"/><Relationship Id="rId147" Type="http://schemas.openxmlformats.org/officeDocument/2006/relationships/slide" Target="slides/slide141.xml"/><Relationship Id="rId168" Type="http://schemas.openxmlformats.org/officeDocument/2006/relationships/font" Target="fonts/font14.fntdata"/><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121" Type="http://schemas.openxmlformats.org/officeDocument/2006/relationships/slide" Target="slides/slide115.xml"/><Relationship Id="rId142" Type="http://schemas.openxmlformats.org/officeDocument/2006/relationships/slide" Target="slides/slide136.xml"/><Relationship Id="rId163" Type="http://schemas.openxmlformats.org/officeDocument/2006/relationships/font" Target="fonts/font9.fntdata"/><Relationship Id="rId3" Type="http://schemas.openxmlformats.org/officeDocument/2006/relationships/customXml" Target="../customXml/item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116" Type="http://schemas.openxmlformats.org/officeDocument/2006/relationships/slide" Target="slides/slide110.xml"/><Relationship Id="rId137" Type="http://schemas.openxmlformats.org/officeDocument/2006/relationships/slide" Target="slides/slide131.xml"/><Relationship Id="rId158" Type="http://schemas.openxmlformats.org/officeDocument/2006/relationships/font" Target="fonts/font4.fntdata"/><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slide" Target="slides/slide105.xml"/><Relationship Id="rId132" Type="http://schemas.openxmlformats.org/officeDocument/2006/relationships/slide" Target="slides/slide126.xml"/><Relationship Id="rId153" Type="http://schemas.openxmlformats.org/officeDocument/2006/relationships/slide" Target="slides/slide147.xml"/><Relationship Id="rId174" Type="http://schemas.openxmlformats.org/officeDocument/2006/relationships/font" Target="fonts/font20.fntdata"/><Relationship Id="rId179" Type="http://schemas.openxmlformats.org/officeDocument/2006/relationships/presProps" Target="presProps.xml"/><Relationship Id="rId15" Type="http://schemas.openxmlformats.org/officeDocument/2006/relationships/slide" Target="slides/slide9.xml"/><Relationship Id="rId36" Type="http://schemas.openxmlformats.org/officeDocument/2006/relationships/slide" Target="slides/slide30.xml"/><Relationship Id="rId57" Type="http://schemas.openxmlformats.org/officeDocument/2006/relationships/slide" Target="slides/slide51.xml"/><Relationship Id="rId106" Type="http://schemas.openxmlformats.org/officeDocument/2006/relationships/slide" Target="slides/slide100.xml"/><Relationship Id="rId127" Type="http://schemas.openxmlformats.org/officeDocument/2006/relationships/slide" Target="slides/slide121.xml"/><Relationship Id="rId10" Type="http://schemas.openxmlformats.org/officeDocument/2006/relationships/slide" Target="slides/slide4.xml"/><Relationship Id="rId31" Type="http://schemas.openxmlformats.org/officeDocument/2006/relationships/slide" Target="slides/slide25.xml"/><Relationship Id="rId52" Type="http://schemas.openxmlformats.org/officeDocument/2006/relationships/slide" Target="slides/slide46.xml"/><Relationship Id="rId73" Type="http://schemas.openxmlformats.org/officeDocument/2006/relationships/slide" Target="slides/slide67.xml"/><Relationship Id="rId78" Type="http://schemas.openxmlformats.org/officeDocument/2006/relationships/slide" Target="slides/slide72.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122" Type="http://schemas.openxmlformats.org/officeDocument/2006/relationships/slide" Target="slides/slide116.xml"/><Relationship Id="rId143" Type="http://schemas.openxmlformats.org/officeDocument/2006/relationships/slide" Target="slides/slide137.xml"/><Relationship Id="rId148" Type="http://schemas.openxmlformats.org/officeDocument/2006/relationships/slide" Target="slides/slide142.xml"/><Relationship Id="rId164" Type="http://schemas.openxmlformats.org/officeDocument/2006/relationships/font" Target="fonts/font10.fntdata"/><Relationship Id="rId169" Type="http://schemas.openxmlformats.org/officeDocument/2006/relationships/font" Target="fonts/font15.fntdata"/><Relationship Id="rId4" Type="http://schemas.openxmlformats.org/officeDocument/2006/relationships/slideMaster" Target="slideMasters/slideMaster1.xml"/><Relationship Id="rId9" Type="http://schemas.openxmlformats.org/officeDocument/2006/relationships/slide" Target="slides/slide3.xml"/><Relationship Id="rId180" Type="http://schemas.openxmlformats.org/officeDocument/2006/relationships/viewProps" Target="viewProps.xml"/><Relationship Id="rId26" Type="http://schemas.openxmlformats.org/officeDocument/2006/relationships/slide" Target="slides/slide20.xml"/><Relationship Id="rId47" Type="http://schemas.openxmlformats.org/officeDocument/2006/relationships/slide" Target="slides/slide41.xml"/><Relationship Id="rId68" Type="http://schemas.openxmlformats.org/officeDocument/2006/relationships/slide" Target="slides/slide62.xml"/><Relationship Id="rId89" Type="http://schemas.openxmlformats.org/officeDocument/2006/relationships/slide" Target="slides/slide83.xml"/><Relationship Id="rId112" Type="http://schemas.openxmlformats.org/officeDocument/2006/relationships/slide" Target="slides/slide106.xml"/><Relationship Id="rId133" Type="http://schemas.openxmlformats.org/officeDocument/2006/relationships/slide" Target="slides/slide127.xml"/><Relationship Id="rId154" Type="http://schemas.openxmlformats.org/officeDocument/2006/relationships/notesMaster" Target="notesMasters/notesMaster1.xml"/><Relationship Id="rId175" Type="http://schemas.openxmlformats.org/officeDocument/2006/relationships/font" Target="fonts/font21.fntdata"/><Relationship Id="rId16" Type="http://schemas.openxmlformats.org/officeDocument/2006/relationships/slide" Target="slides/slide10.xml"/><Relationship Id="rId37" Type="http://schemas.openxmlformats.org/officeDocument/2006/relationships/slide" Target="slides/slide31.xml"/><Relationship Id="rId58" Type="http://schemas.openxmlformats.org/officeDocument/2006/relationships/slide" Target="slides/slide52.xml"/><Relationship Id="rId79" Type="http://schemas.openxmlformats.org/officeDocument/2006/relationships/slide" Target="slides/slide73.xml"/><Relationship Id="rId102" Type="http://schemas.openxmlformats.org/officeDocument/2006/relationships/slide" Target="slides/slide96.xml"/><Relationship Id="rId123" Type="http://schemas.openxmlformats.org/officeDocument/2006/relationships/slide" Target="slides/slide117.xml"/><Relationship Id="rId144" Type="http://schemas.openxmlformats.org/officeDocument/2006/relationships/slide" Target="slides/slide138.xml"/><Relationship Id="rId90" Type="http://schemas.openxmlformats.org/officeDocument/2006/relationships/slide" Target="slides/slide84.xml"/><Relationship Id="rId165" Type="http://schemas.openxmlformats.org/officeDocument/2006/relationships/font" Target="fonts/font11.fntdata"/><Relationship Id="rId27" Type="http://schemas.openxmlformats.org/officeDocument/2006/relationships/slide" Target="slides/slide21.xml"/><Relationship Id="rId48" Type="http://schemas.openxmlformats.org/officeDocument/2006/relationships/slide" Target="slides/slide42.xml"/><Relationship Id="rId69" Type="http://schemas.openxmlformats.org/officeDocument/2006/relationships/slide" Target="slides/slide63.xml"/><Relationship Id="rId113" Type="http://schemas.openxmlformats.org/officeDocument/2006/relationships/slide" Target="slides/slide107.xml"/><Relationship Id="rId134" Type="http://schemas.openxmlformats.org/officeDocument/2006/relationships/slide" Target="slides/slide128.xml"/><Relationship Id="rId80" Type="http://schemas.openxmlformats.org/officeDocument/2006/relationships/slide" Target="slides/slide74.xml"/><Relationship Id="rId155" Type="http://schemas.openxmlformats.org/officeDocument/2006/relationships/font" Target="fonts/font1.fntdata"/><Relationship Id="rId176" Type="http://schemas.openxmlformats.org/officeDocument/2006/relationships/font" Target="fonts/font22.fntdata"/><Relationship Id="rId17" Type="http://schemas.openxmlformats.org/officeDocument/2006/relationships/slide" Target="slides/slide11.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24" Type="http://schemas.openxmlformats.org/officeDocument/2006/relationships/slide" Target="slides/slide118.xml"/><Relationship Id="rId70" Type="http://schemas.openxmlformats.org/officeDocument/2006/relationships/slide" Target="slides/slide64.xml"/><Relationship Id="rId91" Type="http://schemas.openxmlformats.org/officeDocument/2006/relationships/slide" Target="slides/slide85.xml"/><Relationship Id="rId145" Type="http://schemas.openxmlformats.org/officeDocument/2006/relationships/slide" Target="slides/slide139.xml"/><Relationship Id="rId166" Type="http://schemas.openxmlformats.org/officeDocument/2006/relationships/font" Target="fonts/font12.fntdata"/><Relationship Id="rId1" Type="http://schemas.openxmlformats.org/officeDocument/2006/relationships/customXml" Target="../customXml/item1.xml"/><Relationship Id="rId28" Type="http://schemas.openxmlformats.org/officeDocument/2006/relationships/slide" Target="slides/slide22.xml"/><Relationship Id="rId49" Type="http://schemas.openxmlformats.org/officeDocument/2006/relationships/slide" Target="slides/slide43.xml"/><Relationship Id="rId114" Type="http://schemas.openxmlformats.org/officeDocument/2006/relationships/slide" Target="slides/slide10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1"/>
        <p:cNvGrpSpPr/>
        <p:nvPr/>
      </p:nvGrpSpPr>
      <p:grpSpPr>
        <a:xfrm>
          <a:off x="0" y="0"/>
          <a:ext cx="0" cy="0"/>
          <a:chOff x="0" y="0"/>
          <a:chExt cx="0" cy="0"/>
        </a:xfrm>
      </p:grpSpPr>
      <p:sp>
        <p:nvSpPr>
          <p:cNvPr id="672" name="Google Shape;672;g94c3eba8b4_0_12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700"/>
              </a:spcBef>
              <a:spcAft>
                <a:spcPts val="0"/>
              </a:spcAft>
              <a:buClr>
                <a:schemeClr val="dk1"/>
              </a:buClr>
              <a:buSzPts val="1100"/>
              <a:buFont typeface="Arial"/>
              <a:buNone/>
            </a:pPr>
            <a:endParaRPr/>
          </a:p>
        </p:txBody>
      </p:sp>
      <p:sp>
        <p:nvSpPr>
          <p:cNvPr id="673" name="Google Shape;673;g94c3eba8b4_0_12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94c3eba8b4_0_5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590" name="Google Shape;590;g94c3eba8b4_0_5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700"/>
              </a:spcBef>
              <a:spcAft>
                <a:spcPts val="0"/>
              </a:spcAft>
              <a:buClr>
                <a:schemeClr val="dk1"/>
              </a:buClr>
              <a:buSzPts val="1100"/>
              <a:buFont typeface="Arial"/>
              <a:buNone/>
            </a:pPr>
            <a:endParaRPr sz="1200">
              <a:solidFill>
                <a:schemeClr val="dk1"/>
              </a:solidFill>
              <a:latin typeface="Calibri"/>
              <a:ea typeface="Calibri"/>
              <a:cs typeface="Calibri"/>
              <a:sym typeface="Calibri"/>
            </a:endParaRPr>
          </a:p>
        </p:txBody>
      </p:sp>
      <p:sp>
        <p:nvSpPr>
          <p:cNvPr id="591" name="Google Shape;591;g94c3eba8b4_0_57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t>3</a:t>
            </a:fld>
            <a:endParaRPr sz="12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
        <p:cNvGrpSpPr/>
        <p:nvPr/>
      </p:nvGrpSpPr>
      <p:grpSpPr>
        <a:xfrm>
          <a:off x="0" y="0"/>
          <a:ext cx="0" cy="0"/>
          <a:chOff x="0" y="0"/>
          <a:chExt cx="0" cy="0"/>
        </a:xfrm>
      </p:grpSpPr>
      <p:sp>
        <p:nvSpPr>
          <p:cNvPr id="596" name="Google Shape;596;ga7045cc835_0_6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7" name="Google Shape;597;ga7045cc835_0_6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g94c3eba8b4_0_18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700"/>
              </a:spcBef>
              <a:spcAft>
                <a:spcPts val="0"/>
              </a:spcAft>
              <a:buClr>
                <a:schemeClr val="dk1"/>
              </a:buClr>
              <a:buSzPts val="1100"/>
              <a:buFont typeface="Arial"/>
              <a:buNone/>
            </a:pPr>
            <a:endParaRPr/>
          </a:p>
        </p:txBody>
      </p:sp>
      <p:sp>
        <p:nvSpPr>
          <p:cNvPr id="682" name="Google Shape;682;g94c3eba8b4_0_1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94c3eba8b4_0_24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700"/>
              </a:spcBef>
              <a:spcAft>
                <a:spcPts val="0"/>
              </a:spcAft>
              <a:buClr>
                <a:schemeClr val="dk1"/>
              </a:buClr>
              <a:buSzPts val="1100"/>
              <a:buFont typeface="Arial"/>
              <a:buNone/>
            </a:pPr>
            <a:endParaRPr/>
          </a:p>
        </p:txBody>
      </p:sp>
      <p:sp>
        <p:nvSpPr>
          <p:cNvPr id="689" name="Google Shape;689;g94c3eba8b4_0_2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g94c3eba8b4_0_32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spcBef>
                <a:spcPts val="700"/>
              </a:spcBef>
              <a:spcAft>
                <a:spcPts val="0"/>
              </a:spcAft>
              <a:buClr>
                <a:schemeClr val="dk1"/>
              </a:buClr>
              <a:buSzPts val="1100"/>
              <a:buFont typeface="Arial"/>
              <a:buNone/>
            </a:pPr>
            <a:endParaRPr/>
          </a:p>
        </p:txBody>
      </p:sp>
      <p:sp>
        <p:nvSpPr>
          <p:cNvPr id="710" name="Google Shape;710;g94c3eba8b4_0_32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94c3eba8b4_0_340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8" name="Google Shape;728;g94c3eba8b4_0_34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g94c3eba8b4_0_34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g94c3eba8b4_0_34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94c3eba8b4_0_34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3" name="Google Shape;753;g94c3eba8b4_0_3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g94c3eba8b4_0_33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g94c3eba8b4_0_33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94c3eba8b4_0_35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94c3eba8b4_0_35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6"/>
        <p:cNvGrpSpPr/>
        <p:nvPr/>
      </p:nvGrpSpPr>
      <p:grpSpPr>
        <a:xfrm>
          <a:off x="0" y="0"/>
          <a:ext cx="0" cy="0"/>
          <a:chOff x="0" y="0"/>
          <a:chExt cx="0" cy="0"/>
        </a:xfrm>
      </p:grpSpPr>
      <p:sp>
        <p:nvSpPr>
          <p:cNvPr id="847" name="Google Shape;847;g94c3eba8b4_0_36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8" name="Google Shape;848;g94c3eba8b4_0_36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4"/>
        <p:cNvGrpSpPr/>
        <p:nvPr/>
      </p:nvGrpSpPr>
      <p:grpSpPr>
        <a:xfrm>
          <a:off x="0" y="0"/>
          <a:ext cx="0" cy="0"/>
          <a:chOff x="0" y="0"/>
          <a:chExt cx="0" cy="0"/>
        </a:xfrm>
      </p:grpSpPr>
      <p:sp>
        <p:nvSpPr>
          <p:cNvPr id="885" name="Google Shape;885;g931b0266f0_0_2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86" name="Google Shape;886;g931b0266f0_0_2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g931b0266f0_0_21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92" name="Google Shape;892;g931b0266f0_0_2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g931b0266f0_0_2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898" name="Google Shape;898;g931b0266f0_0_2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2"/>
        <p:cNvGrpSpPr/>
        <p:nvPr/>
      </p:nvGrpSpPr>
      <p:grpSpPr>
        <a:xfrm>
          <a:off x="0" y="0"/>
          <a:ext cx="0" cy="0"/>
          <a:chOff x="0" y="0"/>
          <a:chExt cx="0" cy="0"/>
        </a:xfrm>
      </p:grpSpPr>
      <p:sp>
        <p:nvSpPr>
          <p:cNvPr id="903" name="Google Shape;903;g931b0266f0_0_21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04" name="Google Shape;904;g931b0266f0_0_21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8"/>
        <p:cNvGrpSpPr/>
        <p:nvPr/>
      </p:nvGrpSpPr>
      <p:grpSpPr>
        <a:xfrm>
          <a:off x="0" y="0"/>
          <a:ext cx="0" cy="0"/>
          <a:chOff x="0" y="0"/>
          <a:chExt cx="0" cy="0"/>
        </a:xfrm>
      </p:grpSpPr>
      <p:sp>
        <p:nvSpPr>
          <p:cNvPr id="909" name="Google Shape;909;g931b0266f0_0_21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10" name="Google Shape;910;g931b0266f0_0_2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g94c3eba8b4_0_417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16" name="Google Shape;916;g94c3eba8b4_0_4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1"/>
        <p:cNvGrpSpPr/>
        <p:nvPr/>
      </p:nvGrpSpPr>
      <p:grpSpPr>
        <a:xfrm>
          <a:off x="0" y="0"/>
          <a:ext cx="0" cy="0"/>
          <a:chOff x="0" y="0"/>
          <a:chExt cx="0" cy="0"/>
        </a:xfrm>
      </p:grpSpPr>
      <p:sp>
        <p:nvSpPr>
          <p:cNvPr id="922" name="Google Shape;922;g94c3eba8b4_0_42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23" name="Google Shape;923;g94c3eba8b4_0_4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8"/>
        <p:cNvGrpSpPr/>
        <p:nvPr/>
      </p:nvGrpSpPr>
      <p:grpSpPr>
        <a:xfrm>
          <a:off x="0" y="0"/>
          <a:ext cx="0" cy="0"/>
          <a:chOff x="0" y="0"/>
          <a:chExt cx="0" cy="0"/>
        </a:xfrm>
      </p:grpSpPr>
      <p:sp>
        <p:nvSpPr>
          <p:cNvPr id="929" name="Google Shape;929;g94c3eba8b4_0_42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30" name="Google Shape;930;g94c3eba8b4_0_42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94c3eba8b4_0_427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37" name="Google Shape;937;g94c3eba8b4_0_42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94c3eba8b4_0_428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44" name="Google Shape;944;g94c3eba8b4_0_428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94c3eba8b4_0_429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55" name="Google Shape;955;g94c3eba8b4_0_4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1"/>
        <p:cNvGrpSpPr/>
        <p:nvPr/>
      </p:nvGrpSpPr>
      <p:grpSpPr>
        <a:xfrm>
          <a:off x="0" y="0"/>
          <a:ext cx="0" cy="0"/>
          <a:chOff x="0" y="0"/>
          <a:chExt cx="0" cy="0"/>
        </a:xfrm>
      </p:grpSpPr>
      <p:sp>
        <p:nvSpPr>
          <p:cNvPr id="962" name="Google Shape;962;g94c3eba8b4_0_43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63" name="Google Shape;963;g94c3eba8b4_0_43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9"/>
        <p:cNvGrpSpPr/>
        <p:nvPr/>
      </p:nvGrpSpPr>
      <p:grpSpPr>
        <a:xfrm>
          <a:off x="0" y="0"/>
          <a:ext cx="0" cy="0"/>
          <a:chOff x="0" y="0"/>
          <a:chExt cx="0" cy="0"/>
        </a:xfrm>
      </p:grpSpPr>
      <p:sp>
        <p:nvSpPr>
          <p:cNvPr id="970" name="Google Shape;970;g94c3eba8b4_0_43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71" name="Google Shape;971;g94c3eba8b4_0_4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94c3eba8b4_0_43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79" name="Google Shape;979;g94c3eba8b4_0_4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94c3eba8b4_0_43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87" name="Google Shape;987;g94c3eba8b4_0_4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4"/>
        <p:cNvGrpSpPr/>
        <p:nvPr/>
      </p:nvGrpSpPr>
      <p:grpSpPr>
        <a:xfrm>
          <a:off x="0" y="0"/>
          <a:ext cx="0" cy="0"/>
          <a:chOff x="0" y="0"/>
          <a:chExt cx="0" cy="0"/>
        </a:xfrm>
      </p:grpSpPr>
      <p:sp>
        <p:nvSpPr>
          <p:cNvPr id="995" name="Google Shape;995;g94c3eba8b4_0_43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996" name="Google Shape;996;g94c3eba8b4_0_43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2"/>
        <p:cNvGrpSpPr/>
        <p:nvPr/>
      </p:nvGrpSpPr>
      <p:grpSpPr>
        <a:xfrm>
          <a:off x="0" y="0"/>
          <a:ext cx="0" cy="0"/>
          <a:chOff x="0" y="0"/>
          <a:chExt cx="0" cy="0"/>
        </a:xfrm>
      </p:grpSpPr>
      <p:sp>
        <p:nvSpPr>
          <p:cNvPr id="1003" name="Google Shape;1003;g94c3eba8b4_0_43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04" name="Google Shape;1004;g94c3eba8b4_0_43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159813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295318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50121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328092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3459595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70967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25005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58137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5589655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92371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08545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06082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538791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932503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138091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4532872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038525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1729532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618770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6392666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8946606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026890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894611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8280439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5465361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493608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717397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94c3eba8b4_0_43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013" name="Google Shape;1013;g94c3eba8b4_0_43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474634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c93fc1a5e2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gc93fc1a5e2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6"/>
        <p:cNvGrpSpPr/>
        <p:nvPr/>
      </p:nvGrpSpPr>
      <p:grpSpPr>
        <a:xfrm>
          <a:off x="0" y="0"/>
          <a:ext cx="0" cy="0"/>
          <a:chOff x="0" y="0"/>
          <a:chExt cx="0" cy="0"/>
        </a:xfrm>
      </p:grpSpPr>
      <p:sp>
        <p:nvSpPr>
          <p:cNvPr id="1027" name="Google Shape;1027;g94c3eba8b4_0_4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8" name="Google Shape;1028;g94c3eba8b4_0_49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9" name="Google Shape;1029;g94c3eba8b4_0_49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
              <a:t>61</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3"/>
        <p:cNvGrpSpPr/>
        <p:nvPr/>
      </p:nvGrpSpPr>
      <p:grpSpPr>
        <a:xfrm>
          <a:off x="0" y="0"/>
          <a:ext cx="0" cy="0"/>
          <a:chOff x="0" y="0"/>
          <a:chExt cx="0" cy="0"/>
        </a:xfrm>
      </p:grpSpPr>
      <p:sp>
        <p:nvSpPr>
          <p:cNvPr id="1034" name="Google Shape;1034;g931b0266f0_0_20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931b0266f0_0_20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d3c6484b8b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d3c6484b8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931b0266f0_0_20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9" name="Google Shape;1049;g931b0266f0_0_20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931b0266f0_0_20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7" name="Google Shape;1057;g931b0266f0_0_20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2"/>
        <p:cNvGrpSpPr/>
        <p:nvPr/>
      </p:nvGrpSpPr>
      <p:grpSpPr>
        <a:xfrm>
          <a:off x="0" y="0"/>
          <a:ext cx="0" cy="0"/>
          <a:chOff x="0" y="0"/>
          <a:chExt cx="0" cy="0"/>
        </a:xfrm>
      </p:grpSpPr>
      <p:sp>
        <p:nvSpPr>
          <p:cNvPr id="1063" name="Google Shape;1063;gc93fc1a5e2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4" name="Google Shape;1064;gc93fc1a5e2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9"/>
        <p:cNvGrpSpPr/>
        <p:nvPr/>
      </p:nvGrpSpPr>
      <p:grpSpPr>
        <a:xfrm>
          <a:off x="0" y="0"/>
          <a:ext cx="0" cy="0"/>
          <a:chOff x="0" y="0"/>
          <a:chExt cx="0" cy="0"/>
        </a:xfrm>
      </p:grpSpPr>
      <p:sp>
        <p:nvSpPr>
          <p:cNvPr id="1070" name="Google Shape;1070;gc93fc1a5e2_0_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1" name="Google Shape;1071;gc93fc1a5e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c93fc1a5e2_0_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gc93fc1a5e2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d3c6484b8b_0_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d3c6484b8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9"/>
        <p:cNvGrpSpPr/>
        <p:nvPr/>
      </p:nvGrpSpPr>
      <p:grpSpPr>
        <a:xfrm>
          <a:off x="0" y="0"/>
          <a:ext cx="0" cy="0"/>
          <a:chOff x="0" y="0"/>
          <a:chExt cx="0" cy="0"/>
        </a:xfrm>
      </p:grpSpPr>
      <p:sp>
        <p:nvSpPr>
          <p:cNvPr id="1090" name="Google Shape;1090;g931b0266f0_0_20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1" name="Google Shape;1091;g931b0266f0_0_20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g931b0266f0_0_209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8" name="Google Shape;1098;g931b0266f0_0_20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2"/>
        <p:cNvGrpSpPr/>
        <p:nvPr/>
      </p:nvGrpSpPr>
      <p:grpSpPr>
        <a:xfrm>
          <a:off x="0" y="0"/>
          <a:ext cx="0" cy="0"/>
          <a:chOff x="0" y="0"/>
          <a:chExt cx="0" cy="0"/>
        </a:xfrm>
      </p:grpSpPr>
      <p:sp>
        <p:nvSpPr>
          <p:cNvPr id="1103" name="Google Shape;1103;g94c3eba8b4_0_49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4" name="Google Shape;1104;g94c3eba8b4_0_49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9"/>
        <p:cNvGrpSpPr/>
        <p:nvPr/>
      </p:nvGrpSpPr>
      <p:grpSpPr>
        <a:xfrm>
          <a:off x="0" y="0"/>
          <a:ext cx="0" cy="0"/>
          <a:chOff x="0" y="0"/>
          <a:chExt cx="0" cy="0"/>
        </a:xfrm>
      </p:grpSpPr>
      <p:sp>
        <p:nvSpPr>
          <p:cNvPr id="1110" name="Google Shape;1110;g94c3eba8b4_0_49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1" name="Google Shape;1111;g94c3eba8b4_0_49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7"/>
        <p:cNvGrpSpPr/>
        <p:nvPr/>
      </p:nvGrpSpPr>
      <p:grpSpPr>
        <a:xfrm>
          <a:off x="0" y="0"/>
          <a:ext cx="0" cy="0"/>
          <a:chOff x="0" y="0"/>
          <a:chExt cx="0" cy="0"/>
        </a:xfrm>
      </p:grpSpPr>
      <p:sp>
        <p:nvSpPr>
          <p:cNvPr id="1118" name="Google Shape;1118;g94c3eba8b4_0_49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9" name="Google Shape;1119;g94c3eba8b4_0_49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94c3eba8b4_0_49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94c3eba8b4_0_49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3"/>
        <p:cNvGrpSpPr/>
        <p:nvPr/>
      </p:nvGrpSpPr>
      <p:grpSpPr>
        <a:xfrm>
          <a:off x="0" y="0"/>
          <a:ext cx="0" cy="0"/>
          <a:chOff x="0" y="0"/>
          <a:chExt cx="0" cy="0"/>
        </a:xfrm>
      </p:grpSpPr>
      <p:sp>
        <p:nvSpPr>
          <p:cNvPr id="1124" name="Google Shape;1124;g94c3eba8b4_0_49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5" name="Google Shape;1125;g94c3eba8b4_0_49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4460975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0"/>
        <p:cNvGrpSpPr/>
        <p:nvPr/>
      </p:nvGrpSpPr>
      <p:grpSpPr>
        <a:xfrm>
          <a:off x="0" y="0"/>
          <a:ext cx="0" cy="0"/>
          <a:chOff x="0" y="0"/>
          <a:chExt cx="0" cy="0"/>
        </a:xfrm>
      </p:grpSpPr>
      <p:sp>
        <p:nvSpPr>
          <p:cNvPr id="1131" name="Google Shape;1131;g94c3eba8b4_0_49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2" name="Google Shape;1132;g94c3eba8b4_0_49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7"/>
        <p:cNvGrpSpPr/>
        <p:nvPr/>
      </p:nvGrpSpPr>
      <p:grpSpPr>
        <a:xfrm>
          <a:off x="0" y="0"/>
          <a:ext cx="0" cy="0"/>
          <a:chOff x="0" y="0"/>
          <a:chExt cx="0" cy="0"/>
        </a:xfrm>
      </p:grpSpPr>
      <p:sp>
        <p:nvSpPr>
          <p:cNvPr id="1138" name="Google Shape;1138;g94c3eba8b4_0_49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9" name="Google Shape;1139;g94c3eba8b4_0_4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94c3eba8b4_0_49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6" name="Google Shape;1146;g94c3eba8b4_0_49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94c3eba8b4_0_49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4" name="Google Shape;1154;g94c3eba8b4_0_49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94c3eba8b4_0_49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1" name="Google Shape;1161;g94c3eba8b4_0_49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2"/>
        <p:cNvGrpSpPr/>
        <p:nvPr/>
      </p:nvGrpSpPr>
      <p:grpSpPr>
        <a:xfrm>
          <a:off x="0" y="0"/>
          <a:ext cx="0" cy="0"/>
          <a:chOff x="0" y="0"/>
          <a:chExt cx="0" cy="0"/>
        </a:xfrm>
      </p:grpSpPr>
      <p:sp>
        <p:nvSpPr>
          <p:cNvPr id="1203" name="Google Shape;1203;g94c3eba8b4_0_50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4" name="Google Shape;1204;g94c3eba8b4_0_50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8"/>
        <p:cNvGrpSpPr/>
        <p:nvPr/>
      </p:nvGrpSpPr>
      <p:grpSpPr>
        <a:xfrm>
          <a:off x="0" y="0"/>
          <a:ext cx="0" cy="0"/>
          <a:chOff x="0" y="0"/>
          <a:chExt cx="0" cy="0"/>
        </a:xfrm>
      </p:grpSpPr>
      <p:sp>
        <p:nvSpPr>
          <p:cNvPr id="1209" name="Google Shape;1209;g94c3eba8b4_0_50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0" name="Google Shape;1210;g94c3eba8b4_0_50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4"/>
        <p:cNvGrpSpPr/>
        <p:nvPr/>
      </p:nvGrpSpPr>
      <p:grpSpPr>
        <a:xfrm>
          <a:off x="0" y="0"/>
          <a:ext cx="0" cy="0"/>
          <a:chOff x="0" y="0"/>
          <a:chExt cx="0" cy="0"/>
        </a:xfrm>
      </p:grpSpPr>
      <p:sp>
        <p:nvSpPr>
          <p:cNvPr id="1215" name="Google Shape;1215;g94c3eba8b4_0_50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6" name="Google Shape;1216;g94c3eba8b4_0_50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0"/>
        <p:cNvGrpSpPr/>
        <p:nvPr/>
      </p:nvGrpSpPr>
      <p:grpSpPr>
        <a:xfrm>
          <a:off x="0" y="0"/>
          <a:ext cx="0" cy="0"/>
          <a:chOff x="0" y="0"/>
          <a:chExt cx="0" cy="0"/>
        </a:xfrm>
      </p:grpSpPr>
      <p:sp>
        <p:nvSpPr>
          <p:cNvPr id="1221" name="Google Shape;1221;g94c3eba8b4_0_50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2" name="Google Shape;1222;g94c3eba8b4_0_50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94c3eba8b4_0_50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0" name="Google Shape;1230;g94c3eba8b4_0_50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4"/>
        <p:cNvGrpSpPr/>
        <p:nvPr/>
      </p:nvGrpSpPr>
      <p:grpSpPr>
        <a:xfrm>
          <a:off x="0" y="0"/>
          <a:ext cx="0" cy="0"/>
          <a:chOff x="0" y="0"/>
          <a:chExt cx="0" cy="0"/>
        </a:xfrm>
      </p:grpSpPr>
      <p:sp>
        <p:nvSpPr>
          <p:cNvPr id="1235" name="Google Shape;1235;g94c3eba8b4_0_50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6" name="Google Shape;1236;g94c3eba8b4_0_50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0"/>
        <p:cNvGrpSpPr/>
        <p:nvPr/>
      </p:nvGrpSpPr>
      <p:grpSpPr>
        <a:xfrm>
          <a:off x="0" y="0"/>
          <a:ext cx="0" cy="0"/>
          <a:chOff x="0" y="0"/>
          <a:chExt cx="0" cy="0"/>
        </a:xfrm>
      </p:grpSpPr>
      <p:sp>
        <p:nvSpPr>
          <p:cNvPr id="1241" name="Google Shape;1241;g94c3eba8b4_0_50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2" name="Google Shape;1242;g94c3eba8b4_0_50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6"/>
        <p:cNvGrpSpPr/>
        <p:nvPr/>
      </p:nvGrpSpPr>
      <p:grpSpPr>
        <a:xfrm>
          <a:off x="0" y="0"/>
          <a:ext cx="0" cy="0"/>
          <a:chOff x="0" y="0"/>
          <a:chExt cx="0" cy="0"/>
        </a:xfrm>
      </p:grpSpPr>
      <p:sp>
        <p:nvSpPr>
          <p:cNvPr id="1247" name="Google Shape;1247;g931b0266f0_0_21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48" name="Google Shape;1248;g931b0266f0_0_2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2"/>
        <p:cNvGrpSpPr/>
        <p:nvPr/>
      </p:nvGrpSpPr>
      <p:grpSpPr>
        <a:xfrm>
          <a:off x="0" y="0"/>
          <a:ext cx="0" cy="0"/>
          <a:chOff x="0" y="0"/>
          <a:chExt cx="0" cy="0"/>
        </a:xfrm>
      </p:grpSpPr>
      <p:sp>
        <p:nvSpPr>
          <p:cNvPr id="1253" name="Google Shape;1253;g931b0266f0_0_21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54" name="Google Shape;1254;g931b0266f0_0_2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8"/>
        <p:cNvGrpSpPr/>
        <p:nvPr/>
      </p:nvGrpSpPr>
      <p:grpSpPr>
        <a:xfrm>
          <a:off x="0" y="0"/>
          <a:ext cx="0" cy="0"/>
          <a:chOff x="0" y="0"/>
          <a:chExt cx="0" cy="0"/>
        </a:xfrm>
      </p:grpSpPr>
      <p:sp>
        <p:nvSpPr>
          <p:cNvPr id="1259" name="Google Shape;1259;g931b0266f0_0_21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0" name="Google Shape;1260;g931b0266f0_0_2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931b0266f0_0_21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66" name="Google Shape;1266;g931b0266f0_0_2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0"/>
        <p:cNvGrpSpPr/>
        <p:nvPr/>
      </p:nvGrpSpPr>
      <p:grpSpPr>
        <a:xfrm>
          <a:off x="0" y="0"/>
          <a:ext cx="0" cy="0"/>
          <a:chOff x="0" y="0"/>
          <a:chExt cx="0" cy="0"/>
        </a:xfrm>
      </p:grpSpPr>
      <p:sp>
        <p:nvSpPr>
          <p:cNvPr id="1271" name="Google Shape;1271;g931b0266f0_0_21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2" name="Google Shape;1272;g931b0266f0_0_2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g931b0266f0_0_21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8" name="Google Shape;1278;g931b0266f0_0_2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2"/>
        <p:cNvGrpSpPr/>
        <p:nvPr/>
      </p:nvGrpSpPr>
      <p:grpSpPr>
        <a:xfrm>
          <a:off x="0" y="0"/>
          <a:ext cx="0" cy="0"/>
          <a:chOff x="0" y="0"/>
          <a:chExt cx="0" cy="0"/>
        </a:xfrm>
      </p:grpSpPr>
      <p:sp>
        <p:nvSpPr>
          <p:cNvPr id="1283" name="Google Shape;1283;g931b0266f0_0_21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4" name="Google Shape;1284;g931b0266f0_0_2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8"/>
        <p:cNvGrpSpPr/>
        <p:nvPr/>
      </p:nvGrpSpPr>
      <p:grpSpPr>
        <a:xfrm>
          <a:off x="0" y="0"/>
          <a:ext cx="0" cy="0"/>
          <a:chOff x="0" y="0"/>
          <a:chExt cx="0" cy="0"/>
        </a:xfrm>
      </p:grpSpPr>
      <p:sp>
        <p:nvSpPr>
          <p:cNvPr id="1289" name="Google Shape;1289;g94c3eba8b4_0_50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0" name="Google Shape;1290;g94c3eba8b4_0_50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7173346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2343974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9179664"/>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5332800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22615446"/>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8663226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63495250"/>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3667869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9313011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938408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5150904"/>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1577323"/>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0640316"/>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4"/>
        <p:cNvGrpSpPr/>
        <p:nvPr/>
      </p:nvGrpSpPr>
      <p:grpSpPr>
        <a:xfrm>
          <a:off x="0" y="0"/>
          <a:ext cx="0" cy="0"/>
          <a:chOff x="0" y="0"/>
          <a:chExt cx="0" cy="0"/>
        </a:xfrm>
      </p:grpSpPr>
      <p:sp>
        <p:nvSpPr>
          <p:cNvPr id="1295" name="Google Shape;1295;g94c3eba8b4_0_50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6" name="Google Shape;1296;g94c3eba8b4_0_50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9961106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0"/>
        <p:cNvGrpSpPr/>
        <p:nvPr/>
      </p:nvGrpSpPr>
      <p:grpSpPr>
        <a:xfrm>
          <a:off x="0" y="0"/>
          <a:ext cx="0" cy="0"/>
          <a:chOff x="0" y="0"/>
          <a:chExt cx="0" cy="0"/>
        </a:xfrm>
      </p:grpSpPr>
      <p:sp>
        <p:nvSpPr>
          <p:cNvPr id="1301" name="Google Shape;1301;g94c3eba8b4_0_50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2" name="Google Shape;1302;g94c3eba8b4_0_50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9"/>
        <p:cNvGrpSpPr/>
        <p:nvPr/>
      </p:nvGrpSpPr>
      <p:grpSpPr>
        <a:xfrm>
          <a:off x="0" y="0"/>
          <a:ext cx="0" cy="0"/>
          <a:chOff x="0" y="0"/>
          <a:chExt cx="0" cy="0"/>
        </a:xfrm>
      </p:grpSpPr>
      <p:sp>
        <p:nvSpPr>
          <p:cNvPr id="1310" name="Google Shape;1310;gca59156cb1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1" name="Google Shape;1311;gca59156cb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7"/>
        <p:cNvGrpSpPr/>
        <p:nvPr/>
      </p:nvGrpSpPr>
      <p:grpSpPr>
        <a:xfrm>
          <a:off x="0" y="0"/>
          <a:ext cx="0" cy="0"/>
          <a:chOff x="0" y="0"/>
          <a:chExt cx="0" cy="0"/>
        </a:xfrm>
      </p:grpSpPr>
      <p:sp>
        <p:nvSpPr>
          <p:cNvPr id="1318" name="Google Shape;1318;gca59156cb1_0_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9" name="Google Shape;1319;gca59156cb1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5"/>
        <p:cNvGrpSpPr/>
        <p:nvPr/>
      </p:nvGrpSpPr>
      <p:grpSpPr>
        <a:xfrm>
          <a:off x="0" y="0"/>
          <a:ext cx="0" cy="0"/>
          <a:chOff x="0" y="0"/>
          <a:chExt cx="0" cy="0"/>
        </a:xfrm>
      </p:grpSpPr>
      <p:sp>
        <p:nvSpPr>
          <p:cNvPr id="1326" name="Google Shape;1326;g931b0266f0_0_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27" name="Google Shape;1327;g931b0266f0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4"/>
        <p:cNvGrpSpPr/>
        <p:nvPr/>
      </p:nvGrpSpPr>
      <p:grpSpPr>
        <a:xfrm>
          <a:off x="0" y="0"/>
          <a:ext cx="0" cy="0"/>
          <a:chOff x="0" y="0"/>
          <a:chExt cx="0" cy="0"/>
        </a:xfrm>
      </p:grpSpPr>
      <p:sp>
        <p:nvSpPr>
          <p:cNvPr id="1335" name="Google Shape;1335;g931b0266f0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6" name="Google Shape;1336;g931b0266f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2"/>
        <p:cNvGrpSpPr/>
        <p:nvPr/>
      </p:nvGrpSpPr>
      <p:grpSpPr>
        <a:xfrm>
          <a:off x="0" y="0"/>
          <a:ext cx="0" cy="0"/>
          <a:chOff x="0" y="0"/>
          <a:chExt cx="0" cy="0"/>
        </a:xfrm>
      </p:grpSpPr>
      <p:sp>
        <p:nvSpPr>
          <p:cNvPr id="1343" name="Google Shape;1343;g931b0266f0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4" name="Google Shape;1344;g931b0266f0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g931b0266f0_0_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1" name="Google Shape;1351;g931b0266f0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8"/>
        <p:cNvGrpSpPr/>
        <p:nvPr/>
      </p:nvGrpSpPr>
      <p:grpSpPr>
        <a:xfrm>
          <a:off x="0" y="0"/>
          <a:ext cx="0" cy="0"/>
          <a:chOff x="0" y="0"/>
          <a:chExt cx="0" cy="0"/>
        </a:xfrm>
      </p:grpSpPr>
      <p:sp>
        <p:nvSpPr>
          <p:cNvPr id="1359" name="Google Shape;1359;g931b0266f0_0_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0" name="Google Shape;1360;g931b0266f0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5"/>
        <p:cNvGrpSpPr/>
        <p:nvPr/>
      </p:nvGrpSpPr>
      <p:grpSpPr>
        <a:xfrm>
          <a:off x="0" y="0"/>
          <a:ext cx="0" cy="0"/>
          <a:chOff x="0" y="0"/>
          <a:chExt cx="0" cy="0"/>
        </a:xfrm>
      </p:grpSpPr>
      <p:sp>
        <p:nvSpPr>
          <p:cNvPr id="1366" name="Google Shape;1366;g931b0266f0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67" name="Google Shape;1367;g931b0266f0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4"/>
        <p:cNvGrpSpPr/>
        <p:nvPr/>
      </p:nvGrpSpPr>
      <p:grpSpPr>
        <a:xfrm>
          <a:off x="0" y="0"/>
          <a:ext cx="0" cy="0"/>
          <a:chOff x="0" y="0"/>
          <a:chExt cx="0" cy="0"/>
        </a:xfrm>
      </p:grpSpPr>
      <p:sp>
        <p:nvSpPr>
          <p:cNvPr id="1375" name="Google Shape;1375;gc9a64cedb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6" name="Google Shape;1376;gc9a64cedb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gc93fc1a5e2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3" name="Google Shape;1383;gc93fc1a5e2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gf618f6a60d_1_0:notes"/>
          <p:cNvSpPr txBox="1"/>
          <p:nvPr/>
        </p:nvSpPr>
        <p:spPr>
          <a:xfrm>
            <a:off x="3884814" y="8683690"/>
            <a:ext cx="2968500" cy="4527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129</a:t>
            </a:fld>
            <a:endParaRPr sz="1400" b="0" i="0" u="none" strike="noStrike" cap="none">
              <a:solidFill>
                <a:srgbClr val="000000"/>
              </a:solidFill>
              <a:latin typeface="Arial"/>
              <a:ea typeface="Arial"/>
              <a:cs typeface="Arial"/>
              <a:sym typeface="Arial"/>
            </a:endParaRPr>
          </a:p>
        </p:txBody>
      </p:sp>
      <p:sp>
        <p:nvSpPr>
          <p:cNvPr id="1391" name="Google Shape;1391;gf618f6a60d_1_0:notes"/>
          <p:cNvSpPr txBox="1"/>
          <p:nvPr/>
        </p:nvSpPr>
        <p:spPr>
          <a:xfrm>
            <a:off x="3884814" y="8683690"/>
            <a:ext cx="2971800" cy="4554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129</a:t>
            </a:fld>
            <a:endParaRPr sz="1400" b="0" i="0" u="none" strike="noStrike" cap="none">
              <a:solidFill>
                <a:srgbClr val="000000"/>
              </a:solidFill>
              <a:latin typeface="Arial"/>
              <a:ea typeface="Arial"/>
              <a:cs typeface="Arial"/>
              <a:sym typeface="Arial"/>
            </a:endParaRPr>
          </a:p>
        </p:txBody>
      </p:sp>
      <p:sp>
        <p:nvSpPr>
          <p:cNvPr id="1392" name="Google Shape;1392;gf618f6a60d_1_0:notes"/>
          <p:cNvSpPr>
            <a:spLocks noGrp="1" noRot="1" noChangeAspect="1"/>
          </p:cNvSpPr>
          <p:nvPr>
            <p:ph type="sldImg" idx="2"/>
          </p:nvPr>
        </p:nvSpPr>
        <p:spPr>
          <a:xfrm>
            <a:off x="396875" y="692150"/>
            <a:ext cx="6073775" cy="3416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393" name="Google Shape;1393;gf618f6a60d_1_0:notes"/>
          <p:cNvSpPr txBox="1">
            <a:spLocks noGrp="1"/>
          </p:cNvSpPr>
          <p:nvPr>
            <p:ph type="body" idx="1"/>
          </p:nvPr>
        </p:nvSpPr>
        <p:spPr>
          <a:xfrm>
            <a:off x="913163" y="4343400"/>
            <a:ext cx="5033100" cy="4113000"/>
          </a:xfrm>
          <a:prstGeom prst="rect">
            <a:avLst/>
          </a:prstGeom>
          <a:no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SzPts val="1800"/>
              <a:buFont typeface="Arial"/>
              <a:buNone/>
            </a:pPr>
            <a:r>
              <a:rPr lang="en" sz="1800" b="0" i="0" u="none" strike="noStrike" cap="none">
                <a:latin typeface="Arial"/>
                <a:ea typeface="Arial"/>
                <a:cs typeface="Arial"/>
                <a:sym typeface="Arial"/>
              </a:rPr>
              <a:t>Type:</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 first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Job Jar request (include the JJ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Bug fix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Enhancement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Tuning (include the CCM number, if any)</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Second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New process</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Changed process</a:t>
            </a:r>
            <a:endParaRPr/>
          </a:p>
          <a:p>
            <a:pPr marL="0" marR="0" lvl="0" indent="0" algn="l" rtl="0">
              <a:lnSpc>
                <a:spcPct val="100000"/>
              </a:lnSpc>
              <a:spcBef>
                <a:spcPts val="0"/>
              </a:spcBef>
              <a:spcAft>
                <a:spcPts val="0"/>
              </a:spcAft>
              <a:buSzPts val="1400"/>
              <a:buNone/>
            </a:pPr>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1"/>
        <p:cNvGrpSpPr/>
        <p:nvPr/>
      </p:nvGrpSpPr>
      <p:grpSpPr>
        <a:xfrm>
          <a:off x="0" y="0"/>
          <a:ext cx="0" cy="0"/>
          <a:chOff x="0" y="0"/>
          <a:chExt cx="0" cy="0"/>
        </a:xfrm>
      </p:grpSpPr>
      <p:sp>
        <p:nvSpPr>
          <p:cNvPr id="1402" name="Google Shape;1402;gf618f6a60d_1_17:notes"/>
          <p:cNvSpPr txBox="1"/>
          <p:nvPr/>
        </p:nvSpPr>
        <p:spPr>
          <a:xfrm>
            <a:off x="3884814" y="8683690"/>
            <a:ext cx="2968500" cy="4527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130</a:t>
            </a:fld>
            <a:endParaRPr sz="1400" b="0" i="0" u="none" strike="noStrike" cap="none">
              <a:solidFill>
                <a:srgbClr val="000000"/>
              </a:solidFill>
              <a:latin typeface="Arial"/>
              <a:ea typeface="Arial"/>
              <a:cs typeface="Arial"/>
              <a:sym typeface="Arial"/>
            </a:endParaRPr>
          </a:p>
        </p:txBody>
      </p:sp>
      <p:sp>
        <p:nvSpPr>
          <p:cNvPr id="1403" name="Google Shape;1403;gf618f6a60d_1_17:notes"/>
          <p:cNvSpPr txBox="1"/>
          <p:nvPr/>
        </p:nvSpPr>
        <p:spPr>
          <a:xfrm>
            <a:off x="3884814" y="8683690"/>
            <a:ext cx="2971800" cy="4554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130</a:t>
            </a:fld>
            <a:endParaRPr sz="1400" b="0" i="0" u="none" strike="noStrike" cap="none">
              <a:solidFill>
                <a:srgbClr val="000000"/>
              </a:solidFill>
              <a:latin typeface="Arial"/>
              <a:ea typeface="Arial"/>
              <a:cs typeface="Arial"/>
              <a:sym typeface="Arial"/>
            </a:endParaRPr>
          </a:p>
        </p:txBody>
      </p:sp>
      <p:sp>
        <p:nvSpPr>
          <p:cNvPr id="1404" name="Google Shape;1404;gf618f6a60d_1_17:notes"/>
          <p:cNvSpPr>
            <a:spLocks noGrp="1" noRot="1" noChangeAspect="1"/>
          </p:cNvSpPr>
          <p:nvPr>
            <p:ph type="sldImg" idx="2"/>
          </p:nvPr>
        </p:nvSpPr>
        <p:spPr>
          <a:xfrm>
            <a:off x="396875" y="692150"/>
            <a:ext cx="6073775" cy="3416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05" name="Google Shape;1405;gf618f6a60d_1_17:notes"/>
          <p:cNvSpPr txBox="1">
            <a:spLocks noGrp="1"/>
          </p:cNvSpPr>
          <p:nvPr>
            <p:ph type="body" idx="1"/>
          </p:nvPr>
        </p:nvSpPr>
        <p:spPr>
          <a:xfrm>
            <a:off x="913163" y="4343400"/>
            <a:ext cx="5033100" cy="4113000"/>
          </a:xfrm>
          <a:prstGeom prst="rect">
            <a:avLst/>
          </a:prstGeom>
          <a:no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SzPts val="1800"/>
              <a:buFont typeface="Arial"/>
              <a:buNone/>
            </a:pPr>
            <a:r>
              <a:rPr lang="en" sz="1800" b="0" i="0" u="none" strike="noStrike" cap="none">
                <a:latin typeface="Arial"/>
                <a:ea typeface="Arial"/>
                <a:cs typeface="Arial"/>
                <a:sym typeface="Arial"/>
              </a:rPr>
              <a:t>Type:</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 first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Job Jar request (include the JJ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Bug fix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Enhancement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Tuning (include the CCM number, if any)</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Second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New process</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Changed process</a:t>
            </a:r>
            <a:endParaRPr/>
          </a:p>
          <a:p>
            <a:pPr marL="0" marR="0" lvl="0" indent="0" algn="l" rtl="0">
              <a:lnSpc>
                <a:spcPct val="100000"/>
              </a:lnSpc>
              <a:spcBef>
                <a:spcPts val="0"/>
              </a:spcBef>
              <a:spcAft>
                <a:spcPts val="0"/>
              </a:spcAft>
              <a:buSzPts val="1400"/>
              <a:buNone/>
            </a:pPr>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4"/>
        <p:cNvGrpSpPr/>
        <p:nvPr/>
      </p:nvGrpSpPr>
      <p:grpSpPr>
        <a:xfrm>
          <a:off x="0" y="0"/>
          <a:ext cx="0" cy="0"/>
          <a:chOff x="0" y="0"/>
          <a:chExt cx="0" cy="0"/>
        </a:xfrm>
      </p:grpSpPr>
      <p:sp>
        <p:nvSpPr>
          <p:cNvPr id="1415" name="Google Shape;1415;g931b0266f0_0_25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lvl="0" indent="0" algn="l" rtl="0">
              <a:lnSpc>
                <a:spcPct val="115000"/>
              </a:lnSpc>
              <a:spcBef>
                <a:spcPts val="700"/>
              </a:spcBef>
              <a:spcAft>
                <a:spcPts val="1000"/>
              </a:spcAft>
              <a:buNone/>
            </a:pPr>
            <a:endParaRPr/>
          </a:p>
        </p:txBody>
      </p:sp>
      <p:sp>
        <p:nvSpPr>
          <p:cNvPr id="1416" name="Google Shape;1416;g931b0266f0_0_2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0"/>
        <p:cNvGrpSpPr/>
        <p:nvPr/>
      </p:nvGrpSpPr>
      <p:grpSpPr>
        <a:xfrm>
          <a:off x="0" y="0"/>
          <a:ext cx="0" cy="0"/>
          <a:chOff x="0" y="0"/>
          <a:chExt cx="0" cy="0"/>
        </a:xfrm>
      </p:grpSpPr>
      <p:sp>
        <p:nvSpPr>
          <p:cNvPr id="1421" name="Google Shape;1421;g931b0266f0_0_124:notes"/>
          <p:cNvSpPr txBox="1"/>
          <p:nvPr/>
        </p:nvSpPr>
        <p:spPr>
          <a:xfrm>
            <a:off x="3884814" y="8683690"/>
            <a:ext cx="2968500" cy="4527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132</a:t>
            </a:fld>
            <a:endParaRPr sz="1400" b="0" i="0" u="none" strike="noStrike" cap="none">
              <a:solidFill>
                <a:srgbClr val="000000"/>
              </a:solidFill>
              <a:latin typeface="Arial"/>
              <a:ea typeface="Arial"/>
              <a:cs typeface="Arial"/>
              <a:sym typeface="Arial"/>
            </a:endParaRPr>
          </a:p>
        </p:txBody>
      </p:sp>
      <p:sp>
        <p:nvSpPr>
          <p:cNvPr id="1422" name="Google Shape;1422;g931b0266f0_0_124:notes"/>
          <p:cNvSpPr txBox="1"/>
          <p:nvPr/>
        </p:nvSpPr>
        <p:spPr>
          <a:xfrm>
            <a:off x="3884814" y="8683690"/>
            <a:ext cx="2971800" cy="4554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132</a:t>
            </a:fld>
            <a:endParaRPr sz="1400" b="0" i="0" u="none" strike="noStrike" cap="none">
              <a:solidFill>
                <a:srgbClr val="000000"/>
              </a:solidFill>
              <a:latin typeface="Arial"/>
              <a:ea typeface="Arial"/>
              <a:cs typeface="Arial"/>
              <a:sym typeface="Arial"/>
            </a:endParaRPr>
          </a:p>
        </p:txBody>
      </p:sp>
      <p:sp>
        <p:nvSpPr>
          <p:cNvPr id="1423" name="Google Shape;1423;g931b0266f0_0_124:notes"/>
          <p:cNvSpPr>
            <a:spLocks noGrp="1" noRot="1" noChangeAspect="1"/>
          </p:cNvSpPr>
          <p:nvPr>
            <p:ph type="sldImg" idx="2"/>
          </p:nvPr>
        </p:nvSpPr>
        <p:spPr>
          <a:xfrm>
            <a:off x="396875" y="692150"/>
            <a:ext cx="6073775" cy="3416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24" name="Google Shape;1424;g931b0266f0_0_124:notes"/>
          <p:cNvSpPr txBox="1">
            <a:spLocks noGrp="1"/>
          </p:cNvSpPr>
          <p:nvPr>
            <p:ph type="body" idx="1"/>
          </p:nvPr>
        </p:nvSpPr>
        <p:spPr>
          <a:xfrm>
            <a:off x="913163" y="4343400"/>
            <a:ext cx="5033100" cy="4113000"/>
          </a:xfrm>
          <a:prstGeom prst="rect">
            <a:avLst/>
          </a:prstGeom>
          <a:no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SzPts val="1800"/>
              <a:buFont typeface="Arial"/>
              <a:buNone/>
            </a:pPr>
            <a:r>
              <a:rPr lang="en" sz="1800" b="0" i="0" u="none" strike="noStrike" cap="none">
                <a:latin typeface="Arial"/>
                <a:ea typeface="Arial"/>
                <a:cs typeface="Arial"/>
                <a:sym typeface="Arial"/>
              </a:rPr>
              <a:t>Type:</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 first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Job Jar request (include the JJ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Bug fix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Enhancement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Tuning (include the CCM number, if any)</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Second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New process</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Changed process</a:t>
            </a:r>
            <a:endParaRPr/>
          </a:p>
          <a:p>
            <a:pPr marL="0" marR="0" lvl="0" indent="0" algn="l" rtl="0">
              <a:lnSpc>
                <a:spcPct val="100000"/>
              </a:lnSpc>
              <a:spcBef>
                <a:spcPts val="0"/>
              </a:spcBef>
              <a:spcAft>
                <a:spcPts val="0"/>
              </a:spcAft>
              <a:buSzPts val="1400"/>
              <a:buNone/>
            </a:pPr>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1"/>
        <p:cNvGrpSpPr/>
        <p:nvPr/>
      </p:nvGrpSpPr>
      <p:grpSpPr>
        <a:xfrm>
          <a:off x="0" y="0"/>
          <a:ext cx="0" cy="0"/>
          <a:chOff x="0" y="0"/>
          <a:chExt cx="0" cy="0"/>
        </a:xfrm>
      </p:grpSpPr>
      <p:sp>
        <p:nvSpPr>
          <p:cNvPr id="1432" name="Google Shape;1432;g931b0266f0_0_134:notes"/>
          <p:cNvSpPr txBox="1"/>
          <p:nvPr/>
        </p:nvSpPr>
        <p:spPr>
          <a:xfrm>
            <a:off x="3884814" y="8683690"/>
            <a:ext cx="2968500" cy="4527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133</a:t>
            </a:fld>
            <a:endParaRPr sz="1400" b="0" i="0" u="none" strike="noStrike" cap="none">
              <a:solidFill>
                <a:srgbClr val="000000"/>
              </a:solidFill>
              <a:latin typeface="Arial"/>
              <a:ea typeface="Arial"/>
              <a:cs typeface="Arial"/>
              <a:sym typeface="Arial"/>
            </a:endParaRPr>
          </a:p>
        </p:txBody>
      </p:sp>
      <p:sp>
        <p:nvSpPr>
          <p:cNvPr id="1433" name="Google Shape;1433;g931b0266f0_0_134:notes"/>
          <p:cNvSpPr txBox="1"/>
          <p:nvPr/>
        </p:nvSpPr>
        <p:spPr>
          <a:xfrm>
            <a:off x="3884814" y="8683690"/>
            <a:ext cx="2971800" cy="455400"/>
          </a:xfrm>
          <a:prstGeom prst="rect">
            <a:avLst/>
          </a:prstGeom>
          <a:noFill/>
          <a:ln>
            <a:noFill/>
          </a:ln>
        </p:spPr>
        <p:txBody>
          <a:bodyPr spcFirstLastPara="1" wrap="square" lIns="91400" tIns="45700" rIns="91400" bIns="45700" anchor="b" anchorCtr="0">
            <a:noAutofit/>
          </a:bodyPr>
          <a:lstStyle/>
          <a:p>
            <a:pPr marL="0" marR="0" lvl="0" indent="0" algn="r" rtl="0">
              <a:lnSpc>
                <a:spcPct val="100000"/>
              </a:lnSpc>
              <a:spcBef>
                <a:spcPts val="0"/>
              </a:spcBef>
              <a:spcAft>
                <a:spcPts val="0"/>
              </a:spcAft>
              <a:buClr>
                <a:srgbClr val="000000"/>
              </a:buClr>
              <a:buSzPts val="1200"/>
              <a:buFont typeface="Times New Roman"/>
              <a:buNone/>
            </a:pPr>
            <a:fld id="{00000000-1234-1234-1234-123412341234}" type="slidenum">
              <a:rPr lang="en" sz="1200" b="1" i="0" u="none" strike="noStrike" cap="none">
                <a:solidFill>
                  <a:srgbClr val="000000"/>
                </a:solidFill>
                <a:latin typeface="Times New Roman"/>
                <a:ea typeface="Times New Roman"/>
                <a:cs typeface="Times New Roman"/>
                <a:sym typeface="Times New Roman"/>
              </a:rPr>
              <a:t>133</a:t>
            </a:fld>
            <a:endParaRPr sz="1400" b="0" i="0" u="none" strike="noStrike" cap="none">
              <a:solidFill>
                <a:srgbClr val="000000"/>
              </a:solidFill>
              <a:latin typeface="Arial"/>
              <a:ea typeface="Arial"/>
              <a:cs typeface="Arial"/>
              <a:sym typeface="Arial"/>
            </a:endParaRPr>
          </a:p>
        </p:txBody>
      </p:sp>
      <p:sp>
        <p:nvSpPr>
          <p:cNvPr id="1434" name="Google Shape;1434;g931b0266f0_0_134:notes"/>
          <p:cNvSpPr>
            <a:spLocks noGrp="1" noRot="1" noChangeAspect="1"/>
          </p:cNvSpPr>
          <p:nvPr>
            <p:ph type="sldImg" idx="2"/>
          </p:nvPr>
        </p:nvSpPr>
        <p:spPr>
          <a:xfrm>
            <a:off x="396875" y="692150"/>
            <a:ext cx="6073775" cy="34163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35" name="Google Shape;1435;g931b0266f0_0_134:notes"/>
          <p:cNvSpPr txBox="1">
            <a:spLocks noGrp="1"/>
          </p:cNvSpPr>
          <p:nvPr>
            <p:ph type="body" idx="1"/>
          </p:nvPr>
        </p:nvSpPr>
        <p:spPr>
          <a:xfrm>
            <a:off x="913163" y="4343400"/>
            <a:ext cx="5033100" cy="4113000"/>
          </a:xfrm>
          <a:prstGeom prst="rect">
            <a:avLst/>
          </a:prstGeom>
          <a:noFill/>
          <a:ln>
            <a:noFill/>
          </a:ln>
        </p:spPr>
        <p:txBody>
          <a:bodyPr spcFirstLastPara="1" wrap="square" lIns="91400" tIns="45700" rIns="91400" bIns="45700" anchor="t" anchorCtr="0">
            <a:noAutofit/>
          </a:bodyPr>
          <a:lstStyle/>
          <a:p>
            <a:pPr marL="0" marR="0" lvl="0" indent="0" algn="l" rtl="0">
              <a:lnSpc>
                <a:spcPct val="100000"/>
              </a:lnSpc>
              <a:spcBef>
                <a:spcPts val="0"/>
              </a:spcBef>
              <a:spcAft>
                <a:spcPts val="0"/>
              </a:spcAft>
              <a:buSzPts val="1800"/>
              <a:buFont typeface="Arial"/>
              <a:buNone/>
            </a:pPr>
            <a:r>
              <a:rPr lang="en" sz="1800" b="0" i="0" u="none" strike="noStrike" cap="none">
                <a:latin typeface="Arial"/>
                <a:ea typeface="Arial"/>
                <a:cs typeface="Arial"/>
                <a:sym typeface="Arial"/>
              </a:rPr>
              <a:t>Type:</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 first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Job Jar request (include the JJ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Bug fix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Enhancement (include the CCM number)</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Tuning (include the CCM number, if any)</a:t>
            </a:r>
            <a:endParaRPr/>
          </a:p>
          <a:p>
            <a:pPr marL="0" marR="0" lvl="0" indent="0" algn="l" rtl="0">
              <a:lnSpc>
                <a:spcPct val="100000"/>
              </a:lnSpc>
              <a:spcBef>
                <a:spcPts val="400"/>
              </a:spcBef>
              <a:spcAft>
                <a:spcPts val="0"/>
              </a:spcAft>
              <a:buClr>
                <a:srgbClr val="000000"/>
              </a:buClr>
              <a:buSzPts val="1800"/>
              <a:buFont typeface="Arial"/>
              <a:buChar char="•"/>
            </a:pPr>
            <a:r>
              <a:rPr lang="en" sz="1800" b="0" i="0" u="none" strike="noStrike" cap="none">
                <a:latin typeface="Arial"/>
                <a:ea typeface="Arial"/>
                <a:cs typeface="Arial"/>
                <a:sym typeface="Arial"/>
              </a:rPr>
              <a:t>Second line could be</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New process</a:t>
            </a:r>
            <a:endParaRPr/>
          </a:p>
          <a:p>
            <a:pPr marL="609600" marR="0" lvl="1" indent="-165100" algn="l" rtl="0">
              <a:lnSpc>
                <a:spcPct val="100000"/>
              </a:lnSpc>
              <a:spcBef>
                <a:spcPts val="400"/>
              </a:spcBef>
              <a:spcAft>
                <a:spcPts val="0"/>
              </a:spcAft>
              <a:buClr>
                <a:srgbClr val="000000"/>
              </a:buClr>
              <a:buSzPts val="1800"/>
              <a:buFont typeface="Arial"/>
              <a:buChar char="•"/>
            </a:pPr>
            <a:r>
              <a:rPr lang="en" sz="1800" b="0" i="0" u="none" strike="noStrike" cap="none">
                <a:solidFill>
                  <a:srgbClr val="000000"/>
                </a:solidFill>
                <a:latin typeface="Arial"/>
                <a:ea typeface="Arial"/>
                <a:cs typeface="Arial"/>
                <a:sym typeface="Arial"/>
              </a:rPr>
              <a:t>Changed process</a:t>
            </a:r>
            <a:endParaRPr/>
          </a:p>
          <a:p>
            <a:pPr marL="0" marR="0" lvl="0" indent="0" algn="l" rtl="0">
              <a:lnSpc>
                <a:spcPct val="100000"/>
              </a:lnSpc>
              <a:spcBef>
                <a:spcPts val="0"/>
              </a:spcBef>
              <a:spcAft>
                <a:spcPts val="0"/>
              </a:spcAft>
              <a:buSzPts val="1400"/>
              <a:buNone/>
            </a:pPr>
            <a:endParaRPr sz="18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2"/>
        <p:cNvGrpSpPr/>
        <p:nvPr/>
      </p:nvGrpSpPr>
      <p:grpSpPr>
        <a:xfrm>
          <a:off x="0" y="0"/>
          <a:ext cx="0" cy="0"/>
          <a:chOff x="0" y="0"/>
          <a:chExt cx="0" cy="0"/>
        </a:xfrm>
      </p:grpSpPr>
      <p:sp>
        <p:nvSpPr>
          <p:cNvPr id="1443" name="Google Shape;1443;g931b0266f0_0_20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44" name="Google Shape;1444;g931b0266f0_0_20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
        <p:cNvGrpSpPr/>
        <p:nvPr/>
      </p:nvGrpSpPr>
      <p:grpSpPr>
        <a:xfrm>
          <a:off x="0" y="0"/>
          <a:ext cx="0" cy="0"/>
          <a:chOff x="0" y="0"/>
          <a:chExt cx="0" cy="0"/>
        </a:xfrm>
      </p:grpSpPr>
      <p:sp>
        <p:nvSpPr>
          <p:cNvPr id="1449" name="Google Shape;1449;g931b0266f0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0" name="Google Shape;1450;g931b0266f0_0_1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5"/>
        <p:cNvGrpSpPr/>
        <p:nvPr/>
      </p:nvGrpSpPr>
      <p:grpSpPr>
        <a:xfrm>
          <a:off x="0" y="0"/>
          <a:ext cx="0" cy="0"/>
          <a:chOff x="0" y="0"/>
          <a:chExt cx="0" cy="0"/>
        </a:xfrm>
      </p:grpSpPr>
      <p:sp>
        <p:nvSpPr>
          <p:cNvPr id="1456" name="Google Shape;1456;g931b0266f0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57" name="Google Shape;1457;g931b0266f0_0_1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931b0266f0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4" name="Google Shape;1464;g931b0266f0_0_1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0"/>
        <p:cNvGrpSpPr/>
        <p:nvPr/>
      </p:nvGrpSpPr>
      <p:grpSpPr>
        <a:xfrm>
          <a:off x="0" y="0"/>
          <a:ext cx="0" cy="0"/>
          <a:chOff x="0" y="0"/>
          <a:chExt cx="0" cy="0"/>
        </a:xfrm>
      </p:grpSpPr>
      <p:sp>
        <p:nvSpPr>
          <p:cNvPr id="1471" name="Google Shape;1471;g931b0266f0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2" name="Google Shape;1472;g931b0266f0_0_1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7"/>
        <p:cNvGrpSpPr/>
        <p:nvPr/>
      </p:nvGrpSpPr>
      <p:grpSpPr>
        <a:xfrm>
          <a:off x="0" y="0"/>
          <a:ext cx="0" cy="0"/>
          <a:chOff x="0" y="0"/>
          <a:chExt cx="0" cy="0"/>
        </a:xfrm>
      </p:grpSpPr>
      <p:sp>
        <p:nvSpPr>
          <p:cNvPr id="1478" name="Google Shape;1478;g931b0266f0_0_1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9" name="Google Shape;1479;g931b0266f0_0_1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5"/>
        <p:cNvGrpSpPr/>
        <p:nvPr/>
      </p:nvGrpSpPr>
      <p:grpSpPr>
        <a:xfrm>
          <a:off x="0" y="0"/>
          <a:ext cx="0" cy="0"/>
          <a:chOff x="0" y="0"/>
          <a:chExt cx="0" cy="0"/>
        </a:xfrm>
      </p:grpSpPr>
      <p:sp>
        <p:nvSpPr>
          <p:cNvPr id="1486" name="Google Shape;1486;g931b0266f0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7" name="Google Shape;1487;g931b0266f0_0_17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3"/>
        <p:cNvGrpSpPr/>
        <p:nvPr/>
      </p:nvGrpSpPr>
      <p:grpSpPr>
        <a:xfrm>
          <a:off x="0" y="0"/>
          <a:ext cx="0" cy="0"/>
          <a:chOff x="0" y="0"/>
          <a:chExt cx="0" cy="0"/>
        </a:xfrm>
      </p:grpSpPr>
      <p:sp>
        <p:nvSpPr>
          <p:cNvPr id="1494" name="Google Shape;1494;g931b0266f0_0_14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95" name="Google Shape;1495;g931b0266f0_0_14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0"/>
        <p:cNvGrpSpPr/>
        <p:nvPr/>
      </p:nvGrpSpPr>
      <p:grpSpPr>
        <a:xfrm>
          <a:off x="0" y="0"/>
          <a:ext cx="0" cy="0"/>
          <a:chOff x="0" y="0"/>
          <a:chExt cx="0" cy="0"/>
        </a:xfrm>
      </p:grpSpPr>
      <p:sp>
        <p:nvSpPr>
          <p:cNvPr id="1501" name="Google Shape;1501;g931b0266f0_0_14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2" name="Google Shape;1502;g931b0266f0_0_14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7"/>
        <p:cNvGrpSpPr/>
        <p:nvPr/>
      </p:nvGrpSpPr>
      <p:grpSpPr>
        <a:xfrm>
          <a:off x="0" y="0"/>
          <a:ext cx="0" cy="0"/>
          <a:chOff x="0" y="0"/>
          <a:chExt cx="0" cy="0"/>
        </a:xfrm>
      </p:grpSpPr>
      <p:sp>
        <p:nvSpPr>
          <p:cNvPr id="1508" name="Google Shape;1508;gd7c36111cc_0_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09" name="Google Shape;1509;gd7c36111cc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5"/>
        <p:cNvGrpSpPr/>
        <p:nvPr/>
      </p:nvGrpSpPr>
      <p:grpSpPr>
        <a:xfrm>
          <a:off x="0" y="0"/>
          <a:ext cx="0" cy="0"/>
          <a:chOff x="0" y="0"/>
          <a:chExt cx="0" cy="0"/>
        </a:xfrm>
      </p:grpSpPr>
      <p:sp>
        <p:nvSpPr>
          <p:cNvPr id="1516" name="Google Shape;1516;g931b0266f0_0_14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7" name="Google Shape;1517;g931b0266f0_0_14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3"/>
        <p:cNvGrpSpPr/>
        <p:nvPr/>
      </p:nvGrpSpPr>
      <p:grpSpPr>
        <a:xfrm>
          <a:off x="0" y="0"/>
          <a:ext cx="0" cy="0"/>
          <a:chOff x="0" y="0"/>
          <a:chExt cx="0" cy="0"/>
        </a:xfrm>
      </p:grpSpPr>
      <p:sp>
        <p:nvSpPr>
          <p:cNvPr id="1524" name="Google Shape;1524;gd7c36111cc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5" name="Google Shape;1525;gd7c36111c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1"/>
        <p:cNvGrpSpPr/>
        <p:nvPr/>
      </p:nvGrpSpPr>
      <p:grpSpPr>
        <a:xfrm>
          <a:off x="0" y="0"/>
          <a:ext cx="0" cy="0"/>
          <a:chOff x="0" y="0"/>
          <a:chExt cx="0" cy="0"/>
        </a:xfrm>
      </p:grpSpPr>
      <p:sp>
        <p:nvSpPr>
          <p:cNvPr id="1532" name="Google Shape;1532;gd7c36111cc_0_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3" name="Google Shape;1533;gd7c36111cc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9"/>
        <p:cNvGrpSpPr/>
        <p:nvPr/>
      </p:nvGrpSpPr>
      <p:grpSpPr>
        <a:xfrm>
          <a:off x="0" y="0"/>
          <a:ext cx="0" cy="0"/>
          <a:chOff x="0" y="0"/>
          <a:chExt cx="0" cy="0"/>
        </a:xfrm>
      </p:grpSpPr>
      <p:sp>
        <p:nvSpPr>
          <p:cNvPr id="1540" name="Google Shape;1540;gf5f30fee0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
            <a:headEnd type="none" w="sm" len="sm"/>
            <a:tailEnd type="none" w="sm" len="sm"/>
          </a:ln>
        </p:spPr>
      </p:sp>
      <p:sp>
        <p:nvSpPr>
          <p:cNvPr id="1541" name="Google Shape;1541;gf5f30fee0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SzPts val="1100"/>
              <a:buNone/>
            </a:pPr>
            <a:endParaRPr sz="1200">
              <a:solidFill>
                <a:schemeClr val="dk1"/>
              </a:solidFill>
              <a:latin typeface="Calibri"/>
              <a:ea typeface="Calibri"/>
              <a:cs typeface="Calibri"/>
              <a:sym typeface="Calibri"/>
            </a:endParaRPr>
          </a:p>
        </p:txBody>
      </p:sp>
      <p:sp>
        <p:nvSpPr>
          <p:cNvPr id="1542" name="Google Shape;1542;gf5f30fee07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 sz="1200">
                <a:solidFill>
                  <a:schemeClr val="dk1"/>
                </a:solidFill>
                <a:latin typeface="Calibri"/>
                <a:ea typeface="Calibri"/>
                <a:cs typeface="Calibri"/>
                <a:sym typeface="Calibri"/>
              </a:rPr>
              <a:t>147</a:t>
            </a:fld>
            <a:endParaRPr sz="12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0.jpe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png"/><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3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3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3.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02_Title Full Logo BLUE">
  <p:cSld name="02_Title Full Logo BLUE">
    <p:spTree>
      <p:nvGrpSpPr>
        <p:cNvPr id="1" name="Shape 19"/>
        <p:cNvGrpSpPr/>
        <p:nvPr/>
      </p:nvGrpSpPr>
      <p:grpSpPr>
        <a:xfrm>
          <a:off x="0" y="0"/>
          <a:ext cx="0" cy="0"/>
          <a:chOff x="0" y="0"/>
          <a:chExt cx="0" cy="0"/>
        </a:xfrm>
      </p:grpSpPr>
      <p:pic>
        <p:nvPicPr>
          <p:cNvPr id="20" name="Google Shape;20;p3" descr="Blu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1" name="Google Shape;21;p3"/>
          <p:cNvSpPr txBox="1">
            <a:spLocks noGrp="1"/>
          </p:cNvSpPr>
          <p:nvPr>
            <p:ph type="subTitle" idx="1"/>
          </p:nvPr>
        </p:nvSpPr>
        <p:spPr>
          <a:xfrm>
            <a:off x="275680"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Font typeface="Arial"/>
              <a:buNone/>
              <a:defRPr sz="2000" b="0" i="0" u="none" strike="noStrike" cap="none">
                <a:solidFill>
                  <a:srgbClr val="FFFFFF"/>
                </a:solidFill>
                <a:latin typeface="Arial"/>
                <a:ea typeface="Arial"/>
                <a:cs typeface="Arial"/>
                <a:sym typeface="Aria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22" name="Google Shape;22;p3"/>
          <p:cNvSpPr txBox="1">
            <a:spLocks noGrp="1"/>
          </p:cNvSpPr>
          <p:nvPr>
            <p:ph type="body" idx="2"/>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FFFFFF"/>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23" name="Google Shape;23;p3"/>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pic>
        <p:nvPicPr>
          <p:cNvPr id="24" name="Google Shape;24;p3" descr="Nielsen_R.png"/>
          <p:cNvPicPr preferRelativeResize="0"/>
          <p:nvPr/>
        </p:nvPicPr>
        <p:blipFill rotWithShape="1">
          <a:blip r:embed="rId3">
            <a:alphaModFix/>
          </a:blip>
          <a:srcRect/>
          <a:stretch/>
        </p:blipFill>
        <p:spPr>
          <a:xfrm>
            <a:off x="364066" y="1561243"/>
            <a:ext cx="1171500" cy="310800"/>
          </a:xfrm>
          <a:prstGeom prst="rect">
            <a:avLst/>
          </a:prstGeom>
          <a:noFill/>
          <a:ln>
            <a:noFill/>
          </a:ln>
        </p:spPr>
      </p:pic>
      <p:sp>
        <p:nvSpPr>
          <p:cNvPr id="25" name="Google Shape;25;p3"/>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02b_Title Full Photo BLUE">
  <p:cSld name="4_Title N-tab White">
    <p:spTree>
      <p:nvGrpSpPr>
        <p:cNvPr id="1" name="Shape 26"/>
        <p:cNvGrpSpPr/>
        <p:nvPr/>
      </p:nvGrpSpPr>
      <p:grpSpPr>
        <a:xfrm>
          <a:off x="0" y="0"/>
          <a:ext cx="0" cy="0"/>
          <a:chOff x="0" y="0"/>
          <a:chExt cx="0" cy="0"/>
        </a:xfrm>
      </p:grpSpPr>
      <p:pic>
        <p:nvPicPr>
          <p:cNvPr id="27" name="Google Shape;27;p4" descr="Blue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8" name="Google Shape;28;p4" descr="Blue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29" name="Google Shape;29;p4"/>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chemeClr val="dk2"/>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sp>
        <p:nvSpPr>
          <p:cNvPr id="30" name="Google Shape;30;p4"/>
          <p:cNvSpPr txBox="1">
            <a:spLocks noGrp="1"/>
          </p:cNvSpPr>
          <p:nvPr>
            <p:ph type="ctrTitle"/>
          </p:nvPr>
        </p:nvSpPr>
        <p:spPr>
          <a:xfrm>
            <a:off x="336322" y="308586"/>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1" name="Google Shape;31;p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32" name="Google Shape;32;p4"/>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03_Title N-tab White">
  <p:cSld name="03_Title N-tab White">
    <p:spTree>
      <p:nvGrpSpPr>
        <p:cNvPr id="1" name="Shape 33"/>
        <p:cNvGrpSpPr/>
        <p:nvPr/>
      </p:nvGrpSpPr>
      <p:grpSpPr>
        <a:xfrm>
          <a:off x="0" y="0"/>
          <a:ext cx="0" cy="0"/>
          <a:chOff x="0" y="0"/>
          <a:chExt cx="0" cy="0"/>
        </a:xfrm>
      </p:grpSpPr>
      <p:pic>
        <p:nvPicPr>
          <p:cNvPr id="34" name="Google Shape;34;p5" descr="Blu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5" name="Google Shape;35;p5"/>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chemeClr val="dk2"/>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36" name="Google Shape;36;p5" descr="N Element Tab Square-Blue_RGB.png"/>
          <p:cNvPicPr preferRelativeResize="0"/>
          <p:nvPr/>
        </p:nvPicPr>
        <p:blipFill rotWithShape="1">
          <a:blip r:embed="rId3">
            <a:alphaModFix/>
          </a:blip>
          <a:srcRect/>
          <a:stretch/>
        </p:blipFill>
        <p:spPr>
          <a:xfrm>
            <a:off x="459399" y="1629063"/>
            <a:ext cx="213000" cy="213000"/>
          </a:xfrm>
          <a:prstGeom prst="rect">
            <a:avLst/>
          </a:prstGeom>
          <a:noFill/>
          <a:ln>
            <a:noFill/>
          </a:ln>
        </p:spPr>
      </p:pic>
      <p:sp>
        <p:nvSpPr>
          <p:cNvPr id="37" name="Google Shape;37;p5"/>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8" name="Google Shape;38;p5"/>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39" name="Google Shape;39;p5"/>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04_Title Full Logo White">
  <p:cSld name="04_Title Full Logo White">
    <p:spTree>
      <p:nvGrpSpPr>
        <p:cNvPr id="1" name="Shape 40"/>
        <p:cNvGrpSpPr/>
        <p:nvPr/>
      </p:nvGrpSpPr>
      <p:grpSpPr>
        <a:xfrm>
          <a:off x="0" y="0"/>
          <a:ext cx="0" cy="0"/>
          <a:chOff x="0" y="0"/>
          <a:chExt cx="0" cy="0"/>
        </a:xfrm>
      </p:grpSpPr>
      <p:pic>
        <p:nvPicPr>
          <p:cNvPr id="41" name="Google Shape;41;p6" descr="Blu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2" name="Google Shape;42;p6"/>
          <p:cNvSpPr txBox="1">
            <a:spLocks noGrp="1"/>
          </p:cNvSpPr>
          <p:nvPr>
            <p:ph type="body" idx="1"/>
          </p:nvPr>
        </p:nvSpPr>
        <p:spPr>
          <a:xfrm>
            <a:off x="336322"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000000"/>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43" name="Google Shape;43;p6" descr="Nielsen-Wordmark-Color-RGB.png"/>
          <p:cNvPicPr preferRelativeResize="0"/>
          <p:nvPr/>
        </p:nvPicPr>
        <p:blipFill rotWithShape="1">
          <a:blip r:embed="rId3">
            <a:alphaModFix/>
          </a:blip>
          <a:srcRect/>
          <a:stretch/>
        </p:blipFill>
        <p:spPr>
          <a:xfrm>
            <a:off x="445783" y="1571513"/>
            <a:ext cx="1191600" cy="315300"/>
          </a:xfrm>
          <a:prstGeom prst="rect">
            <a:avLst/>
          </a:prstGeom>
          <a:noFill/>
          <a:ln>
            <a:noFill/>
          </a:ln>
        </p:spPr>
      </p:pic>
      <p:sp>
        <p:nvSpPr>
          <p:cNvPr id="44" name="Google Shape;44;p6"/>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5" name="Google Shape;45;p6"/>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46" name="Google Shape;46;p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6_Title only">
  <p:cSld name="06_Title 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594360" y="507492"/>
            <a:ext cx="81666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9" name="Google Shape;49;p7"/>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50" name="Google Shape;50;p7"/>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60"/>
              </a:spcBef>
              <a:spcAft>
                <a:spcPts val="0"/>
              </a:spcAft>
              <a:buClr>
                <a:schemeClr val="dk1"/>
              </a:buClr>
              <a:buSzPts val="1400"/>
              <a:buFont typeface="Open Sans"/>
              <a:buNone/>
              <a:defRPr sz="800" i="0" u="none" strike="noStrike" cap="none">
                <a:solidFill>
                  <a:schemeClr val="dk1"/>
                </a:solidFill>
                <a:latin typeface="Open Sans"/>
                <a:ea typeface="Open Sans"/>
                <a:cs typeface="Open Sans"/>
                <a:sym typeface="Open Sans"/>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32_Divider Texture PURPLE">
  <p:cSld name="32_Divider Texture PURPLE">
    <p:spTree>
      <p:nvGrpSpPr>
        <p:cNvPr id="1" name="Shape 51"/>
        <p:cNvGrpSpPr/>
        <p:nvPr/>
      </p:nvGrpSpPr>
      <p:grpSpPr>
        <a:xfrm>
          <a:off x="0" y="0"/>
          <a:ext cx="0" cy="0"/>
          <a:chOff x="0" y="0"/>
          <a:chExt cx="0" cy="0"/>
        </a:xfrm>
      </p:grpSpPr>
      <p:pic>
        <p:nvPicPr>
          <p:cNvPr id="52" name="Google Shape;52;p8" descr="Purpl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3" name="Google Shape;53;p8"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54" name="Google Shape;54;p8"/>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5" name="Google Shape;55;p8"/>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56" name="Google Shape;56;p8"/>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7_Chart">
  <p:cSld name="07_Chart">
    <p:spTree>
      <p:nvGrpSpPr>
        <p:cNvPr id="1" name="Shape 57"/>
        <p:cNvGrpSpPr/>
        <p:nvPr/>
      </p:nvGrpSpPr>
      <p:grpSpPr>
        <a:xfrm>
          <a:off x="0" y="0"/>
          <a:ext cx="0" cy="0"/>
          <a:chOff x="0" y="0"/>
          <a:chExt cx="0" cy="0"/>
        </a:xfrm>
      </p:grpSpPr>
      <p:sp>
        <p:nvSpPr>
          <p:cNvPr id="58" name="Google Shape;58;p9"/>
          <p:cNvSpPr txBox="1">
            <a:spLocks noGrp="1"/>
          </p:cNvSpPr>
          <p:nvPr>
            <p:ph type="body" idx="1"/>
          </p:nvPr>
        </p:nvSpPr>
        <p:spPr>
          <a:xfrm>
            <a:off x="594360" y="1351026"/>
            <a:ext cx="8168700" cy="192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59" name="Google Shape;59;p9"/>
          <p:cNvSpPr>
            <a:spLocks noGrp="1"/>
          </p:cNvSpPr>
          <p:nvPr>
            <p:ph type="chart" idx="2"/>
          </p:nvPr>
        </p:nvSpPr>
        <p:spPr>
          <a:xfrm>
            <a:off x="588818" y="1971485"/>
            <a:ext cx="81741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60" name="Google Shape;60;p9"/>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61" name="Google Shape;61;p9"/>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62" name="Google Shape;62;p9"/>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08_Side-by-side">
  <p:cSld name="08_Side-by-side">
    <p:spTree>
      <p:nvGrpSpPr>
        <p:cNvPr id="1" name="Shape 63"/>
        <p:cNvGrpSpPr/>
        <p:nvPr/>
      </p:nvGrpSpPr>
      <p:grpSpPr>
        <a:xfrm>
          <a:off x="0" y="0"/>
          <a:ext cx="0" cy="0"/>
          <a:chOff x="0" y="0"/>
          <a:chExt cx="0" cy="0"/>
        </a:xfrm>
      </p:grpSpPr>
      <p:sp>
        <p:nvSpPr>
          <p:cNvPr id="64" name="Google Shape;64;p10"/>
          <p:cNvSpPr txBox="1">
            <a:spLocks noGrp="1"/>
          </p:cNvSpPr>
          <p:nvPr>
            <p:ph type="body" idx="1"/>
          </p:nvPr>
        </p:nvSpPr>
        <p:spPr>
          <a:xfrm>
            <a:off x="594360"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65" name="Google Shape;65;p10"/>
          <p:cNvSpPr>
            <a:spLocks noGrp="1"/>
          </p:cNvSpPr>
          <p:nvPr>
            <p:ph type="chart" idx="2"/>
          </p:nvPr>
        </p:nvSpPr>
        <p:spPr>
          <a:xfrm>
            <a:off x="711200"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66" name="Google Shape;66;p10"/>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67" name="Google Shape;67;p10"/>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68" name="Google Shape;68;p10"/>
          <p:cNvSpPr>
            <a:spLocks noGrp="1"/>
          </p:cNvSpPr>
          <p:nvPr>
            <p:ph type="chart" idx="4"/>
          </p:nvPr>
        </p:nvSpPr>
        <p:spPr>
          <a:xfrm>
            <a:off x="4862512"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69" name="Google Shape;69;p10"/>
          <p:cNvSpPr txBox="1">
            <a:spLocks noGrp="1"/>
          </p:cNvSpPr>
          <p:nvPr>
            <p:ph type="body" idx="5"/>
          </p:nvPr>
        </p:nvSpPr>
        <p:spPr>
          <a:xfrm>
            <a:off x="4811042"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70" name="Google Shape;70;p10"/>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_Divider Slide BLUE">
  <p:cSld name="12_Divider Slide BLUE">
    <p:spTree>
      <p:nvGrpSpPr>
        <p:cNvPr id="1" name="Shape 71"/>
        <p:cNvGrpSpPr/>
        <p:nvPr/>
      </p:nvGrpSpPr>
      <p:grpSpPr>
        <a:xfrm>
          <a:off x="0" y="0"/>
          <a:ext cx="0" cy="0"/>
          <a:chOff x="0" y="0"/>
          <a:chExt cx="0" cy="0"/>
        </a:xfrm>
      </p:grpSpPr>
      <p:pic>
        <p:nvPicPr>
          <p:cNvPr id="72" name="Google Shape;72;p11" descr="Blue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73" name="Google Shape;73;p11" descr="Blue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74" name="Google Shape;74;p11"/>
          <p:cNvSpPr txBox="1">
            <a:spLocks noGrp="1"/>
          </p:cNvSpPr>
          <p:nvPr>
            <p:ph type="ctrTitle"/>
          </p:nvPr>
        </p:nvSpPr>
        <p:spPr>
          <a:xfrm>
            <a:off x="336322" y="308586"/>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75" name="Google Shape;75;p11"/>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76" name="Google Shape;76;p11"/>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68_Divider Texture GOLD">
  <p:cSld name="68_Divider Texture GOLD">
    <p:spTree>
      <p:nvGrpSpPr>
        <p:cNvPr id="1" name="Shape 77"/>
        <p:cNvGrpSpPr/>
        <p:nvPr/>
      </p:nvGrpSpPr>
      <p:grpSpPr>
        <a:xfrm>
          <a:off x="0" y="0"/>
          <a:ext cx="0" cy="0"/>
          <a:chOff x="0" y="0"/>
          <a:chExt cx="0" cy="0"/>
        </a:xfrm>
      </p:grpSpPr>
      <p:pic>
        <p:nvPicPr>
          <p:cNvPr id="78" name="Google Shape;78;p12" descr="Orang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79" name="Google Shape;79;p12"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80" name="Google Shape;80;p12"/>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81" name="Google Shape;81;p12"/>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82" name="Google Shape;82;p12"/>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65_Quote Texture GOLD">
  <p:cSld name="65_Quote Texture GOLD">
    <p:spTree>
      <p:nvGrpSpPr>
        <p:cNvPr id="1" name="Shape 83"/>
        <p:cNvGrpSpPr/>
        <p:nvPr/>
      </p:nvGrpSpPr>
      <p:grpSpPr>
        <a:xfrm>
          <a:off x="0" y="0"/>
          <a:ext cx="0" cy="0"/>
          <a:chOff x="0" y="0"/>
          <a:chExt cx="0" cy="0"/>
        </a:xfrm>
      </p:grpSpPr>
      <p:pic>
        <p:nvPicPr>
          <p:cNvPr id="84" name="Google Shape;84;p13" descr="Orang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85" name="Google Shape;85;p13"/>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pic>
        <p:nvPicPr>
          <p:cNvPr id="86" name="Google Shape;86;p13"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87" name="Google Shape;87;p13"/>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rgbClr val="FFFFFF"/>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88" name="Google Shape;88;p13"/>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89" name="Google Shape;89;p13"/>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64_Quote White">
  <p:cSld name="64_Quote White">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b="1" i="0" u="none" strike="noStrike" cap="none">
                <a:solidFill>
                  <a:schemeClr val="dk2"/>
                </a:solidFill>
                <a:latin typeface="Arial"/>
                <a:ea typeface="Arial"/>
                <a:cs typeface="Arial"/>
                <a:sym typeface="Aria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92" name="Google Shape;92;p14"/>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Font typeface="Arial"/>
              <a:buNone/>
              <a:defRPr sz="1800" b="1" i="0" u="none" strike="noStrike" cap="none">
                <a:solidFill>
                  <a:schemeClr val="dk2"/>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1600" b="0"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400" b="0"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200" b="0" i="0" u="none" strike="noStrike" cap="none">
                <a:solidFill>
                  <a:schemeClr val="dk2"/>
                </a:solidFill>
                <a:latin typeface="Arial"/>
                <a:ea typeface="Arial"/>
                <a:cs typeface="Arial"/>
                <a:sym typeface="Arial"/>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9pPr>
          </a:lstStyle>
          <a:p>
            <a:endParaRPr/>
          </a:p>
        </p:txBody>
      </p:sp>
      <p:pic>
        <p:nvPicPr>
          <p:cNvPr id="93" name="Google Shape;93;p14"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94" name="Google Shape;94;p1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50_Divider Texture GREEN">
  <p:cSld name="50_Divider Texture GREEN">
    <p:spTree>
      <p:nvGrpSpPr>
        <p:cNvPr id="1" name="Shape 95"/>
        <p:cNvGrpSpPr/>
        <p:nvPr/>
      </p:nvGrpSpPr>
      <p:grpSpPr>
        <a:xfrm>
          <a:off x="0" y="0"/>
          <a:ext cx="0" cy="0"/>
          <a:chOff x="0" y="0"/>
          <a:chExt cx="0" cy="0"/>
        </a:xfrm>
      </p:grpSpPr>
      <p:pic>
        <p:nvPicPr>
          <p:cNvPr id="96" name="Google Shape;96;p15" descr="Green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97" name="Google Shape;97;p15"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98" name="Google Shape;98;p15"/>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lt1"/>
                </a:solidFill>
              </a:defRPr>
            </a:lvl1pPr>
            <a:lvl2pPr marL="0" marR="0" lvl="1" indent="0" algn="l" rtl="0">
              <a:spcBef>
                <a:spcPts val="0"/>
              </a:spcBef>
              <a:spcAft>
                <a:spcPts val="0"/>
              </a:spcAft>
              <a:buSzPts val="1400"/>
              <a:buNone/>
              <a:defRPr sz="3000" i="0" u="none" strike="noStrike" cap="none">
                <a:solidFill>
                  <a:srgbClr val="009DD9"/>
                </a:solidFill>
              </a:defRPr>
            </a:lvl2pPr>
            <a:lvl3pPr marL="0" marR="0" lvl="2" indent="0" algn="l" rtl="0">
              <a:spcBef>
                <a:spcPts val="0"/>
              </a:spcBef>
              <a:spcAft>
                <a:spcPts val="0"/>
              </a:spcAft>
              <a:buSzPts val="1400"/>
              <a:buNone/>
              <a:defRPr sz="3000" i="0" u="none" strike="noStrike" cap="none">
                <a:solidFill>
                  <a:srgbClr val="009DD9"/>
                </a:solidFill>
              </a:defRPr>
            </a:lvl3pPr>
            <a:lvl4pPr marL="0" marR="0" lvl="3" indent="0" algn="l" rtl="0">
              <a:spcBef>
                <a:spcPts val="0"/>
              </a:spcBef>
              <a:spcAft>
                <a:spcPts val="0"/>
              </a:spcAft>
              <a:buSzPts val="1400"/>
              <a:buNone/>
              <a:defRPr sz="3000" i="0" u="none" strike="noStrike" cap="none">
                <a:solidFill>
                  <a:srgbClr val="009DD9"/>
                </a:solidFill>
              </a:defRPr>
            </a:lvl4pPr>
            <a:lvl5pPr marL="0" marR="0" lvl="4" indent="0" algn="l" rtl="0">
              <a:spcBef>
                <a:spcPts val="0"/>
              </a:spcBef>
              <a:spcAft>
                <a:spcPts val="0"/>
              </a:spcAft>
              <a:buSzPts val="1400"/>
              <a:buNone/>
              <a:defRPr sz="3000" i="0" u="none" strike="noStrike" cap="none">
                <a:solidFill>
                  <a:srgbClr val="009DD9"/>
                </a:solidFill>
              </a:defRPr>
            </a:lvl5pPr>
            <a:lvl6pPr marL="457200" marR="0" lvl="5" indent="0" algn="l" rtl="0">
              <a:spcBef>
                <a:spcPts val="0"/>
              </a:spcBef>
              <a:spcAft>
                <a:spcPts val="0"/>
              </a:spcAft>
              <a:buSzPts val="1400"/>
              <a:buNone/>
              <a:defRPr sz="3000" i="0" u="none" strike="noStrike" cap="none">
                <a:solidFill>
                  <a:srgbClr val="009DD9"/>
                </a:solidFill>
              </a:defRPr>
            </a:lvl6pPr>
            <a:lvl7pPr marL="914400" marR="0" lvl="6" indent="0" algn="l" rtl="0">
              <a:spcBef>
                <a:spcPts val="0"/>
              </a:spcBef>
              <a:spcAft>
                <a:spcPts val="0"/>
              </a:spcAft>
              <a:buSzPts val="1400"/>
              <a:buNone/>
              <a:defRPr sz="3000" i="0" u="none" strike="noStrike" cap="none">
                <a:solidFill>
                  <a:srgbClr val="009DD9"/>
                </a:solidFill>
              </a:defRPr>
            </a:lvl7pPr>
            <a:lvl8pPr marL="1371600" marR="0" lvl="7" indent="0" algn="l" rtl="0">
              <a:spcBef>
                <a:spcPts val="0"/>
              </a:spcBef>
              <a:spcAft>
                <a:spcPts val="0"/>
              </a:spcAft>
              <a:buSzPts val="1400"/>
              <a:buNone/>
              <a:defRPr sz="3000" i="0" u="none" strike="noStrike" cap="none">
                <a:solidFill>
                  <a:srgbClr val="009DD9"/>
                </a:solidFill>
              </a:defRPr>
            </a:lvl8pPr>
            <a:lvl9pPr marL="1828800" marR="0" lvl="8" indent="0" algn="l" rtl="0">
              <a:spcBef>
                <a:spcPts val="0"/>
              </a:spcBef>
              <a:spcAft>
                <a:spcPts val="0"/>
              </a:spcAft>
              <a:buSzPts val="1400"/>
              <a:buNone/>
              <a:defRPr sz="3000" i="0" u="none" strike="noStrike" cap="none">
                <a:solidFill>
                  <a:srgbClr val="009DD9"/>
                </a:solidFill>
              </a:defRPr>
            </a:lvl9pPr>
          </a:lstStyle>
          <a:p>
            <a:endParaRPr/>
          </a:p>
        </p:txBody>
      </p:sp>
      <p:sp>
        <p:nvSpPr>
          <p:cNvPr id="99" name="Google Shape;99;p15"/>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100" name="Google Shape;100;p15"/>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49_Divider White">
  <p:cSld name="49_Divider White">
    <p:spTree>
      <p:nvGrpSpPr>
        <p:cNvPr id="1" name="Shape 101"/>
        <p:cNvGrpSpPr/>
        <p:nvPr/>
      </p:nvGrpSpPr>
      <p:grpSpPr>
        <a:xfrm>
          <a:off x="0" y="0"/>
          <a:ext cx="0" cy="0"/>
          <a:chOff x="0" y="0"/>
          <a:chExt cx="0" cy="0"/>
        </a:xfrm>
      </p:grpSpPr>
      <p:pic>
        <p:nvPicPr>
          <p:cNvPr id="102" name="Google Shape;102;p16"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03" name="Google Shape;103;p16"/>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dk1"/>
                </a:solidFill>
              </a:defRPr>
            </a:lvl1pPr>
            <a:lvl2pPr marL="0" marR="0" lvl="1" indent="0" algn="l" rtl="0">
              <a:spcBef>
                <a:spcPts val="0"/>
              </a:spcBef>
              <a:spcAft>
                <a:spcPts val="0"/>
              </a:spcAft>
              <a:buSzPts val="1400"/>
              <a:buNone/>
              <a:defRPr sz="3000" i="0" u="none" strike="noStrike" cap="none">
                <a:solidFill>
                  <a:srgbClr val="009DD9"/>
                </a:solidFill>
              </a:defRPr>
            </a:lvl2pPr>
            <a:lvl3pPr marL="0" marR="0" lvl="2" indent="0" algn="l" rtl="0">
              <a:spcBef>
                <a:spcPts val="0"/>
              </a:spcBef>
              <a:spcAft>
                <a:spcPts val="0"/>
              </a:spcAft>
              <a:buSzPts val="1400"/>
              <a:buNone/>
              <a:defRPr sz="3000" i="0" u="none" strike="noStrike" cap="none">
                <a:solidFill>
                  <a:srgbClr val="009DD9"/>
                </a:solidFill>
              </a:defRPr>
            </a:lvl3pPr>
            <a:lvl4pPr marL="0" marR="0" lvl="3" indent="0" algn="l" rtl="0">
              <a:spcBef>
                <a:spcPts val="0"/>
              </a:spcBef>
              <a:spcAft>
                <a:spcPts val="0"/>
              </a:spcAft>
              <a:buSzPts val="1400"/>
              <a:buNone/>
              <a:defRPr sz="3000" i="0" u="none" strike="noStrike" cap="none">
                <a:solidFill>
                  <a:srgbClr val="009DD9"/>
                </a:solidFill>
              </a:defRPr>
            </a:lvl4pPr>
            <a:lvl5pPr marL="0" marR="0" lvl="4" indent="0" algn="l" rtl="0">
              <a:spcBef>
                <a:spcPts val="0"/>
              </a:spcBef>
              <a:spcAft>
                <a:spcPts val="0"/>
              </a:spcAft>
              <a:buSzPts val="1400"/>
              <a:buNone/>
              <a:defRPr sz="3000" i="0" u="none" strike="noStrike" cap="none">
                <a:solidFill>
                  <a:srgbClr val="009DD9"/>
                </a:solidFill>
              </a:defRPr>
            </a:lvl5pPr>
            <a:lvl6pPr marL="457200" marR="0" lvl="5" indent="0" algn="l" rtl="0">
              <a:spcBef>
                <a:spcPts val="0"/>
              </a:spcBef>
              <a:spcAft>
                <a:spcPts val="0"/>
              </a:spcAft>
              <a:buSzPts val="1400"/>
              <a:buNone/>
              <a:defRPr sz="3000" i="0" u="none" strike="noStrike" cap="none">
                <a:solidFill>
                  <a:srgbClr val="009DD9"/>
                </a:solidFill>
              </a:defRPr>
            </a:lvl6pPr>
            <a:lvl7pPr marL="914400" marR="0" lvl="6" indent="0" algn="l" rtl="0">
              <a:spcBef>
                <a:spcPts val="0"/>
              </a:spcBef>
              <a:spcAft>
                <a:spcPts val="0"/>
              </a:spcAft>
              <a:buSzPts val="1400"/>
              <a:buNone/>
              <a:defRPr sz="3000" i="0" u="none" strike="noStrike" cap="none">
                <a:solidFill>
                  <a:srgbClr val="009DD9"/>
                </a:solidFill>
              </a:defRPr>
            </a:lvl7pPr>
            <a:lvl8pPr marL="1371600" marR="0" lvl="7" indent="0" algn="l" rtl="0">
              <a:spcBef>
                <a:spcPts val="0"/>
              </a:spcBef>
              <a:spcAft>
                <a:spcPts val="0"/>
              </a:spcAft>
              <a:buSzPts val="1400"/>
              <a:buNone/>
              <a:defRPr sz="3000" i="0" u="none" strike="noStrike" cap="none">
                <a:solidFill>
                  <a:srgbClr val="009DD9"/>
                </a:solidFill>
              </a:defRPr>
            </a:lvl8pPr>
            <a:lvl9pPr marL="1828800" marR="0" lvl="8" indent="0" algn="l" rtl="0">
              <a:spcBef>
                <a:spcPts val="0"/>
              </a:spcBef>
              <a:spcAft>
                <a:spcPts val="0"/>
              </a:spcAft>
              <a:buSzPts val="1400"/>
              <a:buNone/>
              <a:defRPr sz="3000" i="0" u="none" strike="noStrike" cap="none">
                <a:solidFill>
                  <a:srgbClr val="009DD9"/>
                </a:solidFill>
              </a:defRPr>
            </a:lvl9pPr>
          </a:lstStyle>
          <a:p>
            <a:endParaRPr/>
          </a:p>
        </p:txBody>
      </p:sp>
      <p:sp>
        <p:nvSpPr>
          <p:cNvPr id="104" name="Google Shape;104;p1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49_Divider_NoText">
  <p:cSld name="49_Divider White_1">
    <p:spTree>
      <p:nvGrpSpPr>
        <p:cNvPr id="1" name="Shape 105"/>
        <p:cNvGrpSpPr/>
        <p:nvPr/>
      </p:nvGrpSpPr>
      <p:grpSpPr>
        <a:xfrm>
          <a:off x="0" y="0"/>
          <a:ext cx="0" cy="0"/>
          <a:chOff x="0" y="0"/>
          <a:chExt cx="0" cy="0"/>
        </a:xfrm>
      </p:grpSpPr>
      <p:pic>
        <p:nvPicPr>
          <p:cNvPr id="106" name="Google Shape;106;p17"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07" name="Google Shape;107;p17"/>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41_Title and Content">
  <p:cSld name="41_Title and Content">
    <p:spTree>
      <p:nvGrpSpPr>
        <p:cNvPr id="1" name="Shape 108"/>
        <p:cNvGrpSpPr/>
        <p:nvPr/>
      </p:nvGrpSpPr>
      <p:grpSpPr>
        <a:xfrm>
          <a:off x="0" y="0"/>
          <a:ext cx="0" cy="0"/>
          <a:chOff x="0" y="0"/>
          <a:chExt cx="0" cy="0"/>
        </a:xfrm>
      </p:grpSpPr>
      <p:sp>
        <p:nvSpPr>
          <p:cNvPr id="109" name="Google Shape;109;p18"/>
          <p:cNvSpPr txBox="1">
            <a:spLocks noGrp="1"/>
          </p:cNvSpPr>
          <p:nvPr>
            <p:ph type="title"/>
          </p:nvPr>
        </p:nvSpPr>
        <p:spPr>
          <a:xfrm>
            <a:off x="594360" y="507492"/>
            <a:ext cx="81447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10" name="Google Shape;110;p18"/>
          <p:cNvSpPr txBox="1">
            <a:spLocks noGrp="1"/>
          </p:cNvSpPr>
          <p:nvPr>
            <p:ph type="body" idx="1"/>
          </p:nvPr>
        </p:nvSpPr>
        <p:spPr>
          <a:xfrm>
            <a:off x="594360" y="1515618"/>
            <a:ext cx="8168700" cy="3060000"/>
          </a:xfrm>
          <a:prstGeom prst="rect">
            <a:avLst/>
          </a:prstGeom>
          <a:noFill/>
          <a:ln>
            <a:noFill/>
          </a:ln>
        </p:spPr>
        <p:txBody>
          <a:bodyPr spcFirstLastPara="1" wrap="square" lIns="91425" tIns="91425" rIns="91425" bIns="91425" anchor="t" anchorCtr="0">
            <a:noAutofit/>
          </a:bodyPr>
          <a:lstStyle>
            <a:lvl1pPr marL="457200" marR="0" lvl="0" indent="-342900" algn="l" rtl="0">
              <a:spcBef>
                <a:spcPts val="800"/>
              </a:spcBef>
              <a:spcAft>
                <a:spcPts val="0"/>
              </a:spcAft>
              <a:buClr>
                <a:schemeClr val="dk2"/>
              </a:buClr>
              <a:buSzPts val="1800"/>
              <a:buChar char="•"/>
              <a:defRPr sz="1800" i="0" u="none" strike="noStrike" cap="none">
                <a:solidFill>
                  <a:schemeClr val="dk2"/>
                </a:solidFill>
              </a:defRPr>
            </a:lvl1pPr>
            <a:lvl2pPr marL="914400" marR="0" lvl="1" indent="-330200" algn="l" rtl="0">
              <a:spcBef>
                <a:spcPts val="800"/>
              </a:spcBef>
              <a:spcAft>
                <a:spcPts val="0"/>
              </a:spcAft>
              <a:buClr>
                <a:schemeClr val="dk2"/>
              </a:buClr>
              <a:buSzPts val="1600"/>
              <a:buChar char="•"/>
              <a:defRPr sz="1600" i="0" u="none" strike="noStrike" cap="none">
                <a:solidFill>
                  <a:schemeClr val="dk2"/>
                </a:solidFill>
              </a:defRPr>
            </a:lvl2pPr>
            <a:lvl3pPr marL="1371600" marR="0" lvl="2" indent="-317500" algn="l" rtl="0">
              <a:spcBef>
                <a:spcPts val="700"/>
              </a:spcBef>
              <a:spcAft>
                <a:spcPts val="0"/>
              </a:spcAft>
              <a:buClr>
                <a:schemeClr val="dk2"/>
              </a:buClr>
              <a:buSzPts val="1400"/>
              <a:buChar char="•"/>
              <a:defRPr sz="1400" i="0" u="none" strike="noStrike" cap="none">
                <a:solidFill>
                  <a:schemeClr val="dk2"/>
                </a:solidFill>
              </a:defRPr>
            </a:lvl3pPr>
            <a:lvl4pPr marL="1828800" marR="0" lvl="3" indent="-304800" algn="l" rtl="0">
              <a:spcBef>
                <a:spcPts val="700"/>
              </a:spcBef>
              <a:spcAft>
                <a:spcPts val="0"/>
              </a:spcAft>
              <a:buClr>
                <a:schemeClr val="dk2"/>
              </a:buClr>
              <a:buSzPts val="1200"/>
              <a:buChar char="•"/>
              <a:defRPr sz="1200" i="0" u="none" strike="noStrike" cap="none">
                <a:solidFill>
                  <a:schemeClr val="dk2"/>
                </a:solidFill>
              </a:defRPr>
            </a:lvl4pPr>
            <a:lvl5pPr marL="2286000" marR="0" lvl="4" indent="-304800" algn="l" rtl="0">
              <a:spcBef>
                <a:spcPts val="700"/>
              </a:spcBef>
              <a:spcAft>
                <a:spcPts val="0"/>
              </a:spcAft>
              <a:buClr>
                <a:schemeClr val="dk2"/>
              </a:buClr>
              <a:buSzPts val="1200"/>
              <a:buChar char="•"/>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111" name="Google Shape;111;p18"/>
          <p:cNvSpPr txBox="1">
            <a:spLocks noGrp="1"/>
          </p:cNvSpPr>
          <p:nvPr>
            <p:ph type="body" idx="2"/>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112" name="Google Shape;112;p18"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13" name="Google Shape;113;p18"/>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114" name="Google Shape;114;p18"/>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45_Table">
  <p:cSld name="45_Table">
    <p:spTree>
      <p:nvGrpSpPr>
        <p:cNvPr id="1" name="Shape 115"/>
        <p:cNvGrpSpPr/>
        <p:nvPr/>
      </p:nvGrpSpPr>
      <p:grpSpPr>
        <a:xfrm>
          <a:off x="0" y="0"/>
          <a:ext cx="0" cy="0"/>
          <a:chOff x="0" y="0"/>
          <a:chExt cx="0" cy="0"/>
        </a:xfrm>
      </p:grpSpPr>
      <p:sp>
        <p:nvSpPr>
          <p:cNvPr id="116" name="Google Shape;116;p19"/>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17" name="Google Shape;117;p19"/>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118" name="Google Shape;118;p19"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19" name="Google Shape;119;p19"/>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120" name="Google Shape;120;p19"/>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42_Title only">
  <p:cSld name="42_Title only">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594360" y="507492"/>
            <a:ext cx="81666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i="0" u="none" strike="noStrike" cap="none">
                <a:solidFill>
                  <a:srgbClr val="009DD9"/>
                </a:solidFill>
              </a:defRPr>
            </a:lvl2pPr>
            <a:lvl3pPr marL="0" marR="0" lvl="2" indent="0" algn="l" rtl="0">
              <a:spcBef>
                <a:spcPts val="0"/>
              </a:spcBef>
              <a:spcAft>
                <a:spcPts val="0"/>
              </a:spcAft>
              <a:buSzPts val="1400"/>
              <a:buNone/>
              <a:defRPr sz="3000" i="0" u="none" strike="noStrike" cap="none">
                <a:solidFill>
                  <a:srgbClr val="009DD9"/>
                </a:solidFill>
              </a:defRPr>
            </a:lvl3pPr>
            <a:lvl4pPr marL="0" marR="0" lvl="3" indent="0" algn="l" rtl="0">
              <a:spcBef>
                <a:spcPts val="0"/>
              </a:spcBef>
              <a:spcAft>
                <a:spcPts val="0"/>
              </a:spcAft>
              <a:buSzPts val="1400"/>
              <a:buNone/>
              <a:defRPr sz="3000" i="0" u="none" strike="noStrike" cap="none">
                <a:solidFill>
                  <a:srgbClr val="009DD9"/>
                </a:solidFill>
              </a:defRPr>
            </a:lvl4pPr>
            <a:lvl5pPr marL="0" marR="0" lvl="4" indent="0" algn="l" rtl="0">
              <a:spcBef>
                <a:spcPts val="0"/>
              </a:spcBef>
              <a:spcAft>
                <a:spcPts val="0"/>
              </a:spcAft>
              <a:buSzPts val="1400"/>
              <a:buNone/>
              <a:defRPr sz="3000" i="0" u="none" strike="noStrike" cap="none">
                <a:solidFill>
                  <a:srgbClr val="009DD9"/>
                </a:solidFill>
              </a:defRPr>
            </a:lvl5pPr>
            <a:lvl6pPr marL="457200" marR="0" lvl="5" indent="0" algn="l" rtl="0">
              <a:spcBef>
                <a:spcPts val="0"/>
              </a:spcBef>
              <a:spcAft>
                <a:spcPts val="0"/>
              </a:spcAft>
              <a:buSzPts val="1400"/>
              <a:buNone/>
              <a:defRPr sz="3000" i="0" u="none" strike="noStrike" cap="none">
                <a:solidFill>
                  <a:srgbClr val="009DD9"/>
                </a:solidFill>
              </a:defRPr>
            </a:lvl6pPr>
            <a:lvl7pPr marL="914400" marR="0" lvl="6" indent="0" algn="l" rtl="0">
              <a:spcBef>
                <a:spcPts val="0"/>
              </a:spcBef>
              <a:spcAft>
                <a:spcPts val="0"/>
              </a:spcAft>
              <a:buSzPts val="1400"/>
              <a:buNone/>
              <a:defRPr sz="3000" i="0" u="none" strike="noStrike" cap="none">
                <a:solidFill>
                  <a:srgbClr val="009DD9"/>
                </a:solidFill>
              </a:defRPr>
            </a:lvl7pPr>
            <a:lvl8pPr marL="1371600" marR="0" lvl="7" indent="0" algn="l" rtl="0">
              <a:spcBef>
                <a:spcPts val="0"/>
              </a:spcBef>
              <a:spcAft>
                <a:spcPts val="0"/>
              </a:spcAft>
              <a:buSzPts val="1400"/>
              <a:buNone/>
              <a:defRPr sz="3000" i="0" u="none" strike="noStrike" cap="none">
                <a:solidFill>
                  <a:srgbClr val="009DD9"/>
                </a:solidFill>
              </a:defRPr>
            </a:lvl8pPr>
            <a:lvl9pPr marL="1828800" marR="0" lvl="8" indent="0" algn="l" rtl="0">
              <a:spcBef>
                <a:spcPts val="0"/>
              </a:spcBef>
              <a:spcAft>
                <a:spcPts val="0"/>
              </a:spcAft>
              <a:buSzPts val="1400"/>
              <a:buNone/>
              <a:defRPr sz="3000" i="0" u="none" strike="noStrike" cap="none">
                <a:solidFill>
                  <a:srgbClr val="009DD9"/>
                </a:solidFill>
              </a:defRPr>
            </a:lvl9pPr>
          </a:lstStyle>
          <a:p>
            <a:endParaRPr/>
          </a:p>
        </p:txBody>
      </p:sp>
      <p:sp>
        <p:nvSpPr>
          <p:cNvPr id="123" name="Google Shape;123;p20"/>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124" name="Google Shape;124;p20"/>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60"/>
              </a:spcBef>
              <a:spcAft>
                <a:spcPts val="0"/>
              </a:spcAft>
              <a:buClr>
                <a:schemeClr val="dk1"/>
              </a:buClr>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125" name="Google Shape;125;p20"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26" name="Google Shape;126;p20"/>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15_End Slide N-tab BLUE">
  <p:cSld name="15_End Slide N-tab BLUE">
    <p:spTree>
      <p:nvGrpSpPr>
        <p:cNvPr id="1" name="Shape 127"/>
        <p:cNvGrpSpPr/>
        <p:nvPr/>
      </p:nvGrpSpPr>
      <p:grpSpPr>
        <a:xfrm>
          <a:off x="0" y="0"/>
          <a:ext cx="0" cy="0"/>
          <a:chOff x="0" y="0"/>
          <a:chExt cx="0" cy="0"/>
        </a:xfrm>
      </p:grpSpPr>
      <p:pic>
        <p:nvPicPr>
          <p:cNvPr id="128" name="Google Shape;128;p21" descr="Blu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129" name="Google Shape;129;p21" descr="N-Element-Tab-Square-White_RGB.png"/>
          <p:cNvPicPr preferRelativeResize="0"/>
          <p:nvPr/>
        </p:nvPicPr>
        <p:blipFill rotWithShape="1">
          <a:blip r:embed="rId3">
            <a:alphaModFix/>
          </a:blip>
          <a:srcRect/>
          <a:stretch/>
        </p:blipFill>
        <p:spPr>
          <a:xfrm>
            <a:off x="3581400" y="1814182"/>
            <a:ext cx="1114500" cy="1114800"/>
          </a:xfrm>
          <a:prstGeom prst="rect">
            <a:avLst/>
          </a:prstGeom>
          <a:noFill/>
          <a:ln>
            <a:noFill/>
          </a:ln>
        </p:spPr>
      </p:pic>
      <p:sp>
        <p:nvSpPr>
          <p:cNvPr id="130" name="Google Shape;130;p21"/>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16_End Slide Full Logo BLUE">
  <p:cSld name="16_End Slide Full Logo BLUE">
    <p:spTree>
      <p:nvGrpSpPr>
        <p:cNvPr id="1" name="Shape 131"/>
        <p:cNvGrpSpPr/>
        <p:nvPr/>
      </p:nvGrpSpPr>
      <p:grpSpPr>
        <a:xfrm>
          <a:off x="0" y="0"/>
          <a:ext cx="0" cy="0"/>
          <a:chOff x="0" y="0"/>
          <a:chExt cx="0" cy="0"/>
        </a:xfrm>
      </p:grpSpPr>
      <p:pic>
        <p:nvPicPr>
          <p:cNvPr id="132" name="Google Shape;132;p22" descr="Blu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133" name="Google Shape;133;p22" descr="Nielsen-Wordmark-White-RGB.png"/>
          <p:cNvPicPr preferRelativeResize="0"/>
          <p:nvPr/>
        </p:nvPicPr>
        <p:blipFill rotWithShape="1">
          <a:blip r:embed="rId3">
            <a:alphaModFix/>
          </a:blip>
          <a:srcRect/>
          <a:stretch/>
        </p:blipFill>
        <p:spPr>
          <a:xfrm>
            <a:off x="2375285" y="1943100"/>
            <a:ext cx="4393500" cy="1163100"/>
          </a:xfrm>
          <a:prstGeom prst="rect">
            <a:avLst/>
          </a:prstGeom>
          <a:noFill/>
          <a:ln>
            <a:noFill/>
          </a:ln>
        </p:spPr>
      </p:pic>
      <p:sp>
        <p:nvSpPr>
          <p:cNvPr id="134" name="Google Shape;134;p22"/>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05_Title and Content">
  <p:cSld name="05_Title and Content">
    <p:spTree>
      <p:nvGrpSpPr>
        <p:cNvPr id="1" name="Shape 135"/>
        <p:cNvGrpSpPr/>
        <p:nvPr/>
      </p:nvGrpSpPr>
      <p:grpSpPr>
        <a:xfrm>
          <a:off x="0" y="0"/>
          <a:ext cx="0" cy="0"/>
          <a:chOff x="0" y="0"/>
          <a:chExt cx="0" cy="0"/>
        </a:xfrm>
      </p:grpSpPr>
      <p:sp>
        <p:nvSpPr>
          <p:cNvPr id="136" name="Google Shape;136;p23"/>
          <p:cNvSpPr txBox="1">
            <a:spLocks noGrp="1"/>
          </p:cNvSpPr>
          <p:nvPr>
            <p:ph type="title"/>
          </p:nvPr>
        </p:nvSpPr>
        <p:spPr>
          <a:xfrm>
            <a:off x="594360" y="507492"/>
            <a:ext cx="81447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37" name="Google Shape;137;p23"/>
          <p:cNvSpPr txBox="1">
            <a:spLocks noGrp="1"/>
          </p:cNvSpPr>
          <p:nvPr>
            <p:ph type="body" idx="1"/>
          </p:nvPr>
        </p:nvSpPr>
        <p:spPr>
          <a:xfrm>
            <a:off x="594360" y="1515618"/>
            <a:ext cx="8168700" cy="3060000"/>
          </a:xfrm>
          <a:prstGeom prst="rect">
            <a:avLst/>
          </a:prstGeom>
          <a:noFill/>
          <a:ln>
            <a:noFill/>
          </a:ln>
        </p:spPr>
        <p:txBody>
          <a:bodyPr spcFirstLastPara="1" wrap="square" lIns="91425" tIns="91425" rIns="91425" bIns="91425" anchor="t" anchorCtr="0">
            <a:noAutofit/>
          </a:bodyPr>
          <a:lstStyle>
            <a:lvl1pPr marL="457200" marR="0" lvl="0" indent="-342900" algn="l" rtl="0">
              <a:spcBef>
                <a:spcPts val="800"/>
              </a:spcBef>
              <a:spcAft>
                <a:spcPts val="0"/>
              </a:spcAft>
              <a:buClr>
                <a:schemeClr val="dk2"/>
              </a:buClr>
              <a:buSzPts val="1800"/>
              <a:buChar char="•"/>
              <a:defRPr sz="1800" i="0" u="none" strike="noStrike" cap="none">
                <a:solidFill>
                  <a:schemeClr val="dk2"/>
                </a:solidFill>
              </a:defRPr>
            </a:lvl1pPr>
            <a:lvl2pPr marL="914400" marR="0" lvl="1" indent="-330200" algn="l" rtl="0">
              <a:spcBef>
                <a:spcPts val="800"/>
              </a:spcBef>
              <a:spcAft>
                <a:spcPts val="0"/>
              </a:spcAft>
              <a:buClr>
                <a:schemeClr val="dk2"/>
              </a:buClr>
              <a:buSzPts val="1600"/>
              <a:buChar char="•"/>
              <a:defRPr sz="1600" i="0" u="none" strike="noStrike" cap="none">
                <a:solidFill>
                  <a:schemeClr val="dk2"/>
                </a:solidFill>
              </a:defRPr>
            </a:lvl2pPr>
            <a:lvl3pPr marL="1371600" marR="0" lvl="2" indent="-317500" algn="l" rtl="0">
              <a:spcBef>
                <a:spcPts val="700"/>
              </a:spcBef>
              <a:spcAft>
                <a:spcPts val="0"/>
              </a:spcAft>
              <a:buClr>
                <a:schemeClr val="dk2"/>
              </a:buClr>
              <a:buSzPts val="1400"/>
              <a:buChar char="•"/>
              <a:defRPr sz="1400" i="0" u="none" strike="noStrike" cap="none">
                <a:solidFill>
                  <a:schemeClr val="dk2"/>
                </a:solidFill>
              </a:defRPr>
            </a:lvl3pPr>
            <a:lvl4pPr marL="1828800" marR="0" lvl="3" indent="-304800" algn="l" rtl="0">
              <a:spcBef>
                <a:spcPts val="700"/>
              </a:spcBef>
              <a:spcAft>
                <a:spcPts val="0"/>
              </a:spcAft>
              <a:buClr>
                <a:schemeClr val="dk2"/>
              </a:buClr>
              <a:buSzPts val="1200"/>
              <a:buChar char="•"/>
              <a:defRPr sz="1200" i="0" u="none" strike="noStrike" cap="none">
                <a:solidFill>
                  <a:schemeClr val="dk2"/>
                </a:solidFill>
              </a:defRPr>
            </a:lvl4pPr>
            <a:lvl5pPr marL="2286000" marR="0" lvl="4" indent="-304800" algn="l" rtl="0">
              <a:spcBef>
                <a:spcPts val="700"/>
              </a:spcBef>
              <a:spcAft>
                <a:spcPts val="0"/>
              </a:spcAft>
              <a:buClr>
                <a:schemeClr val="dk2"/>
              </a:buClr>
              <a:buSzPts val="1200"/>
              <a:buChar char="•"/>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138" name="Google Shape;138;p23"/>
          <p:cNvSpPr txBox="1">
            <a:spLocks noGrp="1"/>
          </p:cNvSpPr>
          <p:nvPr>
            <p:ph type="body" idx="2"/>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139" name="Google Shape;139;p23"/>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09_Table">
  <p:cSld name="09_Table">
    <p:spTree>
      <p:nvGrpSpPr>
        <p:cNvPr id="1" name="Shape 140"/>
        <p:cNvGrpSpPr/>
        <p:nvPr/>
      </p:nvGrpSpPr>
      <p:grpSpPr>
        <a:xfrm>
          <a:off x="0" y="0"/>
          <a:ext cx="0" cy="0"/>
          <a:chOff x="0" y="0"/>
          <a:chExt cx="0" cy="0"/>
        </a:xfrm>
      </p:grpSpPr>
      <p:sp>
        <p:nvSpPr>
          <p:cNvPr id="141" name="Google Shape;141;p24"/>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42" name="Google Shape;142;p24"/>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143" name="Google Shape;143;p24"/>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10_Quote White">
  <p:cSld name="10_Quote White">
    <p:spTree>
      <p:nvGrpSpPr>
        <p:cNvPr id="1" name="Shape 144"/>
        <p:cNvGrpSpPr/>
        <p:nvPr/>
      </p:nvGrpSpPr>
      <p:grpSpPr>
        <a:xfrm>
          <a:off x="0" y="0"/>
          <a:ext cx="0" cy="0"/>
          <a:chOff x="0" y="0"/>
          <a:chExt cx="0" cy="0"/>
        </a:xfrm>
      </p:grpSpPr>
      <p:sp>
        <p:nvSpPr>
          <p:cNvPr id="145" name="Google Shape;145;p25"/>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46" name="Google Shape;146;p25"/>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chemeClr val="dk2"/>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11_Quote Texture BLUE">
  <p:cSld name="11_Quote Texture BLUE">
    <p:spTree>
      <p:nvGrpSpPr>
        <p:cNvPr id="1" name="Shape 147"/>
        <p:cNvGrpSpPr/>
        <p:nvPr/>
      </p:nvGrpSpPr>
      <p:grpSpPr>
        <a:xfrm>
          <a:off x="0" y="0"/>
          <a:ext cx="0" cy="0"/>
          <a:chOff x="0" y="0"/>
          <a:chExt cx="0" cy="0"/>
        </a:xfrm>
      </p:grpSpPr>
      <p:pic>
        <p:nvPicPr>
          <p:cNvPr id="148" name="Google Shape;148;p26" descr="Blu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49" name="Google Shape;149;p26"/>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pic>
        <p:nvPicPr>
          <p:cNvPr id="150" name="Google Shape;150;p26"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151" name="Google Shape;151;p26"/>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rgbClr val="FFFFFF"/>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152" name="Google Shape;152;p26"/>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153" name="Google Shape;153;p26"/>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13_Divider White">
  <p:cSld name="13_Divider White">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13_Divider_NoText">
  <p:cSld name="13_Divider White_1">
    <p:spTree>
      <p:nvGrpSpPr>
        <p:cNvPr id="1" name="Shape 156"/>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14_Divider Texture BLUE">
  <p:cSld name="14_Divider Texture BLUE">
    <p:spTree>
      <p:nvGrpSpPr>
        <p:cNvPr id="1" name="Shape 157"/>
        <p:cNvGrpSpPr/>
        <p:nvPr/>
      </p:nvGrpSpPr>
      <p:grpSpPr>
        <a:xfrm>
          <a:off x="0" y="0"/>
          <a:ext cx="0" cy="0"/>
          <a:chOff x="0" y="0"/>
          <a:chExt cx="0" cy="0"/>
        </a:xfrm>
      </p:grpSpPr>
      <p:pic>
        <p:nvPicPr>
          <p:cNvPr id="158" name="Google Shape;158;p29" descr="Blu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159" name="Google Shape;159;p29"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160" name="Google Shape;160;p29"/>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61" name="Google Shape;161;p29"/>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162" name="Google Shape;162;p29"/>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19_Title N-tab PURPLE">
  <p:cSld name="19_Title N-tab PURPLE">
    <p:spTree>
      <p:nvGrpSpPr>
        <p:cNvPr id="1" name="Shape 163"/>
        <p:cNvGrpSpPr/>
        <p:nvPr/>
      </p:nvGrpSpPr>
      <p:grpSpPr>
        <a:xfrm>
          <a:off x="0" y="0"/>
          <a:ext cx="0" cy="0"/>
          <a:chOff x="0" y="0"/>
          <a:chExt cx="0" cy="0"/>
        </a:xfrm>
      </p:grpSpPr>
      <p:pic>
        <p:nvPicPr>
          <p:cNvPr id="164" name="Google Shape;164;p30" descr="Purpl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65" name="Google Shape;165;p30"/>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FFFFFF"/>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166" name="Google Shape;166;p30"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167" name="Google Shape;167;p30"/>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68" name="Google Shape;168;p30"/>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69" name="Google Shape;169;p30"/>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20_Title Full Logo PURPLE">
  <p:cSld name="20_Title Full Logo PURPLE">
    <p:spTree>
      <p:nvGrpSpPr>
        <p:cNvPr id="1" name="Shape 170"/>
        <p:cNvGrpSpPr/>
        <p:nvPr/>
      </p:nvGrpSpPr>
      <p:grpSpPr>
        <a:xfrm>
          <a:off x="0" y="0"/>
          <a:ext cx="0" cy="0"/>
          <a:chOff x="0" y="0"/>
          <a:chExt cx="0" cy="0"/>
        </a:xfrm>
      </p:grpSpPr>
      <p:pic>
        <p:nvPicPr>
          <p:cNvPr id="171" name="Google Shape;171;p31" descr="Purpl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172" name="Google Shape;172;p31"/>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FFFFFF"/>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173" name="Google Shape;173;p31" descr="Nielsen_R.png"/>
          <p:cNvPicPr preferRelativeResize="0"/>
          <p:nvPr/>
        </p:nvPicPr>
        <p:blipFill rotWithShape="1">
          <a:blip r:embed="rId3">
            <a:alphaModFix/>
          </a:blip>
          <a:srcRect/>
          <a:stretch/>
        </p:blipFill>
        <p:spPr>
          <a:xfrm>
            <a:off x="364066" y="1561243"/>
            <a:ext cx="1171500" cy="310800"/>
          </a:xfrm>
          <a:prstGeom prst="rect">
            <a:avLst/>
          </a:prstGeom>
          <a:noFill/>
          <a:ln>
            <a:noFill/>
          </a:ln>
        </p:spPr>
      </p:pic>
      <p:sp>
        <p:nvSpPr>
          <p:cNvPr id="174" name="Google Shape;174;p31"/>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75" name="Google Shape;175;p31"/>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76" name="Google Shape;176;p31"/>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20b_Title Full Photo PURPLE">
  <p:cSld name="22_Title N-tab White">
    <p:spTree>
      <p:nvGrpSpPr>
        <p:cNvPr id="1" name="Shape 177"/>
        <p:cNvGrpSpPr/>
        <p:nvPr/>
      </p:nvGrpSpPr>
      <p:grpSpPr>
        <a:xfrm>
          <a:off x="0" y="0"/>
          <a:ext cx="0" cy="0"/>
          <a:chOff x="0" y="0"/>
          <a:chExt cx="0" cy="0"/>
        </a:xfrm>
      </p:grpSpPr>
      <p:pic>
        <p:nvPicPr>
          <p:cNvPr id="178" name="Google Shape;178;p32" descr="Purple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179" name="Google Shape;179;p32" descr="Purple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180" name="Google Shape;180;p32"/>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181" name="Google Shape;181;p32"/>
          <p:cNvSpPr txBox="1">
            <a:spLocks noGrp="1"/>
          </p:cNvSpPr>
          <p:nvPr>
            <p:ph type="ctrTitle"/>
          </p:nvPr>
        </p:nvSpPr>
        <p:spPr>
          <a:xfrm>
            <a:off x="336322" y="346188"/>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82" name="Google Shape;182;p32"/>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183" name="Google Shape;183;p32"/>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21_Title N-tab White">
  <p:cSld name="21_Title N-tab White">
    <p:spTree>
      <p:nvGrpSpPr>
        <p:cNvPr id="1" name="Shape 184"/>
        <p:cNvGrpSpPr/>
        <p:nvPr/>
      </p:nvGrpSpPr>
      <p:grpSpPr>
        <a:xfrm>
          <a:off x="0" y="0"/>
          <a:ext cx="0" cy="0"/>
          <a:chOff x="0" y="0"/>
          <a:chExt cx="0" cy="0"/>
        </a:xfrm>
      </p:grpSpPr>
      <p:pic>
        <p:nvPicPr>
          <p:cNvPr id="185" name="Google Shape;185;p33"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86" name="Google Shape;186;p33"/>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chemeClr val="dk2"/>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187" name="Google Shape;187;p33" descr="N Element Tab Square-Blue_RGB.png"/>
          <p:cNvPicPr preferRelativeResize="0"/>
          <p:nvPr/>
        </p:nvPicPr>
        <p:blipFill rotWithShape="1">
          <a:blip r:embed="rId3">
            <a:alphaModFix/>
          </a:blip>
          <a:srcRect/>
          <a:stretch/>
        </p:blipFill>
        <p:spPr>
          <a:xfrm>
            <a:off x="459399" y="1600200"/>
            <a:ext cx="213000" cy="213000"/>
          </a:xfrm>
          <a:prstGeom prst="rect">
            <a:avLst/>
          </a:prstGeom>
          <a:noFill/>
          <a:ln>
            <a:noFill/>
          </a:ln>
        </p:spPr>
      </p:pic>
      <p:sp>
        <p:nvSpPr>
          <p:cNvPr id="188" name="Google Shape;188;p33"/>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i="0" u="none" strike="noStrike" cap="none">
                <a:solidFill>
                  <a:srgbClr val="009DD9"/>
                </a:solidFill>
              </a:defRPr>
            </a:lvl2pPr>
            <a:lvl3pPr marL="0" marR="0" lvl="2" indent="0" algn="l" rtl="0">
              <a:spcBef>
                <a:spcPts val="0"/>
              </a:spcBef>
              <a:spcAft>
                <a:spcPts val="0"/>
              </a:spcAft>
              <a:buSzPts val="1400"/>
              <a:buNone/>
              <a:defRPr sz="3000" i="0" u="none" strike="noStrike" cap="none">
                <a:solidFill>
                  <a:srgbClr val="009DD9"/>
                </a:solidFill>
              </a:defRPr>
            </a:lvl3pPr>
            <a:lvl4pPr marL="0" marR="0" lvl="3" indent="0" algn="l" rtl="0">
              <a:spcBef>
                <a:spcPts val="0"/>
              </a:spcBef>
              <a:spcAft>
                <a:spcPts val="0"/>
              </a:spcAft>
              <a:buSzPts val="1400"/>
              <a:buNone/>
              <a:defRPr sz="3000" i="0" u="none" strike="noStrike" cap="none">
                <a:solidFill>
                  <a:srgbClr val="009DD9"/>
                </a:solidFill>
              </a:defRPr>
            </a:lvl4pPr>
            <a:lvl5pPr marL="0" marR="0" lvl="4" indent="0" algn="l" rtl="0">
              <a:spcBef>
                <a:spcPts val="0"/>
              </a:spcBef>
              <a:spcAft>
                <a:spcPts val="0"/>
              </a:spcAft>
              <a:buSzPts val="1400"/>
              <a:buNone/>
              <a:defRPr sz="3000" i="0" u="none" strike="noStrike" cap="none">
                <a:solidFill>
                  <a:srgbClr val="009DD9"/>
                </a:solidFill>
              </a:defRPr>
            </a:lvl5pPr>
            <a:lvl6pPr marL="457200" marR="0" lvl="5" indent="0" algn="l" rtl="0">
              <a:spcBef>
                <a:spcPts val="0"/>
              </a:spcBef>
              <a:spcAft>
                <a:spcPts val="0"/>
              </a:spcAft>
              <a:buSzPts val="1400"/>
              <a:buNone/>
              <a:defRPr sz="3000" i="0" u="none" strike="noStrike" cap="none">
                <a:solidFill>
                  <a:srgbClr val="009DD9"/>
                </a:solidFill>
              </a:defRPr>
            </a:lvl6pPr>
            <a:lvl7pPr marL="914400" marR="0" lvl="6" indent="0" algn="l" rtl="0">
              <a:spcBef>
                <a:spcPts val="0"/>
              </a:spcBef>
              <a:spcAft>
                <a:spcPts val="0"/>
              </a:spcAft>
              <a:buSzPts val="1400"/>
              <a:buNone/>
              <a:defRPr sz="3000" i="0" u="none" strike="noStrike" cap="none">
                <a:solidFill>
                  <a:srgbClr val="009DD9"/>
                </a:solidFill>
              </a:defRPr>
            </a:lvl7pPr>
            <a:lvl8pPr marL="1371600" marR="0" lvl="7" indent="0" algn="l" rtl="0">
              <a:spcBef>
                <a:spcPts val="0"/>
              </a:spcBef>
              <a:spcAft>
                <a:spcPts val="0"/>
              </a:spcAft>
              <a:buSzPts val="1400"/>
              <a:buNone/>
              <a:defRPr sz="3000" i="0" u="none" strike="noStrike" cap="none">
                <a:solidFill>
                  <a:srgbClr val="009DD9"/>
                </a:solidFill>
              </a:defRPr>
            </a:lvl8pPr>
            <a:lvl9pPr marL="1828800" marR="0" lvl="8" indent="0" algn="l" rtl="0">
              <a:spcBef>
                <a:spcPts val="0"/>
              </a:spcBef>
              <a:spcAft>
                <a:spcPts val="0"/>
              </a:spcAft>
              <a:buSzPts val="1400"/>
              <a:buNone/>
              <a:defRPr sz="3000" i="0" u="none" strike="noStrike" cap="none">
                <a:solidFill>
                  <a:srgbClr val="009DD9"/>
                </a:solidFill>
              </a:defRPr>
            </a:lvl9pPr>
          </a:lstStyle>
          <a:p>
            <a:endParaRPr/>
          </a:p>
        </p:txBody>
      </p:sp>
      <p:sp>
        <p:nvSpPr>
          <p:cNvPr id="189" name="Google Shape;189;p33"/>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90" name="Google Shape;190;p33"/>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22_Title Full Logo White">
  <p:cSld name="22_Title Full Logo White">
    <p:spTree>
      <p:nvGrpSpPr>
        <p:cNvPr id="1" name="Shape 191"/>
        <p:cNvGrpSpPr/>
        <p:nvPr/>
      </p:nvGrpSpPr>
      <p:grpSpPr>
        <a:xfrm>
          <a:off x="0" y="0"/>
          <a:ext cx="0" cy="0"/>
          <a:chOff x="0" y="0"/>
          <a:chExt cx="0" cy="0"/>
        </a:xfrm>
      </p:grpSpPr>
      <p:pic>
        <p:nvPicPr>
          <p:cNvPr id="192" name="Google Shape;192;p34"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193" name="Google Shape;193;p34"/>
          <p:cNvSpPr txBox="1">
            <a:spLocks noGrp="1"/>
          </p:cNvSpPr>
          <p:nvPr>
            <p:ph type="body" idx="1"/>
          </p:nvPr>
        </p:nvSpPr>
        <p:spPr>
          <a:xfrm>
            <a:off x="336322"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000000"/>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194" name="Google Shape;194;p34" descr="Nielsen-Wordmark-Color-RGB.png"/>
          <p:cNvPicPr preferRelativeResize="0"/>
          <p:nvPr/>
        </p:nvPicPr>
        <p:blipFill rotWithShape="1">
          <a:blip r:embed="rId3">
            <a:alphaModFix/>
          </a:blip>
          <a:srcRect/>
          <a:stretch/>
        </p:blipFill>
        <p:spPr>
          <a:xfrm>
            <a:off x="445783" y="1571513"/>
            <a:ext cx="1191600" cy="315300"/>
          </a:xfrm>
          <a:prstGeom prst="rect">
            <a:avLst/>
          </a:prstGeom>
          <a:noFill/>
          <a:ln>
            <a:noFill/>
          </a:ln>
        </p:spPr>
      </p:pic>
      <p:sp>
        <p:nvSpPr>
          <p:cNvPr id="195" name="Google Shape;195;p34"/>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196" name="Google Shape;196;p34"/>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197" name="Google Shape;197;p3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23_Title and Content">
  <p:cSld name="23_Title and Content">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xfrm>
            <a:off x="594360" y="507492"/>
            <a:ext cx="81447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00" name="Google Shape;200;p35"/>
          <p:cNvSpPr txBox="1">
            <a:spLocks noGrp="1"/>
          </p:cNvSpPr>
          <p:nvPr>
            <p:ph type="body" idx="1"/>
          </p:nvPr>
        </p:nvSpPr>
        <p:spPr>
          <a:xfrm>
            <a:off x="594360" y="1515618"/>
            <a:ext cx="8168700" cy="3060000"/>
          </a:xfrm>
          <a:prstGeom prst="rect">
            <a:avLst/>
          </a:prstGeom>
          <a:noFill/>
          <a:ln>
            <a:noFill/>
          </a:ln>
        </p:spPr>
        <p:txBody>
          <a:bodyPr spcFirstLastPara="1" wrap="square" lIns="91425" tIns="91425" rIns="91425" bIns="91425" anchor="t" anchorCtr="0">
            <a:noAutofit/>
          </a:bodyPr>
          <a:lstStyle>
            <a:lvl1pPr marL="457200" marR="0" lvl="0" indent="-342900" algn="l" rtl="0">
              <a:spcBef>
                <a:spcPts val="800"/>
              </a:spcBef>
              <a:spcAft>
                <a:spcPts val="0"/>
              </a:spcAft>
              <a:buClr>
                <a:schemeClr val="dk2"/>
              </a:buClr>
              <a:buSzPts val="1800"/>
              <a:buChar char="•"/>
              <a:defRPr sz="1800" i="0" u="none" strike="noStrike" cap="none">
                <a:solidFill>
                  <a:schemeClr val="dk2"/>
                </a:solidFill>
              </a:defRPr>
            </a:lvl1pPr>
            <a:lvl2pPr marL="914400" marR="0" lvl="1" indent="-330200" algn="l" rtl="0">
              <a:spcBef>
                <a:spcPts val="800"/>
              </a:spcBef>
              <a:spcAft>
                <a:spcPts val="0"/>
              </a:spcAft>
              <a:buClr>
                <a:schemeClr val="dk2"/>
              </a:buClr>
              <a:buSzPts val="1600"/>
              <a:buChar char="•"/>
              <a:defRPr sz="1600" i="0" u="none" strike="noStrike" cap="none">
                <a:solidFill>
                  <a:schemeClr val="dk2"/>
                </a:solidFill>
              </a:defRPr>
            </a:lvl2pPr>
            <a:lvl3pPr marL="1371600" marR="0" lvl="2" indent="-317500" algn="l" rtl="0">
              <a:spcBef>
                <a:spcPts val="700"/>
              </a:spcBef>
              <a:spcAft>
                <a:spcPts val="0"/>
              </a:spcAft>
              <a:buClr>
                <a:schemeClr val="dk2"/>
              </a:buClr>
              <a:buSzPts val="1400"/>
              <a:buChar char="•"/>
              <a:defRPr sz="1400" i="0" u="none" strike="noStrike" cap="none">
                <a:solidFill>
                  <a:schemeClr val="dk2"/>
                </a:solidFill>
              </a:defRPr>
            </a:lvl3pPr>
            <a:lvl4pPr marL="1828800" marR="0" lvl="3" indent="-304800" algn="l" rtl="0">
              <a:spcBef>
                <a:spcPts val="700"/>
              </a:spcBef>
              <a:spcAft>
                <a:spcPts val="0"/>
              </a:spcAft>
              <a:buClr>
                <a:schemeClr val="dk2"/>
              </a:buClr>
              <a:buSzPts val="1200"/>
              <a:buChar char="•"/>
              <a:defRPr sz="1200" i="0" u="none" strike="noStrike" cap="none">
                <a:solidFill>
                  <a:schemeClr val="dk2"/>
                </a:solidFill>
              </a:defRPr>
            </a:lvl4pPr>
            <a:lvl5pPr marL="2286000" marR="0" lvl="4" indent="-304800" algn="l" rtl="0">
              <a:spcBef>
                <a:spcPts val="700"/>
              </a:spcBef>
              <a:spcAft>
                <a:spcPts val="0"/>
              </a:spcAft>
              <a:buClr>
                <a:schemeClr val="dk2"/>
              </a:buClr>
              <a:buSzPts val="1200"/>
              <a:buChar char="•"/>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201" name="Google Shape;201;p35"/>
          <p:cNvSpPr txBox="1">
            <a:spLocks noGrp="1"/>
          </p:cNvSpPr>
          <p:nvPr>
            <p:ph type="body" idx="2"/>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202" name="Google Shape;202;p35"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03" name="Google Shape;203;p35"/>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204" name="Google Shape;204;p35"/>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24_Title only">
  <p:cSld name="24_Title only">
    <p:spTree>
      <p:nvGrpSpPr>
        <p:cNvPr id="1" name="Shape 205"/>
        <p:cNvGrpSpPr/>
        <p:nvPr/>
      </p:nvGrpSpPr>
      <p:grpSpPr>
        <a:xfrm>
          <a:off x="0" y="0"/>
          <a:ext cx="0" cy="0"/>
          <a:chOff x="0" y="0"/>
          <a:chExt cx="0" cy="0"/>
        </a:xfrm>
      </p:grpSpPr>
      <p:sp>
        <p:nvSpPr>
          <p:cNvPr id="206" name="Google Shape;206;p36"/>
          <p:cNvSpPr txBox="1">
            <a:spLocks noGrp="1"/>
          </p:cNvSpPr>
          <p:nvPr>
            <p:ph type="title"/>
          </p:nvPr>
        </p:nvSpPr>
        <p:spPr>
          <a:xfrm>
            <a:off x="594360" y="507492"/>
            <a:ext cx="81666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07" name="Google Shape;207;p36"/>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08" name="Google Shape;208;p36"/>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60"/>
              </a:spcBef>
              <a:spcAft>
                <a:spcPts val="0"/>
              </a:spcAft>
              <a:buClr>
                <a:schemeClr val="dk1"/>
              </a:buClr>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209" name="Google Shape;209;p36"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10" name="Google Shape;210;p3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5_Chart">
  <p:cSld name="25_Chart">
    <p:spTree>
      <p:nvGrpSpPr>
        <p:cNvPr id="1" name="Shape 211"/>
        <p:cNvGrpSpPr/>
        <p:nvPr/>
      </p:nvGrpSpPr>
      <p:grpSpPr>
        <a:xfrm>
          <a:off x="0" y="0"/>
          <a:ext cx="0" cy="0"/>
          <a:chOff x="0" y="0"/>
          <a:chExt cx="0" cy="0"/>
        </a:xfrm>
      </p:grpSpPr>
      <p:sp>
        <p:nvSpPr>
          <p:cNvPr id="212" name="Google Shape;212;p37"/>
          <p:cNvSpPr txBox="1">
            <a:spLocks noGrp="1"/>
          </p:cNvSpPr>
          <p:nvPr>
            <p:ph type="body" idx="1"/>
          </p:nvPr>
        </p:nvSpPr>
        <p:spPr>
          <a:xfrm>
            <a:off x="594360" y="1351026"/>
            <a:ext cx="8168700" cy="192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13" name="Google Shape;213;p37"/>
          <p:cNvSpPr>
            <a:spLocks noGrp="1"/>
          </p:cNvSpPr>
          <p:nvPr>
            <p:ph type="chart" idx="2"/>
          </p:nvPr>
        </p:nvSpPr>
        <p:spPr>
          <a:xfrm>
            <a:off x="588818" y="1971485"/>
            <a:ext cx="81741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214" name="Google Shape;214;p37"/>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15" name="Google Shape;215;p37"/>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16" name="Google Shape;216;p37"/>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217" name="Google Shape;217;p37"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18" name="Google Shape;218;p37"/>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26_Side-by-side">
  <p:cSld name="26_Side-by-side">
    <p:spTree>
      <p:nvGrpSpPr>
        <p:cNvPr id="1" name="Shape 219"/>
        <p:cNvGrpSpPr/>
        <p:nvPr/>
      </p:nvGrpSpPr>
      <p:grpSpPr>
        <a:xfrm>
          <a:off x="0" y="0"/>
          <a:ext cx="0" cy="0"/>
          <a:chOff x="0" y="0"/>
          <a:chExt cx="0" cy="0"/>
        </a:xfrm>
      </p:grpSpPr>
      <p:sp>
        <p:nvSpPr>
          <p:cNvPr id="220" name="Google Shape;220;p38"/>
          <p:cNvSpPr txBox="1">
            <a:spLocks noGrp="1"/>
          </p:cNvSpPr>
          <p:nvPr>
            <p:ph type="body" idx="1"/>
          </p:nvPr>
        </p:nvSpPr>
        <p:spPr>
          <a:xfrm>
            <a:off x="594360"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21" name="Google Shape;221;p38"/>
          <p:cNvSpPr>
            <a:spLocks noGrp="1"/>
          </p:cNvSpPr>
          <p:nvPr>
            <p:ph type="chart" idx="2"/>
          </p:nvPr>
        </p:nvSpPr>
        <p:spPr>
          <a:xfrm>
            <a:off x="711200"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222" name="Google Shape;222;p38"/>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23" name="Google Shape;223;p38"/>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24" name="Google Shape;224;p38"/>
          <p:cNvSpPr>
            <a:spLocks noGrp="1"/>
          </p:cNvSpPr>
          <p:nvPr>
            <p:ph type="chart" idx="4"/>
          </p:nvPr>
        </p:nvSpPr>
        <p:spPr>
          <a:xfrm>
            <a:off x="4862512"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225" name="Google Shape;225;p38"/>
          <p:cNvSpPr txBox="1">
            <a:spLocks noGrp="1"/>
          </p:cNvSpPr>
          <p:nvPr>
            <p:ph type="body" idx="5"/>
          </p:nvPr>
        </p:nvSpPr>
        <p:spPr>
          <a:xfrm>
            <a:off x="4811042"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26" name="Google Shape;226;p38"/>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227" name="Google Shape;227;p38"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28" name="Google Shape;228;p38"/>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27_Table">
  <p:cSld name="27_Table">
    <p:spTree>
      <p:nvGrpSpPr>
        <p:cNvPr id="1" name="Shape 229"/>
        <p:cNvGrpSpPr/>
        <p:nvPr/>
      </p:nvGrpSpPr>
      <p:grpSpPr>
        <a:xfrm>
          <a:off x="0" y="0"/>
          <a:ext cx="0" cy="0"/>
          <a:chOff x="0" y="0"/>
          <a:chExt cx="0" cy="0"/>
        </a:xfrm>
      </p:grpSpPr>
      <p:sp>
        <p:nvSpPr>
          <p:cNvPr id="230" name="Google Shape;230;p39"/>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31" name="Google Shape;231;p39"/>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232" name="Google Shape;232;p39"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33" name="Google Shape;233;p39"/>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234" name="Google Shape;234;p39"/>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28_Quote White">
  <p:cSld name="28_Quote White">
    <p:spTree>
      <p:nvGrpSpPr>
        <p:cNvPr id="1" name="Shape 235"/>
        <p:cNvGrpSpPr/>
        <p:nvPr/>
      </p:nvGrpSpPr>
      <p:grpSpPr>
        <a:xfrm>
          <a:off x="0" y="0"/>
          <a:ext cx="0" cy="0"/>
          <a:chOff x="0" y="0"/>
          <a:chExt cx="0" cy="0"/>
        </a:xfrm>
      </p:grpSpPr>
      <p:sp>
        <p:nvSpPr>
          <p:cNvPr id="236" name="Google Shape;236;p40"/>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37" name="Google Shape;237;p40"/>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chemeClr val="dk2"/>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pic>
        <p:nvPicPr>
          <p:cNvPr id="238" name="Google Shape;238;p40"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39" name="Google Shape;239;p40"/>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29_Quote Texture PURPLE">
  <p:cSld name="29_Quote Texture PURPLE">
    <p:spTree>
      <p:nvGrpSpPr>
        <p:cNvPr id="1" name="Shape 240"/>
        <p:cNvGrpSpPr/>
        <p:nvPr/>
      </p:nvGrpSpPr>
      <p:grpSpPr>
        <a:xfrm>
          <a:off x="0" y="0"/>
          <a:ext cx="0" cy="0"/>
          <a:chOff x="0" y="0"/>
          <a:chExt cx="0" cy="0"/>
        </a:xfrm>
      </p:grpSpPr>
      <p:pic>
        <p:nvPicPr>
          <p:cNvPr id="241" name="Google Shape;241;p41" descr="Purpl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42" name="Google Shape;242;p41"/>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pic>
        <p:nvPicPr>
          <p:cNvPr id="243" name="Google Shape;243;p41"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244" name="Google Shape;244;p41"/>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rgbClr val="FFFFFF"/>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245" name="Google Shape;245;p41"/>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246" name="Google Shape;246;p41"/>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30_Divider Slide PURPLE">
  <p:cSld name="30_Divider Slide PURPLE">
    <p:spTree>
      <p:nvGrpSpPr>
        <p:cNvPr id="1" name="Shape 247"/>
        <p:cNvGrpSpPr/>
        <p:nvPr/>
      </p:nvGrpSpPr>
      <p:grpSpPr>
        <a:xfrm>
          <a:off x="0" y="0"/>
          <a:ext cx="0" cy="0"/>
          <a:chOff x="0" y="0"/>
          <a:chExt cx="0" cy="0"/>
        </a:xfrm>
      </p:grpSpPr>
      <p:pic>
        <p:nvPicPr>
          <p:cNvPr id="248" name="Google Shape;248;p42" descr="Purple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49" name="Google Shape;249;p42" descr="Purple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250" name="Google Shape;250;p42"/>
          <p:cNvSpPr txBox="1">
            <a:spLocks noGrp="1"/>
          </p:cNvSpPr>
          <p:nvPr>
            <p:ph type="ctrTitle"/>
          </p:nvPr>
        </p:nvSpPr>
        <p:spPr>
          <a:xfrm>
            <a:off x="336322" y="308586"/>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51" name="Google Shape;251;p42"/>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252" name="Google Shape;252;p42"/>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31_Divider White">
  <p:cSld name="31_Divider White">
    <p:spTree>
      <p:nvGrpSpPr>
        <p:cNvPr id="1" name="Shape 253"/>
        <p:cNvGrpSpPr/>
        <p:nvPr/>
      </p:nvGrpSpPr>
      <p:grpSpPr>
        <a:xfrm>
          <a:off x="0" y="0"/>
          <a:ext cx="0" cy="0"/>
          <a:chOff x="0" y="0"/>
          <a:chExt cx="0" cy="0"/>
        </a:xfrm>
      </p:grpSpPr>
      <p:pic>
        <p:nvPicPr>
          <p:cNvPr id="254" name="Google Shape;254;p43"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55" name="Google Shape;255;p43"/>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dk1"/>
                </a:solidFill>
              </a:defRPr>
            </a:lvl1pPr>
            <a:lvl2pPr marL="0" marR="0" lvl="1" indent="0" algn="l" rtl="0">
              <a:spcBef>
                <a:spcPts val="0"/>
              </a:spcBef>
              <a:spcAft>
                <a:spcPts val="0"/>
              </a:spcAft>
              <a:buSzPts val="1400"/>
              <a:buNone/>
              <a:defRPr sz="3000" i="0" u="none" strike="noStrike" cap="none">
                <a:solidFill>
                  <a:srgbClr val="009DD9"/>
                </a:solidFill>
              </a:defRPr>
            </a:lvl2pPr>
            <a:lvl3pPr marL="0" marR="0" lvl="2" indent="0" algn="l" rtl="0">
              <a:spcBef>
                <a:spcPts val="0"/>
              </a:spcBef>
              <a:spcAft>
                <a:spcPts val="0"/>
              </a:spcAft>
              <a:buSzPts val="1400"/>
              <a:buNone/>
              <a:defRPr sz="3000" i="0" u="none" strike="noStrike" cap="none">
                <a:solidFill>
                  <a:srgbClr val="009DD9"/>
                </a:solidFill>
              </a:defRPr>
            </a:lvl3pPr>
            <a:lvl4pPr marL="0" marR="0" lvl="3" indent="0" algn="l" rtl="0">
              <a:spcBef>
                <a:spcPts val="0"/>
              </a:spcBef>
              <a:spcAft>
                <a:spcPts val="0"/>
              </a:spcAft>
              <a:buSzPts val="1400"/>
              <a:buNone/>
              <a:defRPr sz="3000" i="0" u="none" strike="noStrike" cap="none">
                <a:solidFill>
                  <a:srgbClr val="009DD9"/>
                </a:solidFill>
              </a:defRPr>
            </a:lvl4pPr>
            <a:lvl5pPr marL="0" marR="0" lvl="4" indent="0" algn="l" rtl="0">
              <a:spcBef>
                <a:spcPts val="0"/>
              </a:spcBef>
              <a:spcAft>
                <a:spcPts val="0"/>
              </a:spcAft>
              <a:buSzPts val="1400"/>
              <a:buNone/>
              <a:defRPr sz="3000" i="0" u="none" strike="noStrike" cap="none">
                <a:solidFill>
                  <a:srgbClr val="009DD9"/>
                </a:solidFill>
              </a:defRPr>
            </a:lvl5pPr>
            <a:lvl6pPr marL="457200" marR="0" lvl="5" indent="0" algn="l" rtl="0">
              <a:spcBef>
                <a:spcPts val="0"/>
              </a:spcBef>
              <a:spcAft>
                <a:spcPts val="0"/>
              </a:spcAft>
              <a:buSzPts val="1400"/>
              <a:buNone/>
              <a:defRPr sz="3000" i="0" u="none" strike="noStrike" cap="none">
                <a:solidFill>
                  <a:srgbClr val="009DD9"/>
                </a:solidFill>
              </a:defRPr>
            </a:lvl6pPr>
            <a:lvl7pPr marL="914400" marR="0" lvl="6" indent="0" algn="l" rtl="0">
              <a:spcBef>
                <a:spcPts val="0"/>
              </a:spcBef>
              <a:spcAft>
                <a:spcPts val="0"/>
              </a:spcAft>
              <a:buSzPts val="1400"/>
              <a:buNone/>
              <a:defRPr sz="3000" i="0" u="none" strike="noStrike" cap="none">
                <a:solidFill>
                  <a:srgbClr val="009DD9"/>
                </a:solidFill>
              </a:defRPr>
            </a:lvl7pPr>
            <a:lvl8pPr marL="1371600" marR="0" lvl="7" indent="0" algn="l" rtl="0">
              <a:spcBef>
                <a:spcPts val="0"/>
              </a:spcBef>
              <a:spcAft>
                <a:spcPts val="0"/>
              </a:spcAft>
              <a:buSzPts val="1400"/>
              <a:buNone/>
              <a:defRPr sz="3000" i="0" u="none" strike="noStrike" cap="none">
                <a:solidFill>
                  <a:srgbClr val="009DD9"/>
                </a:solidFill>
              </a:defRPr>
            </a:lvl8pPr>
            <a:lvl9pPr marL="1828800" marR="0" lvl="8" indent="0" algn="l" rtl="0">
              <a:spcBef>
                <a:spcPts val="0"/>
              </a:spcBef>
              <a:spcAft>
                <a:spcPts val="0"/>
              </a:spcAft>
              <a:buSzPts val="1400"/>
              <a:buNone/>
              <a:defRPr sz="3000" i="0" u="none" strike="noStrike" cap="none">
                <a:solidFill>
                  <a:srgbClr val="009DD9"/>
                </a:solidFill>
              </a:defRPr>
            </a:lvl9pPr>
          </a:lstStyle>
          <a:p>
            <a:endParaRPr/>
          </a:p>
        </p:txBody>
      </p:sp>
      <p:sp>
        <p:nvSpPr>
          <p:cNvPr id="256" name="Google Shape;256;p43"/>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31_Divider_NoText">
  <p:cSld name="31_Divider White_1">
    <p:spTree>
      <p:nvGrpSpPr>
        <p:cNvPr id="1" name="Shape 257"/>
        <p:cNvGrpSpPr/>
        <p:nvPr/>
      </p:nvGrpSpPr>
      <p:grpSpPr>
        <a:xfrm>
          <a:off x="0" y="0"/>
          <a:ext cx="0" cy="0"/>
          <a:chOff x="0" y="0"/>
          <a:chExt cx="0" cy="0"/>
        </a:xfrm>
      </p:grpSpPr>
      <p:pic>
        <p:nvPicPr>
          <p:cNvPr id="258" name="Google Shape;258;p44" descr="Purpl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59" name="Google Shape;259;p4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33_End Slide N-tab PURPLE">
  <p:cSld name="33_End Slide N-tab PURPLE">
    <p:spTree>
      <p:nvGrpSpPr>
        <p:cNvPr id="1" name="Shape 260"/>
        <p:cNvGrpSpPr/>
        <p:nvPr/>
      </p:nvGrpSpPr>
      <p:grpSpPr>
        <a:xfrm>
          <a:off x="0" y="0"/>
          <a:ext cx="0" cy="0"/>
          <a:chOff x="0" y="0"/>
          <a:chExt cx="0" cy="0"/>
        </a:xfrm>
      </p:grpSpPr>
      <p:pic>
        <p:nvPicPr>
          <p:cNvPr id="261" name="Google Shape;261;p45" descr="Purpl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62" name="Google Shape;262;p45" descr="N-Element-Tab-Square-White_RGB.png"/>
          <p:cNvPicPr preferRelativeResize="0"/>
          <p:nvPr/>
        </p:nvPicPr>
        <p:blipFill rotWithShape="1">
          <a:blip r:embed="rId3">
            <a:alphaModFix/>
          </a:blip>
          <a:srcRect/>
          <a:stretch/>
        </p:blipFill>
        <p:spPr>
          <a:xfrm>
            <a:off x="3581400" y="1814182"/>
            <a:ext cx="1114500" cy="1114800"/>
          </a:xfrm>
          <a:prstGeom prst="rect">
            <a:avLst/>
          </a:prstGeom>
          <a:noFill/>
          <a:ln>
            <a:noFill/>
          </a:ln>
        </p:spPr>
      </p:pic>
      <p:sp>
        <p:nvSpPr>
          <p:cNvPr id="263" name="Google Shape;263;p45"/>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34_End Slide Full Logo PURPLE">
  <p:cSld name="34_End Slide Full Logo PURPLE">
    <p:spTree>
      <p:nvGrpSpPr>
        <p:cNvPr id="1" name="Shape 264"/>
        <p:cNvGrpSpPr/>
        <p:nvPr/>
      </p:nvGrpSpPr>
      <p:grpSpPr>
        <a:xfrm>
          <a:off x="0" y="0"/>
          <a:ext cx="0" cy="0"/>
          <a:chOff x="0" y="0"/>
          <a:chExt cx="0" cy="0"/>
        </a:xfrm>
      </p:grpSpPr>
      <p:pic>
        <p:nvPicPr>
          <p:cNvPr id="265" name="Google Shape;265;p46" descr="Purpl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66" name="Google Shape;266;p46" descr="Nielsen-Wordmark-White-RGB.png"/>
          <p:cNvPicPr preferRelativeResize="0"/>
          <p:nvPr/>
        </p:nvPicPr>
        <p:blipFill rotWithShape="1">
          <a:blip r:embed="rId3">
            <a:alphaModFix/>
          </a:blip>
          <a:srcRect/>
          <a:stretch/>
        </p:blipFill>
        <p:spPr>
          <a:xfrm>
            <a:off x="2375285" y="1943100"/>
            <a:ext cx="4393500" cy="1163100"/>
          </a:xfrm>
          <a:prstGeom prst="rect">
            <a:avLst/>
          </a:prstGeom>
          <a:noFill/>
          <a:ln>
            <a:noFill/>
          </a:ln>
        </p:spPr>
      </p:pic>
      <p:sp>
        <p:nvSpPr>
          <p:cNvPr id="267" name="Google Shape;267;p46"/>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37_Title N-tab GREEN">
  <p:cSld name="37_Title N-tab GREEN">
    <p:spTree>
      <p:nvGrpSpPr>
        <p:cNvPr id="1" name="Shape 268"/>
        <p:cNvGrpSpPr/>
        <p:nvPr/>
      </p:nvGrpSpPr>
      <p:grpSpPr>
        <a:xfrm>
          <a:off x="0" y="0"/>
          <a:ext cx="0" cy="0"/>
          <a:chOff x="0" y="0"/>
          <a:chExt cx="0" cy="0"/>
        </a:xfrm>
      </p:grpSpPr>
      <p:pic>
        <p:nvPicPr>
          <p:cNvPr id="269" name="Google Shape;269;p47" descr="Green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70" name="Google Shape;270;p47"/>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FFFFFF"/>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271" name="Google Shape;271;p47"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272" name="Google Shape;272;p47"/>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73" name="Google Shape;273;p47"/>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274" name="Google Shape;274;p47"/>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38_Title Full Logo GREEN">
  <p:cSld name="38_Title Full Logo GREEN">
    <p:spTree>
      <p:nvGrpSpPr>
        <p:cNvPr id="1" name="Shape 275"/>
        <p:cNvGrpSpPr/>
        <p:nvPr/>
      </p:nvGrpSpPr>
      <p:grpSpPr>
        <a:xfrm>
          <a:off x="0" y="0"/>
          <a:ext cx="0" cy="0"/>
          <a:chOff x="0" y="0"/>
          <a:chExt cx="0" cy="0"/>
        </a:xfrm>
      </p:grpSpPr>
      <p:pic>
        <p:nvPicPr>
          <p:cNvPr id="276" name="Google Shape;276;p48" descr="Green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277" name="Google Shape;277;p48"/>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FFFFFF"/>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278" name="Google Shape;278;p48" descr="Nielsen_R.png"/>
          <p:cNvPicPr preferRelativeResize="0"/>
          <p:nvPr/>
        </p:nvPicPr>
        <p:blipFill rotWithShape="1">
          <a:blip r:embed="rId3">
            <a:alphaModFix/>
          </a:blip>
          <a:srcRect/>
          <a:stretch/>
        </p:blipFill>
        <p:spPr>
          <a:xfrm>
            <a:off x="364066" y="1561243"/>
            <a:ext cx="1171500" cy="310800"/>
          </a:xfrm>
          <a:prstGeom prst="rect">
            <a:avLst/>
          </a:prstGeom>
          <a:noFill/>
          <a:ln>
            <a:noFill/>
          </a:ln>
        </p:spPr>
      </p:pic>
      <p:sp>
        <p:nvSpPr>
          <p:cNvPr id="279" name="Google Shape;279;p48"/>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80" name="Google Shape;280;p48"/>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281" name="Google Shape;281;p48"/>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38b_Title Full Photo GREEN">
  <p:cSld name="40_Title N-tab White">
    <p:spTree>
      <p:nvGrpSpPr>
        <p:cNvPr id="1" name="Shape 282"/>
        <p:cNvGrpSpPr/>
        <p:nvPr/>
      </p:nvGrpSpPr>
      <p:grpSpPr>
        <a:xfrm>
          <a:off x="0" y="0"/>
          <a:ext cx="0" cy="0"/>
          <a:chOff x="0" y="0"/>
          <a:chExt cx="0" cy="0"/>
        </a:xfrm>
      </p:grpSpPr>
      <p:pic>
        <p:nvPicPr>
          <p:cNvPr id="283" name="Google Shape;283;p49" descr="Green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284" name="Google Shape;284;p49" descr="Green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285" name="Google Shape;285;p49"/>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286" name="Google Shape;286;p49"/>
          <p:cNvSpPr txBox="1">
            <a:spLocks noGrp="1"/>
          </p:cNvSpPr>
          <p:nvPr>
            <p:ph type="ctrTitle"/>
          </p:nvPr>
        </p:nvSpPr>
        <p:spPr>
          <a:xfrm>
            <a:off x="336322" y="346188"/>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87" name="Google Shape;287;p49"/>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288" name="Google Shape;288;p49"/>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39_Title N-tab White">
  <p:cSld name="39_Title N-tab White">
    <p:spTree>
      <p:nvGrpSpPr>
        <p:cNvPr id="1" name="Shape 289"/>
        <p:cNvGrpSpPr/>
        <p:nvPr/>
      </p:nvGrpSpPr>
      <p:grpSpPr>
        <a:xfrm>
          <a:off x="0" y="0"/>
          <a:ext cx="0" cy="0"/>
          <a:chOff x="0" y="0"/>
          <a:chExt cx="0" cy="0"/>
        </a:xfrm>
      </p:grpSpPr>
      <p:pic>
        <p:nvPicPr>
          <p:cNvPr id="290" name="Google Shape;290;p50"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91" name="Google Shape;291;p50"/>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chemeClr val="dk2"/>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292" name="Google Shape;292;p50" descr="N Element Tab Square-Blue_RGB.png"/>
          <p:cNvPicPr preferRelativeResize="0"/>
          <p:nvPr/>
        </p:nvPicPr>
        <p:blipFill rotWithShape="1">
          <a:blip r:embed="rId3">
            <a:alphaModFix/>
          </a:blip>
          <a:srcRect/>
          <a:stretch/>
        </p:blipFill>
        <p:spPr>
          <a:xfrm>
            <a:off x="459399" y="1600200"/>
            <a:ext cx="213000" cy="213000"/>
          </a:xfrm>
          <a:prstGeom prst="rect">
            <a:avLst/>
          </a:prstGeom>
          <a:noFill/>
          <a:ln>
            <a:noFill/>
          </a:ln>
        </p:spPr>
      </p:pic>
      <p:sp>
        <p:nvSpPr>
          <p:cNvPr id="293" name="Google Shape;293;p50"/>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294" name="Google Shape;294;p50"/>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295" name="Google Shape;295;p50"/>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40_Title Full Logo White">
  <p:cSld name="40_Title Full Logo White">
    <p:spTree>
      <p:nvGrpSpPr>
        <p:cNvPr id="1" name="Shape 296"/>
        <p:cNvGrpSpPr/>
        <p:nvPr/>
      </p:nvGrpSpPr>
      <p:grpSpPr>
        <a:xfrm>
          <a:off x="0" y="0"/>
          <a:ext cx="0" cy="0"/>
          <a:chOff x="0" y="0"/>
          <a:chExt cx="0" cy="0"/>
        </a:xfrm>
      </p:grpSpPr>
      <p:pic>
        <p:nvPicPr>
          <p:cNvPr id="297" name="Google Shape;297;p51"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298" name="Google Shape;298;p51"/>
          <p:cNvSpPr txBox="1">
            <a:spLocks noGrp="1"/>
          </p:cNvSpPr>
          <p:nvPr>
            <p:ph type="body" idx="1"/>
          </p:nvPr>
        </p:nvSpPr>
        <p:spPr>
          <a:xfrm>
            <a:off x="336322"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000000"/>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299" name="Google Shape;299;p51" descr="Nielsen-Wordmark-Color-RGB.png"/>
          <p:cNvPicPr preferRelativeResize="0"/>
          <p:nvPr/>
        </p:nvPicPr>
        <p:blipFill rotWithShape="1">
          <a:blip r:embed="rId3">
            <a:alphaModFix/>
          </a:blip>
          <a:srcRect/>
          <a:stretch/>
        </p:blipFill>
        <p:spPr>
          <a:xfrm>
            <a:off x="445783" y="1571513"/>
            <a:ext cx="1191600" cy="315300"/>
          </a:xfrm>
          <a:prstGeom prst="rect">
            <a:avLst/>
          </a:prstGeom>
          <a:noFill/>
          <a:ln>
            <a:noFill/>
          </a:ln>
        </p:spPr>
      </p:pic>
      <p:sp>
        <p:nvSpPr>
          <p:cNvPr id="300" name="Google Shape;300;p51"/>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01" name="Google Shape;301;p51"/>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302" name="Google Shape;302;p51"/>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43_Chart">
  <p:cSld name="43_Chart">
    <p:spTree>
      <p:nvGrpSpPr>
        <p:cNvPr id="1" name="Shape 303"/>
        <p:cNvGrpSpPr/>
        <p:nvPr/>
      </p:nvGrpSpPr>
      <p:grpSpPr>
        <a:xfrm>
          <a:off x="0" y="0"/>
          <a:ext cx="0" cy="0"/>
          <a:chOff x="0" y="0"/>
          <a:chExt cx="0" cy="0"/>
        </a:xfrm>
      </p:grpSpPr>
      <p:sp>
        <p:nvSpPr>
          <p:cNvPr id="304" name="Google Shape;304;p52"/>
          <p:cNvSpPr txBox="1">
            <a:spLocks noGrp="1"/>
          </p:cNvSpPr>
          <p:nvPr>
            <p:ph type="body" idx="1"/>
          </p:nvPr>
        </p:nvSpPr>
        <p:spPr>
          <a:xfrm>
            <a:off x="594360" y="1351026"/>
            <a:ext cx="8168700" cy="192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05" name="Google Shape;305;p52"/>
          <p:cNvSpPr>
            <a:spLocks noGrp="1"/>
          </p:cNvSpPr>
          <p:nvPr>
            <p:ph type="chart" idx="2"/>
          </p:nvPr>
        </p:nvSpPr>
        <p:spPr>
          <a:xfrm>
            <a:off x="588818" y="1971485"/>
            <a:ext cx="81741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306" name="Google Shape;306;p52"/>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07" name="Google Shape;307;p52"/>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08" name="Google Shape;308;p52"/>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309" name="Google Shape;309;p52"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10" name="Google Shape;310;p52"/>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44_Side-by-side">
  <p:cSld name="44_Side-by-side">
    <p:spTree>
      <p:nvGrpSpPr>
        <p:cNvPr id="1" name="Shape 311"/>
        <p:cNvGrpSpPr/>
        <p:nvPr/>
      </p:nvGrpSpPr>
      <p:grpSpPr>
        <a:xfrm>
          <a:off x="0" y="0"/>
          <a:ext cx="0" cy="0"/>
          <a:chOff x="0" y="0"/>
          <a:chExt cx="0" cy="0"/>
        </a:xfrm>
      </p:grpSpPr>
      <p:sp>
        <p:nvSpPr>
          <p:cNvPr id="312" name="Google Shape;312;p53"/>
          <p:cNvSpPr txBox="1">
            <a:spLocks noGrp="1"/>
          </p:cNvSpPr>
          <p:nvPr>
            <p:ph type="body" idx="1"/>
          </p:nvPr>
        </p:nvSpPr>
        <p:spPr>
          <a:xfrm>
            <a:off x="594360"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13" name="Google Shape;313;p53"/>
          <p:cNvSpPr>
            <a:spLocks noGrp="1"/>
          </p:cNvSpPr>
          <p:nvPr>
            <p:ph type="chart" idx="2"/>
          </p:nvPr>
        </p:nvSpPr>
        <p:spPr>
          <a:xfrm>
            <a:off x="711200"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314" name="Google Shape;314;p53"/>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15" name="Google Shape;315;p53"/>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16" name="Google Shape;316;p53"/>
          <p:cNvSpPr>
            <a:spLocks noGrp="1"/>
          </p:cNvSpPr>
          <p:nvPr>
            <p:ph type="chart" idx="4"/>
          </p:nvPr>
        </p:nvSpPr>
        <p:spPr>
          <a:xfrm>
            <a:off x="4862512"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317" name="Google Shape;317;p53"/>
          <p:cNvSpPr txBox="1">
            <a:spLocks noGrp="1"/>
          </p:cNvSpPr>
          <p:nvPr>
            <p:ph type="body" idx="5"/>
          </p:nvPr>
        </p:nvSpPr>
        <p:spPr>
          <a:xfrm>
            <a:off x="4811042"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18" name="Google Shape;318;p53"/>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319" name="Google Shape;319;p53"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20" name="Google Shape;320;p53"/>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46_Quote White">
  <p:cSld name="46_Quote White">
    <p:spTree>
      <p:nvGrpSpPr>
        <p:cNvPr id="1" name="Shape 321"/>
        <p:cNvGrpSpPr/>
        <p:nvPr/>
      </p:nvGrpSpPr>
      <p:grpSpPr>
        <a:xfrm>
          <a:off x="0" y="0"/>
          <a:ext cx="0" cy="0"/>
          <a:chOff x="0" y="0"/>
          <a:chExt cx="0" cy="0"/>
        </a:xfrm>
      </p:grpSpPr>
      <p:sp>
        <p:nvSpPr>
          <p:cNvPr id="322" name="Google Shape;322;p54"/>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23" name="Google Shape;323;p54"/>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chemeClr val="dk2"/>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pic>
        <p:nvPicPr>
          <p:cNvPr id="324" name="Google Shape;324;p54" descr="Green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25" name="Google Shape;325;p5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47_Quote Texture GREEN">
  <p:cSld name="47_Quote Texture GREEN">
    <p:spTree>
      <p:nvGrpSpPr>
        <p:cNvPr id="1" name="Shape 326"/>
        <p:cNvGrpSpPr/>
        <p:nvPr/>
      </p:nvGrpSpPr>
      <p:grpSpPr>
        <a:xfrm>
          <a:off x="0" y="0"/>
          <a:ext cx="0" cy="0"/>
          <a:chOff x="0" y="0"/>
          <a:chExt cx="0" cy="0"/>
        </a:xfrm>
      </p:grpSpPr>
      <p:pic>
        <p:nvPicPr>
          <p:cNvPr id="327" name="Google Shape;327;p55" descr="Green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28" name="Google Shape;328;p55"/>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pic>
        <p:nvPicPr>
          <p:cNvPr id="329" name="Google Shape;329;p55"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330" name="Google Shape;330;p55"/>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rgbClr val="FFFFFF"/>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331" name="Google Shape;331;p55"/>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332" name="Google Shape;332;p55"/>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48_Divider Slide GREEN">
  <p:cSld name="48_Divider Slide GREEN">
    <p:spTree>
      <p:nvGrpSpPr>
        <p:cNvPr id="1" name="Shape 333"/>
        <p:cNvGrpSpPr/>
        <p:nvPr/>
      </p:nvGrpSpPr>
      <p:grpSpPr>
        <a:xfrm>
          <a:off x="0" y="0"/>
          <a:ext cx="0" cy="0"/>
          <a:chOff x="0" y="0"/>
          <a:chExt cx="0" cy="0"/>
        </a:xfrm>
      </p:grpSpPr>
      <p:pic>
        <p:nvPicPr>
          <p:cNvPr id="334" name="Google Shape;334;p56" descr="Green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335" name="Google Shape;335;p56" descr="Green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336" name="Google Shape;336;p56"/>
          <p:cNvSpPr txBox="1">
            <a:spLocks noGrp="1"/>
          </p:cNvSpPr>
          <p:nvPr>
            <p:ph type="ctrTitle"/>
          </p:nvPr>
        </p:nvSpPr>
        <p:spPr>
          <a:xfrm>
            <a:off x="336322" y="308586"/>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37" name="Google Shape;337;p5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338" name="Google Shape;338;p56"/>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matchingName="51_End Slide N-tab GREEN">
  <p:cSld name="51_End Slide N-tab GREEN">
    <p:spTree>
      <p:nvGrpSpPr>
        <p:cNvPr id="1" name="Shape 339"/>
        <p:cNvGrpSpPr/>
        <p:nvPr/>
      </p:nvGrpSpPr>
      <p:grpSpPr>
        <a:xfrm>
          <a:off x="0" y="0"/>
          <a:ext cx="0" cy="0"/>
          <a:chOff x="0" y="0"/>
          <a:chExt cx="0" cy="0"/>
        </a:xfrm>
      </p:grpSpPr>
      <p:pic>
        <p:nvPicPr>
          <p:cNvPr id="340" name="Google Shape;340;p57" descr="Green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341" name="Google Shape;341;p57" descr="N-Element-Tab-Square-White_RGB.png"/>
          <p:cNvPicPr preferRelativeResize="0"/>
          <p:nvPr/>
        </p:nvPicPr>
        <p:blipFill rotWithShape="1">
          <a:blip r:embed="rId3">
            <a:alphaModFix/>
          </a:blip>
          <a:srcRect/>
          <a:stretch/>
        </p:blipFill>
        <p:spPr>
          <a:xfrm>
            <a:off x="3581400" y="1814182"/>
            <a:ext cx="1114500" cy="1114800"/>
          </a:xfrm>
          <a:prstGeom prst="rect">
            <a:avLst/>
          </a:prstGeom>
          <a:noFill/>
          <a:ln>
            <a:noFill/>
          </a:ln>
        </p:spPr>
      </p:pic>
      <p:sp>
        <p:nvSpPr>
          <p:cNvPr id="342" name="Google Shape;342;p57"/>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matchingName="52_End Slide Full Logo GREEN">
  <p:cSld name="52_End Slide Full Logo GREEN">
    <p:spTree>
      <p:nvGrpSpPr>
        <p:cNvPr id="1" name="Shape 343"/>
        <p:cNvGrpSpPr/>
        <p:nvPr/>
      </p:nvGrpSpPr>
      <p:grpSpPr>
        <a:xfrm>
          <a:off x="0" y="0"/>
          <a:ext cx="0" cy="0"/>
          <a:chOff x="0" y="0"/>
          <a:chExt cx="0" cy="0"/>
        </a:xfrm>
      </p:grpSpPr>
      <p:pic>
        <p:nvPicPr>
          <p:cNvPr id="344" name="Google Shape;344;p58" descr="Green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345" name="Google Shape;345;p58" descr="Nielsen-Wordmark-White-RGB.png"/>
          <p:cNvPicPr preferRelativeResize="0"/>
          <p:nvPr/>
        </p:nvPicPr>
        <p:blipFill rotWithShape="1">
          <a:blip r:embed="rId3">
            <a:alphaModFix/>
          </a:blip>
          <a:srcRect/>
          <a:stretch/>
        </p:blipFill>
        <p:spPr>
          <a:xfrm>
            <a:off x="2375285" y="1943100"/>
            <a:ext cx="4393500" cy="1163100"/>
          </a:xfrm>
          <a:prstGeom prst="rect">
            <a:avLst/>
          </a:prstGeom>
          <a:noFill/>
          <a:ln>
            <a:noFill/>
          </a:ln>
        </p:spPr>
      </p:pic>
      <p:sp>
        <p:nvSpPr>
          <p:cNvPr id="346" name="Google Shape;346;p58"/>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55_Title N-tab GOLD">
  <p:cSld name="55_Title N-tab GOLD">
    <p:spTree>
      <p:nvGrpSpPr>
        <p:cNvPr id="1" name="Shape 347"/>
        <p:cNvGrpSpPr/>
        <p:nvPr/>
      </p:nvGrpSpPr>
      <p:grpSpPr>
        <a:xfrm>
          <a:off x="0" y="0"/>
          <a:ext cx="0" cy="0"/>
          <a:chOff x="0" y="0"/>
          <a:chExt cx="0" cy="0"/>
        </a:xfrm>
      </p:grpSpPr>
      <p:pic>
        <p:nvPicPr>
          <p:cNvPr id="348" name="Google Shape;348;p59" descr="Orang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49" name="Google Shape;349;p59"/>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Font typeface="Arial"/>
              <a:buNone/>
              <a:defRPr sz="1200" b="0" i="0" u="none" strike="noStrike" cap="none">
                <a:solidFill>
                  <a:srgbClr val="FFFFFF"/>
                </a:solidFill>
                <a:latin typeface="Arial"/>
                <a:ea typeface="Arial"/>
                <a:cs typeface="Arial"/>
                <a:sym typeface="Arial"/>
              </a:defRPr>
            </a:lvl1pPr>
            <a:lvl2pPr marL="914400" marR="0" lvl="1" indent="-228600" algn="l" rtl="0">
              <a:spcBef>
                <a:spcPts val="800"/>
              </a:spcBef>
              <a:spcAft>
                <a:spcPts val="0"/>
              </a:spcAft>
              <a:buClr>
                <a:schemeClr val="dk2"/>
              </a:buClr>
              <a:buSzPts val="1600"/>
              <a:buFont typeface="Arial"/>
              <a:buNone/>
              <a:defRPr sz="2000" b="1" i="0" u="none" strike="noStrike" cap="none">
                <a:solidFill>
                  <a:schemeClr val="dk2"/>
                </a:solidFill>
                <a:latin typeface="Arial"/>
                <a:ea typeface="Arial"/>
                <a:cs typeface="Arial"/>
                <a:sym typeface="Arial"/>
              </a:defRPr>
            </a:lvl2pPr>
            <a:lvl3pPr marL="1371600" marR="0" lvl="2" indent="-228600" algn="l" rtl="0">
              <a:spcBef>
                <a:spcPts val="700"/>
              </a:spcBef>
              <a:spcAft>
                <a:spcPts val="0"/>
              </a:spcAft>
              <a:buClr>
                <a:schemeClr val="dk2"/>
              </a:buClr>
              <a:buSzPts val="1400"/>
              <a:buFont typeface="Arial"/>
              <a:buNone/>
              <a:defRPr sz="1800" b="1" i="0" u="none" strike="noStrike" cap="none">
                <a:solidFill>
                  <a:schemeClr val="dk2"/>
                </a:solidFill>
                <a:latin typeface="Arial"/>
                <a:ea typeface="Arial"/>
                <a:cs typeface="Arial"/>
                <a:sym typeface="Arial"/>
              </a:defRPr>
            </a:lvl3pPr>
            <a:lvl4pPr marL="1828800" marR="0" lvl="3"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4pPr>
            <a:lvl5pPr marL="2286000" marR="0" lvl="4" indent="-228600" algn="l" rtl="0">
              <a:spcBef>
                <a:spcPts val="700"/>
              </a:spcBef>
              <a:spcAft>
                <a:spcPts val="0"/>
              </a:spcAft>
              <a:buClr>
                <a:schemeClr val="dk2"/>
              </a:buClr>
              <a:buSzPts val="1200"/>
              <a:buFont typeface="Arial"/>
              <a:buNone/>
              <a:defRPr sz="1600" b="1" i="0" u="none" strike="noStrike" cap="none">
                <a:solidFill>
                  <a:schemeClr val="dk2"/>
                </a:solidFill>
                <a:latin typeface="Arial"/>
                <a:ea typeface="Arial"/>
                <a:cs typeface="Arial"/>
                <a:sym typeface="Arial"/>
              </a:defRPr>
            </a:lvl5pPr>
            <a:lvl6pPr marL="2743200" marR="0" lvl="5"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6pPr>
            <a:lvl7pPr marL="3200400" marR="0" lvl="6"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7pPr>
            <a:lvl8pPr marL="3657600" marR="0" lvl="7"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8pPr>
            <a:lvl9pPr marL="4114800" marR="0" lvl="8" indent="-228600" algn="l" rtl="0">
              <a:spcBef>
                <a:spcPts val="320"/>
              </a:spcBef>
              <a:spcAft>
                <a:spcPts val="0"/>
              </a:spcAft>
              <a:buClr>
                <a:schemeClr val="dk1"/>
              </a:buClr>
              <a:buSzPts val="2000"/>
              <a:buFont typeface="Arial"/>
              <a:buNone/>
              <a:defRPr sz="1600" b="1" i="0" u="none" strike="noStrike" cap="none">
                <a:solidFill>
                  <a:schemeClr val="dk1"/>
                </a:solidFill>
                <a:latin typeface="Arial"/>
                <a:ea typeface="Arial"/>
                <a:cs typeface="Arial"/>
                <a:sym typeface="Arial"/>
              </a:defRPr>
            </a:lvl9pPr>
          </a:lstStyle>
          <a:p>
            <a:endParaRPr/>
          </a:p>
        </p:txBody>
      </p:sp>
      <p:pic>
        <p:nvPicPr>
          <p:cNvPr id="350" name="Google Shape;350;p59"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351" name="Google Shape;351;p59"/>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52" name="Google Shape;352;p59"/>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353" name="Google Shape;353;p59"/>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matchingName="56_Title Full Logo GOLD">
  <p:cSld name="56_Title Full Logo GOLD">
    <p:spTree>
      <p:nvGrpSpPr>
        <p:cNvPr id="1" name="Shape 354"/>
        <p:cNvGrpSpPr/>
        <p:nvPr/>
      </p:nvGrpSpPr>
      <p:grpSpPr>
        <a:xfrm>
          <a:off x="0" y="0"/>
          <a:ext cx="0" cy="0"/>
          <a:chOff x="0" y="0"/>
          <a:chExt cx="0" cy="0"/>
        </a:xfrm>
      </p:grpSpPr>
      <p:pic>
        <p:nvPicPr>
          <p:cNvPr id="355" name="Google Shape;355;p60" descr="Orange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356" name="Google Shape;356;p60"/>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FFFFFF"/>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357" name="Google Shape;357;p60" descr="Nielsen_R.png"/>
          <p:cNvPicPr preferRelativeResize="0"/>
          <p:nvPr/>
        </p:nvPicPr>
        <p:blipFill rotWithShape="1">
          <a:blip r:embed="rId3">
            <a:alphaModFix/>
          </a:blip>
          <a:srcRect/>
          <a:stretch/>
        </p:blipFill>
        <p:spPr>
          <a:xfrm>
            <a:off x="364066" y="1561243"/>
            <a:ext cx="1171500" cy="310800"/>
          </a:xfrm>
          <a:prstGeom prst="rect">
            <a:avLst/>
          </a:prstGeom>
          <a:noFill/>
          <a:ln>
            <a:noFill/>
          </a:ln>
        </p:spPr>
      </p:pic>
      <p:sp>
        <p:nvSpPr>
          <p:cNvPr id="358" name="Google Shape;358;p60"/>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59" name="Google Shape;359;p60"/>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360" name="Google Shape;360;p60"/>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56b_Title Full Photo GOLD">
  <p:cSld name="58_Title N-tab White">
    <p:spTree>
      <p:nvGrpSpPr>
        <p:cNvPr id="1" name="Shape 361"/>
        <p:cNvGrpSpPr/>
        <p:nvPr/>
      </p:nvGrpSpPr>
      <p:grpSpPr>
        <a:xfrm>
          <a:off x="0" y="0"/>
          <a:ext cx="0" cy="0"/>
          <a:chOff x="0" y="0"/>
          <a:chExt cx="0" cy="0"/>
        </a:xfrm>
      </p:grpSpPr>
      <p:pic>
        <p:nvPicPr>
          <p:cNvPr id="362" name="Google Shape;362;p61" descr="Yellow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363" name="Google Shape;363;p61" descr="Orande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364" name="Google Shape;364;p61"/>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65" name="Google Shape;365;p61"/>
          <p:cNvSpPr txBox="1">
            <a:spLocks noGrp="1"/>
          </p:cNvSpPr>
          <p:nvPr>
            <p:ph type="ctrTitle"/>
          </p:nvPr>
        </p:nvSpPr>
        <p:spPr>
          <a:xfrm>
            <a:off x="336322" y="346188"/>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66" name="Google Shape;366;p61"/>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367" name="Google Shape;367;p61"/>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57_Title N-tab White">
  <p:cSld name="57_Title N-tab White">
    <p:spTree>
      <p:nvGrpSpPr>
        <p:cNvPr id="1" name="Shape 368"/>
        <p:cNvGrpSpPr/>
        <p:nvPr/>
      </p:nvGrpSpPr>
      <p:grpSpPr>
        <a:xfrm>
          <a:off x="0" y="0"/>
          <a:ext cx="0" cy="0"/>
          <a:chOff x="0" y="0"/>
          <a:chExt cx="0" cy="0"/>
        </a:xfrm>
      </p:grpSpPr>
      <p:pic>
        <p:nvPicPr>
          <p:cNvPr id="369" name="Google Shape;369;p62"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70" name="Google Shape;370;p62"/>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371" name="Google Shape;371;p62" descr="N Element Tab Square-Blue_RGB.png"/>
          <p:cNvPicPr preferRelativeResize="0"/>
          <p:nvPr/>
        </p:nvPicPr>
        <p:blipFill rotWithShape="1">
          <a:blip r:embed="rId3">
            <a:alphaModFix/>
          </a:blip>
          <a:srcRect/>
          <a:stretch/>
        </p:blipFill>
        <p:spPr>
          <a:xfrm>
            <a:off x="459399" y="1600200"/>
            <a:ext cx="213000" cy="213000"/>
          </a:xfrm>
          <a:prstGeom prst="rect">
            <a:avLst/>
          </a:prstGeom>
          <a:noFill/>
          <a:ln>
            <a:noFill/>
          </a:ln>
        </p:spPr>
      </p:pic>
      <p:sp>
        <p:nvSpPr>
          <p:cNvPr id="372" name="Google Shape;372;p62"/>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73" name="Google Shape;373;p62"/>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Font typeface="Arial"/>
              <a:buNone/>
              <a:defRPr sz="2000" b="0" i="0" u="none" strike="noStrike" cap="none">
                <a:solidFill>
                  <a:srgbClr val="000000"/>
                </a:solidFill>
                <a:latin typeface="Arial"/>
                <a:ea typeface="Arial"/>
                <a:cs typeface="Arial"/>
                <a:sym typeface="Aria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374" name="Google Shape;374;p62"/>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58_Title Full Logo White">
  <p:cSld name="58_Title Full Logo White">
    <p:spTree>
      <p:nvGrpSpPr>
        <p:cNvPr id="1" name="Shape 375"/>
        <p:cNvGrpSpPr/>
        <p:nvPr/>
      </p:nvGrpSpPr>
      <p:grpSpPr>
        <a:xfrm>
          <a:off x="0" y="0"/>
          <a:ext cx="0" cy="0"/>
          <a:chOff x="0" y="0"/>
          <a:chExt cx="0" cy="0"/>
        </a:xfrm>
      </p:grpSpPr>
      <p:pic>
        <p:nvPicPr>
          <p:cNvPr id="376" name="Google Shape;376;p63"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77" name="Google Shape;377;p63"/>
          <p:cNvSpPr txBox="1">
            <a:spLocks noGrp="1"/>
          </p:cNvSpPr>
          <p:nvPr>
            <p:ph type="body" idx="1"/>
          </p:nvPr>
        </p:nvSpPr>
        <p:spPr>
          <a:xfrm>
            <a:off x="336322"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000000"/>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378" name="Google Shape;378;p63" descr="Nielsen-Wordmark-Color-RGB.png"/>
          <p:cNvPicPr preferRelativeResize="0"/>
          <p:nvPr/>
        </p:nvPicPr>
        <p:blipFill rotWithShape="1">
          <a:blip r:embed="rId3">
            <a:alphaModFix/>
          </a:blip>
          <a:srcRect/>
          <a:stretch/>
        </p:blipFill>
        <p:spPr>
          <a:xfrm>
            <a:off x="445783" y="1571513"/>
            <a:ext cx="1191600" cy="315300"/>
          </a:xfrm>
          <a:prstGeom prst="rect">
            <a:avLst/>
          </a:prstGeom>
          <a:noFill/>
          <a:ln>
            <a:noFill/>
          </a:ln>
        </p:spPr>
      </p:pic>
      <p:sp>
        <p:nvSpPr>
          <p:cNvPr id="379" name="Google Shape;379;p63"/>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80" name="Google Shape;380;p63"/>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381" name="Google Shape;381;p63"/>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59_Title and Content">
  <p:cSld name="59_Title and Content">
    <p:spTree>
      <p:nvGrpSpPr>
        <p:cNvPr id="1" name="Shape 382"/>
        <p:cNvGrpSpPr/>
        <p:nvPr/>
      </p:nvGrpSpPr>
      <p:grpSpPr>
        <a:xfrm>
          <a:off x="0" y="0"/>
          <a:ext cx="0" cy="0"/>
          <a:chOff x="0" y="0"/>
          <a:chExt cx="0" cy="0"/>
        </a:xfrm>
      </p:grpSpPr>
      <p:sp>
        <p:nvSpPr>
          <p:cNvPr id="383" name="Google Shape;383;p64"/>
          <p:cNvSpPr txBox="1">
            <a:spLocks noGrp="1"/>
          </p:cNvSpPr>
          <p:nvPr>
            <p:ph type="title"/>
          </p:nvPr>
        </p:nvSpPr>
        <p:spPr>
          <a:xfrm>
            <a:off x="594360" y="507492"/>
            <a:ext cx="81447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84" name="Google Shape;384;p64"/>
          <p:cNvSpPr txBox="1">
            <a:spLocks noGrp="1"/>
          </p:cNvSpPr>
          <p:nvPr>
            <p:ph type="body" idx="1"/>
          </p:nvPr>
        </p:nvSpPr>
        <p:spPr>
          <a:xfrm>
            <a:off x="594360" y="1515618"/>
            <a:ext cx="8168700" cy="3060000"/>
          </a:xfrm>
          <a:prstGeom prst="rect">
            <a:avLst/>
          </a:prstGeom>
          <a:noFill/>
          <a:ln>
            <a:noFill/>
          </a:ln>
        </p:spPr>
        <p:txBody>
          <a:bodyPr spcFirstLastPara="1" wrap="square" lIns="91425" tIns="91425" rIns="91425" bIns="91425" anchor="t" anchorCtr="0">
            <a:noAutofit/>
          </a:bodyPr>
          <a:lstStyle>
            <a:lvl1pPr marL="457200" marR="0" lvl="0" indent="-342900" algn="l" rtl="0">
              <a:spcBef>
                <a:spcPts val="800"/>
              </a:spcBef>
              <a:spcAft>
                <a:spcPts val="0"/>
              </a:spcAft>
              <a:buClr>
                <a:schemeClr val="dk2"/>
              </a:buClr>
              <a:buSzPts val="1800"/>
              <a:buChar char="•"/>
              <a:defRPr sz="1800" i="0" u="none" strike="noStrike" cap="none">
                <a:solidFill>
                  <a:schemeClr val="dk2"/>
                </a:solidFill>
              </a:defRPr>
            </a:lvl1pPr>
            <a:lvl2pPr marL="914400" marR="0" lvl="1" indent="-330200" algn="l" rtl="0">
              <a:spcBef>
                <a:spcPts val="800"/>
              </a:spcBef>
              <a:spcAft>
                <a:spcPts val="0"/>
              </a:spcAft>
              <a:buClr>
                <a:schemeClr val="dk2"/>
              </a:buClr>
              <a:buSzPts val="1600"/>
              <a:buChar char="•"/>
              <a:defRPr sz="1600" i="0" u="none" strike="noStrike" cap="none">
                <a:solidFill>
                  <a:schemeClr val="dk2"/>
                </a:solidFill>
              </a:defRPr>
            </a:lvl2pPr>
            <a:lvl3pPr marL="1371600" marR="0" lvl="2" indent="-317500" algn="l" rtl="0">
              <a:spcBef>
                <a:spcPts val="700"/>
              </a:spcBef>
              <a:spcAft>
                <a:spcPts val="0"/>
              </a:spcAft>
              <a:buClr>
                <a:schemeClr val="dk2"/>
              </a:buClr>
              <a:buSzPts val="1400"/>
              <a:buChar char="•"/>
              <a:defRPr sz="1400" i="0" u="none" strike="noStrike" cap="none">
                <a:solidFill>
                  <a:schemeClr val="dk2"/>
                </a:solidFill>
              </a:defRPr>
            </a:lvl3pPr>
            <a:lvl4pPr marL="1828800" marR="0" lvl="3" indent="-304800" algn="l" rtl="0">
              <a:spcBef>
                <a:spcPts val="700"/>
              </a:spcBef>
              <a:spcAft>
                <a:spcPts val="0"/>
              </a:spcAft>
              <a:buClr>
                <a:schemeClr val="dk2"/>
              </a:buClr>
              <a:buSzPts val="1200"/>
              <a:buChar char="•"/>
              <a:defRPr sz="1200" i="0" u="none" strike="noStrike" cap="none">
                <a:solidFill>
                  <a:schemeClr val="dk2"/>
                </a:solidFill>
              </a:defRPr>
            </a:lvl4pPr>
            <a:lvl5pPr marL="2286000" marR="0" lvl="4" indent="-304800" algn="l" rtl="0">
              <a:spcBef>
                <a:spcPts val="700"/>
              </a:spcBef>
              <a:spcAft>
                <a:spcPts val="0"/>
              </a:spcAft>
              <a:buClr>
                <a:schemeClr val="dk2"/>
              </a:buClr>
              <a:buSzPts val="1200"/>
              <a:buChar char="•"/>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385" name="Google Shape;385;p64"/>
          <p:cNvSpPr txBox="1">
            <a:spLocks noGrp="1"/>
          </p:cNvSpPr>
          <p:nvPr>
            <p:ph type="body" idx="2"/>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386" name="Google Shape;386;p64"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87" name="Google Shape;387;p64"/>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388" name="Google Shape;388;p6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60_Title only">
  <p:cSld name="60_Title only">
    <p:spTree>
      <p:nvGrpSpPr>
        <p:cNvPr id="1" name="Shape 389"/>
        <p:cNvGrpSpPr/>
        <p:nvPr/>
      </p:nvGrpSpPr>
      <p:grpSpPr>
        <a:xfrm>
          <a:off x="0" y="0"/>
          <a:ext cx="0" cy="0"/>
          <a:chOff x="0" y="0"/>
          <a:chExt cx="0" cy="0"/>
        </a:xfrm>
      </p:grpSpPr>
      <p:sp>
        <p:nvSpPr>
          <p:cNvPr id="390" name="Google Shape;390;p65"/>
          <p:cNvSpPr txBox="1">
            <a:spLocks noGrp="1"/>
          </p:cNvSpPr>
          <p:nvPr>
            <p:ph type="title"/>
          </p:nvPr>
        </p:nvSpPr>
        <p:spPr>
          <a:xfrm>
            <a:off x="594360" y="507492"/>
            <a:ext cx="81666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91" name="Google Shape;391;p65"/>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92" name="Google Shape;392;p65"/>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60"/>
              </a:spcBef>
              <a:spcAft>
                <a:spcPts val="0"/>
              </a:spcAft>
              <a:buClr>
                <a:schemeClr val="dk1"/>
              </a:buClr>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393" name="Google Shape;393;p65"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394" name="Google Shape;394;p65"/>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61_Chart">
  <p:cSld name="61_Chart">
    <p:spTree>
      <p:nvGrpSpPr>
        <p:cNvPr id="1" name="Shape 395"/>
        <p:cNvGrpSpPr/>
        <p:nvPr/>
      </p:nvGrpSpPr>
      <p:grpSpPr>
        <a:xfrm>
          <a:off x="0" y="0"/>
          <a:ext cx="0" cy="0"/>
          <a:chOff x="0" y="0"/>
          <a:chExt cx="0" cy="0"/>
        </a:xfrm>
      </p:grpSpPr>
      <p:sp>
        <p:nvSpPr>
          <p:cNvPr id="396" name="Google Shape;396;p66"/>
          <p:cNvSpPr txBox="1">
            <a:spLocks noGrp="1"/>
          </p:cNvSpPr>
          <p:nvPr>
            <p:ph type="body" idx="1"/>
          </p:nvPr>
        </p:nvSpPr>
        <p:spPr>
          <a:xfrm>
            <a:off x="594360" y="1351026"/>
            <a:ext cx="8168700" cy="192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397" name="Google Shape;397;p66"/>
          <p:cNvSpPr>
            <a:spLocks noGrp="1"/>
          </p:cNvSpPr>
          <p:nvPr>
            <p:ph type="chart" idx="2"/>
          </p:nvPr>
        </p:nvSpPr>
        <p:spPr>
          <a:xfrm>
            <a:off x="588818" y="1971485"/>
            <a:ext cx="81741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398" name="Google Shape;398;p66"/>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399" name="Google Shape;399;p66"/>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00" name="Google Shape;400;p66"/>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401" name="Google Shape;401;p66"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02" name="Google Shape;402;p6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62_Side-by-side">
  <p:cSld name="62_Side-by-side">
    <p:spTree>
      <p:nvGrpSpPr>
        <p:cNvPr id="1" name="Shape 403"/>
        <p:cNvGrpSpPr/>
        <p:nvPr/>
      </p:nvGrpSpPr>
      <p:grpSpPr>
        <a:xfrm>
          <a:off x="0" y="0"/>
          <a:ext cx="0" cy="0"/>
          <a:chOff x="0" y="0"/>
          <a:chExt cx="0" cy="0"/>
        </a:xfrm>
      </p:grpSpPr>
      <p:sp>
        <p:nvSpPr>
          <p:cNvPr id="404" name="Google Shape;404;p67"/>
          <p:cNvSpPr txBox="1">
            <a:spLocks noGrp="1"/>
          </p:cNvSpPr>
          <p:nvPr>
            <p:ph type="body" idx="1"/>
          </p:nvPr>
        </p:nvSpPr>
        <p:spPr>
          <a:xfrm>
            <a:off x="594360"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05" name="Google Shape;405;p67"/>
          <p:cNvSpPr>
            <a:spLocks noGrp="1"/>
          </p:cNvSpPr>
          <p:nvPr>
            <p:ph type="chart" idx="2"/>
          </p:nvPr>
        </p:nvSpPr>
        <p:spPr>
          <a:xfrm>
            <a:off x="711200"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406" name="Google Shape;406;p67"/>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07" name="Google Shape;407;p67"/>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08" name="Google Shape;408;p67"/>
          <p:cNvSpPr>
            <a:spLocks noGrp="1"/>
          </p:cNvSpPr>
          <p:nvPr>
            <p:ph type="chart" idx="4"/>
          </p:nvPr>
        </p:nvSpPr>
        <p:spPr>
          <a:xfrm>
            <a:off x="4862512"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409" name="Google Shape;409;p67"/>
          <p:cNvSpPr txBox="1">
            <a:spLocks noGrp="1"/>
          </p:cNvSpPr>
          <p:nvPr>
            <p:ph type="body" idx="5"/>
          </p:nvPr>
        </p:nvSpPr>
        <p:spPr>
          <a:xfrm>
            <a:off x="4811042"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10" name="Google Shape;410;p67"/>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411" name="Google Shape;411;p67"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12" name="Google Shape;412;p67"/>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63_Table">
  <p:cSld name="63_Table">
    <p:spTree>
      <p:nvGrpSpPr>
        <p:cNvPr id="1" name="Shape 413"/>
        <p:cNvGrpSpPr/>
        <p:nvPr/>
      </p:nvGrpSpPr>
      <p:grpSpPr>
        <a:xfrm>
          <a:off x="0" y="0"/>
          <a:ext cx="0" cy="0"/>
          <a:chOff x="0" y="0"/>
          <a:chExt cx="0" cy="0"/>
        </a:xfrm>
      </p:grpSpPr>
      <p:sp>
        <p:nvSpPr>
          <p:cNvPr id="414" name="Google Shape;414;p68"/>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15" name="Google Shape;415;p68"/>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416" name="Google Shape;416;p68"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17" name="Google Shape;417;p68"/>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418" name="Google Shape;418;p68"/>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66_Divider Slide GOLD">
  <p:cSld name="66_Divider Slide GOLD">
    <p:spTree>
      <p:nvGrpSpPr>
        <p:cNvPr id="1" name="Shape 419"/>
        <p:cNvGrpSpPr/>
        <p:nvPr/>
      </p:nvGrpSpPr>
      <p:grpSpPr>
        <a:xfrm>
          <a:off x="0" y="0"/>
          <a:ext cx="0" cy="0"/>
          <a:chOff x="0" y="0"/>
          <a:chExt cx="0" cy="0"/>
        </a:xfrm>
      </p:grpSpPr>
      <p:pic>
        <p:nvPicPr>
          <p:cNvPr id="420" name="Google Shape;420;p69" descr="Yellow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421" name="Google Shape;421;p69" descr="Orande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422" name="Google Shape;422;p69"/>
          <p:cNvSpPr txBox="1">
            <a:spLocks noGrp="1"/>
          </p:cNvSpPr>
          <p:nvPr>
            <p:ph type="ctrTitle"/>
          </p:nvPr>
        </p:nvSpPr>
        <p:spPr>
          <a:xfrm>
            <a:off x="336322" y="308586"/>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23" name="Google Shape;423;p69"/>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424" name="Google Shape;424;p69"/>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67_Divider White">
  <p:cSld name="67_Divider White">
    <p:spTree>
      <p:nvGrpSpPr>
        <p:cNvPr id="1" name="Shape 425"/>
        <p:cNvGrpSpPr/>
        <p:nvPr/>
      </p:nvGrpSpPr>
      <p:grpSpPr>
        <a:xfrm>
          <a:off x="0" y="0"/>
          <a:ext cx="0" cy="0"/>
          <a:chOff x="0" y="0"/>
          <a:chExt cx="0" cy="0"/>
        </a:xfrm>
      </p:grpSpPr>
      <p:pic>
        <p:nvPicPr>
          <p:cNvPr id="426" name="Google Shape;426;p70"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27" name="Google Shape;427;p70"/>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dk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28" name="Google Shape;428;p70"/>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67_Divider_NoText">
  <p:cSld name="67_Divider White_1">
    <p:spTree>
      <p:nvGrpSpPr>
        <p:cNvPr id="1" name="Shape 429"/>
        <p:cNvGrpSpPr/>
        <p:nvPr/>
      </p:nvGrpSpPr>
      <p:grpSpPr>
        <a:xfrm>
          <a:off x="0" y="0"/>
          <a:ext cx="0" cy="0"/>
          <a:chOff x="0" y="0"/>
          <a:chExt cx="0" cy="0"/>
        </a:xfrm>
      </p:grpSpPr>
      <p:pic>
        <p:nvPicPr>
          <p:cNvPr id="430" name="Google Shape;430;p71" descr="Orande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31" name="Google Shape;431;p71"/>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matchingName="69_End Slide N-tab GOLD">
  <p:cSld name="69_End Slide N-tab GOLD">
    <p:spTree>
      <p:nvGrpSpPr>
        <p:cNvPr id="1" name="Shape 432"/>
        <p:cNvGrpSpPr/>
        <p:nvPr/>
      </p:nvGrpSpPr>
      <p:grpSpPr>
        <a:xfrm>
          <a:off x="0" y="0"/>
          <a:ext cx="0" cy="0"/>
          <a:chOff x="0" y="0"/>
          <a:chExt cx="0" cy="0"/>
        </a:xfrm>
      </p:grpSpPr>
      <p:pic>
        <p:nvPicPr>
          <p:cNvPr id="433" name="Google Shape;433;p72" descr="Orang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434" name="Google Shape;434;p72" descr="N-Element-Tab-Square-White_RGB.png"/>
          <p:cNvPicPr preferRelativeResize="0"/>
          <p:nvPr/>
        </p:nvPicPr>
        <p:blipFill rotWithShape="1">
          <a:blip r:embed="rId3">
            <a:alphaModFix/>
          </a:blip>
          <a:srcRect/>
          <a:stretch/>
        </p:blipFill>
        <p:spPr>
          <a:xfrm>
            <a:off x="3581400" y="1814182"/>
            <a:ext cx="1114500" cy="1114800"/>
          </a:xfrm>
          <a:prstGeom prst="rect">
            <a:avLst/>
          </a:prstGeom>
          <a:noFill/>
          <a:ln>
            <a:noFill/>
          </a:ln>
        </p:spPr>
      </p:pic>
      <p:sp>
        <p:nvSpPr>
          <p:cNvPr id="435" name="Google Shape;435;p72"/>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matchingName="70_End Slide Full Logo GOLD">
  <p:cSld name="70_End Slide Full Logo GOLD">
    <p:spTree>
      <p:nvGrpSpPr>
        <p:cNvPr id="1" name="Shape 436"/>
        <p:cNvGrpSpPr/>
        <p:nvPr/>
      </p:nvGrpSpPr>
      <p:grpSpPr>
        <a:xfrm>
          <a:off x="0" y="0"/>
          <a:ext cx="0" cy="0"/>
          <a:chOff x="0" y="0"/>
          <a:chExt cx="0" cy="0"/>
        </a:xfrm>
      </p:grpSpPr>
      <p:pic>
        <p:nvPicPr>
          <p:cNvPr id="437" name="Google Shape;437;p73" descr="Orange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438" name="Google Shape;438;p73" descr="Nielsen-Wordmark-White-RGB.png"/>
          <p:cNvPicPr preferRelativeResize="0"/>
          <p:nvPr/>
        </p:nvPicPr>
        <p:blipFill rotWithShape="1">
          <a:blip r:embed="rId3">
            <a:alphaModFix/>
          </a:blip>
          <a:srcRect/>
          <a:stretch/>
        </p:blipFill>
        <p:spPr>
          <a:xfrm>
            <a:off x="2375285" y="1943100"/>
            <a:ext cx="4393500" cy="1163100"/>
          </a:xfrm>
          <a:prstGeom prst="rect">
            <a:avLst/>
          </a:prstGeom>
          <a:noFill/>
          <a:ln>
            <a:noFill/>
          </a:ln>
        </p:spPr>
      </p:pic>
      <p:sp>
        <p:nvSpPr>
          <p:cNvPr id="439" name="Google Shape;439;p73"/>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matchingName="73_Title N-tab RED">
  <p:cSld name="73_Title N-tab RED">
    <p:spTree>
      <p:nvGrpSpPr>
        <p:cNvPr id="1" name="Shape 440"/>
        <p:cNvGrpSpPr/>
        <p:nvPr/>
      </p:nvGrpSpPr>
      <p:grpSpPr>
        <a:xfrm>
          <a:off x="0" y="0"/>
          <a:ext cx="0" cy="0"/>
          <a:chOff x="0" y="0"/>
          <a:chExt cx="0" cy="0"/>
        </a:xfrm>
      </p:grpSpPr>
      <p:pic>
        <p:nvPicPr>
          <p:cNvPr id="441" name="Google Shape;441;p74" descr="Red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442" name="Google Shape;442;p74"/>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FFFFFF"/>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443" name="Google Shape;443;p74"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444" name="Google Shape;444;p74"/>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45" name="Google Shape;445;p74"/>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446" name="Google Shape;446;p74"/>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matchingName="74_Title Full Logo RED">
  <p:cSld name="74_Title Full Logo RED">
    <p:spTree>
      <p:nvGrpSpPr>
        <p:cNvPr id="1" name="Shape 447"/>
        <p:cNvGrpSpPr/>
        <p:nvPr/>
      </p:nvGrpSpPr>
      <p:grpSpPr>
        <a:xfrm>
          <a:off x="0" y="0"/>
          <a:ext cx="0" cy="0"/>
          <a:chOff x="0" y="0"/>
          <a:chExt cx="0" cy="0"/>
        </a:xfrm>
      </p:grpSpPr>
      <p:pic>
        <p:nvPicPr>
          <p:cNvPr id="448" name="Google Shape;448;p75" descr="Red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449" name="Google Shape;449;p75"/>
          <p:cNvSpPr txBox="1">
            <a:spLocks noGrp="1"/>
          </p:cNvSpPr>
          <p:nvPr>
            <p:ph type="body" idx="1"/>
          </p:nvPr>
        </p:nvSpPr>
        <p:spPr>
          <a:xfrm>
            <a:off x="247426" y="4343400"/>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FFFFFF"/>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450" name="Google Shape;450;p75" descr="Nielsen_R.png"/>
          <p:cNvPicPr preferRelativeResize="0"/>
          <p:nvPr/>
        </p:nvPicPr>
        <p:blipFill rotWithShape="1">
          <a:blip r:embed="rId3">
            <a:alphaModFix/>
          </a:blip>
          <a:srcRect/>
          <a:stretch/>
        </p:blipFill>
        <p:spPr>
          <a:xfrm>
            <a:off x="364066" y="1561243"/>
            <a:ext cx="1171500" cy="310800"/>
          </a:xfrm>
          <a:prstGeom prst="rect">
            <a:avLst/>
          </a:prstGeom>
          <a:noFill/>
          <a:ln>
            <a:noFill/>
          </a:ln>
        </p:spPr>
      </p:pic>
      <p:sp>
        <p:nvSpPr>
          <p:cNvPr id="451" name="Google Shape;451;p75"/>
          <p:cNvSpPr txBox="1">
            <a:spLocks noGrp="1"/>
          </p:cNvSpPr>
          <p:nvPr>
            <p:ph type="ctrTitle"/>
          </p:nvPr>
        </p:nvSpPr>
        <p:spPr>
          <a:xfrm>
            <a:off x="246888" y="1933074"/>
            <a:ext cx="66843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lt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52" name="Google Shape;452;p75"/>
          <p:cNvSpPr txBox="1">
            <a:spLocks noGrp="1"/>
          </p:cNvSpPr>
          <p:nvPr>
            <p:ph type="subTitle" idx="2"/>
          </p:nvPr>
        </p:nvSpPr>
        <p:spPr>
          <a:xfrm>
            <a:off x="264135" y="3010662"/>
            <a:ext cx="66843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FFFFFF"/>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453" name="Google Shape;453;p75"/>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matchingName="74b_Title Full Photo RED">
  <p:cSld name="76_Title N-tab White">
    <p:spTree>
      <p:nvGrpSpPr>
        <p:cNvPr id="1" name="Shape 454"/>
        <p:cNvGrpSpPr/>
        <p:nvPr/>
      </p:nvGrpSpPr>
      <p:grpSpPr>
        <a:xfrm>
          <a:off x="0" y="0"/>
          <a:ext cx="0" cy="0"/>
          <a:chOff x="0" y="0"/>
          <a:chExt cx="0" cy="0"/>
        </a:xfrm>
      </p:grpSpPr>
      <p:pic>
        <p:nvPicPr>
          <p:cNvPr id="455" name="Google Shape;455;p76" descr="Red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456" name="Google Shape;456;p76" descr="Red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457" name="Google Shape;457;p76"/>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58" name="Google Shape;458;p76"/>
          <p:cNvSpPr txBox="1">
            <a:spLocks noGrp="1"/>
          </p:cNvSpPr>
          <p:nvPr>
            <p:ph type="ctrTitle"/>
          </p:nvPr>
        </p:nvSpPr>
        <p:spPr>
          <a:xfrm>
            <a:off x="336322" y="346188"/>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59" name="Google Shape;459;p7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460" name="Google Shape;460;p76"/>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matchingName="75_Title N-tab White">
  <p:cSld name="75_Title N-tab White">
    <p:spTree>
      <p:nvGrpSpPr>
        <p:cNvPr id="1" name="Shape 461"/>
        <p:cNvGrpSpPr/>
        <p:nvPr/>
      </p:nvGrpSpPr>
      <p:grpSpPr>
        <a:xfrm>
          <a:off x="0" y="0"/>
          <a:ext cx="0" cy="0"/>
          <a:chOff x="0" y="0"/>
          <a:chExt cx="0" cy="0"/>
        </a:xfrm>
      </p:grpSpPr>
      <p:pic>
        <p:nvPicPr>
          <p:cNvPr id="462" name="Google Shape;462;p77"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63" name="Google Shape;463;p77"/>
          <p:cNvSpPr txBox="1">
            <a:spLocks noGrp="1"/>
          </p:cNvSpPr>
          <p:nvPr>
            <p:ph type="body" idx="1"/>
          </p:nvPr>
        </p:nvSpPr>
        <p:spPr>
          <a:xfrm>
            <a:off x="336851"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464" name="Google Shape;464;p77" descr="N Element Tab Square-Blue_RGB.png"/>
          <p:cNvPicPr preferRelativeResize="0"/>
          <p:nvPr/>
        </p:nvPicPr>
        <p:blipFill rotWithShape="1">
          <a:blip r:embed="rId3">
            <a:alphaModFix/>
          </a:blip>
          <a:srcRect/>
          <a:stretch/>
        </p:blipFill>
        <p:spPr>
          <a:xfrm>
            <a:off x="459399" y="1600200"/>
            <a:ext cx="213000" cy="213000"/>
          </a:xfrm>
          <a:prstGeom prst="rect">
            <a:avLst/>
          </a:prstGeom>
          <a:noFill/>
          <a:ln>
            <a:noFill/>
          </a:ln>
        </p:spPr>
      </p:pic>
      <p:sp>
        <p:nvSpPr>
          <p:cNvPr id="465" name="Google Shape;465;p77"/>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66" name="Google Shape;466;p77"/>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467" name="Google Shape;467;p77"/>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matchingName="76_Title Full Logo White">
  <p:cSld name="76_Title Full Logo White">
    <p:spTree>
      <p:nvGrpSpPr>
        <p:cNvPr id="1" name="Shape 468"/>
        <p:cNvGrpSpPr/>
        <p:nvPr/>
      </p:nvGrpSpPr>
      <p:grpSpPr>
        <a:xfrm>
          <a:off x="0" y="0"/>
          <a:ext cx="0" cy="0"/>
          <a:chOff x="0" y="0"/>
          <a:chExt cx="0" cy="0"/>
        </a:xfrm>
      </p:grpSpPr>
      <p:pic>
        <p:nvPicPr>
          <p:cNvPr id="469" name="Google Shape;469;p78"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70" name="Google Shape;470;p78"/>
          <p:cNvSpPr txBox="1">
            <a:spLocks noGrp="1"/>
          </p:cNvSpPr>
          <p:nvPr>
            <p:ph type="body" idx="1"/>
          </p:nvPr>
        </p:nvSpPr>
        <p:spPr>
          <a:xfrm>
            <a:off x="336322" y="4506154"/>
            <a:ext cx="2891100" cy="523200"/>
          </a:xfrm>
          <a:prstGeom prst="rect">
            <a:avLst/>
          </a:prstGeom>
          <a:noFill/>
          <a:ln>
            <a:noFill/>
          </a:ln>
        </p:spPr>
        <p:txBody>
          <a:bodyPr spcFirstLastPara="1" wrap="square" lIns="91425" tIns="91425" rIns="91425" bIns="91425" anchor="b" anchorCtr="0">
            <a:noAutofit/>
          </a:bodyPr>
          <a:lstStyle>
            <a:lvl1pPr marL="457200" marR="0" lvl="0" indent="-228600" algn="l" rtl="0">
              <a:lnSpc>
                <a:spcPct val="100000"/>
              </a:lnSpc>
              <a:spcBef>
                <a:spcPts val="0"/>
              </a:spcBef>
              <a:spcAft>
                <a:spcPts val="0"/>
              </a:spcAft>
              <a:buClr>
                <a:schemeClr val="dk2"/>
              </a:buClr>
              <a:buSzPts val="1800"/>
              <a:buNone/>
              <a:defRPr sz="1200" i="0" u="none" strike="noStrike" cap="none">
                <a:solidFill>
                  <a:srgbClr val="000000"/>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471" name="Google Shape;471;p78" descr="Nielsen-Wordmark-Color-RGB.png"/>
          <p:cNvPicPr preferRelativeResize="0"/>
          <p:nvPr/>
        </p:nvPicPr>
        <p:blipFill rotWithShape="1">
          <a:blip r:embed="rId3">
            <a:alphaModFix/>
          </a:blip>
          <a:srcRect/>
          <a:stretch/>
        </p:blipFill>
        <p:spPr>
          <a:xfrm>
            <a:off x="445783" y="1571513"/>
            <a:ext cx="1191600" cy="315300"/>
          </a:xfrm>
          <a:prstGeom prst="rect">
            <a:avLst/>
          </a:prstGeom>
          <a:noFill/>
          <a:ln>
            <a:noFill/>
          </a:ln>
        </p:spPr>
      </p:pic>
      <p:sp>
        <p:nvSpPr>
          <p:cNvPr id="472" name="Google Shape;472;p78"/>
          <p:cNvSpPr txBox="1">
            <a:spLocks noGrp="1"/>
          </p:cNvSpPr>
          <p:nvPr>
            <p:ph type="ctrTitle"/>
          </p:nvPr>
        </p:nvSpPr>
        <p:spPr>
          <a:xfrm>
            <a:off x="336322" y="1937961"/>
            <a:ext cx="6674100" cy="982500"/>
          </a:xfrm>
          <a:prstGeom prst="rect">
            <a:avLst/>
          </a:prstGeom>
          <a:noFill/>
          <a:ln>
            <a:noFill/>
          </a:ln>
        </p:spPr>
        <p:txBody>
          <a:bodyPr spcFirstLastPara="1" wrap="square" lIns="91425" tIns="91425" rIns="91425" bIns="91425" anchor="b"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73" name="Google Shape;473;p78"/>
          <p:cNvSpPr txBox="1">
            <a:spLocks noGrp="1"/>
          </p:cNvSpPr>
          <p:nvPr>
            <p:ph type="subTitle" idx="2"/>
          </p:nvPr>
        </p:nvSpPr>
        <p:spPr>
          <a:xfrm>
            <a:off x="366976" y="3010662"/>
            <a:ext cx="6598200" cy="498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800"/>
              </a:spcBef>
              <a:spcAft>
                <a:spcPts val="0"/>
              </a:spcAft>
              <a:buClr>
                <a:schemeClr val="dk2"/>
              </a:buClr>
              <a:buSzPts val="1800"/>
              <a:buNone/>
              <a:defRPr sz="2000" i="0" u="none" strike="noStrike" cap="none">
                <a:solidFill>
                  <a:srgbClr val="000000"/>
                </a:solidFill>
              </a:defRPr>
            </a:lvl1pPr>
            <a:lvl2pPr marL="457200" marR="0" lvl="1" indent="0" algn="ctr" rtl="0">
              <a:spcBef>
                <a:spcPts val="800"/>
              </a:spcBef>
              <a:spcAft>
                <a:spcPts val="0"/>
              </a:spcAft>
              <a:buClr>
                <a:schemeClr val="dk2"/>
              </a:buClr>
              <a:buSzPts val="1600"/>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700"/>
              </a:spcBef>
              <a:spcAft>
                <a:spcPts val="0"/>
              </a:spcAft>
              <a:buClr>
                <a:schemeClr val="dk2"/>
              </a:buClr>
              <a:buSzPts val="1400"/>
              <a:buFont typeface="Arial"/>
              <a:buNone/>
              <a:defRPr sz="1400" b="0" i="0" u="none" strike="noStrike" cap="none">
                <a:solidFill>
                  <a:srgbClr val="888888"/>
                </a:solidFill>
                <a:latin typeface="Arial"/>
                <a:ea typeface="Arial"/>
                <a:cs typeface="Arial"/>
                <a:sym typeface="Arial"/>
              </a:defRPr>
            </a:lvl3pPr>
            <a:lvl4pPr marL="1371600" marR="0" lvl="3"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4pPr>
            <a:lvl5pPr marL="1828800" marR="0" lvl="4" indent="0" algn="ctr" rtl="0">
              <a:spcBef>
                <a:spcPts val="700"/>
              </a:spcBef>
              <a:spcAft>
                <a:spcPts val="0"/>
              </a:spcAft>
              <a:buClr>
                <a:schemeClr val="dk2"/>
              </a:buClr>
              <a:buSzPts val="1200"/>
              <a:buFont typeface="Arial"/>
              <a:buNone/>
              <a:defRPr sz="1200" b="0" i="0" u="none" strike="noStrike" cap="none">
                <a:solidFill>
                  <a:srgbClr val="888888"/>
                </a:solidFill>
                <a:latin typeface="Arial"/>
                <a:ea typeface="Arial"/>
                <a:cs typeface="Arial"/>
                <a:sym typeface="Arial"/>
              </a:defRPr>
            </a:lvl5pPr>
            <a:lvl6pPr marL="2286000" marR="0" lvl="5"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6pPr>
            <a:lvl7pPr marL="2743200" marR="0" lvl="6"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7pPr>
            <a:lvl8pPr marL="3200400" marR="0" lvl="7"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8pPr>
            <a:lvl9pPr marL="3657600" marR="0" lvl="8" indent="0" algn="ctr" rtl="0">
              <a:spcBef>
                <a:spcPts val="400"/>
              </a:spcBef>
              <a:spcAft>
                <a:spcPts val="0"/>
              </a:spcAft>
              <a:buClr>
                <a:srgbClr val="888888"/>
              </a:buClr>
              <a:buSzPts val="2000"/>
              <a:buFont typeface="Arial"/>
              <a:buNone/>
              <a:defRPr sz="2000" b="0" i="0" u="none" strike="noStrike" cap="none">
                <a:solidFill>
                  <a:srgbClr val="888888"/>
                </a:solidFill>
                <a:latin typeface="Arial"/>
                <a:ea typeface="Arial"/>
                <a:cs typeface="Arial"/>
                <a:sym typeface="Arial"/>
              </a:defRPr>
            </a:lvl9pPr>
          </a:lstStyle>
          <a:p>
            <a:endParaRPr/>
          </a:p>
        </p:txBody>
      </p:sp>
      <p:sp>
        <p:nvSpPr>
          <p:cNvPr id="474" name="Google Shape;474;p78"/>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77_Title and Content">
  <p:cSld name="77_Title and Content">
    <p:spTree>
      <p:nvGrpSpPr>
        <p:cNvPr id="1" name="Shape 475"/>
        <p:cNvGrpSpPr/>
        <p:nvPr/>
      </p:nvGrpSpPr>
      <p:grpSpPr>
        <a:xfrm>
          <a:off x="0" y="0"/>
          <a:ext cx="0" cy="0"/>
          <a:chOff x="0" y="0"/>
          <a:chExt cx="0" cy="0"/>
        </a:xfrm>
      </p:grpSpPr>
      <p:sp>
        <p:nvSpPr>
          <p:cNvPr id="476" name="Google Shape;476;p79"/>
          <p:cNvSpPr txBox="1">
            <a:spLocks noGrp="1"/>
          </p:cNvSpPr>
          <p:nvPr>
            <p:ph type="title"/>
          </p:nvPr>
        </p:nvSpPr>
        <p:spPr>
          <a:xfrm>
            <a:off x="594360" y="507492"/>
            <a:ext cx="81447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77" name="Google Shape;477;p79"/>
          <p:cNvSpPr txBox="1">
            <a:spLocks noGrp="1"/>
          </p:cNvSpPr>
          <p:nvPr>
            <p:ph type="body" idx="1"/>
          </p:nvPr>
        </p:nvSpPr>
        <p:spPr>
          <a:xfrm>
            <a:off x="594360" y="1515618"/>
            <a:ext cx="8168700" cy="3060000"/>
          </a:xfrm>
          <a:prstGeom prst="rect">
            <a:avLst/>
          </a:prstGeom>
          <a:noFill/>
          <a:ln>
            <a:noFill/>
          </a:ln>
        </p:spPr>
        <p:txBody>
          <a:bodyPr spcFirstLastPara="1" wrap="square" lIns="91425" tIns="91425" rIns="91425" bIns="91425" anchor="t" anchorCtr="0">
            <a:noAutofit/>
          </a:bodyPr>
          <a:lstStyle>
            <a:lvl1pPr marL="457200" marR="0" lvl="0" indent="-342900" algn="l" rtl="0">
              <a:spcBef>
                <a:spcPts val="800"/>
              </a:spcBef>
              <a:spcAft>
                <a:spcPts val="0"/>
              </a:spcAft>
              <a:buClr>
                <a:schemeClr val="dk2"/>
              </a:buClr>
              <a:buSzPts val="1800"/>
              <a:buChar char="•"/>
              <a:defRPr sz="1800" i="0" u="none" strike="noStrike" cap="none">
                <a:solidFill>
                  <a:schemeClr val="dk2"/>
                </a:solidFill>
              </a:defRPr>
            </a:lvl1pPr>
            <a:lvl2pPr marL="914400" marR="0" lvl="1" indent="-330200" algn="l" rtl="0">
              <a:spcBef>
                <a:spcPts val="800"/>
              </a:spcBef>
              <a:spcAft>
                <a:spcPts val="0"/>
              </a:spcAft>
              <a:buClr>
                <a:schemeClr val="dk2"/>
              </a:buClr>
              <a:buSzPts val="1600"/>
              <a:buChar char="•"/>
              <a:defRPr sz="1600" i="0" u="none" strike="noStrike" cap="none">
                <a:solidFill>
                  <a:schemeClr val="dk2"/>
                </a:solidFill>
              </a:defRPr>
            </a:lvl2pPr>
            <a:lvl3pPr marL="1371600" marR="0" lvl="2" indent="-317500" algn="l" rtl="0">
              <a:spcBef>
                <a:spcPts val="700"/>
              </a:spcBef>
              <a:spcAft>
                <a:spcPts val="0"/>
              </a:spcAft>
              <a:buClr>
                <a:schemeClr val="dk2"/>
              </a:buClr>
              <a:buSzPts val="1400"/>
              <a:buChar char="•"/>
              <a:defRPr sz="1400" i="0" u="none" strike="noStrike" cap="none">
                <a:solidFill>
                  <a:schemeClr val="dk2"/>
                </a:solidFill>
              </a:defRPr>
            </a:lvl3pPr>
            <a:lvl4pPr marL="1828800" marR="0" lvl="3" indent="-304800" algn="l" rtl="0">
              <a:spcBef>
                <a:spcPts val="700"/>
              </a:spcBef>
              <a:spcAft>
                <a:spcPts val="0"/>
              </a:spcAft>
              <a:buClr>
                <a:schemeClr val="dk2"/>
              </a:buClr>
              <a:buSzPts val="1200"/>
              <a:buChar char="•"/>
              <a:defRPr sz="1200" i="0" u="none" strike="noStrike" cap="none">
                <a:solidFill>
                  <a:schemeClr val="dk2"/>
                </a:solidFill>
              </a:defRPr>
            </a:lvl4pPr>
            <a:lvl5pPr marL="2286000" marR="0" lvl="4" indent="-304800" algn="l" rtl="0">
              <a:spcBef>
                <a:spcPts val="700"/>
              </a:spcBef>
              <a:spcAft>
                <a:spcPts val="0"/>
              </a:spcAft>
              <a:buClr>
                <a:schemeClr val="dk2"/>
              </a:buClr>
              <a:buSzPts val="1200"/>
              <a:buChar char="•"/>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478" name="Google Shape;478;p79"/>
          <p:cNvSpPr txBox="1">
            <a:spLocks noGrp="1"/>
          </p:cNvSpPr>
          <p:nvPr>
            <p:ph type="body" idx="2"/>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479" name="Google Shape;479;p79"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80" name="Google Shape;480;p79"/>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481" name="Google Shape;481;p79"/>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78_Title only">
  <p:cSld name="78_Title only">
    <p:spTree>
      <p:nvGrpSpPr>
        <p:cNvPr id="1" name="Shape 482"/>
        <p:cNvGrpSpPr/>
        <p:nvPr/>
      </p:nvGrpSpPr>
      <p:grpSpPr>
        <a:xfrm>
          <a:off x="0" y="0"/>
          <a:ext cx="0" cy="0"/>
          <a:chOff x="0" y="0"/>
          <a:chExt cx="0" cy="0"/>
        </a:xfrm>
      </p:grpSpPr>
      <p:sp>
        <p:nvSpPr>
          <p:cNvPr id="483" name="Google Shape;483;p80"/>
          <p:cNvSpPr txBox="1">
            <a:spLocks noGrp="1"/>
          </p:cNvSpPr>
          <p:nvPr>
            <p:ph type="title"/>
          </p:nvPr>
        </p:nvSpPr>
        <p:spPr>
          <a:xfrm>
            <a:off x="594360" y="507492"/>
            <a:ext cx="81666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84" name="Google Shape;484;p80"/>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85" name="Google Shape;485;p80"/>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60"/>
              </a:spcBef>
              <a:spcAft>
                <a:spcPts val="0"/>
              </a:spcAft>
              <a:buClr>
                <a:schemeClr val="dk1"/>
              </a:buClr>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486" name="Google Shape;486;p80"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87" name="Google Shape;487;p80"/>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79_Chart">
  <p:cSld name="79_Chart">
    <p:spTree>
      <p:nvGrpSpPr>
        <p:cNvPr id="1" name="Shape 488"/>
        <p:cNvGrpSpPr/>
        <p:nvPr/>
      </p:nvGrpSpPr>
      <p:grpSpPr>
        <a:xfrm>
          <a:off x="0" y="0"/>
          <a:ext cx="0" cy="0"/>
          <a:chOff x="0" y="0"/>
          <a:chExt cx="0" cy="0"/>
        </a:xfrm>
      </p:grpSpPr>
      <p:sp>
        <p:nvSpPr>
          <p:cNvPr id="489" name="Google Shape;489;p81"/>
          <p:cNvSpPr txBox="1">
            <a:spLocks noGrp="1"/>
          </p:cNvSpPr>
          <p:nvPr>
            <p:ph type="body" idx="1"/>
          </p:nvPr>
        </p:nvSpPr>
        <p:spPr>
          <a:xfrm>
            <a:off x="594360" y="1351026"/>
            <a:ext cx="8168700" cy="192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90" name="Google Shape;490;p81"/>
          <p:cNvSpPr>
            <a:spLocks noGrp="1"/>
          </p:cNvSpPr>
          <p:nvPr>
            <p:ph type="chart" idx="2"/>
          </p:nvPr>
        </p:nvSpPr>
        <p:spPr>
          <a:xfrm>
            <a:off x="588818" y="1971485"/>
            <a:ext cx="81741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491" name="Google Shape;491;p81"/>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92" name="Google Shape;492;p81"/>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93" name="Google Shape;493;p81"/>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494" name="Google Shape;494;p81"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495" name="Google Shape;495;p81"/>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80_Side-by-side">
  <p:cSld name="80_Side-by-side">
    <p:spTree>
      <p:nvGrpSpPr>
        <p:cNvPr id="1" name="Shape 496"/>
        <p:cNvGrpSpPr/>
        <p:nvPr/>
      </p:nvGrpSpPr>
      <p:grpSpPr>
        <a:xfrm>
          <a:off x="0" y="0"/>
          <a:ext cx="0" cy="0"/>
          <a:chOff x="0" y="0"/>
          <a:chExt cx="0" cy="0"/>
        </a:xfrm>
      </p:grpSpPr>
      <p:sp>
        <p:nvSpPr>
          <p:cNvPr id="497" name="Google Shape;497;p82"/>
          <p:cNvSpPr txBox="1">
            <a:spLocks noGrp="1"/>
          </p:cNvSpPr>
          <p:nvPr>
            <p:ph type="body" idx="1"/>
          </p:nvPr>
        </p:nvSpPr>
        <p:spPr>
          <a:xfrm>
            <a:off x="594360"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498" name="Google Shape;498;p82"/>
          <p:cNvSpPr>
            <a:spLocks noGrp="1"/>
          </p:cNvSpPr>
          <p:nvPr>
            <p:ph type="chart" idx="2"/>
          </p:nvPr>
        </p:nvSpPr>
        <p:spPr>
          <a:xfrm>
            <a:off x="711200"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499" name="Google Shape;499;p82"/>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00" name="Google Shape;500;p82"/>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501" name="Google Shape;501;p82"/>
          <p:cNvSpPr>
            <a:spLocks noGrp="1"/>
          </p:cNvSpPr>
          <p:nvPr>
            <p:ph type="chart" idx="4"/>
          </p:nvPr>
        </p:nvSpPr>
        <p:spPr>
          <a:xfrm>
            <a:off x="4862512" y="1678591"/>
            <a:ext cx="39702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502" name="Google Shape;502;p82"/>
          <p:cNvSpPr txBox="1">
            <a:spLocks noGrp="1"/>
          </p:cNvSpPr>
          <p:nvPr>
            <p:ph type="body" idx="5"/>
          </p:nvPr>
        </p:nvSpPr>
        <p:spPr>
          <a:xfrm>
            <a:off x="4811042" y="1351026"/>
            <a:ext cx="4087200" cy="1326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503" name="Google Shape;503;p82"/>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pic>
        <p:nvPicPr>
          <p:cNvPr id="504" name="Google Shape;504;p82"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505" name="Google Shape;505;p82"/>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81_Table">
  <p:cSld name="81_Table">
    <p:spTree>
      <p:nvGrpSpPr>
        <p:cNvPr id="1" name="Shape 506"/>
        <p:cNvGrpSpPr/>
        <p:nvPr/>
      </p:nvGrpSpPr>
      <p:grpSpPr>
        <a:xfrm>
          <a:off x="0" y="0"/>
          <a:ext cx="0" cy="0"/>
          <a:chOff x="0" y="0"/>
          <a:chExt cx="0" cy="0"/>
        </a:xfrm>
      </p:grpSpPr>
      <p:sp>
        <p:nvSpPr>
          <p:cNvPr id="507" name="Google Shape;507;p83"/>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08" name="Google Shape;508;p83"/>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pic>
        <p:nvPicPr>
          <p:cNvPr id="509" name="Google Shape;509;p83"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510" name="Google Shape;510;p83"/>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
        <p:nvSpPr>
          <p:cNvPr id="511" name="Google Shape;511;p83"/>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82_Quote White">
  <p:cSld name="82_Quote White">
    <p:spTree>
      <p:nvGrpSpPr>
        <p:cNvPr id="1" name="Shape 512"/>
        <p:cNvGrpSpPr/>
        <p:nvPr/>
      </p:nvGrpSpPr>
      <p:grpSpPr>
        <a:xfrm>
          <a:off x="0" y="0"/>
          <a:ext cx="0" cy="0"/>
          <a:chOff x="0" y="0"/>
          <a:chExt cx="0" cy="0"/>
        </a:xfrm>
      </p:grpSpPr>
      <p:sp>
        <p:nvSpPr>
          <p:cNvPr id="513" name="Google Shape;513;p84"/>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14" name="Google Shape;514;p84"/>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chemeClr val="dk2"/>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pic>
        <p:nvPicPr>
          <p:cNvPr id="515" name="Google Shape;515;p84"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516" name="Google Shape;516;p84"/>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matchingName="83_Quote Texture RED">
  <p:cSld name="83_Quote Texture RED">
    <p:spTree>
      <p:nvGrpSpPr>
        <p:cNvPr id="1" name="Shape 517"/>
        <p:cNvGrpSpPr/>
        <p:nvPr/>
      </p:nvGrpSpPr>
      <p:grpSpPr>
        <a:xfrm>
          <a:off x="0" y="0"/>
          <a:ext cx="0" cy="0"/>
          <a:chOff x="0" y="0"/>
          <a:chExt cx="0" cy="0"/>
        </a:xfrm>
      </p:grpSpPr>
      <p:pic>
        <p:nvPicPr>
          <p:cNvPr id="518" name="Google Shape;518;p85" descr="Red st.jpg"/>
          <p:cNvPicPr preferRelativeResize="0"/>
          <p:nvPr/>
        </p:nvPicPr>
        <p:blipFill rotWithShape="1">
          <a:blip r:embed="rId2">
            <a:alphaModFix/>
          </a:blip>
          <a:srcRect/>
          <a:stretch/>
        </p:blipFill>
        <p:spPr>
          <a:xfrm>
            <a:off x="0" y="0"/>
            <a:ext cx="9144000" cy="5143500"/>
          </a:xfrm>
          <a:prstGeom prst="rect">
            <a:avLst/>
          </a:prstGeom>
          <a:noFill/>
          <a:ln>
            <a:noFill/>
          </a:ln>
        </p:spPr>
      </p:pic>
      <p:sp>
        <p:nvSpPr>
          <p:cNvPr id="519" name="Google Shape;519;p85"/>
          <p:cNvSpPr txBox="1">
            <a:spLocks noGrp="1"/>
          </p:cNvSpPr>
          <p:nvPr>
            <p:ph type="title"/>
          </p:nvPr>
        </p:nvSpPr>
        <p:spPr>
          <a:xfrm>
            <a:off x="1979453" y="2000250"/>
            <a:ext cx="69789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32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pic>
        <p:nvPicPr>
          <p:cNvPr id="520" name="Google Shape;520;p85"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521" name="Google Shape;521;p85"/>
          <p:cNvSpPr txBox="1">
            <a:spLocks noGrp="1"/>
          </p:cNvSpPr>
          <p:nvPr>
            <p:ph type="body" idx="1"/>
          </p:nvPr>
        </p:nvSpPr>
        <p:spPr>
          <a:xfrm>
            <a:off x="1958110" y="2800350"/>
            <a:ext cx="7010400" cy="4002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800"/>
              </a:spcBef>
              <a:spcAft>
                <a:spcPts val="0"/>
              </a:spcAft>
              <a:buClr>
                <a:schemeClr val="dk2"/>
              </a:buClr>
              <a:buSzPts val="1800"/>
              <a:buNone/>
              <a:defRPr sz="1800" b="1" i="0" u="none" strike="noStrike" cap="none">
                <a:solidFill>
                  <a:srgbClr val="FFFFFF"/>
                </a:solidFill>
              </a:defRPr>
            </a:lvl1pPr>
            <a:lvl2pPr marL="914400" marR="0" lvl="1" indent="-228600" algn="l" rtl="0">
              <a:spcBef>
                <a:spcPts val="800"/>
              </a:spcBef>
              <a:spcAft>
                <a:spcPts val="0"/>
              </a:spcAft>
              <a:buClr>
                <a:schemeClr val="dk2"/>
              </a:buClr>
              <a:buSzPts val="1600"/>
              <a:buNone/>
              <a:defRPr sz="1600" i="0" u="none" strike="noStrike" cap="none">
                <a:solidFill>
                  <a:schemeClr val="dk2"/>
                </a:solidFill>
              </a:defRPr>
            </a:lvl2pPr>
            <a:lvl3pPr marL="1371600" marR="0" lvl="2" indent="-228600" algn="l" rtl="0">
              <a:spcBef>
                <a:spcPts val="700"/>
              </a:spcBef>
              <a:spcAft>
                <a:spcPts val="0"/>
              </a:spcAft>
              <a:buClr>
                <a:schemeClr val="dk2"/>
              </a:buClr>
              <a:buSzPts val="1400"/>
              <a:buNone/>
              <a:defRPr sz="1400" i="0" u="none" strike="noStrike" cap="none">
                <a:solidFill>
                  <a:schemeClr val="dk2"/>
                </a:solidFill>
              </a:defRPr>
            </a:lvl3pPr>
            <a:lvl4pPr marL="1828800" marR="0" lvl="3" indent="-228600" algn="l" rtl="0">
              <a:spcBef>
                <a:spcPts val="700"/>
              </a:spcBef>
              <a:spcAft>
                <a:spcPts val="0"/>
              </a:spcAft>
              <a:buClr>
                <a:schemeClr val="dk2"/>
              </a:buClr>
              <a:buSzPts val="1200"/>
              <a:buNone/>
              <a:defRPr sz="1200" i="0" u="none" strike="noStrike" cap="none">
                <a:solidFill>
                  <a:schemeClr val="dk2"/>
                </a:solidFill>
              </a:defRPr>
            </a:lvl4pPr>
            <a:lvl5pPr marL="2286000" marR="0" lvl="4" indent="-228600" algn="l" rtl="0">
              <a:spcBef>
                <a:spcPts val="700"/>
              </a:spcBef>
              <a:spcAft>
                <a:spcPts val="0"/>
              </a:spcAft>
              <a:buClr>
                <a:schemeClr val="dk2"/>
              </a:buClr>
              <a:buSzPts val="1200"/>
              <a:buNone/>
              <a:defRPr sz="1200" i="0" u="none" strike="noStrike" cap="none">
                <a:solidFill>
                  <a:schemeClr val="dk2"/>
                </a:solidFill>
              </a:defRPr>
            </a:lvl5pPr>
            <a:lvl6pPr marL="2743200" marR="0" lvl="5" indent="-355600" algn="l" rtl="0">
              <a:spcBef>
                <a:spcPts val="400"/>
              </a:spcBef>
              <a:spcAft>
                <a:spcPts val="0"/>
              </a:spcAft>
              <a:buClr>
                <a:schemeClr val="dk1"/>
              </a:buClr>
              <a:buSzPts val="2000"/>
              <a:buChar char="•"/>
              <a:defRPr sz="2000" i="0" u="none" strike="noStrike" cap="none">
                <a:solidFill>
                  <a:schemeClr val="dk1"/>
                </a:solidFill>
              </a:defRPr>
            </a:lvl6pPr>
            <a:lvl7pPr marL="3200400" marR="0" lvl="6" indent="-355600" algn="l" rtl="0">
              <a:spcBef>
                <a:spcPts val="400"/>
              </a:spcBef>
              <a:spcAft>
                <a:spcPts val="0"/>
              </a:spcAft>
              <a:buClr>
                <a:schemeClr val="dk1"/>
              </a:buClr>
              <a:buSzPts val="2000"/>
              <a:buChar char="•"/>
              <a:defRPr sz="2000" i="0" u="none" strike="noStrike" cap="none">
                <a:solidFill>
                  <a:schemeClr val="dk1"/>
                </a:solidFill>
              </a:defRPr>
            </a:lvl7pPr>
            <a:lvl8pPr marL="3657600" marR="0" lvl="7" indent="-355600" algn="l" rtl="0">
              <a:spcBef>
                <a:spcPts val="400"/>
              </a:spcBef>
              <a:spcAft>
                <a:spcPts val="0"/>
              </a:spcAft>
              <a:buClr>
                <a:schemeClr val="dk1"/>
              </a:buClr>
              <a:buSzPts val="2000"/>
              <a:buChar char="•"/>
              <a:defRPr sz="2000" i="0" u="none" strike="noStrike" cap="none">
                <a:solidFill>
                  <a:schemeClr val="dk1"/>
                </a:solidFill>
              </a:defRPr>
            </a:lvl8pPr>
            <a:lvl9pPr marL="4114800" marR="0" lvl="8" indent="-355600" algn="l" rtl="0">
              <a:spcBef>
                <a:spcPts val="400"/>
              </a:spcBef>
              <a:spcAft>
                <a:spcPts val="0"/>
              </a:spcAft>
              <a:buClr>
                <a:schemeClr val="dk1"/>
              </a:buClr>
              <a:buSzPts val="2000"/>
              <a:buChar char="•"/>
              <a:defRPr sz="2000" i="0" u="none" strike="noStrike" cap="none">
                <a:solidFill>
                  <a:schemeClr val="dk1"/>
                </a:solidFill>
              </a:defRPr>
            </a:lvl9pPr>
          </a:lstStyle>
          <a:p>
            <a:endParaRPr/>
          </a:p>
        </p:txBody>
      </p:sp>
      <p:sp>
        <p:nvSpPr>
          <p:cNvPr id="522" name="Google Shape;522;p85"/>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523" name="Google Shape;523;p85"/>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84_Divider Slide RED">
  <p:cSld name="84_Divider Slide RED">
    <p:spTree>
      <p:nvGrpSpPr>
        <p:cNvPr id="1" name="Shape 524"/>
        <p:cNvGrpSpPr/>
        <p:nvPr/>
      </p:nvGrpSpPr>
      <p:grpSpPr>
        <a:xfrm>
          <a:off x="0" y="0"/>
          <a:ext cx="0" cy="0"/>
          <a:chOff x="0" y="0"/>
          <a:chExt cx="0" cy="0"/>
        </a:xfrm>
      </p:grpSpPr>
      <p:pic>
        <p:nvPicPr>
          <p:cNvPr id="525" name="Google Shape;525;p86" descr="Red shir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26" name="Google Shape;526;p86" descr="Red Stri.jpg"/>
          <p:cNvPicPr preferRelativeResize="0"/>
          <p:nvPr/>
        </p:nvPicPr>
        <p:blipFill rotWithShape="1">
          <a:blip r:embed="rId3">
            <a:alphaModFix/>
          </a:blip>
          <a:srcRect/>
          <a:stretch/>
        </p:blipFill>
        <p:spPr>
          <a:xfrm>
            <a:off x="0" y="0"/>
            <a:ext cx="231600" cy="5143500"/>
          </a:xfrm>
          <a:prstGeom prst="rect">
            <a:avLst/>
          </a:prstGeom>
          <a:noFill/>
          <a:ln>
            <a:noFill/>
          </a:ln>
        </p:spPr>
      </p:pic>
      <p:sp>
        <p:nvSpPr>
          <p:cNvPr id="527" name="Google Shape;527;p86"/>
          <p:cNvSpPr txBox="1">
            <a:spLocks noGrp="1"/>
          </p:cNvSpPr>
          <p:nvPr>
            <p:ph type="ctrTitle"/>
          </p:nvPr>
        </p:nvSpPr>
        <p:spPr>
          <a:xfrm>
            <a:off x="336322" y="308586"/>
            <a:ext cx="8218800" cy="982500"/>
          </a:xfrm>
          <a:prstGeom prst="rect">
            <a:avLst/>
          </a:prstGeom>
          <a:noFill/>
          <a:ln>
            <a:noFill/>
          </a:ln>
        </p:spPr>
        <p:txBody>
          <a:bodyPr spcFirstLastPara="1" wrap="square" lIns="91425" tIns="91425" rIns="91425" bIns="91425" anchor="ctr" anchorCtr="0">
            <a:noAutofit/>
          </a:bodyPr>
          <a:lstStyle>
            <a:lvl1pPr marL="0" marR="0" lvl="0" indent="0" algn="l" rtl="0">
              <a:lnSpc>
                <a:spcPct val="90000"/>
              </a:lnSpc>
              <a:spcBef>
                <a:spcPts val="0"/>
              </a:spcBef>
              <a:spcAft>
                <a:spcPts val="0"/>
              </a:spcAft>
              <a:buSzPts val="1400"/>
              <a:buNone/>
              <a:defRPr sz="42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28" name="Google Shape;528;p86"/>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529" name="Google Shape;529;p86"/>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85_Divider White">
  <p:cSld name="85_Divider White">
    <p:spTree>
      <p:nvGrpSpPr>
        <p:cNvPr id="1" name="Shape 530"/>
        <p:cNvGrpSpPr/>
        <p:nvPr/>
      </p:nvGrpSpPr>
      <p:grpSpPr>
        <a:xfrm>
          <a:off x="0" y="0"/>
          <a:ext cx="0" cy="0"/>
          <a:chOff x="0" y="0"/>
          <a:chExt cx="0" cy="0"/>
        </a:xfrm>
      </p:grpSpPr>
      <p:pic>
        <p:nvPicPr>
          <p:cNvPr id="531" name="Google Shape;531;p87"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532" name="Google Shape;532;p87"/>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chemeClr val="dk1"/>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33" name="Google Shape;533;p87"/>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85_Divider_NoText">
  <p:cSld name="85_Divider White_1">
    <p:spTree>
      <p:nvGrpSpPr>
        <p:cNvPr id="1" name="Shape 534"/>
        <p:cNvGrpSpPr/>
        <p:nvPr/>
      </p:nvGrpSpPr>
      <p:grpSpPr>
        <a:xfrm>
          <a:off x="0" y="0"/>
          <a:ext cx="0" cy="0"/>
          <a:chOff x="0" y="0"/>
          <a:chExt cx="0" cy="0"/>
        </a:xfrm>
      </p:grpSpPr>
      <p:pic>
        <p:nvPicPr>
          <p:cNvPr id="535" name="Google Shape;535;p88" descr="Red Stri.jpg"/>
          <p:cNvPicPr preferRelativeResize="0"/>
          <p:nvPr/>
        </p:nvPicPr>
        <p:blipFill rotWithShape="1">
          <a:blip r:embed="rId2">
            <a:alphaModFix/>
          </a:blip>
          <a:srcRect/>
          <a:stretch/>
        </p:blipFill>
        <p:spPr>
          <a:xfrm>
            <a:off x="0" y="0"/>
            <a:ext cx="231600" cy="5143500"/>
          </a:xfrm>
          <a:prstGeom prst="rect">
            <a:avLst/>
          </a:prstGeom>
          <a:noFill/>
          <a:ln>
            <a:noFill/>
          </a:ln>
        </p:spPr>
      </p:pic>
      <p:sp>
        <p:nvSpPr>
          <p:cNvPr id="536" name="Google Shape;536;p88"/>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matchingName="86_Divider Texture RED">
  <p:cSld name="86_Divider Texture RED">
    <p:spTree>
      <p:nvGrpSpPr>
        <p:cNvPr id="1" name="Shape 537"/>
        <p:cNvGrpSpPr/>
        <p:nvPr/>
      </p:nvGrpSpPr>
      <p:grpSpPr>
        <a:xfrm>
          <a:off x="0" y="0"/>
          <a:ext cx="0" cy="0"/>
          <a:chOff x="0" y="0"/>
          <a:chExt cx="0" cy="0"/>
        </a:xfrm>
      </p:grpSpPr>
      <p:pic>
        <p:nvPicPr>
          <p:cNvPr id="538" name="Google Shape;538;p89" descr="Red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39" name="Google Shape;539;p89" descr="N-Element-Tab-White_RGB.png"/>
          <p:cNvPicPr preferRelativeResize="0"/>
          <p:nvPr/>
        </p:nvPicPr>
        <p:blipFill rotWithShape="1">
          <a:blip r:embed="rId3">
            <a:alphaModFix/>
          </a:blip>
          <a:srcRect/>
          <a:stretch/>
        </p:blipFill>
        <p:spPr>
          <a:xfrm>
            <a:off x="8610600" y="0"/>
            <a:ext cx="237600" cy="253800"/>
          </a:xfrm>
          <a:prstGeom prst="rect">
            <a:avLst/>
          </a:prstGeom>
          <a:noFill/>
          <a:ln>
            <a:noFill/>
          </a:ln>
        </p:spPr>
      </p:pic>
      <p:sp>
        <p:nvSpPr>
          <p:cNvPr id="540" name="Google Shape;540;p89"/>
          <p:cNvSpPr txBox="1">
            <a:spLocks noGrp="1"/>
          </p:cNvSpPr>
          <p:nvPr>
            <p:ph type="title"/>
          </p:nvPr>
        </p:nvSpPr>
        <p:spPr>
          <a:xfrm>
            <a:off x="341227" y="2247138"/>
            <a:ext cx="8046600" cy="438900"/>
          </a:xfrm>
          <a:prstGeom prst="rect">
            <a:avLst/>
          </a:prstGeom>
          <a:noFill/>
          <a:ln>
            <a:noFill/>
          </a:ln>
        </p:spPr>
        <p:txBody>
          <a:bodyPr spcFirstLastPara="1" wrap="square" lIns="91425" tIns="91425" rIns="91425" bIns="91425" anchor="t" anchorCtr="0">
            <a:noAutofit/>
          </a:bodyPr>
          <a:lstStyle>
            <a:lvl1pPr marL="0" marR="0" lvl="0" indent="0" algn="l" rtl="0">
              <a:spcBef>
                <a:spcPts val="0"/>
              </a:spcBef>
              <a:spcAft>
                <a:spcPts val="0"/>
              </a:spcAft>
              <a:buSzPts val="1400"/>
              <a:buNone/>
              <a:defRPr sz="5000" i="0" u="none" strike="noStrike" cap="none">
                <a:solidFill>
                  <a:srgbClr val="FFFFFF"/>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541" name="Google Shape;541;p89"/>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rgbClr val="FFFFFF"/>
                </a:solidFill>
                <a:latin typeface="Open Sans"/>
                <a:ea typeface="Open Sans"/>
                <a:cs typeface="Open Sans"/>
                <a:sym typeface="Open Sans"/>
              </a:rPr>
              <a:t>‹#›</a:t>
            </a:fld>
            <a:endParaRPr sz="900" i="0" u="none" strike="noStrike" cap="none">
              <a:solidFill>
                <a:srgbClr val="FFFFFF"/>
              </a:solidFill>
              <a:latin typeface="Open Sans"/>
              <a:ea typeface="Open Sans"/>
              <a:cs typeface="Open Sans"/>
              <a:sym typeface="Open Sans"/>
            </a:endParaRPr>
          </a:p>
        </p:txBody>
      </p:sp>
      <p:sp>
        <p:nvSpPr>
          <p:cNvPr id="542" name="Google Shape;542;p89"/>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matchingName="87_End Slide N-tab RED">
  <p:cSld name="87_End Slide N-tab RED">
    <p:spTree>
      <p:nvGrpSpPr>
        <p:cNvPr id="1" name="Shape 543"/>
        <p:cNvGrpSpPr/>
        <p:nvPr/>
      </p:nvGrpSpPr>
      <p:grpSpPr>
        <a:xfrm>
          <a:off x="0" y="0"/>
          <a:ext cx="0" cy="0"/>
          <a:chOff x="0" y="0"/>
          <a:chExt cx="0" cy="0"/>
        </a:xfrm>
      </p:grpSpPr>
      <p:pic>
        <p:nvPicPr>
          <p:cNvPr id="544" name="Google Shape;544;p90" descr="Red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45" name="Google Shape;545;p90" descr="N-Element-Tab-Square-White_RGB.png"/>
          <p:cNvPicPr preferRelativeResize="0"/>
          <p:nvPr/>
        </p:nvPicPr>
        <p:blipFill rotWithShape="1">
          <a:blip r:embed="rId3">
            <a:alphaModFix/>
          </a:blip>
          <a:srcRect/>
          <a:stretch/>
        </p:blipFill>
        <p:spPr>
          <a:xfrm>
            <a:off x="3581400" y="1814182"/>
            <a:ext cx="1114500" cy="1114800"/>
          </a:xfrm>
          <a:prstGeom prst="rect">
            <a:avLst/>
          </a:prstGeom>
          <a:noFill/>
          <a:ln>
            <a:noFill/>
          </a:ln>
        </p:spPr>
      </p:pic>
      <p:sp>
        <p:nvSpPr>
          <p:cNvPr id="546" name="Google Shape;546;p90"/>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matchingName="88_End Slide Full Logo RED">
  <p:cSld name="88_End Slide Full Logo RED">
    <p:spTree>
      <p:nvGrpSpPr>
        <p:cNvPr id="1" name="Shape 547"/>
        <p:cNvGrpSpPr/>
        <p:nvPr/>
      </p:nvGrpSpPr>
      <p:grpSpPr>
        <a:xfrm>
          <a:off x="0" y="0"/>
          <a:ext cx="0" cy="0"/>
          <a:chOff x="0" y="0"/>
          <a:chExt cx="0" cy="0"/>
        </a:xfrm>
      </p:grpSpPr>
      <p:pic>
        <p:nvPicPr>
          <p:cNvPr id="548" name="Google Shape;548;p91" descr="Red st.jpg"/>
          <p:cNvPicPr preferRelativeResize="0"/>
          <p:nvPr/>
        </p:nvPicPr>
        <p:blipFill rotWithShape="1">
          <a:blip r:embed="rId2">
            <a:alphaModFix/>
          </a:blip>
          <a:srcRect/>
          <a:stretch/>
        </p:blipFill>
        <p:spPr>
          <a:xfrm>
            <a:off x="0" y="0"/>
            <a:ext cx="9144000" cy="5143500"/>
          </a:xfrm>
          <a:prstGeom prst="rect">
            <a:avLst/>
          </a:prstGeom>
          <a:noFill/>
          <a:ln>
            <a:noFill/>
          </a:ln>
        </p:spPr>
      </p:pic>
      <p:pic>
        <p:nvPicPr>
          <p:cNvPr id="549" name="Google Shape;549;p91" descr="Nielsen-Wordmark-White-RGB.png"/>
          <p:cNvPicPr preferRelativeResize="0"/>
          <p:nvPr/>
        </p:nvPicPr>
        <p:blipFill rotWithShape="1">
          <a:blip r:embed="rId3">
            <a:alphaModFix/>
          </a:blip>
          <a:srcRect/>
          <a:stretch/>
        </p:blipFill>
        <p:spPr>
          <a:xfrm>
            <a:off x="2375285" y="1943100"/>
            <a:ext cx="4393500" cy="1163100"/>
          </a:xfrm>
          <a:prstGeom prst="rect">
            <a:avLst/>
          </a:prstGeom>
          <a:noFill/>
          <a:ln>
            <a:noFill/>
          </a:ln>
        </p:spPr>
      </p:pic>
      <p:sp>
        <p:nvSpPr>
          <p:cNvPr id="550" name="Google Shape;550;p91"/>
          <p:cNvSpPr/>
          <p:nvPr/>
        </p:nvSpPr>
        <p:spPr>
          <a:xfrm>
            <a:off x="255625" y="4866450"/>
            <a:ext cx="4546500" cy="2463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This artwork was created using Nielsen data.</a:t>
            </a:r>
            <a:endParaRPr sz="600">
              <a:solidFill>
                <a:srgbClr val="FFFFFF"/>
              </a:solidFill>
              <a:latin typeface="Open Sans"/>
              <a:ea typeface="Open Sans"/>
              <a:cs typeface="Open Sans"/>
              <a:sym typeface="Open Sans"/>
            </a:endParaRPr>
          </a:p>
          <a:p>
            <a:pPr marL="0" lvl="0" indent="0" algn="l" rtl="0">
              <a:spcBef>
                <a:spcPts val="0"/>
              </a:spcBef>
              <a:spcAft>
                <a:spcPts val="0"/>
              </a:spcAft>
              <a:buClr>
                <a:schemeClr val="dk1"/>
              </a:buClr>
              <a:buFont typeface="Arial"/>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a:p>
            <a:pPr marL="0" marR="0" lvl="0" indent="0" algn="l" rtl="0">
              <a:lnSpc>
                <a:spcPct val="100000"/>
              </a:lnSpc>
              <a:spcBef>
                <a:spcPts val="0"/>
              </a:spcBef>
              <a:spcAft>
                <a:spcPts val="0"/>
              </a:spcAft>
              <a:buClr>
                <a:schemeClr val="lt1"/>
              </a:buClr>
              <a:buFont typeface="Arial"/>
              <a:buNone/>
            </a:pPr>
            <a:endParaRPr sz="600">
              <a:solidFill>
                <a:schemeClr val="lt1"/>
              </a:solidFill>
              <a:latin typeface="Open Sans"/>
              <a:ea typeface="Open Sans"/>
              <a:cs typeface="Open Sans"/>
              <a:sym typeface="Open Sans"/>
            </a:endParaRPr>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51"/>
        <p:cNvGrpSpPr/>
        <p:nvPr/>
      </p:nvGrpSpPr>
      <p:grpSpPr>
        <a:xfrm>
          <a:off x="0" y="0"/>
          <a:ext cx="0" cy="0"/>
          <a:chOff x="0" y="0"/>
          <a:chExt cx="0" cy="0"/>
        </a:xfrm>
      </p:grpSpPr>
      <p:sp>
        <p:nvSpPr>
          <p:cNvPr id="552" name="Google Shape;552;p9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53" name="Google Shape;553;p9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2800"/>
              <a:buNone/>
              <a:defRPr sz="2800"/>
            </a:lvl1pPr>
            <a:lvl2pPr lvl="1" algn="ctr" rtl="0">
              <a:lnSpc>
                <a:spcPct val="100000"/>
              </a:lnSpc>
              <a:spcBef>
                <a:spcPts val="800"/>
              </a:spcBef>
              <a:spcAft>
                <a:spcPts val="0"/>
              </a:spcAft>
              <a:buSzPts val="2800"/>
              <a:buNone/>
              <a:defRPr sz="2800"/>
            </a:lvl2pPr>
            <a:lvl3pPr lvl="2" algn="ctr" rtl="0">
              <a:lnSpc>
                <a:spcPct val="100000"/>
              </a:lnSpc>
              <a:spcBef>
                <a:spcPts val="700"/>
              </a:spcBef>
              <a:spcAft>
                <a:spcPts val="0"/>
              </a:spcAft>
              <a:buSzPts val="2800"/>
              <a:buNone/>
              <a:defRPr sz="2800"/>
            </a:lvl3pPr>
            <a:lvl4pPr lvl="3" algn="ctr" rtl="0">
              <a:lnSpc>
                <a:spcPct val="100000"/>
              </a:lnSpc>
              <a:spcBef>
                <a:spcPts val="700"/>
              </a:spcBef>
              <a:spcAft>
                <a:spcPts val="0"/>
              </a:spcAft>
              <a:buSzPts val="2800"/>
              <a:buNone/>
              <a:defRPr sz="2800"/>
            </a:lvl4pPr>
            <a:lvl5pPr lvl="4" algn="ctr" rtl="0">
              <a:lnSpc>
                <a:spcPct val="100000"/>
              </a:lnSpc>
              <a:spcBef>
                <a:spcPts val="700"/>
              </a:spcBef>
              <a:spcAft>
                <a:spcPts val="0"/>
              </a:spcAft>
              <a:buSzPts val="2800"/>
              <a:buNone/>
              <a:defRPr sz="2800"/>
            </a:lvl5pPr>
            <a:lvl6pPr lvl="5" algn="ctr" rtl="0">
              <a:lnSpc>
                <a:spcPct val="100000"/>
              </a:lnSpc>
              <a:spcBef>
                <a:spcPts val="400"/>
              </a:spcBef>
              <a:spcAft>
                <a:spcPts val="0"/>
              </a:spcAft>
              <a:buSzPts val="2800"/>
              <a:buNone/>
              <a:defRPr sz="2800"/>
            </a:lvl6pPr>
            <a:lvl7pPr lvl="6" algn="ctr" rtl="0">
              <a:lnSpc>
                <a:spcPct val="100000"/>
              </a:lnSpc>
              <a:spcBef>
                <a:spcPts val="400"/>
              </a:spcBef>
              <a:spcAft>
                <a:spcPts val="0"/>
              </a:spcAft>
              <a:buSzPts val="2800"/>
              <a:buNone/>
              <a:defRPr sz="2800"/>
            </a:lvl7pPr>
            <a:lvl8pPr lvl="7" algn="ctr" rtl="0">
              <a:lnSpc>
                <a:spcPct val="100000"/>
              </a:lnSpc>
              <a:spcBef>
                <a:spcPts val="400"/>
              </a:spcBef>
              <a:spcAft>
                <a:spcPts val="0"/>
              </a:spcAft>
              <a:buSzPts val="2800"/>
              <a:buNone/>
              <a:defRPr sz="2800"/>
            </a:lvl8pPr>
            <a:lvl9pPr lvl="8" algn="ctr" rtl="0">
              <a:lnSpc>
                <a:spcPct val="100000"/>
              </a:lnSpc>
              <a:spcBef>
                <a:spcPts val="400"/>
              </a:spcBef>
              <a:spcAft>
                <a:spcPts val="0"/>
              </a:spcAft>
              <a:buSzPts val="2800"/>
              <a:buNone/>
              <a:defRPr sz="2800"/>
            </a:lvl9pPr>
          </a:lstStyle>
          <a:p>
            <a:endParaRPr/>
          </a:p>
        </p:txBody>
      </p:sp>
      <p:sp>
        <p:nvSpPr>
          <p:cNvPr id="554" name="Google Shape;554;p9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55"/>
        <p:cNvGrpSpPr/>
        <p:nvPr/>
      </p:nvGrpSpPr>
      <p:grpSpPr>
        <a:xfrm>
          <a:off x="0" y="0"/>
          <a:ext cx="0" cy="0"/>
          <a:chOff x="0" y="0"/>
          <a:chExt cx="0" cy="0"/>
        </a:xfrm>
      </p:grpSpPr>
      <p:sp>
        <p:nvSpPr>
          <p:cNvPr id="556" name="Google Shape;556;p93"/>
          <p:cNvSpPr txBox="1">
            <a:spLocks noGrp="1"/>
          </p:cNvSpPr>
          <p:nvPr>
            <p:ph type="title"/>
          </p:nvPr>
        </p:nvSpPr>
        <p:spPr>
          <a:xfrm>
            <a:off x="590550" y="205978"/>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57" name="Google Shape;557;p93"/>
          <p:cNvSpPr txBox="1">
            <a:spLocks noGrp="1"/>
          </p:cNvSpPr>
          <p:nvPr>
            <p:ph type="body" idx="1"/>
          </p:nvPr>
        </p:nvSpPr>
        <p:spPr>
          <a:xfrm>
            <a:off x="582613" y="844153"/>
            <a:ext cx="8191500" cy="3320700"/>
          </a:xfrm>
          <a:prstGeom prst="rect">
            <a:avLst/>
          </a:prstGeom>
          <a:noFill/>
          <a:ln>
            <a:noFill/>
          </a:ln>
        </p:spPr>
        <p:txBody>
          <a:bodyPr spcFirstLastPara="1" wrap="square" lIns="91425" tIns="45700" rIns="91425" bIns="45700" anchor="t" anchorCtr="0">
            <a:noAutofit/>
          </a:bodyPr>
          <a:lstStyle>
            <a:lvl1pPr marL="457200" lvl="0" indent="-342900" algn="l" rtl="0">
              <a:lnSpc>
                <a:spcPct val="100000"/>
              </a:lnSpc>
              <a:spcBef>
                <a:spcPts val="0"/>
              </a:spcBef>
              <a:spcAft>
                <a:spcPts val="0"/>
              </a:spcAft>
              <a:buSzPts val="1800"/>
              <a:buChar char="•"/>
              <a:defRPr/>
            </a:lvl1pPr>
            <a:lvl2pPr marL="914400" lvl="1" indent="-342900" algn="l" rtl="0">
              <a:lnSpc>
                <a:spcPct val="100000"/>
              </a:lnSpc>
              <a:spcBef>
                <a:spcPts val="0"/>
              </a:spcBef>
              <a:spcAft>
                <a:spcPts val="0"/>
              </a:spcAft>
              <a:buSzPts val="1800"/>
              <a:buChar char="–"/>
              <a:defRPr/>
            </a:lvl2pPr>
            <a:lvl3pPr marL="1371600" lvl="2" indent="-342900" algn="l" rtl="0">
              <a:lnSpc>
                <a:spcPct val="100000"/>
              </a:lnSpc>
              <a:spcBef>
                <a:spcPts val="0"/>
              </a:spcBef>
              <a:spcAft>
                <a:spcPts val="0"/>
              </a:spcAft>
              <a:buSzPts val="1800"/>
              <a:buChar char="–"/>
              <a:defRPr/>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558" name="Google Shape;558;p93"/>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9"/>
        <p:cNvGrpSpPr/>
        <p:nvPr/>
      </p:nvGrpSpPr>
      <p:grpSpPr>
        <a:xfrm>
          <a:off x="0" y="0"/>
          <a:ext cx="0" cy="0"/>
          <a:chOff x="0" y="0"/>
          <a:chExt cx="0" cy="0"/>
        </a:xfrm>
      </p:grpSpPr>
      <p:sp>
        <p:nvSpPr>
          <p:cNvPr id="560" name="Google Shape;560;p94"/>
          <p:cNvSpPr txBox="1">
            <a:spLocks noGrp="1"/>
          </p:cNvSpPr>
          <p:nvPr>
            <p:ph type="title"/>
          </p:nvPr>
        </p:nvSpPr>
        <p:spPr>
          <a:xfrm>
            <a:off x="590550" y="205978"/>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61" name="Google Shape;561;p94"/>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2"/>
        <p:cNvGrpSpPr/>
        <p:nvPr/>
      </p:nvGrpSpPr>
      <p:grpSpPr>
        <a:xfrm>
          <a:off x="0" y="0"/>
          <a:ext cx="0" cy="0"/>
          <a:chOff x="0" y="0"/>
          <a:chExt cx="0" cy="0"/>
        </a:xfrm>
      </p:grpSpPr>
      <p:sp>
        <p:nvSpPr>
          <p:cNvPr id="563" name="Google Shape;563;p95"/>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564"/>
        <p:cNvGrpSpPr/>
        <p:nvPr/>
      </p:nvGrpSpPr>
      <p:grpSpPr>
        <a:xfrm>
          <a:off x="0" y="0"/>
          <a:ext cx="0" cy="0"/>
          <a:chOff x="0" y="0"/>
          <a:chExt cx="0" cy="0"/>
        </a:xfrm>
      </p:grpSpPr>
      <p:sp>
        <p:nvSpPr>
          <p:cNvPr id="565" name="Google Shape;565;p96"/>
          <p:cNvSpPr txBox="1">
            <a:spLocks noGrp="1"/>
          </p:cNvSpPr>
          <p:nvPr>
            <p:ph type="title"/>
          </p:nvPr>
        </p:nvSpPr>
        <p:spPr>
          <a:xfrm>
            <a:off x="590550" y="205978"/>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66" name="Google Shape;566;p96"/>
          <p:cNvSpPr txBox="1">
            <a:spLocks noGrp="1"/>
          </p:cNvSpPr>
          <p:nvPr>
            <p:ph type="body" idx="1"/>
          </p:nvPr>
        </p:nvSpPr>
        <p:spPr>
          <a:xfrm>
            <a:off x="582613" y="1110853"/>
            <a:ext cx="4019400" cy="3320700"/>
          </a:xfrm>
          <a:prstGeom prst="rect">
            <a:avLst/>
          </a:prstGeom>
          <a:noFill/>
          <a:ln>
            <a:noFill/>
          </a:ln>
        </p:spPr>
        <p:txBody>
          <a:bodyPr spcFirstLastPara="1" wrap="square" lIns="91425" tIns="45700" rIns="91425" bIns="45700" anchor="t" anchorCtr="0">
            <a:noAutofit/>
          </a:bodyPr>
          <a:lstStyle>
            <a:lvl1pPr marL="457200" lvl="0" indent="-342900" algn="l" rtl="0">
              <a:lnSpc>
                <a:spcPct val="100000"/>
              </a:lnSpc>
              <a:spcBef>
                <a:spcPts val="0"/>
              </a:spcBef>
              <a:spcAft>
                <a:spcPts val="0"/>
              </a:spcAft>
              <a:buSzPts val="1800"/>
              <a:buChar char="•"/>
              <a:defRPr/>
            </a:lvl1pPr>
            <a:lvl2pPr marL="914400" lvl="1" indent="-342900" algn="l" rtl="0">
              <a:lnSpc>
                <a:spcPct val="100000"/>
              </a:lnSpc>
              <a:spcBef>
                <a:spcPts val="0"/>
              </a:spcBef>
              <a:spcAft>
                <a:spcPts val="0"/>
              </a:spcAft>
              <a:buSzPts val="1800"/>
              <a:buChar char="–"/>
              <a:defRPr/>
            </a:lvl2pPr>
            <a:lvl3pPr marL="1371600" lvl="2" indent="-342900" algn="l" rtl="0">
              <a:lnSpc>
                <a:spcPct val="100000"/>
              </a:lnSpc>
              <a:spcBef>
                <a:spcPts val="0"/>
              </a:spcBef>
              <a:spcAft>
                <a:spcPts val="0"/>
              </a:spcAft>
              <a:buSzPts val="1800"/>
              <a:buChar char="–"/>
              <a:defRPr/>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567" name="Google Shape;567;p96"/>
          <p:cNvSpPr txBox="1">
            <a:spLocks noGrp="1"/>
          </p:cNvSpPr>
          <p:nvPr>
            <p:ph type="body" idx="2"/>
          </p:nvPr>
        </p:nvSpPr>
        <p:spPr>
          <a:xfrm>
            <a:off x="4754563" y="1110853"/>
            <a:ext cx="4019400" cy="3320700"/>
          </a:xfrm>
          <a:prstGeom prst="rect">
            <a:avLst/>
          </a:prstGeom>
          <a:noFill/>
          <a:ln>
            <a:noFill/>
          </a:ln>
        </p:spPr>
        <p:txBody>
          <a:bodyPr spcFirstLastPara="1" wrap="square" lIns="91425" tIns="45700" rIns="91425" bIns="45700" anchor="t" anchorCtr="0">
            <a:noAutofit/>
          </a:bodyPr>
          <a:lstStyle>
            <a:lvl1pPr marL="457200" lvl="0" indent="-342900" algn="l" rtl="0">
              <a:lnSpc>
                <a:spcPct val="100000"/>
              </a:lnSpc>
              <a:spcBef>
                <a:spcPts val="0"/>
              </a:spcBef>
              <a:spcAft>
                <a:spcPts val="0"/>
              </a:spcAft>
              <a:buSzPts val="1800"/>
              <a:buChar char="•"/>
              <a:defRPr/>
            </a:lvl1pPr>
            <a:lvl2pPr marL="914400" lvl="1" indent="-342900" algn="l" rtl="0">
              <a:lnSpc>
                <a:spcPct val="100000"/>
              </a:lnSpc>
              <a:spcBef>
                <a:spcPts val="0"/>
              </a:spcBef>
              <a:spcAft>
                <a:spcPts val="0"/>
              </a:spcAft>
              <a:buSzPts val="1800"/>
              <a:buChar char="–"/>
              <a:defRPr/>
            </a:lvl2pPr>
            <a:lvl3pPr marL="1371600" lvl="2" indent="-342900" algn="l" rtl="0">
              <a:lnSpc>
                <a:spcPct val="100000"/>
              </a:lnSpc>
              <a:spcBef>
                <a:spcPts val="0"/>
              </a:spcBef>
              <a:spcAft>
                <a:spcPts val="0"/>
              </a:spcAft>
              <a:buSzPts val="1800"/>
              <a:buChar char="–"/>
              <a:defRPr/>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568" name="Google Shape;568;p96"/>
          <p:cNvSpPr txBox="1">
            <a:spLocks noGrp="1"/>
          </p:cNvSpPr>
          <p:nvPr>
            <p:ph type="ftr" idx="11"/>
          </p:nvPr>
        </p:nvSpPr>
        <p:spPr>
          <a:xfrm>
            <a:off x="2219325" y="4839891"/>
            <a:ext cx="1868400" cy="1833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69" name="Google Shape;569;p96"/>
          <p:cNvSpPr txBox="1">
            <a:spLocks noGrp="1"/>
          </p:cNvSpPr>
          <p:nvPr>
            <p:ph type="sldNum" idx="12"/>
          </p:nvPr>
        </p:nvSpPr>
        <p:spPr>
          <a:xfrm>
            <a:off x="6173788" y="4836319"/>
            <a:ext cx="823800" cy="1893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r>
              <a:rPr lang="en"/>
              <a:t>Page </a:t>
            </a:r>
            <a:fld id="{00000000-1234-1234-1234-123412341234}" type="slidenum">
              <a:rPr lang="en"/>
              <a:t>‹#›</a:t>
            </a:fld>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matchingName="Title and Table" type="tbl">
  <p:cSld name="TABLE">
    <p:spTree>
      <p:nvGrpSpPr>
        <p:cNvPr id="1" name="Shape 570"/>
        <p:cNvGrpSpPr/>
        <p:nvPr/>
      </p:nvGrpSpPr>
      <p:grpSpPr>
        <a:xfrm>
          <a:off x="0" y="0"/>
          <a:ext cx="0" cy="0"/>
          <a:chOff x="0" y="0"/>
          <a:chExt cx="0" cy="0"/>
        </a:xfrm>
      </p:grpSpPr>
      <p:sp>
        <p:nvSpPr>
          <p:cNvPr id="571" name="Google Shape;571;p97"/>
          <p:cNvSpPr txBox="1">
            <a:spLocks noGrp="1"/>
          </p:cNvSpPr>
          <p:nvPr>
            <p:ph type="title"/>
          </p:nvPr>
        </p:nvSpPr>
        <p:spPr>
          <a:xfrm>
            <a:off x="590550" y="205978"/>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72" name="Google Shape;572;p97"/>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3"/>
        <p:cNvGrpSpPr/>
        <p:nvPr/>
      </p:nvGrpSpPr>
      <p:grpSpPr>
        <a:xfrm>
          <a:off x="0" y="0"/>
          <a:ext cx="0" cy="0"/>
          <a:chOff x="0" y="0"/>
          <a:chExt cx="0" cy="0"/>
        </a:xfrm>
      </p:grpSpPr>
      <p:sp>
        <p:nvSpPr>
          <p:cNvPr id="574" name="Google Shape;574;p98"/>
          <p:cNvSpPr txBox="1">
            <a:spLocks noGrp="1"/>
          </p:cNvSpPr>
          <p:nvPr>
            <p:ph type="title"/>
          </p:nvPr>
        </p:nvSpPr>
        <p:spPr>
          <a:xfrm>
            <a:off x="590550" y="205979"/>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75" name="Google Shape;575;p98"/>
          <p:cNvSpPr txBox="1">
            <a:spLocks noGrp="1"/>
          </p:cNvSpPr>
          <p:nvPr>
            <p:ph type="body" idx="1"/>
          </p:nvPr>
        </p:nvSpPr>
        <p:spPr>
          <a:xfrm>
            <a:off x="582613" y="844156"/>
            <a:ext cx="4019400" cy="3320700"/>
          </a:xfrm>
          <a:prstGeom prst="rect">
            <a:avLst/>
          </a:prstGeom>
          <a:noFill/>
          <a:ln>
            <a:noFill/>
          </a:ln>
        </p:spPr>
        <p:txBody>
          <a:bodyPr spcFirstLastPara="1" wrap="square" lIns="91425" tIns="45700" rIns="91425" bIns="45700" anchor="t" anchorCtr="0">
            <a:noAutofit/>
          </a:bodyPr>
          <a:lstStyle>
            <a:lvl1pPr marL="457200" lvl="0" indent="-406400" algn="l" rtl="0">
              <a:lnSpc>
                <a:spcPct val="100000"/>
              </a:lnSpc>
              <a:spcBef>
                <a:spcPts val="0"/>
              </a:spcBef>
              <a:spcAft>
                <a:spcPts val="0"/>
              </a:spcAft>
              <a:buSzPts val="2800"/>
              <a:buChar char="•"/>
              <a:defRPr sz="2800"/>
            </a:lvl1pPr>
            <a:lvl2pPr marL="914400" lvl="1" indent="-381000" algn="l" rtl="0">
              <a:lnSpc>
                <a:spcPct val="100000"/>
              </a:lnSpc>
              <a:spcBef>
                <a:spcPts val="0"/>
              </a:spcBef>
              <a:spcAft>
                <a:spcPts val="0"/>
              </a:spcAft>
              <a:buSzPts val="2400"/>
              <a:buChar char="–"/>
              <a:defRPr sz="2400"/>
            </a:lvl2pPr>
            <a:lvl3pPr marL="1371600" lvl="2" indent="-355600" algn="l" rtl="0">
              <a:lnSpc>
                <a:spcPct val="100000"/>
              </a:lnSpc>
              <a:spcBef>
                <a:spcPts val="0"/>
              </a:spcBef>
              <a:spcAft>
                <a:spcPts val="0"/>
              </a:spcAft>
              <a:buSzPts val="2000"/>
              <a:buChar char="–"/>
              <a:defRPr sz="20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76" name="Google Shape;576;p98"/>
          <p:cNvSpPr txBox="1">
            <a:spLocks noGrp="1"/>
          </p:cNvSpPr>
          <p:nvPr>
            <p:ph type="body" idx="2"/>
          </p:nvPr>
        </p:nvSpPr>
        <p:spPr>
          <a:xfrm>
            <a:off x="4754563" y="844156"/>
            <a:ext cx="4019400" cy="3320700"/>
          </a:xfrm>
          <a:prstGeom prst="rect">
            <a:avLst/>
          </a:prstGeom>
          <a:noFill/>
          <a:ln>
            <a:noFill/>
          </a:ln>
        </p:spPr>
        <p:txBody>
          <a:bodyPr spcFirstLastPara="1" wrap="square" lIns="91425" tIns="45700" rIns="91425" bIns="45700" anchor="t" anchorCtr="0">
            <a:noAutofit/>
          </a:bodyPr>
          <a:lstStyle>
            <a:lvl1pPr marL="457200" lvl="0" indent="-406400" algn="l" rtl="0">
              <a:lnSpc>
                <a:spcPct val="100000"/>
              </a:lnSpc>
              <a:spcBef>
                <a:spcPts val="0"/>
              </a:spcBef>
              <a:spcAft>
                <a:spcPts val="0"/>
              </a:spcAft>
              <a:buSzPts val="2800"/>
              <a:buChar char="•"/>
              <a:defRPr sz="2800"/>
            </a:lvl1pPr>
            <a:lvl2pPr marL="914400" lvl="1" indent="-381000" algn="l" rtl="0">
              <a:lnSpc>
                <a:spcPct val="100000"/>
              </a:lnSpc>
              <a:spcBef>
                <a:spcPts val="0"/>
              </a:spcBef>
              <a:spcAft>
                <a:spcPts val="0"/>
              </a:spcAft>
              <a:buSzPts val="2400"/>
              <a:buChar char="–"/>
              <a:defRPr sz="2400"/>
            </a:lvl2pPr>
            <a:lvl3pPr marL="1371600" lvl="2" indent="-355600" algn="l" rtl="0">
              <a:lnSpc>
                <a:spcPct val="100000"/>
              </a:lnSpc>
              <a:spcBef>
                <a:spcPts val="0"/>
              </a:spcBef>
              <a:spcAft>
                <a:spcPts val="0"/>
              </a:spcAft>
              <a:buSzPts val="2000"/>
              <a:buChar char="–"/>
              <a:defRPr sz="20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77" name="Google Shape;577;p98"/>
          <p:cNvSpPr txBox="1">
            <a:spLocks noGrp="1"/>
          </p:cNvSpPr>
          <p:nvPr>
            <p:ph type="ftr" idx="11"/>
          </p:nvPr>
        </p:nvSpPr>
        <p:spPr>
          <a:xfrm>
            <a:off x="3987804"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matchingName="Content" type="objOnly">
  <p:cSld name="OBJECT_ONLY">
    <p:spTree>
      <p:nvGrpSpPr>
        <p:cNvPr id="1" name="Shape 578"/>
        <p:cNvGrpSpPr/>
        <p:nvPr/>
      </p:nvGrpSpPr>
      <p:grpSpPr>
        <a:xfrm>
          <a:off x="0" y="0"/>
          <a:ext cx="0" cy="0"/>
          <a:chOff x="0" y="0"/>
          <a:chExt cx="0" cy="0"/>
        </a:xfrm>
      </p:grpSpPr>
      <p:sp>
        <p:nvSpPr>
          <p:cNvPr id="579" name="Google Shape;579;p99"/>
          <p:cNvSpPr txBox="1">
            <a:spLocks noGrp="1"/>
          </p:cNvSpPr>
          <p:nvPr>
            <p:ph type="body" idx="1"/>
          </p:nvPr>
        </p:nvSpPr>
        <p:spPr>
          <a:xfrm>
            <a:off x="582613" y="205978"/>
            <a:ext cx="8191500" cy="3958800"/>
          </a:xfrm>
          <a:prstGeom prst="rect">
            <a:avLst/>
          </a:prstGeom>
          <a:noFill/>
          <a:ln>
            <a:noFill/>
          </a:ln>
        </p:spPr>
        <p:txBody>
          <a:bodyPr spcFirstLastPara="1" wrap="square" lIns="91425" tIns="45700" rIns="91425" bIns="45700" anchor="t" anchorCtr="0">
            <a:noAutofit/>
          </a:bodyPr>
          <a:lstStyle>
            <a:lvl1pPr marL="457200" lvl="0" indent="-342900" algn="l" rtl="0">
              <a:lnSpc>
                <a:spcPct val="100000"/>
              </a:lnSpc>
              <a:spcBef>
                <a:spcPts val="0"/>
              </a:spcBef>
              <a:spcAft>
                <a:spcPts val="0"/>
              </a:spcAft>
              <a:buSzPts val="1800"/>
              <a:buChar char="•"/>
              <a:defRPr/>
            </a:lvl1pPr>
            <a:lvl2pPr marL="914400" lvl="1" indent="-342900" algn="l" rtl="0">
              <a:lnSpc>
                <a:spcPct val="100000"/>
              </a:lnSpc>
              <a:spcBef>
                <a:spcPts val="0"/>
              </a:spcBef>
              <a:spcAft>
                <a:spcPts val="0"/>
              </a:spcAft>
              <a:buSzPts val="1800"/>
              <a:buChar char="–"/>
              <a:defRPr/>
            </a:lvl2pPr>
            <a:lvl3pPr marL="1371600" lvl="2" indent="-342900" algn="l" rtl="0">
              <a:lnSpc>
                <a:spcPct val="100000"/>
              </a:lnSpc>
              <a:spcBef>
                <a:spcPts val="0"/>
              </a:spcBef>
              <a:spcAft>
                <a:spcPts val="0"/>
              </a:spcAft>
              <a:buSzPts val="1800"/>
              <a:buChar char="–"/>
              <a:defRPr/>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580" name="Google Shape;580;p99"/>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16_cover_illustration">
    <p:bg>
      <p:bgPr>
        <a:solidFill>
          <a:srgbClr val="292A3C"/>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userDrawn="1"/>
        </p:nvSpPr>
        <p:spPr>
          <a:xfrm>
            <a:off x="0" y="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Picture 11" descr="Background pattern&#10;&#10;Description automatically generated">
            <a:extLst>
              <a:ext uri="{FF2B5EF4-FFF2-40B4-BE49-F238E27FC236}">
                <a16:creationId xmlns:a16="http://schemas.microsoft.com/office/drawing/2014/main" id="{DB788935-E7B2-2CAC-0048-B92417139B6F}"/>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5" name="TextBox 4">
            <a:extLst>
              <a:ext uri="{FF2B5EF4-FFF2-40B4-BE49-F238E27FC236}">
                <a16:creationId xmlns:a16="http://schemas.microsoft.com/office/drawing/2014/main" id="{6243803D-31FA-692F-1CDF-A332274BC332}"/>
              </a:ext>
            </a:extLst>
          </p:cNvPr>
          <p:cNvSpPr txBox="1"/>
          <p:nvPr userDrawn="1"/>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16" name="Title 1">
            <a:extLst>
              <a:ext uri="{FF2B5EF4-FFF2-40B4-BE49-F238E27FC236}">
                <a16:creationId xmlns:a16="http://schemas.microsoft.com/office/drawing/2014/main" id="{7987C027-455E-4C45-138D-8334F13BBEEA}"/>
              </a:ext>
            </a:extLst>
          </p:cNvPr>
          <p:cNvSpPr>
            <a:spLocks noGrp="1"/>
          </p:cNvSpPr>
          <p:nvPr>
            <p:ph type="ctrTitle" hasCustomPrompt="1"/>
          </p:nvPr>
        </p:nvSpPr>
        <p:spPr>
          <a:xfrm>
            <a:off x="216418" y="476276"/>
            <a:ext cx="6481562" cy="1790700"/>
          </a:xfrm>
          <a:prstGeom prst="rect">
            <a:avLst/>
          </a:prstGeom>
        </p:spPr>
        <p:txBody>
          <a:bodyPr anchor="b">
            <a:noAutofit/>
          </a:bodyPr>
          <a:lstStyle>
            <a:lvl1pPr algn="l">
              <a:defRPr sz="4050">
                <a:solidFill>
                  <a:schemeClr val="bg1"/>
                </a:solidFill>
              </a:defRPr>
            </a:lvl1pPr>
          </a:lstStyle>
          <a:p>
            <a:r>
              <a:rPr lang="en-US"/>
              <a:t>Insert your presentation title here maximum of three lines</a:t>
            </a:r>
          </a:p>
        </p:txBody>
      </p:sp>
      <p:sp>
        <p:nvSpPr>
          <p:cNvPr id="17" name="Subtitle 2">
            <a:extLst>
              <a:ext uri="{FF2B5EF4-FFF2-40B4-BE49-F238E27FC236}">
                <a16:creationId xmlns:a16="http://schemas.microsoft.com/office/drawing/2014/main" id="{A4501D72-EE3C-0DA6-BA4B-C1D78BA85AE8}"/>
              </a:ext>
            </a:extLst>
          </p:cNvPr>
          <p:cNvSpPr>
            <a:spLocks noGrp="1"/>
          </p:cNvSpPr>
          <p:nvPr>
            <p:ph type="subTitle" idx="1"/>
          </p:nvPr>
        </p:nvSpPr>
        <p:spPr>
          <a:xfrm>
            <a:off x="216418" y="2336032"/>
            <a:ext cx="6481562" cy="628412"/>
          </a:xfrm>
        </p:spPr>
        <p:txBody>
          <a:bodyPr>
            <a:noAutofit/>
          </a:bodyPr>
          <a:lstStyle>
            <a:lvl1pPr marL="0" indent="0" algn="l">
              <a:spcBef>
                <a:spcPts val="0"/>
              </a:spcBef>
              <a:spcAft>
                <a:spcPts val="0"/>
              </a:spcAft>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2" name="Text Placeholder 17">
            <a:extLst>
              <a:ext uri="{FF2B5EF4-FFF2-40B4-BE49-F238E27FC236}">
                <a16:creationId xmlns:a16="http://schemas.microsoft.com/office/drawing/2014/main" id="{3417592A-6067-984F-549E-3833CDB76A54}"/>
              </a:ext>
            </a:extLst>
          </p:cNvPr>
          <p:cNvSpPr>
            <a:spLocks noGrp="1"/>
          </p:cNvSpPr>
          <p:nvPr>
            <p:ph type="body" sz="quarter" idx="10" hasCustomPrompt="1"/>
          </p:nvPr>
        </p:nvSpPr>
        <p:spPr>
          <a:xfrm>
            <a:off x="216419" y="3144351"/>
            <a:ext cx="6481562" cy="258288"/>
          </a:xfrm>
        </p:spPr>
        <p:txBody>
          <a:bodyPr tIns="0" bIns="0" anchor="b" anchorCtr="0">
            <a:noAutofit/>
          </a:bodyPr>
          <a:lstStyle>
            <a:lvl1pPr marL="0" indent="0">
              <a:lnSpc>
                <a:spcPct val="100000"/>
              </a:lnSpc>
              <a:spcBef>
                <a:spcPts val="0"/>
              </a:spcBef>
              <a:spcAft>
                <a:spcPts val="0"/>
              </a:spcAft>
              <a:buNone/>
              <a:defRPr sz="900" b="1">
                <a:solidFill>
                  <a:schemeClr val="bg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First name Last name</a:t>
            </a:r>
          </a:p>
        </p:txBody>
      </p:sp>
      <p:sp>
        <p:nvSpPr>
          <p:cNvPr id="3" name="Text Placeholder 17">
            <a:extLst>
              <a:ext uri="{FF2B5EF4-FFF2-40B4-BE49-F238E27FC236}">
                <a16:creationId xmlns:a16="http://schemas.microsoft.com/office/drawing/2014/main" id="{DADB3285-032F-C5EA-E4E6-C62E075FF1F0}"/>
              </a:ext>
            </a:extLst>
          </p:cNvPr>
          <p:cNvSpPr>
            <a:spLocks noGrp="1"/>
          </p:cNvSpPr>
          <p:nvPr>
            <p:ph type="body" sz="quarter" idx="11" hasCustomPrompt="1"/>
          </p:nvPr>
        </p:nvSpPr>
        <p:spPr>
          <a:xfrm>
            <a:off x="216419" y="3420452"/>
            <a:ext cx="6481562" cy="258289"/>
          </a:xfrm>
        </p:spPr>
        <p:txBody>
          <a:bodyPr tIns="0" bIns="0">
            <a:noAutofit/>
          </a:bodyPr>
          <a:lstStyle>
            <a:lvl1pPr marL="0" indent="0">
              <a:lnSpc>
                <a:spcPct val="100000"/>
              </a:lnSpc>
              <a:spcBef>
                <a:spcPts val="0"/>
              </a:spcBef>
              <a:spcAft>
                <a:spcPts val="0"/>
              </a:spcAft>
              <a:buNone/>
              <a:defRPr sz="900" b="0">
                <a:solidFill>
                  <a:schemeClr val="bg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Title/Department</a:t>
            </a:r>
          </a:p>
        </p:txBody>
      </p:sp>
      <p:sp>
        <p:nvSpPr>
          <p:cNvPr id="6" name="Text Placeholder 17">
            <a:extLst>
              <a:ext uri="{FF2B5EF4-FFF2-40B4-BE49-F238E27FC236}">
                <a16:creationId xmlns:a16="http://schemas.microsoft.com/office/drawing/2014/main" id="{D91FCFC2-D727-8EBA-2D19-E4EEAE93A971}"/>
              </a:ext>
            </a:extLst>
          </p:cNvPr>
          <p:cNvSpPr>
            <a:spLocks noGrp="1"/>
          </p:cNvSpPr>
          <p:nvPr>
            <p:ph type="body" sz="quarter" idx="12" hasCustomPrompt="1"/>
          </p:nvPr>
        </p:nvSpPr>
        <p:spPr>
          <a:xfrm>
            <a:off x="216419" y="3832626"/>
            <a:ext cx="6481562" cy="258289"/>
          </a:xfrm>
        </p:spPr>
        <p:txBody>
          <a:bodyPr tIns="0" bIns="0">
            <a:noAutofit/>
          </a:bodyPr>
          <a:lstStyle>
            <a:lvl1pPr marL="0" indent="0">
              <a:lnSpc>
                <a:spcPct val="100000"/>
              </a:lnSpc>
              <a:spcBef>
                <a:spcPts val="0"/>
              </a:spcBef>
              <a:spcAft>
                <a:spcPts val="0"/>
              </a:spcAft>
              <a:buNone/>
              <a:defRPr sz="900" b="0">
                <a:solidFill>
                  <a:schemeClr val="bg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Date</a:t>
            </a:r>
          </a:p>
        </p:txBody>
      </p:sp>
      <p:pic>
        <p:nvPicPr>
          <p:cNvPr id="8" name="Picture 7">
            <a:extLst>
              <a:ext uri="{FF2B5EF4-FFF2-40B4-BE49-F238E27FC236}">
                <a16:creationId xmlns:a16="http://schemas.microsoft.com/office/drawing/2014/main" id="{282906D9-EFC7-C6F3-6E2A-D8391881D758}"/>
              </a:ext>
            </a:extLst>
          </p:cNvPr>
          <p:cNvPicPr>
            <a:picLocks noChangeAspect="1"/>
          </p:cNvPicPr>
          <p:nvPr userDrawn="1"/>
        </p:nvPicPr>
        <p:blipFill>
          <a:blip r:embed="rId3"/>
          <a:stretch>
            <a:fillRect/>
          </a:stretch>
        </p:blipFill>
        <p:spPr>
          <a:xfrm>
            <a:off x="228601" y="4125582"/>
            <a:ext cx="1760219" cy="639396"/>
          </a:xfrm>
          <a:prstGeom prst="rect">
            <a:avLst/>
          </a:prstGeom>
        </p:spPr>
      </p:pic>
    </p:spTree>
    <p:extLst>
      <p:ext uri="{BB962C8B-B14F-4D97-AF65-F5344CB8AC3E}">
        <p14:creationId xmlns:p14="http://schemas.microsoft.com/office/powerpoint/2010/main" val="2789158890"/>
      </p:ext>
    </p:extLst>
  </p:cSld>
  <p:clrMapOvr>
    <a:overrideClrMapping bg1="lt1" tx1="dk1" bg2="lt2" tx2="dk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niq-gfk_cover_white">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5F151AF7-737A-1648-9BC4-B9D881179FB7}"/>
              </a:ext>
            </a:extLst>
          </p:cNvPr>
          <p:cNvSpPr>
            <a:spLocks noGrp="1"/>
          </p:cNvSpPr>
          <p:nvPr>
            <p:ph type="ctrTitle" hasCustomPrompt="1"/>
          </p:nvPr>
        </p:nvSpPr>
        <p:spPr>
          <a:xfrm>
            <a:off x="216418" y="1253516"/>
            <a:ext cx="6481562" cy="1790700"/>
          </a:xfrm>
          <a:prstGeom prst="rect">
            <a:avLst/>
          </a:prstGeom>
        </p:spPr>
        <p:txBody>
          <a:bodyPr anchor="b">
            <a:noAutofit/>
          </a:bodyPr>
          <a:lstStyle>
            <a:lvl1pPr algn="l">
              <a:defRPr sz="4050">
                <a:solidFill>
                  <a:schemeClr val="tx1"/>
                </a:solidFill>
              </a:defRPr>
            </a:lvl1pPr>
          </a:lstStyle>
          <a:p>
            <a:r>
              <a:rPr lang="en-US"/>
              <a:t>Insert your presentation title here maximum of three lines</a:t>
            </a:r>
          </a:p>
        </p:txBody>
      </p:sp>
      <p:sp>
        <p:nvSpPr>
          <p:cNvPr id="3" name="Subtitle 2">
            <a:extLst>
              <a:ext uri="{FF2B5EF4-FFF2-40B4-BE49-F238E27FC236}">
                <a16:creationId xmlns:a16="http://schemas.microsoft.com/office/drawing/2014/main" id="{D952C9CE-AA03-A24B-BBD9-8EA2482DC59D}"/>
              </a:ext>
            </a:extLst>
          </p:cNvPr>
          <p:cNvSpPr>
            <a:spLocks noGrp="1"/>
          </p:cNvSpPr>
          <p:nvPr>
            <p:ph type="subTitle" idx="1"/>
          </p:nvPr>
        </p:nvSpPr>
        <p:spPr>
          <a:xfrm>
            <a:off x="216418" y="3113272"/>
            <a:ext cx="6481562" cy="628412"/>
          </a:xfrm>
        </p:spPr>
        <p:txBody>
          <a:bodyPr>
            <a:noAutofit/>
          </a:bodyPr>
          <a:lstStyle>
            <a:lvl1pPr marL="0" indent="0" algn="l">
              <a:spcBef>
                <a:spcPts val="0"/>
              </a:spcBef>
              <a:spcAft>
                <a:spcPts val="0"/>
              </a:spcAft>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9" name="Straight Connector 8">
            <a:extLst>
              <a:ext uri="{FF2B5EF4-FFF2-40B4-BE49-F238E27FC236}">
                <a16:creationId xmlns:a16="http://schemas.microsoft.com/office/drawing/2014/main" id="{429C2072-EE2B-A064-5CA2-6097546F935A}"/>
              </a:ext>
            </a:extLst>
          </p:cNvPr>
          <p:cNvCxnSpPr>
            <a:cxnSpLocks/>
          </p:cNvCxnSpPr>
          <p:nvPr/>
        </p:nvCxnSpPr>
        <p:spPr>
          <a:xfrm>
            <a:off x="209199" y="1023564"/>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D70F9698-6E59-9274-EC44-4917B7B92AAA}"/>
              </a:ext>
            </a:extLst>
          </p:cNvPr>
          <p:cNvSpPr>
            <a:spLocks noGrp="1"/>
          </p:cNvSpPr>
          <p:nvPr>
            <p:ph type="body" sz="quarter" idx="12" hasCustomPrompt="1"/>
          </p:nvPr>
        </p:nvSpPr>
        <p:spPr>
          <a:xfrm>
            <a:off x="216419" y="4583843"/>
            <a:ext cx="6481562" cy="258289"/>
          </a:xfrm>
        </p:spPr>
        <p:txBody>
          <a:bodyPr tIns="0" bIns="0">
            <a:noAutofit/>
          </a:bodyPr>
          <a:lstStyle>
            <a:lvl1pPr marL="0" indent="0">
              <a:lnSpc>
                <a:spcPct val="100000"/>
              </a:lnSpc>
              <a:spcBef>
                <a:spcPts val="0"/>
              </a:spcBef>
              <a:spcAft>
                <a:spcPts val="0"/>
              </a:spcAft>
              <a:buNone/>
              <a:defRPr sz="900" b="0">
                <a:solidFill>
                  <a:schemeClr val="tx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Date</a:t>
            </a:r>
          </a:p>
        </p:txBody>
      </p:sp>
      <p:sp>
        <p:nvSpPr>
          <p:cNvPr id="7" name="TextBox 6">
            <a:extLst>
              <a:ext uri="{FF2B5EF4-FFF2-40B4-BE49-F238E27FC236}">
                <a16:creationId xmlns:a16="http://schemas.microsoft.com/office/drawing/2014/main" id="{597486B2-E0C5-0362-6797-2154FB2AC31F}"/>
              </a:ext>
            </a:extLst>
          </p:cNvPr>
          <p:cNvSpPr txBox="1"/>
          <p:nvPr/>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6" name="Picture 5">
            <a:extLst>
              <a:ext uri="{FF2B5EF4-FFF2-40B4-BE49-F238E27FC236}">
                <a16:creationId xmlns:a16="http://schemas.microsoft.com/office/drawing/2014/main" id="{863B666E-2345-2688-191A-D14AA1EE6996}"/>
              </a:ext>
            </a:extLst>
          </p:cNvPr>
          <p:cNvPicPr>
            <a:picLocks noChangeAspect="1"/>
          </p:cNvPicPr>
          <p:nvPr/>
        </p:nvPicPr>
        <p:blipFill>
          <a:blip r:embed="rId2"/>
          <a:srcRect/>
          <a:stretch/>
        </p:blipFill>
        <p:spPr>
          <a:xfrm>
            <a:off x="236221" y="194803"/>
            <a:ext cx="1756761" cy="638048"/>
          </a:xfrm>
          <a:prstGeom prst="rect">
            <a:avLst/>
          </a:prstGeom>
        </p:spPr>
      </p:pic>
    </p:spTree>
    <p:extLst>
      <p:ext uri="{BB962C8B-B14F-4D97-AF65-F5344CB8AC3E}">
        <p14:creationId xmlns:p14="http://schemas.microsoft.com/office/powerpoint/2010/main" val="311497712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niq-gfk_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F25C-611F-5946-A757-98CBE87CC8B7}"/>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7" name="Text Placeholder 6">
            <a:extLst>
              <a:ext uri="{FF2B5EF4-FFF2-40B4-BE49-F238E27FC236}">
                <a16:creationId xmlns:a16="http://schemas.microsoft.com/office/drawing/2014/main" id="{47F7929F-4D80-0F4F-EFFB-21D9B3A08195}"/>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
        <p:nvSpPr>
          <p:cNvPr id="11" name="Text Placeholder 10">
            <a:extLst>
              <a:ext uri="{FF2B5EF4-FFF2-40B4-BE49-F238E27FC236}">
                <a16:creationId xmlns:a16="http://schemas.microsoft.com/office/drawing/2014/main" id="{D84B7C4B-5E7C-3B57-7A87-AA7A24A5F2B5}"/>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5" name="Straight Connector 4">
            <a:extLst>
              <a:ext uri="{FF2B5EF4-FFF2-40B4-BE49-F238E27FC236}">
                <a16:creationId xmlns:a16="http://schemas.microsoft.com/office/drawing/2014/main" id="{6FD4EA98-BF31-5C57-6FCA-CC2DE7D012B7}"/>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92929273"/>
      </p:ext>
    </p:extLst>
  </p:cSld>
  <p:clrMapOvr>
    <a:masterClrMapping/>
  </p:clrMapOvr>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niq-gfk_content_and_descriptio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9" name="Text Placeholder 10">
            <a:extLst>
              <a:ext uri="{FF2B5EF4-FFF2-40B4-BE49-F238E27FC236}">
                <a16:creationId xmlns:a16="http://schemas.microsoft.com/office/drawing/2014/main" id="{A7D447D7-AD37-E5BC-FBE0-AE089392E05B}"/>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12" name="Content Placeholder 2">
            <a:extLst>
              <a:ext uri="{FF2B5EF4-FFF2-40B4-BE49-F238E27FC236}">
                <a16:creationId xmlns:a16="http://schemas.microsoft.com/office/drawing/2014/main" id="{B5C80055-36CD-03A0-FF2F-FB1F135FCA85}"/>
              </a:ext>
            </a:extLst>
          </p:cNvPr>
          <p:cNvSpPr>
            <a:spLocks noGrp="1"/>
          </p:cNvSpPr>
          <p:nvPr>
            <p:ph idx="1"/>
          </p:nvPr>
        </p:nvSpPr>
        <p:spPr>
          <a:xfrm>
            <a:off x="216418" y="1369219"/>
            <a:ext cx="6472481"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6DE0CA5-5C4E-EFCB-2BE8-EB8DC2300D09}"/>
              </a:ext>
            </a:extLst>
          </p:cNvPr>
          <p:cNvSpPr>
            <a:spLocks noGrp="1"/>
          </p:cNvSpPr>
          <p:nvPr>
            <p:ph idx="21"/>
          </p:nvPr>
        </p:nvSpPr>
        <p:spPr>
          <a:xfrm>
            <a:off x="6885234" y="1369219"/>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CFE5F6-0ABB-2CA3-C74A-99B42FD5E927}"/>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4" name="Straight Connector 3">
            <a:extLst>
              <a:ext uri="{FF2B5EF4-FFF2-40B4-BE49-F238E27FC236}">
                <a16:creationId xmlns:a16="http://schemas.microsoft.com/office/drawing/2014/main" id="{126D5F0D-4411-C2F1-C6EE-CE0F553BA1C6}"/>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FE75FFEF-1818-D449-CEAB-1C574E815329}"/>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2312973630"/>
      </p:ext>
    </p:extLst>
  </p:cSld>
  <p:clrMapOvr>
    <a:masterClrMapping/>
  </p:clrMapOvr>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niq-gfk_three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216419" y="1562103"/>
            <a:ext cx="2763264"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10" name="Content Placeholder 2">
            <a:extLst>
              <a:ext uri="{FF2B5EF4-FFF2-40B4-BE49-F238E27FC236}">
                <a16:creationId xmlns:a16="http://schemas.microsoft.com/office/drawing/2014/main" id="{505D1794-3A67-EC85-D51D-19CC621969E3}"/>
              </a:ext>
            </a:extLst>
          </p:cNvPr>
          <p:cNvSpPr>
            <a:spLocks noGrp="1"/>
          </p:cNvSpPr>
          <p:nvPr>
            <p:ph idx="14"/>
          </p:nvPr>
        </p:nvSpPr>
        <p:spPr>
          <a:xfrm>
            <a:off x="3178187" y="1562103"/>
            <a:ext cx="2763264"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C1A58A57-9AA2-995B-F17B-EF0CC5FF39C5}"/>
              </a:ext>
            </a:extLst>
          </p:cNvPr>
          <p:cNvSpPr>
            <a:spLocks noGrp="1"/>
          </p:cNvSpPr>
          <p:nvPr>
            <p:ph idx="15"/>
          </p:nvPr>
        </p:nvSpPr>
        <p:spPr>
          <a:xfrm>
            <a:off x="6139955" y="1562103"/>
            <a:ext cx="2763264"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0678F05-80CC-A3DE-FAE5-0A6E66AB8B9B}"/>
              </a:ext>
            </a:extLst>
          </p:cNvPr>
          <p:cNvSpPr>
            <a:spLocks noGrp="1"/>
          </p:cNvSpPr>
          <p:nvPr>
            <p:ph type="body" sz="quarter" idx="16" hasCustomPrompt="1"/>
          </p:nvPr>
        </p:nvSpPr>
        <p:spPr>
          <a:xfrm>
            <a:off x="216419" y="1206307"/>
            <a:ext cx="2763264"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3" name="Text Placeholder 6">
            <a:extLst>
              <a:ext uri="{FF2B5EF4-FFF2-40B4-BE49-F238E27FC236}">
                <a16:creationId xmlns:a16="http://schemas.microsoft.com/office/drawing/2014/main" id="{4F7AC8A2-64C0-1D9F-7AB1-472AE18BD1D5}"/>
              </a:ext>
            </a:extLst>
          </p:cNvPr>
          <p:cNvSpPr>
            <a:spLocks noGrp="1"/>
          </p:cNvSpPr>
          <p:nvPr>
            <p:ph type="body" sz="quarter" idx="17" hasCustomPrompt="1"/>
          </p:nvPr>
        </p:nvSpPr>
        <p:spPr>
          <a:xfrm>
            <a:off x="3178187" y="1206307"/>
            <a:ext cx="2763264"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4" name="Text Placeholder 6">
            <a:extLst>
              <a:ext uri="{FF2B5EF4-FFF2-40B4-BE49-F238E27FC236}">
                <a16:creationId xmlns:a16="http://schemas.microsoft.com/office/drawing/2014/main" id="{CED75715-C317-75F7-78F6-9C944FD28A22}"/>
              </a:ext>
            </a:extLst>
          </p:cNvPr>
          <p:cNvSpPr>
            <a:spLocks noGrp="1"/>
          </p:cNvSpPr>
          <p:nvPr>
            <p:ph type="body" sz="quarter" idx="18" hasCustomPrompt="1"/>
          </p:nvPr>
        </p:nvSpPr>
        <p:spPr>
          <a:xfrm>
            <a:off x="6139954" y="1206307"/>
            <a:ext cx="2763264"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5" name="Text Placeholder 10">
            <a:extLst>
              <a:ext uri="{FF2B5EF4-FFF2-40B4-BE49-F238E27FC236}">
                <a16:creationId xmlns:a16="http://schemas.microsoft.com/office/drawing/2014/main" id="{EE3F5269-C1DC-2C7C-6829-F77D90998064}"/>
              </a:ext>
            </a:extLst>
          </p:cNvPr>
          <p:cNvSpPr>
            <a:spLocks noGrp="1"/>
          </p:cNvSpPr>
          <p:nvPr>
            <p:ph type="body" sz="quarter" idx="19"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7" name="Title 1">
            <a:extLst>
              <a:ext uri="{FF2B5EF4-FFF2-40B4-BE49-F238E27FC236}">
                <a16:creationId xmlns:a16="http://schemas.microsoft.com/office/drawing/2014/main" id="{AEE6AB25-4CDE-ED86-EE3C-2CA82FCF446F}"/>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18" name="Straight Connector 17">
            <a:extLst>
              <a:ext uri="{FF2B5EF4-FFF2-40B4-BE49-F238E27FC236}">
                <a16:creationId xmlns:a16="http://schemas.microsoft.com/office/drawing/2014/main" id="{67EF1E46-1337-435B-6F96-948F983E07BB}"/>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E6F7F4C0-E6F7-792B-D58C-643DEB47C12E}"/>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4257344484"/>
      </p:ext>
    </p:extLst>
  </p:cSld>
  <p:clrMapOvr>
    <a:masterClrMapping/>
  </p:clrMapOvr>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niq-gfk_four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216420"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12" name="Text Placeholder 6">
            <a:extLst>
              <a:ext uri="{FF2B5EF4-FFF2-40B4-BE49-F238E27FC236}">
                <a16:creationId xmlns:a16="http://schemas.microsoft.com/office/drawing/2014/main" id="{90678F05-80CC-A3DE-FAE5-0A6E66AB8B9B}"/>
              </a:ext>
            </a:extLst>
          </p:cNvPr>
          <p:cNvSpPr>
            <a:spLocks noGrp="1"/>
          </p:cNvSpPr>
          <p:nvPr>
            <p:ph type="body" sz="quarter" idx="16" hasCustomPrompt="1"/>
          </p:nvPr>
        </p:nvSpPr>
        <p:spPr>
          <a:xfrm>
            <a:off x="216419"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8" name="Content Placeholder 2">
            <a:extLst>
              <a:ext uri="{FF2B5EF4-FFF2-40B4-BE49-F238E27FC236}">
                <a16:creationId xmlns:a16="http://schemas.microsoft.com/office/drawing/2014/main" id="{723B6A2A-2C2E-7735-F6AF-C9EBC41827D7}"/>
              </a:ext>
            </a:extLst>
          </p:cNvPr>
          <p:cNvSpPr>
            <a:spLocks noGrp="1"/>
          </p:cNvSpPr>
          <p:nvPr>
            <p:ph idx="17"/>
          </p:nvPr>
        </p:nvSpPr>
        <p:spPr>
          <a:xfrm>
            <a:off x="2439357"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390CEB3B-329E-7CFB-C82C-196F404D94D0}"/>
              </a:ext>
            </a:extLst>
          </p:cNvPr>
          <p:cNvSpPr>
            <a:spLocks noGrp="1"/>
          </p:cNvSpPr>
          <p:nvPr>
            <p:ph type="body" sz="quarter" idx="18" hasCustomPrompt="1"/>
          </p:nvPr>
        </p:nvSpPr>
        <p:spPr>
          <a:xfrm>
            <a:off x="2439357"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5" name="Content Placeholder 2">
            <a:extLst>
              <a:ext uri="{FF2B5EF4-FFF2-40B4-BE49-F238E27FC236}">
                <a16:creationId xmlns:a16="http://schemas.microsoft.com/office/drawing/2014/main" id="{BE267DF4-9717-0259-6B0E-DAD8B209CF46}"/>
              </a:ext>
            </a:extLst>
          </p:cNvPr>
          <p:cNvSpPr>
            <a:spLocks noGrp="1"/>
          </p:cNvSpPr>
          <p:nvPr>
            <p:ph idx="19"/>
          </p:nvPr>
        </p:nvSpPr>
        <p:spPr>
          <a:xfrm>
            <a:off x="4662295"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638A4D9-F985-A57C-CB8F-B5BE0F172727}"/>
              </a:ext>
            </a:extLst>
          </p:cNvPr>
          <p:cNvSpPr>
            <a:spLocks noGrp="1"/>
          </p:cNvSpPr>
          <p:nvPr>
            <p:ph type="body" sz="quarter" idx="20" hasCustomPrompt="1"/>
          </p:nvPr>
        </p:nvSpPr>
        <p:spPr>
          <a:xfrm>
            <a:off x="4662294"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7" name="Content Placeholder 2">
            <a:extLst>
              <a:ext uri="{FF2B5EF4-FFF2-40B4-BE49-F238E27FC236}">
                <a16:creationId xmlns:a16="http://schemas.microsoft.com/office/drawing/2014/main" id="{B48447AD-132B-DD45-8F26-5684D33A864A}"/>
              </a:ext>
            </a:extLst>
          </p:cNvPr>
          <p:cNvSpPr>
            <a:spLocks noGrp="1"/>
          </p:cNvSpPr>
          <p:nvPr>
            <p:ph idx="21"/>
          </p:nvPr>
        </p:nvSpPr>
        <p:spPr>
          <a:xfrm>
            <a:off x="6885234"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93012D8C-6A00-0751-CA0A-B3A4D6620527}"/>
              </a:ext>
            </a:extLst>
          </p:cNvPr>
          <p:cNvSpPr>
            <a:spLocks noGrp="1"/>
          </p:cNvSpPr>
          <p:nvPr>
            <p:ph type="body" sz="quarter" idx="22" hasCustomPrompt="1"/>
          </p:nvPr>
        </p:nvSpPr>
        <p:spPr>
          <a:xfrm>
            <a:off x="6885233"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0" name="Text Placeholder 10">
            <a:extLst>
              <a:ext uri="{FF2B5EF4-FFF2-40B4-BE49-F238E27FC236}">
                <a16:creationId xmlns:a16="http://schemas.microsoft.com/office/drawing/2014/main" id="{F180A1E1-EF14-8968-BBD5-6D02AC2BDF0F}"/>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7" name="Title 1">
            <a:extLst>
              <a:ext uri="{FF2B5EF4-FFF2-40B4-BE49-F238E27FC236}">
                <a16:creationId xmlns:a16="http://schemas.microsoft.com/office/drawing/2014/main" id="{5C652087-4AD9-06EF-5607-15CECEB54C20}"/>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19" name="Straight Connector 18">
            <a:extLst>
              <a:ext uri="{FF2B5EF4-FFF2-40B4-BE49-F238E27FC236}">
                <a16:creationId xmlns:a16="http://schemas.microsoft.com/office/drawing/2014/main" id="{BA135750-1261-BC7B-9A58-A00B48682132}"/>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5370EF36-EB2A-65C7-C0F8-688E55EF8052}"/>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424026039"/>
      </p:ext>
    </p:extLst>
  </p:cSld>
  <p:clrMapOvr>
    <a:masterClrMapping/>
  </p:clrMapOvr>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niq-gfk_three_columns_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18" name="Text Placeholder 10">
            <a:extLst>
              <a:ext uri="{FF2B5EF4-FFF2-40B4-BE49-F238E27FC236}">
                <a16:creationId xmlns:a16="http://schemas.microsoft.com/office/drawing/2014/main" id="{4C9009D2-DE9F-C580-0069-71F8F68B674F}"/>
              </a:ext>
            </a:extLst>
          </p:cNvPr>
          <p:cNvSpPr>
            <a:spLocks noGrp="1"/>
          </p:cNvSpPr>
          <p:nvPr>
            <p:ph type="body" sz="quarter" idx="23"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 name="Title 1">
            <a:extLst>
              <a:ext uri="{FF2B5EF4-FFF2-40B4-BE49-F238E27FC236}">
                <a16:creationId xmlns:a16="http://schemas.microsoft.com/office/drawing/2014/main" id="{73FCBC1E-7EFE-4663-A738-6886100E9E70}"/>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7" name="Straight Connector 6">
            <a:extLst>
              <a:ext uri="{FF2B5EF4-FFF2-40B4-BE49-F238E27FC236}">
                <a16:creationId xmlns:a16="http://schemas.microsoft.com/office/drawing/2014/main" id="{B39A74BF-2DD6-3F05-945A-5D71479F4CEE}"/>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1726E5B4-BD5B-4E00-35E0-4F73235E8DC6}"/>
              </a:ext>
            </a:extLst>
          </p:cNvPr>
          <p:cNvSpPr>
            <a:spLocks noGrp="1"/>
          </p:cNvSpPr>
          <p:nvPr>
            <p:ph idx="1"/>
          </p:nvPr>
        </p:nvSpPr>
        <p:spPr>
          <a:xfrm>
            <a:off x="216419" y="3143078"/>
            <a:ext cx="2763264" cy="1247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DF3ADE24-C798-CA63-134A-D2928B468889}"/>
              </a:ext>
            </a:extLst>
          </p:cNvPr>
          <p:cNvSpPr>
            <a:spLocks noGrp="1"/>
          </p:cNvSpPr>
          <p:nvPr>
            <p:ph idx="14"/>
          </p:nvPr>
        </p:nvSpPr>
        <p:spPr>
          <a:xfrm>
            <a:off x="3178187" y="3143078"/>
            <a:ext cx="2763264" cy="1247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8BBDA64-0D13-2635-3928-601607F3A856}"/>
              </a:ext>
            </a:extLst>
          </p:cNvPr>
          <p:cNvSpPr>
            <a:spLocks noGrp="1"/>
          </p:cNvSpPr>
          <p:nvPr>
            <p:ph idx="15"/>
          </p:nvPr>
        </p:nvSpPr>
        <p:spPr>
          <a:xfrm>
            <a:off x="6139955" y="3143078"/>
            <a:ext cx="2763264" cy="1247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4">
            <a:extLst>
              <a:ext uri="{FF2B5EF4-FFF2-40B4-BE49-F238E27FC236}">
                <a16:creationId xmlns:a16="http://schemas.microsoft.com/office/drawing/2014/main" id="{86D304D5-4D81-59E8-3AA0-6583EA6CE8DE}"/>
              </a:ext>
            </a:extLst>
          </p:cNvPr>
          <p:cNvSpPr>
            <a:spLocks noGrp="1"/>
          </p:cNvSpPr>
          <p:nvPr>
            <p:ph type="pic" sz="quarter" idx="20" hasCustomPrompt="1"/>
          </p:nvPr>
        </p:nvSpPr>
        <p:spPr>
          <a:xfrm>
            <a:off x="216419" y="1224644"/>
            <a:ext cx="2763264" cy="1530834"/>
          </a:xfrm>
        </p:spPr>
        <p:txBody>
          <a:bodyPr/>
          <a:lstStyle>
            <a:lvl1pPr marL="0" indent="0" algn="ctr">
              <a:buNone/>
              <a:defRPr/>
            </a:lvl1pPr>
          </a:lstStyle>
          <a:p>
            <a:r>
              <a:rPr lang="en-US"/>
              <a:t>Click picture icon to add photo</a:t>
            </a:r>
          </a:p>
        </p:txBody>
      </p:sp>
      <p:sp>
        <p:nvSpPr>
          <p:cNvPr id="16" name="Picture Placeholder 4">
            <a:extLst>
              <a:ext uri="{FF2B5EF4-FFF2-40B4-BE49-F238E27FC236}">
                <a16:creationId xmlns:a16="http://schemas.microsoft.com/office/drawing/2014/main" id="{AD624F43-E3B5-F3DF-65BA-18BEBC9ABE3F}"/>
              </a:ext>
            </a:extLst>
          </p:cNvPr>
          <p:cNvSpPr>
            <a:spLocks noGrp="1"/>
          </p:cNvSpPr>
          <p:nvPr>
            <p:ph type="pic" sz="quarter" idx="21" hasCustomPrompt="1"/>
          </p:nvPr>
        </p:nvSpPr>
        <p:spPr>
          <a:xfrm>
            <a:off x="3178187" y="1224644"/>
            <a:ext cx="2763264" cy="1530834"/>
          </a:xfrm>
        </p:spPr>
        <p:txBody>
          <a:bodyPr/>
          <a:lstStyle>
            <a:lvl1pPr marL="0" indent="0" algn="ctr">
              <a:buNone/>
              <a:defRPr/>
            </a:lvl1pPr>
          </a:lstStyle>
          <a:p>
            <a:r>
              <a:rPr lang="en-US"/>
              <a:t>Click picture icon to add photo</a:t>
            </a:r>
          </a:p>
        </p:txBody>
      </p:sp>
      <p:sp>
        <p:nvSpPr>
          <p:cNvPr id="17" name="Picture Placeholder 4">
            <a:extLst>
              <a:ext uri="{FF2B5EF4-FFF2-40B4-BE49-F238E27FC236}">
                <a16:creationId xmlns:a16="http://schemas.microsoft.com/office/drawing/2014/main" id="{7A405C6D-D024-EC52-520E-7CEF7118B63F}"/>
              </a:ext>
            </a:extLst>
          </p:cNvPr>
          <p:cNvSpPr>
            <a:spLocks noGrp="1"/>
          </p:cNvSpPr>
          <p:nvPr>
            <p:ph type="pic" sz="quarter" idx="22" hasCustomPrompt="1"/>
          </p:nvPr>
        </p:nvSpPr>
        <p:spPr>
          <a:xfrm>
            <a:off x="6139954" y="1224644"/>
            <a:ext cx="2763264" cy="1530834"/>
          </a:xfrm>
        </p:spPr>
        <p:txBody>
          <a:bodyPr/>
          <a:lstStyle>
            <a:lvl1pPr marL="0" indent="0" algn="ctr">
              <a:buNone/>
              <a:defRPr/>
            </a:lvl1pPr>
          </a:lstStyle>
          <a:p>
            <a:r>
              <a:rPr lang="en-US"/>
              <a:t>Click picture icon to add photo</a:t>
            </a:r>
          </a:p>
        </p:txBody>
      </p:sp>
      <p:sp>
        <p:nvSpPr>
          <p:cNvPr id="19" name="Text Placeholder 6">
            <a:extLst>
              <a:ext uri="{FF2B5EF4-FFF2-40B4-BE49-F238E27FC236}">
                <a16:creationId xmlns:a16="http://schemas.microsoft.com/office/drawing/2014/main" id="{3BFB8C74-B06B-6CFC-2D77-48ACF087ADE7}"/>
              </a:ext>
            </a:extLst>
          </p:cNvPr>
          <p:cNvSpPr>
            <a:spLocks noGrp="1"/>
          </p:cNvSpPr>
          <p:nvPr>
            <p:ph type="body" sz="quarter" idx="16" hasCustomPrompt="1"/>
          </p:nvPr>
        </p:nvSpPr>
        <p:spPr>
          <a:xfrm>
            <a:off x="216419" y="2815672"/>
            <a:ext cx="2763264" cy="327407"/>
          </a:xfrm>
        </p:spPr>
        <p:txBody>
          <a:bodyPr anchor="ctr" anchorCtr="0"/>
          <a:lstStyle>
            <a:lvl1pPr marL="0" indent="0">
              <a:spcBef>
                <a:spcPts val="0"/>
              </a:spcBef>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0" name="Text Placeholder 6">
            <a:extLst>
              <a:ext uri="{FF2B5EF4-FFF2-40B4-BE49-F238E27FC236}">
                <a16:creationId xmlns:a16="http://schemas.microsoft.com/office/drawing/2014/main" id="{6743F6AA-342D-8F2B-566B-B9BF40019FF0}"/>
              </a:ext>
            </a:extLst>
          </p:cNvPr>
          <p:cNvSpPr>
            <a:spLocks noGrp="1"/>
          </p:cNvSpPr>
          <p:nvPr>
            <p:ph type="body" sz="quarter" idx="24" hasCustomPrompt="1"/>
          </p:nvPr>
        </p:nvSpPr>
        <p:spPr>
          <a:xfrm>
            <a:off x="3178187" y="2815672"/>
            <a:ext cx="2763264" cy="327407"/>
          </a:xfrm>
        </p:spPr>
        <p:txBody>
          <a:bodyPr anchor="ctr" anchorCtr="0"/>
          <a:lstStyle>
            <a:lvl1pPr marL="0" indent="0">
              <a:spcBef>
                <a:spcPts val="0"/>
              </a:spcBef>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1" name="Text Placeholder 6">
            <a:extLst>
              <a:ext uri="{FF2B5EF4-FFF2-40B4-BE49-F238E27FC236}">
                <a16:creationId xmlns:a16="http://schemas.microsoft.com/office/drawing/2014/main" id="{4C467062-502A-D066-43CD-99EE05E7C5DA}"/>
              </a:ext>
            </a:extLst>
          </p:cNvPr>
          <p:cNvSpPr>
            <a:spLocks noGrp="1"/>
          </p:cNvSpPr>
          <p:nvPr>
            <p:ph type="body" sz="quarter" idx="18" hasCustomPrompt="1"/>
          </p:nvPr>
        </p:nvSpPr>
        <p:spPr>
          <a:xfrm>
            <a:off x="6139954" y="2815672"/>
            <a:ext cx="2763264" cy="327407"/>
          </a:xfrm>
        </p:spPr>
        <p:txBody>
          <a:bodyPr anchor="ctr" anchorCtr="0"/>
          <a:lstStyle>
            <a:lvl1pPr marL="0" indent="0">
              <a:spcBef>
                <a:spcPts val="0"/>
              </a:spcBef>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3" name="Text Placeholder 6">
            <a:extLst>
              <a:ext uri="{FF2B5EF4-FFF2-40B4-BE49-F238E27FC236}">
                <a16:creationId xmlns:a16="http://schemas.microsoft.com/office/drawing/2014/main" id="{51484B43-21FE-B0A1-A31A-BE6AD84E3926}"/>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593172021"/>
      </p:ext>
    </p:extLst>
  </p:cSld>
  <p:clrMapOvr>
    <a:masterClrMapping/>
  </p:clrMapOvr>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niq-gfk_four_columns_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20" name="Text Placeholder 10">
            <a:extLst>
              <a:ext uri="{FF2B5EF4-FFF2-40B4-BE49-F238E27FC236}">
                <a16:creationId xmlns:a16="http://schemas.microsoft.com/office/drawing/2014/main" id="{52BD1DA6-2F3A-8497-317F-A33FE7FE9D1F}"/>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 name="Title 1">
            <a:extLst>
              <a:ext uri="{FF2B5EF4-FFF2-40B4-BE49-F238E27FC236}">
                <a16:creationId xmlns:a16="http://schemas.microsoft.com/office/drawing/2014/main" id="{E626DB92-A0AA-1D4E-DCEC-54D5E5605B1B}"/>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9" name="Straight Connector 8">
            <a:extLst>
              <a:ext uri="{FF2B5EF4-FFF2-40B4-BE49-F238E27FC236}">
                <a16:creationId xmlns:a16="http://schemas.microsoft.com/office/drawing/2014/main" id="{5C7DD2E8-792A-AEFC-E67F-D77E3B5938C1}"/>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53A50AC7-EF1B-06BD-6C82-F5E0A8824140}"/>
              </a:ext>
            </a:extLst>
          </p:cNvPr>
          <p:cNvSpPr>
            <a:spLocks noGrp="1"/>
          </p:cNvSpPr>
          <p:nvPr>
            <p:ph idx="1"/>
          </p:nvPr>
        </p:nvSpPr>
        <p:spPr>
          <a:xfrm>
            <a:off x="216420"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2ECCED81-E160-CC9F-96BC-CCA54BC2AB36}"/>
              </a:ext>
            </a:extLst>
          </p:cNvPr>
          <p:cNvSpPr>
            <a:spLocks noGrp="1"/>
          </p:cNvSpPr>
          <p:nvPr>
            <p:ph idx="17"/>
          </p:nvPr>
        </p:nvSpPr>
        <p:spPr>
          <a:xfrm>
            <a:off x="2439357"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0C1824ED-E104-5863-D8DF-6AF9F3142146}"/>
              </a:ext>
            </a:extLst>
          </p:cNvPr>
          <p:cNvSpPr>
            <a:spLocks noGrp="1"/>
          </p:cNvSpPr>
          <p:nvPr>
            <p:ph idx="19"/>
          </p:nvPr>
        </p:nvSpPr>
        <p:spPr>
          <a:xfrm>
            <a:off x="4662966"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6C693F40-4A3C-FDB9-A028-98592D644B6C}"/>
              </a:ext>
            </a:extLst>
          </p:cNvPr>
          <p:cNvSpPr>
            <a:spLocks noGrp="1"/>
          </p:cNvSpPr>
          <p:nvPr>
            <p:ph idx="21"/>
          </p:nvPr>
        </p:nvSpPr>
        <p:spPr>
          <a:xfrm>
            <a:off x="6885234"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4">
            <a:extLst>
              <a:ext uri="{FF2B5EF4-FFF2-40B4-BE49-F238E27FC236}">
                <a16:creationId xmlns:a16="http://schemas.microsoft.com/office/drawing/2014/main" id="{DB8AF23D-65B8-8384-5548-FF42652FBF21}"/>
              </a:ext>
            </a:extLst>
          </p:cNvPr>
          <p:cNvSpPr>
            <a:spLocks noGrp="1"/>
          </p:cNvSpPr>
          <p:nvPr>
            <p:ph type="pic" sz="quarter" idx="20" hasCustomPrompt="1"/>
          </p:nvPr>
        </p:nvSpPr>
        <p:spPr>
          <a:xfrm>
            <a:off x="216419" y="1357011"/>
            <a:ext cx="2030166" cy="1124702"/>
          </a:xfrm>
        </p:spPr>
        <p:txBody>
          <a:bodyPr/>
          <a:lstStyle>
            <a:lvl1pPr marL="0" indent="0" algn="ctr">
              <a:buNone/>
              <a:defRPr/>
            </a:lvl1pPr>
          </a:lstStyle>
          <a:p>
            <a:r>
              <a:rPr lang="en-US"/>
              <a:t>Click picture icon to add photo</a:t>
            </a:r>
          </a:p>
        </p:txBody>
      </p:sp>
      <p:sp>
        <p:nvSpPr>
          <p:cNvPr id="19" name="Picture Placeholder 4">
            <a:extLst>
              <a:ext uri="{FF2B5EF4-FFF2-40B4-BE49-F238E27FC236}">
                <a16:creationId xmlns:a16="http://schemas.microsoft.com/office/drawing/2014/main" id="{1CCE717F-B29B-9E5A-9E93-FDAD0795A740}"/>
              </a:ext>
            </a:extLst>
          </p:cNvPr>
          <p:cNvSpPr>
            <a:spLocks noGrp="1"/>
          </p:cNvSpPr>
          <p:nvPr>
            <p:ph type="pic" sz="quarter" idx="22" hasCustomPrompt="1"/>
          </p:nvPr>
        </p:nvSpPr>
        <p:spPr>
          <a:xfrm>
            <a:off x="2439357" y="1357011"/>
            <a:ext cx="2030166" cy="1124702"/>
          </a:xfrm>
        </p:spPr>
        <p:txBody>
          <a:bodyPr/>
          <a:lstStyle>
            <a:lvl1pPr marL="0" indent="0" algn="ctr">
              <a:buNone/>
              <a:defRPr/>
            </a:lvl1pPr>
          </a:lstStyle>
          <a:p>
            <a:r>
              <a:rPr lang="en-US"/>
              <a:t>Click picture icon to add photo</a:t>
            </a:r>
          </a:p>
        </p:txBody>
      </p:sp>
      <p:sp>
        <p:nvSpPr>
          <p:cNvPr id="21" name="Picture Placeholder 4">
            <a:extLst>
              <a:ext uri="{FF2B5EF4-FFF2-40B4-BE49-F238E27FC236}">
                <a16:creationId xmlns:a16="http://schemas.microsoft.com/office/drawing/2014/main" id="{7D458F08-34A8-CE5C-DD22-63798281F6E7}"/>
              </a:ext>
            </a:extLst>
          </p:cNvPr>
          <p:cNvSpPr>
            <a:spLocks noGrp="1"/>
          </p:cNvSpPr>
          <p:nvPr>
            <p:ph type="pic" sz="quarter" idx="23" hasCustomPrompt="1"/>
          </p:nvPr>
        </p:nvSpPr>
        <p:spPr>
          <a:xfrm>
            <a:off x="4662966" y="1357011"/>
            <a:ext cx="2030166" cy="1124702"/>
          </a:xfrm>
        </p:spPr>
        <p:txBody>
          <a:bodyPr/>
          <a:lstStyle>
            <a:lvl1pPr marL="0" indent="0" algn="ctr">
              <a:buNone/>
              <a:defRPr/>
            </a:lvl1pPr>
          </a:lstStyle>
          <a:p>
            <a:r>
              <a:rPr lang="en-US"/>
              <a:t>Click picture icon to add photo</a:t>
            </a:r>
          </a:p>
        </p:txBody>
      </p:sp>
      <p:sp>
        <p:nvSpPr>
          <p:cNvPr id="22" name="Picture Placeholder 4">
            <a:extLst>
              <a:ext uri="{FF2B5EF4-FFF2-40B4-BE49-F238E27FC236}">
                <a16:creationId xmlns:a16="http://schemas.microsoft.com/office/drawing/2014/main" id="{CDD1D9EB-F526-0267-384F-4B3F58A56D9E}"/>
              </a:ext>
            </a:extLst>
          </p:cNvPr>
          <p:cNvSpPr>
            <a:spLocks noGrp="1"/>
          </p:cNvSpPr>
          <p:nvPr>
            <p:ph type="pic" sz="quarter" idx="24" hasCustomPrompt="1"/>
          </p:nvPr>
        </p:nvSpPr>
        <p:spPr>
          <a:xfrm>
            <a:off x="6885233" y="1357011"/>
            <a:ext cx="2030166" cy="1124702"/>
          </a:xfrm>
        </p:spPr>
        <p:txBody>
          <a:bodyPr/>
          <a:lstStyle>
            <a:lvl1pPr marL="0" indent="0" algn="ctr">
              <a:buNone/>
              <a:defRPr/>
            </a:lvl1pPr>
          </a:lstStyle>
          <a:p>
            <a:r>
              <a:rPr lang="en-US"/>
              <a:t>Click picture icon to add photo</a:t>
            </a:r>
          </a:p>
        </p:txBody>
      </p:sp>
      <p:sp>
        <p:nvSpPr>
          <p:cNvPr id="23" name="Text Placeholder 6">
            <a:extLst>
              <a:ext uri="{FF2B5EF4-FFF2-40B4-BE49-F238E27FC236}">
                <a16:creationId xmlns:a16="http://schemas.microsoft.com/office/drawing/2014/main" id="{2D8888BC-56A9-8D6B-3914-B5265AF614EB}"/>
              </a:ext>
            </a:extLst>
          </p:cNvPr>
          <p:cNvSpPr>
            <a:spLocks noGrp="1"/>
          </p:cNvSpPr>
          <p:nvPr>
            <p:ph type="body" sz="quarter" idx="16" hasCustomPrompt="1"/>
          </p:nvPr>
        </p:nvSpPr>
        <p:spPr>
          <a:xfrm>
            <a:off x="216419"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4" name="Text Placeholder 6">
            <a:extLst>
              <a:ext uri="{FF2B5EF4-FFF2-40B4-BE49-F238E27FC236}">
                <a16:creationId xmlns:a16="http://schemas.microsoft.com/office/drawing/2014/main" id="{1A83D8D5-1A14-BFA8-3A2D-8F83DAE8E4F3}"/>
              </a:ext>
            </a:extLst>
          </p:cNvPr>
          <p:cNvSpPr>
            <a:spLocks noGrp="1"/>
          </p:cNvSpPr>
          <p:nvPr>
            <p:ph type="body" sz="quarter" idx="18" hasCustomPrompt="1"/>
          </p:nvPr>
        </p:nvSpPr>
        <p:spPr>
          <a:xfrm>
            <a:off x="2439357"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5" name="Text Placeholder 6">
            <a:extLst>
              <a:ext uri="{FF2B5EF4-FFF2-40B4-BE49-F238E27FC236}">
                <a16:creationId xmlns:a16="http://schemas.microsoft.com/office/drawing/2014/main" id="{8FD46FC2-34E5-C791-DF24-FDA9AC97DE4B}"/>
              </a:ext>
            </a:extLst>
          </p:cNvPr>
          <p:cNvSpPr>
            <a:spLocks noGrp="1"/>
          </p:cNvSpPr>
          <p:nvPr>
            <p:ph type="body" sz="quarter" idx="26" hasCustomPrompt="1"/>
          </p:nvPr>
        </p:nvSpPr>
        <p:spPr>
          <a:xfrm>
            <a:off x="4662294"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6" name="Text Placeholder 6">
            <a:extLst>
              <a:ext uri="{FF2B5EF4-FFF2-40B4-BE49-F238E27FC236}">
                <a16:creationId xmlns:a16="http://schemas.microsoft.com/office/drawing/2014/main" id="{61527C26-EEF9-B6E7-95A8-57A4BB373F3A}"/>
              </a:ext>
            </a:extLst>
          </p:cNvPr>
          <p:cNvSpPr>
            <a:spLocks noGrp="1"/>
          </p:cNvSpPr>
          <p:nvPr>
            <p:ph type="body" sz="quarter" idx="27" hasCustomPrompt="1"/>
          </p:nvPr>
        </p:nvSpPr>
        <p:spPr>
          <a:xfrm>
            <a:off x="6885233"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3" name="Text Placeholder 6">
            <a:extLst>
              <a:ext uri="{FF2B5EF4-FFF2-40B4-BE49-F238E27FC236}">
                <a16:creationId xmlns:a16="http://schemas.microsoft.com/office/drawing/2014/main" id="{5ED8B14D-BD06-2581-E921-C80B76E260C7}"/>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2328279543"/>
      </p:ext>
    </p:extLst>
  </p:cSld>
  <p:clrMapOvr>
    <a:masterClrMapping/>
  </p:clrMapOvr>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niq-gfk_left_title_and_content_deep_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54AF76-AD3D-99EA-BB6C-F380750B8D51}"/>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a:extLst>
              <a:ext uri="{FF2B5EF4-FFF2-40B4-BE49-F238E27FC236}">
                <a16:creationId xmlns:a16="http://schemas.microsoft.com/office/drawing/2014/main" id="{E18F88F4-971A-A6B1-1A27-9CE89013B620}"/>
              </a:ext>
            </a:extLst>
          </p:cNvPr>
          <p:cNvSpPr/>
          <p:nvPr/>
        </p:nvSpPr>
        <p:spPr>
          <a:xfrm>
            <a:off x="0" y="0"/>
            <a:ext cx="3001781"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3218199" y="1253517"/>
            <a:ext cx="5696449" cy="2992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13" name="Title 1">
            <a:extLst>
              <a:ext uri="{FF2B5EF4-FFF2-40B4-BE49-F238E27FC236}">
                <a16:creationId xmlns:a16="http://schemas.microsoft.com/office/drawing/2014/main" id="{C9E80DB3-397B-6246-0042-983989BBFF67}"/>
              </a:ext>
            </a:extLst>
          </p:cNvPr>
          <p:cNvSpPr>
            <a:spLocks noGrp="1"/>
          </p:cNvSpPr>
          <p:nvPr>
            <p:ph type="ctrTitle" hasCustomPrompt="1"/>
          </p:nvPr>
        </p:nvSpPr>
        <p:spPr>
          <a:xfrm>
            <a:off x="216419" y="833644"/>
            <a:ext cx="2627964" cy="1793229"/>
          </a:xfrm>
          <a:prstGeom prst="rect">
            <a:avLst/>
          </a:prstGeom>
        </p:spPr>
        <p:txBody>
          <a:bodyPr anchor="b" anchorCtr="0">
            <a:noAutofit/>
          </a:bodyPr>
          <a:lstStyle>
            <a:lvl1pPr algn="l">
              <a:defRPr sz="2700">
                <a:solidFill>
                  <a:schemeClr val="bg1"/>
                </a:solidFill>
              </a:defRPr>
            </a:lvl1pPr>
          </a:lstStyle>
          <a:p>
            <a:r>
              <a:rPr lang="en-US"/>
              <a:t>Insert your slide title here maximum of four lines</a:t>
            </a:r>
          </a:p>
        </p:txBody>
      </p:sp>
      <p:sp>
        <p:nvSpPr>
          <p:cNvPr id="14" name="Subtitle 2">
            <a:extLst>
              <a:ext uri="{FF2B5EF4-FFF2-40B4-BE49-F238E27FC236}">
                <a16:creationId xmlns:a16="http://schemas.microsoft.com/office/drawing/2014/main" id="{B088BB5C-5C7B-0E3F-0629-E297953C56D2}"/>
              </a:ext>
            </a:extLst>
          </p:cNvPr>
          <p:cNvSpPr>
            <a:spLocks noGrp="1"/>
          </p:cNvSpPr>
          <p:nvPr>
            <p:ph type="subTitle" idx="13" hasCustomPrompt="1"/>
          </p:nvPr>
        </p:nvSpPr>
        <p:spPr>
          <a:xfrm>
            <a:off x="216419" y="2636635"/>
            <a:ext cx="2627965" cy="327158"/>
          </a:xfrm>
        </p:spPr>
        <p:txBody>
          <a:bodyPr>
            <a:noAutofit/>
          </a:bodyPr>
          <a:lstStyle>
            <a:lvl1pPr marL="0" indent="0" algn="l">
              <a:spcBef>
                <a:spcPts val="0"/>
              </a:spcBef>
              <a:spcAft>
                <a:spcPts val="0"/>
              </a:spcAft>
              <a:buNone/>
              <a:defRPr sz="15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divider subtitle</a:t>
            </a:r>
          </a:p>
        </p:txBody>
      </p:sp>
      <p:sp>
        <p:nvSpPr>
          <p:cNvPr id="15" name="Text Placeholder 10">
            <a:extLst>
              <a:ext uri="{FF2B5EF4-FFF2-40B4-BE49-F238E27FC236}">
                <a16:creationId xmlns:a16="http://schemas.microsoft.com/office/drawing/2014/main" id="{54422616-9A6B-BD2A-EEE6-5D4F31127FD9}"/>
              </a:ext>
            </a:extLst>
          </p:cNvPr>
          <p:cNvSpPr>
            <a:spLocks noGrp="1"/>
          </p:cNvSpPr>
          <p:nvPr>
            <p:ph type="body" sz="quarter" idx="14" hasCustomPrompt="1"/>
          </p:nvPr>
        </p:nvSpPr>
        <p:spPr>
          <a:xfrm>
            <a:off x="3218199" y="4488996"/>
            <a:ext cx="569644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2" name="Straight Connector 1">
            <a:extLst>
              <a:ext uri="{FF2B5EF4-FFF2-40B4-BE49-F238E27FC236}">
                <a16:creationId xmlns:a16="http://schemas.microsoft.com/office/drawing/2014/main" id="{003D84F1-EE1E-31A0-2CC0-537B0D5A18BF}"/>
              </a:ext>
            </a:extLst>
          </p:cNvPr>
          <p:cNvCxnSpPr>
            <a:cxnSpLocks/>
          </p:cNvCxnSpPr>
          <p:nvPr/>
        </p:nvCxnSpPr>
        <p:spPr>
          <a:xfrm>
            <a:off x="3194891" y="4796816"/>
            <a:ext cx="57254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341D27D-C9D4-960C-C280-35DFDBD6B9CE}"/>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4" name="Text Placeholder 6">
            <a:extLst>
              <a:ext uri="{FF2B5EF4-FFF2-40B4-BE49-F238E27FC236}">
                <a16:creationId xmlns:a16="http://schemas.microsoft.com/office/drawing/2014/main" id="{C644E75E-F3FD-631A-D490-8B6F7CE333C8}"/>
              </a:ext>
            </a:extLst>
          </p:cNvPr>
          <p:cNvSpPr>
            <a:spLocks noGrp="1" noChangeAspect="1"/>
          </p:cNvSpPr>
          <p:nvPr>
            <p:ph type="body" sz="quarter" idx="16" hasCustomPrompt="1"/>
          </p:nvPr>
        </p:nvSpPr>
        <p:spPr>
          <a:xfrm>
            <a:off x="3206769" y="591409"/>
            <a:ext cx="569645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10" name="Picture 9">
            <a:extLst>
              <a:ext uri="{FF2B5EF4-FFF2-40B4-BE49-F238E27FC236}">
                <a16:creationId xmlns:a16="http://schemas.microsoft.com/office/drawing/2014/main" id="{8BA80876-4EBA-D97B-F95A-AE166E0D4310}"/>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2903941370"/>
      </p:ext>
    </p:extLst>
  </p:cSld>
  <p:clrMapOvr>
    <a:masterClrMapping/>
  </p:clrMapOvr>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niq-gfk_left_title_and_content_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54AF76-AD3D-99EA-BB6C-F380750B8D51}"/>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a:extLst>
              <a:ext uri="{FF2B5EF4-FFF2-40B4-BE49-F238E27FC236}">
                <a16:creationId xmlns:a16="http://schemas.microsoft.com/office/drawing/2014/main" id="{E18F88F4-971A-A6B1-1A27-9CE89013B620}"/>
              </a:ext>
            </a:extLst>
          </p:cNvPr>
          <p:cNvSpPr/>
          <p:nvPr/>
        </p:nvSpPr>
        <p:spPr>
          <a:xfrm>
            <a:off x="0" y="0"/>
            <a:ext cx="3001781" cy="51435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3218199" y="1253517"/>
            <a:ext cx="5696449" cy="2992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13" name="Title 1">
            <a:extLst>
              <a:ext uri="{FF2B5EF4-FFF2-40B4-BE49-F238E27FC236}">
                <a16:creationId xmlns:a16="http://schemas.microsoft.com/office/drawing/2014/main" id="{C9E80DB3-397B-6246-0042-983989BBFF67}"/>
              </a:ext>
            </a:extLst>
          </p:cNvPr>
          <p:cNvSpPr>
            <a:spLocks noGrp="1"/>
          </p:cNvSpPr>
          <p:nvPr>
            <p:ph type="ctrTitle" hasCustomPrompt="1"/>
          </p:nvPr>
        </p:nvSpPr>
        <p:spPr>
          <a:xfrm>
            <a:off x="216419" y="833644"/>
            <a:ext cx="2627964" cy="1793229"/>
          </a:xfrm>
          <a:prstGeom prst="rect">
            <a:avLst/>
          </a:prstGeom>
        </p:spPr>
        <p:txBody>
          <a:bodyPr anchor="b" anchorCtr="0">
            <a:noAutofit/>
          </a:bodyPr>
          <a:lstStyle>
            <a:lvl1pPr algn="l">
              <a:defRPr sz="2700">
                <a:solidFill>
                  <a:schemeClr val="tx1"/>
                </a:solidFill>
              </a:defRPr>
            </a:lvl1pPr>
          </a:lstStyle>
          <a:p>
            <a:r>
              <a:rPr lang="en-US"/>
              <a:t>Insert your slide title here maximum of four lines</a:t>
            </a:r>
          </a:p>
        </p:txBody>
      </p:sp>
      <p:sp>
        <p:nvSpPr>
          <p:cNvPr id="14" name="Subtitle 2">
            <a:extLst>
              <a:ext uri="{FF2B5EF4-FFF2-40B4-BE49-F238E27FC236}">
                <a16:creationId xmlns:a16="http://schemas.microsoft.com/office/drawing/2014/main" id="{B088BB5C-5C7B-0E3F-0629-E297953C56D2}"/>
              </a:ext>
            </a:extLst>
          </p:cNvPr>
          <p:cNvSpPr>
            <a:spLocks noGrp="1"/>
          </p:cNvSpPr>
          <p:nvPr>
            <p:ph type="subTitle" idx="13" hasCustomPrompt="1"/>
          </p:nvPr>
        </p:nvSpPr>
        <p:spPr>
          <a:xfrm>
            <a:off x="216419" y="2636635"/>
            <a:ext cx="2627965" cy="327158"/>
          </a:xfrm>
        </p:spPr>
        <p:txBody>
          <a:bodyPr>
            <a:noAutofit/>
          </a:bodyPr>
          <a:lstStyle>
            <a:lvl1pPr marL="0" indent="0" algn="l">
              <a:spcBef>
                <a:spcPts val="0"/>
              </a:spcBef>
              <a:spcAft>
                <a:spcPts val="0"/>
              </a:spcAft>
              <a:buNone/>
              <a:defRPr sz="15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divider subtitle</a:t>
            </a:r>
          </a:p>
        </p:txBody>
      </p:sp>
      <p:sp>
        <p:nvSpPr>
          <p:cNvPr id="15" name="Text Placeholder 10">
            <a:extLst>
              <a:ext uri="{FF2B5EF4-FFF2-40B4-BE49-F238E27FC236}">
                <a16:creationId xmlns:a16="http://schemas.microsoft.com/office/drawing/2014/main" id="{54422616-9A6B-BD2A-EEE6-5D4F31127FD9}"/>
              </a:ext>
            </a:extLst>
          </p:cNvPr>
          <p:cNvSpPr>
            <a:spLocks noGrp="1"/>
          </p:cNvSpPr>
          <p:nvPr>
            <p:ph type="body" sz="quarter" idx="14" hasCustomPrompt="1"/>
          </p:nvPr>
        </p:nvSpPr>
        <p:spPr>
          <a:xfrm>
            <a:off x="3218199" y="4488996"/>
            <a:ext cx="569644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2" name="Straight Connector 1">
            <a:extLst>
              <a:ext uri="{FF2B5EF4-FFF2-40B4-BE49-F238E27FC236}">
                <a16:creationId xmlns:a16="http://schemas.microsoft.com/office/drawing/2014/main" id="{8E247AFE-5B75-F5AA-309C-B98C55C22DA8}"/>
              </a:ext>
            </a:extLst>
          </p:cNvPr>
          <p:cNvCxnSpPr>
            <a:cxnSpLocks/>
          </p:cNvCxnSpPr>
          <p:nvPr/>
        </p:nvCxnSpPr>
        <p:spPr>
          <a:xfrm>
            <a:off x="3194891" y="4796816"/>
            <a:ext cx="57254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55F2EF6-07A6-4B65-6BBC-2B0FAC46A5B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4" name="Text Placeholder 6">
            <a:extLst>
              <a:ext uri="{FF2B5EF4-FFF2-40B4-BE49-F238E27FC236}">
                <a16:creationId xmlns:a16="http://schemas.microsoft.com/office/drawing/2014/main" id="{C4C10D55-544E-81C6-6C20-39E78BC83FEA}"/>
              </a:ext>
            </a:extLst>
          </p:cNvPr>
          <p:cNvSpPr>
            <a:spLocks noGrp="1" noChangeAspect="1"/>
          </p:cNvSpPr>
          <p:nvPr>
            <p:ph type="body" sz="quarter" idx="16" hasCustomPrompt="1"/>
          </p:nvPr>
        </p:nvSpPr>
        <p:spPr>
          <a:xfrm>
            <a:off x="3206769" y="591409"/>
            <a:ext cx="569645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7" name="Picture 6">
            <a:extLst>
              <a:ext uri="{FF2B5EF4-FFF2-40B4-BE49-F238E27FC236}">
                <a16:creationId xmlns:a16="http://schemas.microsoft.com/office/drawing/2014/main" id="{38F4644C-5154-6F8B-C984-3B51CE49135A}"/>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3592722099"/>
      </p:ext>
    </p:extLst>
  </p:cSld>
  <p:clrMapOvr>
    <a:masterClrMapping/>
  </p:clrMapOvr>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niq-gfk_sidebar_blue_circle">
    <p:spTree>
      <p:nvGrpSpPr>
        <p:cNvPr id="1" name=""/>
        <p:cNvGrpSpPr/>
        <p:nvPr/>
      </p:nvGrpSpPr>
      <p:grpSpPr>
        <a:xfrm>
          <a:off x="0" y="0"/>
          <a:ext cx="0" cy="0"/>
          <a:chOff x="0" y="0"/>
          <a:chExt cx="0" cy="0"/>
        </a:xfrm>
      </p:grpSpPr>
      <p:pic>
        <p:nvPicPr>
          <p:cNvPr id="13" name="Picture 12" descr="Shape, circle&#10;&#10;Description automatically generated">
            <a:extLst>
              <a:ext uri="{FF2B5EF4-FFF2-40B4-BE49-F238E27FC236}">
                <a16:creationId xmlns:a16="http://schemas.microsoft.com/office/drawing/2014/main" id="{0F962C91-6536-8C92-5712-D8E7D79A17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64" b="-475"/>
          <a:stretch/>
        </p:blipFill>
        <p:spPr>
          <a:xfrm>
            <a:off x="4760761" y="0"/>
            <a:ext cx="4383239" cy="4699774"/>
          </a:xfrm>
          <a:prstGeom prst="rect">
            <a:avLst/>
          </a:prstGeom>
        </p:spPr>
      </p:pic>
      <p:sp>
        <p:nvSpPr>
          <p:cNvPr id="4" name="Oval 3">
            <a:extLst>
              <a:ext uri="{FF2B5EF4-FFF2-40B4-BE49-F238E27FC236}">
                <a16:creationId xmlns:a16="http://schemas.microsoft.com/office/drawing/2014/main" id="{41013006-A4C4-8E9B-582A-F881CD2B33EB}"/>
              </a:ext>
            </a:extLst>
          </p:cNvPr>
          <p:cNvSpPr/>
          <p:nvPr/>
        </p:nvSpPr>
        <p:spPr>
          <a:xfrm>
            <a:off x="5588010" y="230225"/>
            <a:ext cx="3706846" cy="3706846"/>
          </a:xfrm>
          <a:prstGeom prst="ellipse">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bg1"/>
              </a:solidFill>
            </a:endParaRP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7" name="Content Placeholder 2">
            <a:extLst>
              <a:ext uri="{FF2B5EF4-FFF2-40B4-BE49-F238E27FC236}">
                <a16:creationId xmlns:a16="http://schemas.microsoft.com/office/drawing/2014/main" id="{18E1557B-C916-3D4A-06A3-5841A72F546D}"/>
              </a:ext>
            </a:extLst>
          </p:cNvPr>
          <p:cNvSpPr>
            <a:spLocks noGrp="1"/>
          </p:cNvSpPr>
          <p:nvPr>
            <p:ph idx="13"/>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B22CCE7A-44FB-F660-8825-197D91082D19}"/>
              </a:ext>
            </a:extLst>
          </p:cNvPr>
          <p:cNvSpPr>
            <a:spLocks noGrp="1"/>
          </p:cNvSpPr>
          <p:nvPr>
            <p:ph type="body" sz="quarter" idx="14" hasCustomPrompt="1"/>
          </p:nvPr>
        </p:nvSpPr>
        <p:spPr>
          <a:xfrm>
            <a:off x="5981076" y="1173415"/>
            <a:ext cx="2934325" cy="1820465"/>
          </a:xfrm>
        </p:spPr>
        <p:txBody>
          <a:bodyPr anchor="ctr" anchorCtr="0"/>
          <a:lstStyle>
            <a:lvl1pPr marL="0" indent="0" algn="ctr">
              <a:buNone/>
              <a:defRPr sz="2400" b="1">
                <a:solidFill>
                  <a:schemeClr val="bg2"/>
                </a:solidFill>
              </a:defRPr>
            </a:lvl1pPr>
            <a:lvl2pPr marL="342900" indent="0">
              <a:buNone/>
              <a:defRPr sz="2700"/>
            </a:lvl2pPr>
            <a:lvl3pPr marL="685800" indent="0">
              <a:buNone/>
              <a:defRPr sz="2700"/>
            </a:lvl3pPr>
            <a:lvl4pPr marL="1028700" indent="0">
              <a:buNone/>
              <a:defRPr sz="2700"/>
            </a:lvl4pPr>
            <a:lvl5pPr marL="1371600" indent="0">
              <a:buNone/>
              <a:defRPr sz="2700"/>
            </a:lvl5pPr>
          </a:lstStyle>
          <a:p>
            <a:pPr lvl="0"/>
            <a:r>
              <a:rPr lang="en-US"/>
              <a:t>Insert key takeaway/stat</a:t>
            </a:r>
          </a:p>
        </p:txBody>
      </p:sp>
      <p:sp>
        <p:nvSpPr>
          <p:cNvPr id="17" name="Text Placeholder 10">
            <a:extLst>
              <a:ext uri="{FF2B5EF4-FFF2-40B4-BE49-F238E27FC236}">
                <a16:creationId xmlns:a16="http://schemas.microsoft.com/office/drawing/2014/main" id="{402E7EE9-4D36-82A0-ADAA-86A3F1D4BB13}"/>
              </a:ext>
            </a:extLst>
          </p:cNvPr>
          <p:cNvSpPr>
            <a:spLocks noGrp="1"/>
          </p:cNvSpPr>
          <p:nvPr>
            <p:ph type="body" sz="quarter" idx="17"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9" name="Title 1">
            <a:extLst>
              <a:ext uri="{FF2B5EF4-FFF2-40B4-BE49-F238E27FC236}">
                <a16:creationId xmlns:a16="http://schemas.microsoft.com/office/drawing/2014/main" id="{67B38013-170F-74E2-9E07-4B0FB008B93A}"/>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11" name="Straight Connector 10">
            <a:extLst>
              <a:ext uri="{FF2B5EF4-FFF2-40B4-BE49-F238E27FC236}">
                <a16:creationId xmlns:a16="http://schemas.microsoft.com/office/drawing/2014/main" id="{F58155AE-A3BE-5FB3-3DFA-87FBA1907EE7}"/>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EA1EEDF0-6722-37DF-014E-CBC766E1C5AD}"/>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389298295"/>
      </p:ext>
    </p:extLst>
  </p:cSld>
  <p:clrMapOvr>
    <a:masterClrMapping/>
  </p:clrMapOvr>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niq-gfk_sidebar_blue_circle2">
    <p:spTree>
      <p:nvGrpSpPr>
        <p:cNvPr id="1" name=""/>
        <p:cNvGrpSpPr/>
        <p:nvPr/>
      </p:nvGrpSpPr>
      <p:grpSpPr>
        <a:xfrm>
          <a:off x="0" y="0"/>
          <a:ext cx="0" cy="0"/>
          <a:chOff x="0" y="0"/>
          <a:chExt cx="0" cy="0"/>
        </a:xfrm>
      </p:grpSpPr>
      <p:pic>
        <p:nvPicPr>
          <p:cNvPr id="15" name="Picture 14" descr="Shape, circle&#10;&#10;Description automatically generated">
            <a:extLst>
              <a:ext uri="{FF2B5EF4-FFF2-40B4-BE49-F238E27FC236}">
                <a16:creationId xmlns:a16="http://schemas.microsoft.com/office/drawing/2014/main" id="{5EAD1CE0-8C43-3A65-CBE4-F6500A6A3AD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64" b="-475"/>
          <a:stretch/>
        </p:blipFill>
        <p:spPr>
          <a:xfrm>
            <a:off x="4760761" y="0"/>
            <a:ext cx="4383239" cy="4699774"/>
          </a:xfrm>
          <a:prstGeom prst="rect">
            <a:avLst/>
          </a:prstGeom>
        </p:spPr>
      </p:pic>
      <p:sp>
        <p:nvSpPr>
          <p:cNvPr id="4" name="Oval 3">
            <a:extLst>
              <a:ext uri="{FF2B5EF4-FFF2-40B4-BE49-F238E27FC236}">
                <a16:creationId xmlns:a16="http://schemas.microsoft.com/office/drawing/2014/main" id="{41013006-A4C4-8E9B-582A-F881CD2B33EB}"/>
              </a:ext>
            </a:extLst>
          </p:cNvPr>
          <p:cNvSpPr/>
          <p:nvPr/>
        </p:nvSpPr>
        <p:spPr>
          <a:xfrm>
            <a:off x="5588010" y="230225"/>
            <a:ext cx="3706846" cy="370684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bg1"/>
              </a:solidFill>
            </a:endParaRP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7" name="Content Placeholder 2">
            <a:extLst>
              <a:ext uri="{FF2B5EF4-FFF2-40B4-BE49-F238E27FC236}">
                <a16:creationId xmlns:a16="http://schemas.microsoft.com/office/drawing/2014/main" id="{18E1557B-C916-3D4A-06A3-5841A72F546D}"/>
              </a:ext>
            </a:extLst>
          </p:cNvPr>
          <p:cNvSpPr>
            <a:spLocks noGrp="1"/>
          </p:cNvSpPr>
          <p:nvPr>
            <p:ph idx="13"/>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912D01FA-DA8D-5F18-9C23-78DF80969118}"/>
              </a:ext>
            </a:extLst>
          </p:cNvPr>
          <p:cNvSpPr>
            <a:spLocks noGrp="1"/>
          </p:cNvSpPr>
          <p:nvPr>
            <p:ph type="body" sz="quarter" idx="14" hasCustomPrompt="1"/>
          </p:nvPr>
        </p:nvSpPr>
        <p:spPr>
          <a:xfrm>
            <a:off x="5981076" y="1173415"/>
            <a:ext cx="2934325" cy="1820465"/>
          </a:xfrm>
        </p:spPr>
        <p:txBody>
          <a:bodyPr anchor="ctr" anchorCtr="0"/>
          <a:lstStyle>
            <a:lvl1pPr marL="0" indent="0" algn="ctr">
              <a:buNone/>
              <a:defRPr sz="2400" b="1">
                <a:solidFill>
                  <a:schemeClr val="bg1"/>
                </a:solidFill>
              </a:defRPr>
            </a:lvl1pPr>
            <a:lvl2pPr marL="342900" indent="0">
              <a:buNone/>
              <a:defRPr sz="2700"/>
            </a:lvl2pPr>
            <a:lvl3pPr marL="685800" indent="0">
              <a:buNone/>
              <a:defRPr sz="2700"/>
            </a:lvl3pPr>
            <a:lvl4pPr marL="1028700" indent="0">
              <a:buNone/>
              <a:defRPr sz="2700"/>
            </a:lvl4pPr>
            <a:lvl5pPr marL="1371600" indent="0">
              <a:buNone/>
              <a:defRPr sz="2700"/>
            </a:lvl5pPr>
          </a:lstStyle>
          <a:p>
            <a:pPr lvl="0"/>
            <a:r>
              <a:rPr lang="en-US"/>
              <a:t>Insert key takeaway/stat</a:t>
            </a:r>
          </a:p>
        </p:txBody>
      </p:sp>
      <p:sp>
        <p:nvSpPr>
          <p:cNvPr id="11" name="Text Placeholder 10">
            <a:extLst>
              <a:ext uri="{FF2B5EF4-FFF2-40B4-BE49-F238E27FC236}">
                <a16:creationId xmlns:a16="http://schemas.microsoft.com/office/drawing/2014/main" id="{C42D82BB-AEE5-0C84-EEDB-14508AB6B15D}"/>
              </a:ext>
            </a:extLst>
          </p:cNvPr>
          <p:cNvSpPr>
            <a:spLocks noGrp="1"/>
          </p:cNvSpPr>
          <p:nvPr>
            <p:ph type="body" sz="quarter" idx="17"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 name="Title 1">
            <a:extLst>
              <a:ext uri="{FF2B5EF4-FFF2-40B4-BE49-F238E27FC236}">
                <a16:creationId xmlns:a16="http://schemas.microsoft.com/office/drawing/2014/main" id="{D614A774-566F-5341-4A99-50831875B7D8}"/>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12" name="Straight Connector 11">
            <a:extLst>
              <a:ext uri="{FF2B5EF4-FFF2-40B4-BE49-F238E27FC236}">
                <a16:creationId xmlns:a16="http://schemas.microsoft.com/office/drawing/2014/main" id="{763BA60D-9446-8031-B981-76B69B36F853}"/>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998E4BD5-0C50-59F6-AE72-8C460C3264D2}"/>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2478973945"/>
      </p:ext>
    </p:extLst>
  </p:cSld>
  <p:clrMapOvr>
    <a:masterClrMapping/>
  </p:clrMapOvr>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niq-gfk_half_deep_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083BD0-CB53-4C20-92B8-5D9B6FB90498}"/>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Rectangle 2">
            <a:extLst>
              <a:ext uri="{FF2B5EF4-FFF2-40B4-BE49-F238E27FC236}">
                <a16:creationId xmlns:a16="http://schemas.microsoft.com/office/drawing/2014/main" id="{CA6E01A0-2BBF-F43A-B5D1-9E31AF6BC972}"/>
              </a:ext>
            </a:extLst>
          </p:cNvPr>
          <p:cNvSpPr/>
          <p:nvPr/>
        </p:nvSpPr>
        <p:spPr>
          <a:xfrm>
            <a:off x="4572000" y="0"/>
            <a:ext cx="4572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lvl1pPr>
              <a:defRPr>
                <a:solidFill>
                  <a:schemeClr val="bg1"/>
                </a:solidFill>
              </a:defRPr>
            </a:lvl1pPr>
          </a:lstStyle>
          <a:p>
            <a:fld id="{403EF4E2-7A7A-0548-85F1-5479B7C9E1B2}" type="slidenum">
              <a:rPr lang="en-US" smtClean="0"/>
              <a:pPr/>
              <a:t>‹#›</a:t>
            </a:fld>
            <a:endParaRPr lang="en-US"/>
          </a:p>
        </p:txBody>
      </p:sp>
      <p:sp>
        <p:nvSpPr>
          <p:cNvPr id="11" name="Content Placeholder 2">
            <a:extLst>
              <a:ext uri="{FF2B5EF4-FFF2-40B4-BE49-F238E27FC236}">
                <a16:creationId xmlns:a16="http://schemas.microsoft.com/office/drawing/2014/main" id="{AE757F6A-9EA9-44EF-A958-2270491049E4}"/>
              </a:ext>
            </a:extLst>
          </p:cNvPr>
          <p:cNvSpPr>
            <a:spLocks noGrp="1"/>
          </p:cNvSpPr>
          <p:nvPr>
            <p:ph idx="1"/>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44B2E6E-E1B5-CE08-FA8B-59B5B1CA44CC}"/>
              </a:ext>
            </a:extLst>
          </p:cNvPr>
          <p:cNvSpPr>
            <a:spLocks noGrp="1"/>
          </p:cNvSpPr>
          <p:nvPr>
            <p:ph idx="13"/>
          </p:nvPr>
        </p:nvSpPr>
        <p:spPr>
          <a:xfrm>
            <a:off x="4769680" y="1369219"/>
            <a:ext cx="4145720" cy="287710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12C0470F-CF16-06E7-C6C5-F985FA46839B}"/>
              </a:ext>
            </a:extLst>
          </p:cNvPr>
          <p:cNvSpPr>
            <a:spLocks noGrp="1"/>
          </p:cNvSpPr>
          <p:nvPr>
            <p:ph type="body" sz="quarter" idx="14" hasCustomPrompt="1"/>
          </p:nvPr>
        </p:nvSpPr>
        <p:spPr>
          <a:xfrm>
            <a:off x="216419" y="4488996"/>
            <a:ext cx="4145720"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10" name="Straight Connector 9">
            <a:extLst>
              <a:ext uri="{FF2B5EF4-FFF2-40B4-BE49-F238E27FC236}">
                <a16:creationId xmlns:a16="http://schemas.microsoft.com/office/drawing/2014/main" id="{B0C58F92-15EB-DF6A-3AEA-BEF2B4382D47}"/>
              </a:ext>
            </a:extLst>
          </p:cNvPr>
          <p:cNvCxnSpPr>
            <a:cxnSpLocks/>
          </p:cNvCxnSpPr>
          <p:nvPr/>
        </p:nvCxnSpPr>
        <p:spPr>
          <a:xfrm>
            <a:off x="209199" y="4796816"/>
            <a:ext cx="41529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3B39F9E-29C7-4F5B-9B1A-FE81CF8DB4C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23" name="Title 1">
            <a:extLst>
              <a:ext uri="{FF2B5EF4-FFF2-40B4-BE49-F238E27FC236}">
                <a16:creationId xmlns:a16="http://schemas.microsoft.com/office/drawing/2014/main" id="{E057E11A-E34D-941D-DF21-BE0590947E19}"/>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25" name="Straight Connector 24">
            <a:extLst>
              <a:ext uri="{FF2B5EF4-FFF2-40B4-BE49-F238E27FC236}">
                <a16:creationId xmlns:a16="http://schemas.microsoft.com/office/drawing/2014/main" id="{8F01343E-F55F-6211-AA10-F9EAED084150}"/>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41DD6D-3438-93A3-A777-68EA07FB1D42}"/>
              </a:ext>
            </a:extLst>
          </p:cNvPr>
          <p:cNvCxnSpPr>
            <a:cxnSpLocks/>
          </p:cNvCxnSpPr>
          <p:nvPr/>
        </p:nvCxnSpPr>
        <p:spPr>
          <a:xfrm>
            <a:off x="4747332" y="538955"/>
            <a:ext cx="415734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 Placeholder 16">
            <a:extLst>
              <a:ext uri="{FF2B5EF4-FFF2-40B4-BE49-F238E27FC236}">
                <a16:creationId xmlns:a16="http://schemas.microsoft.com/office/drawing/2014/main" id="{A7949EE8-83D1-17BE-32E2-4AFE47DD5BD4}"/>
              </a:ext>
            </a:extLst>
          </p:cNvPr>
          <p:cNvSpPr>
            <a:spLocks noGrp="1"/>
          </p:cNvSpPr>
          <p:nvPr>
            <p:ph type="body" sz="quarter" idx="15" hasCustomPrompt="1"/>
          </p:nvPr>
        </p:nvSpPr>
        <p:spPr>
          <a:xfrm>
            <a:off x="4769681" y="134229"/>
            <a:ext cx="4164458" cy="298013"/>
          </a:xfrm>
        </p:spPr>
        <p:txBody>
          <a:bodyPr anchor="ctr"/>
          <a:lstStyle>
            <a:lvl1pPr marL="0" indent="0">
              <a:buNone/>
              <a:defRPr sz="1500" b="1">
                <a:solidFill>
                  <a:schemeClr val="bg1"/>
                </a:solidFill>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Insert your slide title in Arial bold 24pt</a:t>
            </a:r>
          </a:p>
        </p:txBody>
      </p:sp>
      <p:sp>
        <p:nvSpPr>
          <p:cNvPr id="2" name="Text Placeholder 6">
            <a:extLst>
              <a:ext uri="{FF2B5EF4-FFF2-40B4-BE49-F238E27FC236}">
                <a16:creationId xmlns:a16="http://schemas.microsoft.com/office/drawing/2014/main" id="{8C99E11B-C159-D17D-C268-1DC72F9A6636}"/>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
        <p:nvSpPr>
          <p:cNvPr id="5" name="Text Placeholder 6">
            <a:extLst>
              <a:ext uri="{FF2B5EF4-FFF2-40B4-BE49-F238E27FC236}">
                <a16:creationId xmlns:a16="http://schemas.microsoft.com/office/drawing/2014/main" id="{F6916D51-7B4D-64A7-C83B-BEB632A7D1FB}"/>
              </a:ext>
            </a:extLst>
          </p:cNvPr>
          <p:cNvSpPr>
            <a:spLocks noGrp="1" noChangeAspect="1"/>
          </p:cNvSpPr>
          <p:nvPr>
            <p:ph type="body" sz="quarter" idx="17" hasCustomPrompt="1"/>
          </p:nvPr>
        </p:nvSpPr>
        <p:spPr>
          <a:xfrm>
            <a:off x="4749536" y="645668"/>
            <a:ext cx="4152939" cy="507831"/>
          </a:xfrm>
          <a:solidFill>
            <a:schemeClr val="bg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8" name="Picture 7">
            <a:extLst>
              <a:ext uri="{FF2B5EF4-FFF2-40B4-BE49-F238E27FC236}">
                <a16:creationId xmlns:a16="http://schemas.microsoft.com/office/drawing/2014/main" id="{E669FDBB-6393-7424-AD73-DCE3EFC2F0D9}"/>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4274464406"/>
      </p:ext>
    </p:extLst>
  </p:cSld>
  <p:clrMapOvr>
    <a:masterClrMapping/>
  </p:clrMapOvr>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niq-gfk_half_gre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083BD0-CB53-4C20-92B8-5D9B6FB90498}"/>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Rectangle 2">
            <a:extLst>
              <a:ext uri="{FF2B5EF4-FFF2-40B4-BE49-F238E27FC236}">
                <a16:creationId xmlns:a16="http://schemas.microsoft.com/office/drawing/2014/main" id="{CA6E01A0-2BBF-F43A-B5D1-9E31AF6BC972}"/>
              </a:ext>
            </a:extLst>
          </p:cNvPr>
          <p:cNvSpPr/>
          <p:nvPr/>
        </p:nvSpPr>
        <p:spPr>
          <a:xfrm>
            <a:off x="4572000" y="0"/>
            <a:ext cx="4572000" cy="51435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cxnSp>
        <p:nvCxnSpPr>
          <p:cNvPr id="8" name="Straight Connector 7">
            <a:extLst>
              <a:ext uri="{FF2B5EF4-FFF2-40B4-BE49-F238E27FC236}">
                <a16:creationId xmlns:a16="http://schemas.microsoft.com/office/drawing/2014/main" id="{CC77EDE7-AEAD-C80E-B46F-DB1E1503E6EC}"/>
              </a:ext>
            </a:extLst>
          </p:cNvPr>
          <p:cNvCxnSpPr>
            <a:cxnSpLocks/>
          </p:cNvCxnSpPr>
          <p:nvPr/>
        </p:nvCxnSpPr>
        <p:spPr>
          <a:xfrm>
            <a:off x="209199" y="4796816"/>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E757F6A-9EA9-44EF-A958-2270491049E4}"/>
              </a:ext>
            </a:extLst>
          </p:cNvPr>
          <p:cNvSpPr>
            <a:spLocks noGrp="1"/>
          </p:cNvSpPr>
          <p:nvPr>
            <p:ph idx="1"/>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44B2E6E-E1B5-CE08-FA8B-59B5B1CA44CC}"/>
              </a:ext>
            </a:extLst>
          </p:cNvPr>
          <p:cNvSpPr>
            <a:spLocks noGrp="1"/>
          </p:cNvSpPr>
          <p:nvPr>
            <p:ph idx="13"/>
          </p:nvPr>
        </p:nvSpPr>
        <p:spPr>
          <a:xfrm>
            <a:off x="4769680"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12C0470F-CF16-06E7-C6C5-F985FA46839B}"/>
              </a:ext>
            </a:extLst>
          </p:cNvPr>
          <p:cNvSpPr>
            <a:spLocks noGrp="1"/>
          </p:cNvSpPr>
          <p:nvPr>
            <p:ph type="body" sz="quarter" idx="14" hasCustomPrompt="1"/>
          </p:nvPr>
        </p:nvSpPr>
        <p:spPr>
          <a:xfrm>
            <a:off x="216419" y="4488996"/>
            <a:ext cx="4145720"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2" name="TextBox 21">
            <a:extLst>
              <a:ext uri="{FF2B5EF4-FFF2-40B4-BE49-F238E27FC236}">
                <a16:creationId xmlns:a16="http://schemas.microsoft.com/office/drawing/2014/main" id="{917881B4-E3B9-7482-317F-7A70E837571B}"/>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2" name="Title 1">
            <a:extLst>
              <a:ext uri="{FF2B5EF4-FFF2-40B4-BE49-F238E27FC236}">
                <a16:creationId xmlns:a16="http://schemas.microsoft.com/office/drawing/2014/main" id="{37BBC8E0-99A7-20D7-198E-8C4C5429454D}"/>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7" name="Straight Connector 6">
            <a:extLst>
              <a:ext uri="{FF2B5EF4-FFF2-40B4-BE49-F238E27FC236}">
                <a16:creationId xmlns:a16="http://schemas.microsoft.com/office/drawing/2014/main" id="{10366EE5-2C84-CBCF-1F7D-90ED78E5262C}"/>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066B2B-EA3F-EAF6-AFF1-68682E47E581}"/>
              </a:ext>
            </a:extLst>
          </p:cNvPr>
          <p:cNvCxnSpPr>
            <a:cxnSpLocks/>
          </p:cNvCxnSpPr>
          <p:nvPr/>
        </p:nvCxnSpPr>
        <p:spPr>
          <a:xfrm>
            <a:off x="4747332"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16">
            <a:extLst>
              <a:ext uri="{FF2B5EF4-FFF2-40B4-BE49-F238E27FC236}">
                <a16:creationId xmlns:a16="http://schemas.microsoft.com/office/drawing/2014/main" id="{B611845A-2C49-8A19-66CD-D9E9ACA2E007}"/>
              </a:ext>
            </a:extLst>
          </p:cNvPr>
          <p:cNvSpPr>
            <a:spLocks noGrp="1"/>
          </p:cNvSpPr>
          <p:nvPr>
            <p:ph type="body" sz="quarter" idx="15" hasCustomPrompt="1"/>
          </p:nvPr>
        </p:nvSpPr>
        <p:spPr>
          <a:xfrm>
            <a:off x="4769681" y="134229"/>
            <a:ext cx="4164458" cy="298013"/>
          </a:xfrm>
        </p:spPr>
        <p:txBody>
          <a:bodyPr anchor="ctr"/>
          <a:lstStyle>
            <a:lvl1pPr marL="0" indent="0">
              <a:buNone/>
              <a:defRPr sz="1500" b="1">
                <a:solidFill>
                  <a:schemeClr val="tx1"/>
                </a:solidFill>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Insert your slide title in Arial bold 24pt</a:t>
            </a:r>
          </a:p>
        </p:txBody>
      </p:sp>
      <p:sp>
        <p:nvSpPr>
          <p:cNvPr id="15" name="Text Placeholder 6">
            <a:extLst>
              <a:ext uri="{FF2B5EF4-FFF2-40B4-BE49-F238E27FC236}">
                <a16:creationId xmlns:a16="http://schemas.microsoft.com/office/drawing/2014/main" id="{06F40655-E3AF-340C-6CA8-DA6492402FD0}"/>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
        <p:nvSpPr>
          <p:cNvPr id="16" name="Text Placeholder 6">
            <a:extLst>
              <a:ext uri="{FF2B5EF4-FFF2-40B4-BE49-F238E27FC236}">
                <a16:creationId xmlns:a16="http://schemas.microsoft.com/office/drawing/2014/main" id="{E943460E-FA8B-6748-9708-860B37DC1D50}"/>
              </a:ext>
            </a:extLst>
          </p:cNvPr>
          <p:cNvSpPr>
            <a:spLocks noGrp="1" noChangeAspect="1"/>
          </p:cNvSpPr>
          <p:nvPr>
            <p:ph type="body" sz="quarter" idx="17" hasCustomPrompt="1"/>
          </p:nvPr>
        </p:nvSpPr>
        <p:spPr>
          <a:xfrm>
            <a:off x="4749536"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9" name="Picture 8">
            <a:extLst>
              <a:ext uri="{FF2B5EF4-FFF2-40B4-BE49-F238E27FC236}">
                <a16:creationId xmlns:a16="http://schemas.microsoft.com/office/drawing/2014/main" id="{A1576A31-071E-B868-D73E-A9BF0A005EE0}"/>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3563738444"/>
      </p:ext>
    </p:extLst>
  </p:cSld>
  <p:clrMapOvr>
    <a:masterClrMapping/>
  </p:clrMapOvr>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niq-gfk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2" name="Text Placeholder 10">
            <a:extLst>
              <a:ext uri="{FF2B5EF4-FFF2-40B4-BE49-F238E27FC236}">
                <a16:creationId xmlns:a16="http://schemas.microsoft.com/office/drawing/2014/main" id="{5F90632C-301E-32EA-91E1-96C5D6220E7F}"/>
              </a:ext>
            </a:extLst>
          </p:cNvPr>
          <p:cNvSpPr>
            <a:spLocks noGrp="1"/>
          </p:cNvSpPr>
          <p:nvPr>
            <p:ph type="body" sz="quarter" idx="17"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Tree>
    <p:extLst>
      <p:ext uri="{BB962C8B-B14F-4D97-AF65-F5344CB8AC3E}">
        <p14:creationId xmlns:p14="http://schemas.microsoft.com/office/powerpoint/2010/main" val="3152152665"/>
      </p:ext>
    </p:extLst>
  </p:cSld>
  <p:clrMapOvr>
    <a:masterClrMapping/>
  </p:clrMapOvr>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niq-gfk_thank_you_grey">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5F151AF7-737A-1648-9BC4-B9D881179FB7}"/>
              </a:ext>
            </a:extLst>
          </p:cNvPr>
          <p:cNvSpPr>
            <a:spLocks noGrp="1"/>
          </p:cNvSpPr>
          <p:nvPr>
            <p:ph type="ctrTitle" hasCustomPrompt="1"/>
          </p:nvPr>
        </p:nvSpPr>
        <p:spPr>
          <a:xfrm>
            <a:off x="216418" y="476276"/>
            <a:ext cx="6481562" cy="1790700"/>
          </a:xfrm>
          <a:prstGeom prst="rect">
            <a:avLst/>
          </a:prstGeom>
        </p:spPr>
        <p:txBody>
          <a:bodyPr anchor="b">
            <a:noAutofit/>
          </a:bodyPr>
          <a:lstStyle>
            <a:lvl1pPr algn="l">
              <a:defRPr sz="2700">
                <a:solidFill>
                  <a:schemeClr val="tx1"/>
                </a:solidFill>
              </a:defRPr>
            </a:lvl1pPr>
          </a:lstStyle>
          <a:p>
            <a:r>
              <a:rPr lang="en-US"/>
              <a:t>[Thank you]</a:t>
            </a:r>
          </a:p>
        </p:txBody>
      </p:sp>
      <p:sp>
        <p:nvSpPr>
          <p:cNvPr id="3" name="Subtitle 2">
            <a:extLst>
              <a:ext uri="{FF2B5EF4-FFF2-40B4-BE49-F238E27FC236}">
                <a16:creationId xmlns:a16="http://schemas.microsoft.com/office/drawing/2014/main" id="{D952C9CE-AA03-A24B-BBD9-8EA2482DC59D}"/>
              </a:ext>
            </a:extLst>
          </p:cNvPr>
          <p:cNvSpPr>
            <a:spLocks noGrp="1"/>
          </p:cNvSpPr>
          <p:nvPr>
            <p:ph type="subTitle" idx="1" hasCustomPrompt="1"/>
          </p:nvPr>
        </p:nvSpPr>
        <p:spPr>
          <a:xfrm>
            <a:off x="216418" y="2336032"/>
            <a:ext cx="6481562" cy="628412"/>
          </a:xfrm>
        </p:spPr>
        <p:txBody>
          <a:bodyPr>
            <a:noAutofit/>
          </a:bodyPr>
          <a:lstStyle>
            <a:lvl1pPr marL="0" indent="0" algn="l">
              <a:spcBef>
                <a:spcPts val="0"/>
              </a:spcBef>
              <a:spcAft>
                <a:spcPts val="0"/>
              </a:spcAft>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[Call to action]</a:t>
            </a:r>
          </a:p>
        </p:txBody>
      </p:sp>
      <p:sp>
        <p:nvSpPr>
          <p:cNvPr id="10" name="Text Placeholder 17">
            <a:extLst>
              <a:ext uri="{FF2B5EF4-FFF2-40B4-BE49-F238E27FC236}">
                <a16:creationId xmlns:a16="http://schemas.microsoft.com/office/drawing/2014/main" id="{0FF12D10-3F99-FA54-8A36-1C3BFF703BC4}"/>
              </a:ext>
            </a:extLst>
          </p:cNvPr>
          <p:cNvSpPr>
            <a:spLocks noGrp="1"/>
          </p:cNvSpPr>
          <p:nvPr>
            <p:ph type="body" sz="quarter" idx="10" hasCustomPrompt="1"/>
          </p:nvPr>
        </p:nvSpPr>
        <p:spPr>
          <a:xfrm>
            <a:off x="216419" y="3254510"/>
            <a:ext cx="6481562" cy="258288"/>
          </a:xfrm>
        </p:spPr>
        <p:txBody>
          <a:bodyPr tIns="0" bIns="0" anchor="b" anchorCtr="0">
            <a:noAutofit/>
          </a:bodyPr>
          <a:lstStyle>
            <a:lvl1pPr marL="0" indent="0">
              <a:lnSpc>
                <a:spcPct val="100000"/>
              </a:lnSpc>
              <a:spcBef>
                <a:spcPts val="0"/>
              </a:spcBef>
              <a:spcAft>
                <a:spcPts val="0"/>
              </a:spcAft>
              <a:buNone/>
              <a:defRPr sz="900" b="1">
                <a:solidFill>
                  <a:schemeClr val="tx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First name Last name</a:t>
            </a:r>
          </a:p>
        </p:txBody>
      </p:sp>
      <p:sp>
        <p:nvSpPr>
          <p:cNvPr id="11" name="Text Placeholder 17">
            <a:extLst>
              <a:ext uri="{FF2B5EF4-FFF2-40B4-BE49-F238E27FC236}">
                <a16:creationId xmlns:a16="http://schemas.microsoft.com/office/drawing/2014/main" id="{C023098E-A14A-7175-E122-657D7B94C166}"/>
              </a:ext>
            </a:extLst>
          </p:cNvPr>
          <p:cNvSpPr>
            <a:spLocks noGrp="1"/>
          </p:cNvSpPr>
          <p:nvPr>
            <p:ph type="body" sz="quarter" idx="11" hasCustomPrompt="1"/>
          </p:nvPr>
        </p:nvSpPr>
        <p:spPr>
          <a:xfrm>
            <a:off x="216419" y="3530611"/>
            <a:ext cx="6481562" cy="317599"/>
          </a:xfrm>
        </p:spPr>
        <p:txBody>
          <a:bodyPr tIns="0" bIns="0">
            <a:noAutofit/>
          </a:bodyPr>
          <a:lstStyle>
            <a:lvl1pPr marL="0" indent="0">
              <a:lnSpc>
                <a:spcPct val="100000"/>
              </a:lnSpc>
              <a:spcBef>
                <a:spcPts val="0"/>
              </a:spcBef>
              <a:spcAft>
                <a:spcPts val="0"/>
              </a:spcAft>
              <a:buNone/>
              <a:defRPr sz="900" b="0">
                <a:solidFill>
                  <a:schemeClr val="tx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Contact information</a:t>
            </a:r>
          </a:p>
        </p:txBody>
      </p:sp>
      <p:sp>
        <p:nvSpPr>
          <p:cNvPr id="6" name="TextBox 5">
            <a:extLst>
              <a:ext uri="{FF2B5EF4-FFF2-40B4-BE49-F238E27FC236}">
                <a16:creationId xmlns:a16="http://schemas.microsoft.com/office/drawing/2014/main" id="{CB3923C6-70F5-38D5-0F2A-AFB1BB6D8A02}"/>
              </a:ext>
            </a:extLst>
          </p:cNvPr>
          <p:cNvSpPr txBox="1"/>
          <p:nvPr/>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5" name="Picture 4">
            <a:extLst>
              <a:ext uri="{FF2B5EF4-FFF2-40B4-BE49-F238E27FC236}">
                <a16:creationId xmlns:a16="http://schemas.microsoft.com/office/drawing/2014/main" id="{F6D44297-0006-84C1-7779-FDE9470A4271}"/>
              </a:ext>
            </a:extLst>
          </p:cNvPr>
          <p:cNvPicPr>
            <a:picLocks noChangeAspect="1"/>
          </p:cNvPicPr>
          <p:nvPr/>
        </p:nvPicPr>
        <p:blipFill>
          <a:blip r:embed="rId2"/>
          <a:srcRect/>
          <a:stretch/>
        </p:blipFill>
        <p:spPr>
          <a:xfrm>
            <a:off x="236221" y="4135503"/>
            <a:ext cx="1756761" cy="638048"/>
          </a:xfrm>
          <a:prstGeom prst="rect">
            <a:avLst/>
          </a:prstGeom>
        </p:spPr>
      </p:pic>
    </p:spTree>
    <p:extLst>
      <p:ext uri="{BB962C8B-B14F-4D97-AF65-F5344CB8AC3E}">
        <p14:creationId xmlns:p14="http://schemas.microsoft.com/office/powerpoint/2010/main" val="1348080940"/>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p:cSld name="16_cover_illustration">
    <p:bg>
      <p:bgPr>
        <a:solidFill>
          <a:srgbClr val="292A3C"/>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2" name="Picture 11" descr="Background pattern&#10;&#10;Description automatically generated">
            <a:extLst>
              <a:ext uri="{FF2B5EF4-FFF2-40B4-BE49-F238E27FC236}">
                <a16:creationId xmlns:a16="http://schemas.microsoft.com/office/drawing/2014/main" id="{DB788935-E7B2-2CAC-0048-B92417139B6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5" name="TextBox 4">
            <a:extLst>
              <a:ext uri="{FF2B5EF4-FFF2-40B4-BE49-F238E27FC236}">
                <a16:creationId xmlns:a16="http://schemas.microsoft.com/office/drawing/2014/main" id="{6243803D-31FA-692F-1CDF-A332274BC332}"/>
              </a:ext>
            </a:extLst>
          </p:cNvPr>
          <p:cNvSpPr txBox="1"/>
          <p:nvPr/>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16" name="Title 1">
            <a:extLst>
              <a:ext uri="{FF2B5EF4-FFF2-40B4-BE49-F238E27FC236}">
                <a16:creationId xmlns:a16="http://schemas.microsoft.com/office/drawing/2014/main" id="{7987C027-455E-4C45-138D-8334F13BBEEA}"/>
              </a:ext>
            </a:extLst>
          </p:cNvPr>
          <p:cNvSpPr>
            <a:spLocks noGrp="1"/>
          </p:cNvSpPr>
          <p:nvPr>
            <p:ph type="ctrTitle" hasCustomPrompt="1"/>
          </p:nvPr>
        </p:nvSpPr>
        <p:spPr>
          <a:xfrm>
            <a:off x="216418" y="476276"/>
            <a:ext cx="6481562" cy="1790700"/>
          </a:xfrm>
          <a:prstGeom prst="rect">
            <a:avLst/>
          </a:prstGeom>
        </p:spPr>
        <p:txBody>
          <a:bodyPr anchor="b">
            <a:noAutofit/>
          </a:bodyPr>
          <a:lstStyle>
            <a:lvl1pPr algn="l">
              <a:defRPr sz="4050">
                <a:solidFill>
                  <a:schemeClr val="bg1"/>
                </a:solidFill>
              </a:defRPr>
            </a:lvl1pPr>
          </a:lstStyle>
          <a:p>
            <a:r>
              <a:rPr lang="en-US"/>
              <a:t>Insert your presentation title here maximum of three lines</a:t>
            </a:r>
          </a:p>
        </p:txBody>
      </p:sp>
      <p:sp>
        <p:nvSpPr>
          <p:cNvPr id="17" name="Subtitle 2">
            <a:extLst>
              <a:ext uri="{FF2B5EF4-FFF2-40B4-BE49-F238E27FC236}">
                <a16:creationId xmlns:a16="http://schemas.microsoft.com/office/drawing/2014/main" id="{A4501D72-EE3C-0DA6-BA4B-C1D78BA85AE8}"/>
              </a:ext>
            </a:extLst>
          </p:cNvPr>
          <p:cNvSpPr>
            <a:spLocks noGrp="1"/>
          </p:cNvSpPr>
          <p:nvPr>
            <p:ph type="subTitle" idx="1"/>
          </p:nvPr>
        </p:nvSpPr>
        <p:spPr>
          <a:xfrm>
            <a:off x="216418" y="2336032"/>
            <a:ext cx="6481562" cy="628412"/>
          </a:xfrm>
        </p:spPr>
        <p:txBody>
          <a:bodyPr>
            <a:noAutofit/>
          </a:bodyPr>
          <a:lstStyle>
            <a:lvl1pPr marL="0" indent="0" algn="l">
              <a:spcBef>
                <a:spcPts val="0"/>
              </a:spcBef>
              <a:spcAft>
                <a:spcPts val="0"/>
              </a:spcAft>
              <a:buNone/>
              <a:defRPr sz="18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2" name="Text Placeholder 17">
            <a:extLst>
              <a:ext uri="{FF2B5EF4-FFF2-40B4-BE49-F238E27FC236}">
                <a16:creationId xmlns:a16="http://schemas.microsoft.com/office/drawing/2014/main" id="{3417592A-6067-984F-549E-3833CDB76A54}"/>
              </a:ext>
            </a:extLst>
          </p:cNvPr>
          <p:cNvSpPr>
            <a:spLocks noGrp="1"/>
          </p:cNvSpPr>
          <p:nvPr>
            <p:ph type="body" sz="quarter" idx="10" hasCustomPrompt="1"/>
          </p:nvPr>
        </p:nvSpPr>
        <p:spPr>
          <a:xfrm>
            <a:off x="216419" y="3144351"/>
            <a:ext cx="6481562" cy="258288"/>
          </a:xfrm>
        </p:spPr>
        <p:txBody>
          <a:bodyPr tIns="0" bIns="0" anchor="b" anchorCtr="0">
            <a:noAutofit/>
          </a:bodyPr>
          <a:lstStyle>
            <a:lvl1pPr marL="0" indent="0">
              <a:lnSpc>
                <a:spcPct val="100000"/>
              </a:lnSpc>
              <a:spcBef>
                <a:spcPts val="0"/>
              </a:spcBef>
              <a:spcAft>
                <a:spcPts val="0"/>
              </a:spcAft>
              <a:buNone/>
              <a:defRPr sz="900" b="1">
                <a:solidFill>
                  <a:schemeClr val="bg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First name Last name</a:t>
            </a:r>
          </a:p>
        </p:txBody>
      </p:sp>
      <p:sp>
        <p:nvSpPr>
          <p:cNvPr id="3" name="Text Placeholder 17">
            <a:extLst>
              <a:ext uri="{FF2B5EF4-FFF2-40B4-BE49-F238E27FC236}">
                <a16:creationId xmlns:a16="http://schemas.microsoft.com/office/drawing/2014/main" id="{DADB3285-032F-C5EA-E4E6-C62E075FF1F0}"/>
              </a:ext>
            </a:extLst>
          </p:cNvPr>
          <p:cNvSpPr>
            <a:spLocks noGrp="1"/>
          </p:cNvSpPr>
          <p:nvPr>
            <p:ph type="body" sz="quarter" idx="11" hasCustomPrompt="1"/>
          </p:nvPr>
        </p:nvSpPr>
        <p:spPr>
          <a:xfrm>
            <a:off x="216419" y="3420452"/>
            <a:ext cx="6481562" cy="258289"/>
          </a:xfrm>
        </p:spPr>
        <p:txBody>
          <a:bodyPr tIns="0" bIns="0">
            <a:noAutofit/>
          </a:bodyPr>
          <a:lstStyle>
            <a:lvl1pPr marL="0" indent="0">
              <a:lnSpc>
                <a:spcPct val="100000"/>
              </a:lnSpc>
              <a:spcBef>
                <a:spcPts val="0"/>
              </a:spcBef>
              <a:spcAft>
                <a:spcPts val="0"/>
              </a:spcAft>
              <a:buNone/>
              <a:defRPr sz="900" b="0">
                <a:solidFill>
                  <a:schemeClr val="bg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Title/Department</a:t>
            </a:r>
          </a:p>
        </p:txBody>
      </p:sp>
      <p:sp>
        <p:nvSpPr>
          <p:cNvPr id="6" name="Text Placeholder 17">
            <a:extLst>
              <a:ext uri="{FF2B5EF4-FFF2-40B4-BE49-F238E27FC236}">
                <a16:creationId xmlns:a16="http://schemas.microsoft.com/office/drawing/2014/main" id="{D91FCFC2-D727-8EBA-2D19-E4EEAE93A971}"/>
              </a:ext>
            </a:extLst>
          </p:cNvPr>
          <p:cNvSpPr>
            <a:spLocks noGrp="1"/>
          </p:cNvSpPr>
          <p:nvPr>
            <p:ph type="body" sz="quarter" idx="12" hasCustomPrompt="1"/>
          </p:nvPr>
        </p:nvSpPr>
        <p:spPr>
          <a:xfrm>
            <a:off x="216419" y="3832626"/>
            <a:ext cx="6481562" cy="258289"/>
          </a:xfrm>
        </p:spPr>
        <p:txBody>
          <a:bodyPr tIns="0" bIns="0">
            <a:noAutofit/>
          </a:bodyPr>
          <a:lstStyle>
            <a:lvl1pPr marL="0" indent="0">
              <a:lnSpc>
                <a:spcPct val="100000"/>
              </a:lnSpc>
              <a:spcBef>
                <a:spcPts val="0"/>
              </a:spcBef>
              <a:spcAft>
                <a:spcPts val="0"/>
              </a:spcAft>
              <a:buNone/>
              <a:defRPr sz="900" b="0">
                <a:solidFill>
                  <a:schemeClr val="bg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Date</a:t>
            </a:r>
          </a:p>
        </p:txBody>
      </p:sp>
      <p:pic>
        <p:nvPicPr>
          <p:cNvPr id="8" name="Picture 7">
            <a:extLst>
              <a:ext uri="{FF2B5EF4-FFF2-40B4-BE49-F238E27FC236}">
                <a16:creationId xmlns:a16="http://schemas.microsoft.com/office/drawing/2014/main" id="{282906D9-EFC7-C6F3-6E2A-D8391881D758}"/>
              </a:ext>
            </a:extLst>
          </p:cNvPr>
          <p:cNvPicPr>
            <a:picLocks noChangeAspect="1"/>
          </p:cNvPicPr>
          <p:nvPr/>
        </p:nvPicPr>
        <p:blipFill>
          <a:blip r:embed="rId3"/>
          <a:stretch>
            <a:fillRect/>
          </a:stretch>
        </p:blipFill>
        <p:spPr>
          <a:xfrm>
            <a:off x="228601" y="4125582"/>
            <a:ext cx="1760219" cy="639396"/>
          </a:xfrm>
          <a:prstGeom prst="rect">
            <a:avLst/>
          </a:prstGeom>
        </p:spPr>
      </p:pic>
      <p:sp>
        <p:nvSpPr>
          <p:cNvPr id="7" name="Rectangle 6">
            <a:extLst>
              <a:ext uri="{FF2B5EF4-FFF2-40B4-BE49-F238E27FC236}">
                <a16:creationId xmlns:a16="http://schemas.microsoft.com/office/drawing/2014/main" id="{A82494A0-C674-3CDB-59E9-D69EC49E6E0B}"/>
              </a:ext>
            </a:extLst>
          </p:cNvPr>
          <p:cNvSpPr/>
          <p:nvPr userDrawn="1"/>
        </p:nvSpPr>
        <p:spPr>
          <a:xfrm>
            <a:off x="0" y="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9" name="Picture 8" descr="Background pattern&#10;&#10;Description automatically generated">
            <a:extLst>
              <a:ext uri="{FF2B5EF4-FFF2-40B4-BE49-F238E27FC236}">
                <a16:creationId xmlns:a16="http://schemas.microsoft.com/office/drawing/2014/main" id="{A1ED5E0F-2A55-493F-4515-0E12FDB043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0" name="TextBox 9">
            <a:extLst>
              <a:ext uri="{FF2B5EF4-FFF2-40B4-BE49-F238E27FC236}">
                <a16:creationId xmlns:a16="http://schemas.microsoft.com/office/drawing/2014/main" id="{A18968CF-9046-394B-4DF8-2F9F3EB1EBEF}"/>
              </a:ext>
            </a:extLst>
          </p:cNvPr>
          <p:cNvSpPr txBox="1"/>
          <p:nvPr userDrawn="1"/>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11" name="Picture 10">
            <a:extLst>
              <a:ext uri="{FF2B5EF4-FFF2-40B4-BE49-F238E27FC236}">
                <a16:creationId xmlns:a16="http://schemas.microsoft.com/office/drawing/2014/main" id="{D1B2D94E-92DD-4DD4-EF98-848529728E7F}"/>
              </a:ext>
            </a:extLst>
          </p:cNvPr>
          <p:cNvPicPr>
            <a:picLocks noChangeAspect="1"/>
          </p:cNvPicPr>
          <p:nvPr userDrawn="1"/>
        </p:nvPicPr>
        <p:blipFill>
          <a:blip r:embed="rId3"/>
          <a:stretch>
            <a:fillRect/>
          </a:stretch>
        </p:blipFill>
        <p:spPr>
          <a:xfrm>
            <a:off x="228601" y="4125582"/>
            <a:ext cx="1760219" cy="639396"/>
          </a:xfrm>
          <a:prstGeom prst="rect">
            <a:avLst/>
          </a:prstGeom>
        </p:spPr>
      </p:pic>
    </p:spTree>
    <p:extLst>
      <p:ext uri="{BB962C8B-B14F-4D97-AF65-F5344CB8AC3E}">
        <p14:creationId xmlns:p14="http://schemas.microsoft.com/office/powerpoint/2010/main" val="1772457156"/>
      </p:ext>
    </p:extLst>
  </p:cSld>
  <p:clrMapOvr>
    <a:overrideClrMapping bg1="lt1" tx1="dk1" bg2="lt2" tx2="dk2" accent1="accent1" accent2="accent2" accent3="accent3" accent4="accent4" accent5="accent5" accent6="accent6" hlink="hlink" folHlink="folHlink"/>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7_left_title_and_content_deep_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54AF76-AD3D-99EA-BB6C-F380750B8D51}"/>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a:extLst>
              <a:ext uri="{FF2B5EF4-FFF2-40B4-BE49-F238E27FC236}">
                <a16:creationId xmlns:a16="http://schemas.microsoft.com/office/drawing/2014/main" id="{E18F88F4-971A-A6B1-1A27-9CE89013B620}"/>
              </a:ext>
            </a:extLst>
          </p:cNvPr>
          <p:cNvSpPr/>
          <p:nvPr/>
        </p:nvSpPr>
        <p:spPr>
          <a:xfrm>
            <a:off x="0" y="0"/>
            <a:ext cx="3001781"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3218199" y="1253517"/>
            <a:ext cx="5696449" cy="2992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sp>
        <p:nvSpPr>
          <p:cNvPr id="13" name="Title 1">
            <a:extLst>
              <a:ext uri="{FF2B5EF4-FFF2-40B4-BE49-F238E27FC236}">
                <a16:creationId xmlns:a16="http://schemas.microsoft.com/office/drawing/2014/main" id="{C9E80DB3-397B-6246-0042-983989BBFF67}"/>
              </a:ext>
            </a:extLst>
          </p:cNvPr>
          <p:cNvSpPr>
            <a:spLocks noGrp="1"/>
          </p:cNvSpPr>
          <p:nvPr>
            <p:ph type="ctrTitle" hasCustomPrompt="1"/>
          </p:nvPr>
        </p:nvSpPr>
        <p:spPr>
          <a:xfrm>
            <a:off x="216419" y="833644"/>
            <a:ext cx="2627964" cy="1793229"/>
          </a:xfrm>
        </p:spPr>
        <p:txBody>
          <a:bodyPr anchor="b" anchorCtr="0">
            <a:noAutofit/>
          </a:bodyPr>
          <a:lstStyle>
            <a:lvl1pPr algn="l">
              <a:defRPr sz="2700">
                <a:solidFill>
                  <a:schemeClr val="bg1"/>
                </a:solidFill>
              </a:defRPr>
            </a:lvl1pPr>
          </a:lstStyle>
          <a:p>
            <a:r>
              <a:rPr lang="en-US"/>
              <a:t>Insert your slide title here maximum of four lines</a:t>
            </a:r>
          </a:p>
        </p:txBody>
      </p:sp>
      <p:sp>
        <p:nvSpPr>
          <p:cNvPr id="14" name="Subtitle 2">
            <a:extLst>
              <a:ext uri="{FF2B5EF4-FFF2-40B4-BE49-F238E27FC236}">
                <a16:creationId xmlns:a16="http://schemas.microsoft.com/office/drawing/2014/main" id="{B088BB5C-5C7B-0E3F-0629-E297953C56D2}"/>
              </a:ext>
            </a:extLst>
          </p:cNvPr>
          <p:cNvSpPr>
            <a:spLocks noGrp="1"/>
          </p:cNvSpPr>
          <p:nvPr>
            <p:ph type="subTitle" idx="13" hasCustomPrompt="1"/>
          </p:nvPr>
        </p:nvSpPr>
        <p:spPr>
          <a:xfrm>
            <a:off x="216419" y="2636635"/>
            <a:ext cx="2627965" cy="327158"/>
          </a:xfrm>
        </p:spPr>
        <p:txBody>
          <a:bodyPr>
            <a:noAutofit/>
          </a:bodyPr>
          <a:lstStyle>
            <a:lvl1pPr marL="0" indent="0" algn="l">
              <a:spcBef>
                <a:spcPts val="0"/>
              </a:spcBef>
              <a:spcAft>
                <a:spcPts val="0"/>
              </a:spcAft>
              <a:buNone/>
              <a:defRPr sz="15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divider subtitle</a:t>
            </a:r>
          </a:p>
        </p:txBody>
      </p:sp>
      <p:sp>
        <p:nvSpPr>
          <p:cNvPr id="15" name="Text Placeholder 10">
            <a:extLst>
              <a:ext uri="{FF2B5EF4-FFF2-40B4-BE49-F238E27FC236}">
                <a16:creationId xmlns:a16="http://schemas.microsoft.com/office/drawing/2014/main" id="{54422616-9A6B-BD2A-EEE6-5D4F31127FD9}"/>
              </a:ext>
            </a:extLst>
          </p:cNvPr>
          <p:cNvSpPr>
            <a:spLocks noGrp="1"/>
          </p:cNvSpPr>
          <p:nvPr>
            <p:ph type="body" sz="quarter" idx="14" hasCustomPrompt="1"/>
          </p:nvPr>
        </p:nvSpPr>
        <p:spPr>
          <a:xfrm>
            <a:off x="3218199" y="4488996"/>
            <a:ext cx="569644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2" name="Straight Connector 1">
            <a:extLst>
              <a:ext uri="{FF2B5EF4-FFF2-40B4-BE49-F238E27FC236}">
                <a16:creationId xmlns:a16="http://schemas.microsoft.com/office/drawing/2014/main" id="{003D84F1-EE1E-31A0-2CC0-537B0D5A18BF}"/>
              </a:ext>
            </a:extLst>
          </p:cNvPr>
          <p:cNvCxnSpPr>
            <a:cxnSpLocks/>
          </p:cNvCxnSpPr>
          <p:nvPr/>
        </p:nvCxnSpPr>
        <p:spPr>
          <a:xfrm>
            <a:off x="3194891" y="4796816"/>
            <a:ext cx="57254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C94C076-1CD8-CF76-1E98-52F5EBB5C1F2}"/>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10" name="Picture 9">
            <a:extLst>
              <a:ext uri="{FF2B5EF4-FFF2-40B4-BE49-F238E27FC236}">
                <a16:creationId xmlns:a16="http://schemas.microsoft.com/office/drawing/2014/main" id="{255C58C0-68F0-4400-534A-F92FEE797864}"/>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618164104"/>
      </p:ext>
    </p:extLst>
  </p:cSld>
  <p:clrMapOvr>
    <a:masterClrMapping/>
  </p:clrMapOvr>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p:cSld name="10_divider_orange">
    <p:bg>
      <p:bgPr>
        <a:solidFill>
          <a:srgbClr val="3C1806"/>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0C5EA78-CDC0-1240-0F66-EED1BFA819E9}"/>
              </a:ext>
            </a:extLst>
          </p:cNvPr>
          <p:cNvSpPr/>
          <p:nvPr/>
        </p:nvSpPr>
        <p:spPr>
          <a:xfrm>
            <a:off x="0" y="0"/>
            <a:ext cx="9144000" cy="5143500"/>
          </a:xfrm>
          <a:prstGeom prst="rect">
            <a:avLst/>
          </a:prstGeom>
          <a:solidFill>
            <a:srgbClr val="3C180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pic>
        <p:nvPicPr>
          <p:cNvPr id="11" name="Picture 10" descr="Icon&#10;&#10;Description automatically generated">
            <a:extLst>
              <a:ext uri="{FF2B5EF4-FFF2-40B4-BE49-F238E27FC236}">
                <a16:creationId xmlns:a16="http://schemas.microsoft.com/office/drawing/2014/main" id="{B1E79715-2C31-D769-1270-E4A53A9E61F5}"/>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r="-4557"/>
          <a:stretch/>
        </p:blipFill>
        <p:spPr>
          <a:xfrm>
            <a:off x="-14439" y="0"/>
            <a:ext cx="4937504" cy="5119007"/>
          </a:xfrm>
          <a:prstGeom prst="rect">
            <a:avLst/>
          </a:prstGeom>
        </p:spPr>
      </p:pic>
      <p:sp>
        <p:nvSpPr>
          <p:cNvPr id="2" name="Title 1">
            <a:extLst>
              <a:ext uri="{FF2B5EF4-FFF2-40B4-BE49-F238E27FC236}">
                <a16:creationId xmlns:a16="http://schemas.microsoft.com/office/drawing/2014/main" id="{5F151AF7-737A-1648-9BC4-B9D881179FB7}"/>
              </a:ext>
            </a:extLst>
          </p:cNvPr>
          <p:cNvSpPr>
            <a:spLocks noGrp="1"/>
          </p:cNvSpPr>
          <p:nvPr>
            <p:ph type="ctrTitle" hasCustomPrompt="1"/>
          </p:nvPr>
        </p:nvSpPr>
        <p:spPr>
          <a:xfrm>
            <a:off x="216419" y="1253517"/>
            <a:ext cx="3361172" cy="1318234"/>
          </a:xfrm>
        </p:spPr>
        <p:txBody>
          <a:bodyPr anchor="b" anchorCtr="0">
            <a:noAutofit/>
          </a:bodyPr>
          <a:lstStyle>
            <a:lvl1pPr algn="l">
              <a:defRPr sz="2700">
                <a:solidFill>
                  <a:schemeClr val="bg1"/>
                </a:solidFill>
              </a:defRPr>
            </a:lvl1pPr>
          </a:lstStyle>
          <a:p>
            <a:r>
              <a:rPr lang="en-US"/>
              <a:t>Insert your divider title here maximum of three lines</a:t>
            </a:r>
          </a:p>
        </p:txBody>
      </p:sp>
      <p:sp>
        <p:nvSpPr>
          <p:cNvPr id="3" name="Subtitle 2">
            <a:extLst>
              <a:ext uri="{FF2B5EF4-FFF2-40B4-BE49-F238E27FC236}">
                <a16:creationId xmlns:a16="http://schemas.microsoft.com/office/drawing/2014/main" id="{D952C9CE-AA03-A24B-BBD9-8EA2482DC59D}"/>
              </a:ext>
            </a:extLst>
          </p:cNvPr>
          <p:cNvSpPr>
            <a:spLocks noGrp="1"/>
          </p:cNvSpPr>
          <p:nvPr>
            <p:ph type="subTitle" idx="1" hasCustomPrompt="1"/>
          </p:nvPr>
        </p:nvSpPr>
        <p:spPr>
          <a:xfrm>
            <a:off x="216419" y="2619262"/>
            <a:ext cx="3361172" cy="327158"/>
          </a:xfrm>
        </p:spPr>
        <p:txBody>
          <a:bodyPr>
            <a:noAutofit/>
          </a:bodyPr>
          <a:lstStyle>
            <a:lvl1pPr marL="0" indent="0" algn="l">
              <a:spcBef>
                <a:spcPts val="0"/>
              </a:spcBef>
              <a:spcAft>
                <a:spcPts val="0"/>
              </a:spcAft>
              <a:buNone/>
              <a:defRPr sz="15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divider subtitle</a:t>
            </a:r>
          </a:p>
        </p:txBody>
      </p:sp>
      <p:sp>
        <p:nvSpPr>
          <p:cNvPr id="6" name="Slide Number Placeholder 5">
            <a:extLst>
              <a:ext uri="{FF2B5EF4-FFF2-40B4-BE49-F238E27FC236}">
                <a16:creationId xmlns:a16="http://schemas.microsoft.com/office/drawing/2014/main" id="{D0DB4F35-9ADE-ED35-28B3-71F80807EF03}"/>
              </a:ext>
            </a:extLst>
          </p:cNvPr>
          <p:cNvSpPr>
            <a:spLocks noGrp="1"/>
          </p:cNvSpPr>
          <p:nvPr>
            <p:ph type="sldNum" sz="quarter" idx="4"/>
          </p:nvPr>
        </p:nvSpPr>
        <p:spPr>
          <a:xfrm>
            <a:off x="8238994" y="4826403"/>
            <a:ext cx="676406" cy="273844"/>
          </a:xfrm>
          <a:prstGeom prst="rect">
            <a:avLst/>
          </a:prstGeom>
        </p:spPr>
        <p:txBody>
          <a:bodyPr vert="horz" lIns="0" tIns="45720" rIns="0" bIns="45720" rtlCol="0" anchor="ctr"/>
          <a:lstStyle>
            <a:lvl1pPr algn="r">
              <a:defRPr sz="750">
                <a:solidFill>
                  <a:schemeClr val="bg1"/>
                </a:solidFill>
              </a:defRPr>
            </a:lvl1pPr>
          </a:lstStyle>
          <a:p>
            <a:fld id="{403EF4E2-7A7A-0548-85F1-5479B7C9E1B2}" type="slidenum">
              <a:rPr lang="en-US" smtClean="0"/>
              <a:pPr/>
              <a:t>‹#›</a:t>
            </a:fld>
            <a:endParaRPr lang="en-US"/>
          </a:p>
        </p:txBody>
      </p:sp>
      <p:cxnSp>
        <p:nvCxnSpPr>
          <p:cNvPr id="8" name="Straight Connector 7">
            <a:extLst>
              <a:ext uri="{FF2B5EF4-FFF2-40B4-BE49-F238E27FC236}">
                <a16:creationId xmlns:a16="http://schemas.microsoft.com/office/drawing/2014/main" id="{E7A74E09-9071-7CD1-EC5E-F188D4120119}"/>
              </a:ext>
            </a:extLst>
          </p:cNvPr>
          <p:cNvCxnSpPr>
            <a:cxnSpLocks/>
          </p:cNvCxnSpPr>
          <p:nvPr/>
        </p:nvCxnSpPr>
        <p:spPr>
          <a:xfrm>
            <a:off x="209199" y="4796816"/>
            <a:ext cx="8711164"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046D5945-92E2-21F9-E630-7D1BAA17B71A}"/>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5" name="Picture 4">
            <a:extLst>
              <a:ext uri="{FF2B5EF4-FFF2-40B4-BE49-F238E27FC236}">
                <a16:creationId xmlns:a16="http://schemas.microsoft.com/office/drawing/2014/main" id="{F11FBA29-52FB-2F59-11AB-055972A088EA}"/>
              </a:ext>
            </a:extLst>
          </p:cNvPr>
          <p:cNvPicPr>
            <a:picLocks noChangeAspect="1"/>
          </p:cNvPicPr>
          <p:nvPr/>
        </p:nvPicPr>
        <p:blipFill>
          <a:blip r:embed="rId3"/>
          <a:srcRect/>
          <a:stretch/>
        </p:blipFill>
        <p:spPr>
          <a:xfrm>
            <a:off x="209199" y="4856701"/>
            <a:ext cx="670559" cy="243545"/>
          </a:xfrm>
          <a:prstGeom prst="rect">
            <a:avLst/>
          </a:prstGeom>
        </p:spPr>
      </p:pic>
    </p:spTree>
    <p:extLst>
      <p:ext uri="{BB962C8B-B14F-4D97-AF65-F5344CB8AC3E}">
        <p14:creationId xmlns:p14="http://schemas.microsoft.com/office/powerpoint/2010/main" val="3762876643"/>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17.xml><?xml version="1.0" encoding="utf-8"?>
<p:sldLayout xmlns:a="http://schemas.openxmlformats.org/drawingml/2006/main" xmlns:r="http://schemas.openxmlformats.org/officeDocument/2006/relationships" xmlns:p="http://schemas.openxmlformats.org/presentationml/2006/main">
  <p:cSld name="23_half_gre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083BD0-CB53-4C20-92B8-5D9B6FB90498}"/>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Rectangle 2">
            <a:extLst>
              <a:ext uri="{FF2B5EF4-FFF2-40B4-BE49-F238E27FC236}">
                <a16:creationId xmlns:a16="http://schemas.microsoft.com/office/drawing/2014/main" id="{CA6E01A0-2BBF-F43A-B5D1-9E31AF6BC972}"/>
              </a:ext>
            </a:extLst>
          </p:cNvPr>
          <p:cNvSpPr/>
          <p:nvPr/>
        </p:nvSpPr>
        <p:spPr>
          <a:xfrm>
            <a:off x="4572000" y="0"/>
            <a:ext cx="4572000" cy="51435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403EF4E2-7A7A-0548-85F1-5479B7C9E1B2}" type="slidenum">
              <a:rPr lang="en-US" smtClean="0"/>
              <a:t>‹#›</a:t>
            </a:fld>
            <a:endParaRPr lang="en-US"/>
          </a:p>
        </p:txBody>
      </p:sp>
      <p:cxnSp>
        <p:nvCxnSpPr>
          <p:cNvPr id="8" name="Straight Connector 7">
            <a:extLst>
              <a:ext uri="{FF2B5EF4-FFF2-40B4-BE49-F238E27FC236}">
                <a16:creationId xmlns:a16="http://schemas.microsoft.com/office/drawing/2014/main" id="{CC77EDE7-AEAD-C80E-B46F-DB1E1503E6EC}"/>
              </a:ext>
            </a:extLst>
          </p:cNvPr>
          <p:cNvCxnSpPr>
            <a:cxnSpLocks/>
          </p:cNvCxnSpPr>
          <p:nvPr/>
        </p:nvCxnSpPr>
        <p:spPr>
          <a:xfrm>
            <a:off x="209199" y="4796816"/>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E757F6A-9EA9-44EF-A958-2270491049E4}"/>
              </a:ext>
            </a:extLst>
          </p:cNvPr>
          <p:cNvSpPr>
            <a:spLocks noGrp="1"/>
          </p:cNvSpPr>
          <p:nvPr>
            <p:ph idx="1"/>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44B2E6E-E1B5-CE08-FA8B-59B5B1CA44CC}"/>
              </a:ext>
            </a:extLst>
          </p:cNvPr>
          <p:cNvSpPr>
            <a:spLocks noGrp="1"/>
          </p:cNvSpPr>
          <p:nvPr>
            <p:ph idx="13"/>
          </p:nvPr>
        </p:nvSpPr>
        <p:spPr>
          <a:xfrm>
            <a:off x="4769680"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Box 14">
            <a:extLst>
              <a:ext uri="{FF2B5EF4-FFF2-40B4-BE49-F238E27FC236}">
                <a16:creationId xmlns:a16="http://schemas.microsoft.com/office/drawing/2014/main" id="{270D49C1-E8FD-4100-6077-590D74316FB9}"/>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17" name="Text Placeholder 10">
            <a:extLst>
              <a:ext uri="{FF2B5EF4-FFF2-40B4-BE49-F238E27FC236}">
                <a16:creationId xmlns:a16="http://schemas.microsoft.com/office/drawing/2014/main" id="{F96AC6AD-C4F2-F6FF-6F7B-8A44A44982F1}"/>
              </a:ext>
            </a:extLst>
          </p:cNvPr>
          <p:cNvSpPr>
            <a:spLocks noGrp="1"/>
          </p:cNvSpPr>
          <p:nvPr>
            <p:ph type="body" sz="quarter" idx="18"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18" name="Text Placeholder 16">
            <a:extLst>
              <a:ext uri="{FF2B5EF4-FFF2-40B4-BE49-F238E27FC236}">
                <a16:creationId xmlns:a16="http://schemas.microsoft.com/office/drawing/2014/main" id="{6A6C0979-2BD2-C03B-6B71-E8AD10273F05}"/>
              </a:ext>
            </a:extLst>
          </p:cNvPr>
          <p:cNvSpPr>
            <a:spLocks noGrp="1"/>
          </p:cNvSpPr>
          <p:nvPr>
            <p:ph type="body" sz="quarter" idx="15" hasCustomPrompt="1"/>
          </p:nvPr>
        </p:nvSpPr>
        <p:spPr>
          <a:xfrm>
            <a:off x="4769681" y="134228"/>
            <a:ext cx="4164458" cy="298014"/>
          </a:xfrm>
        </p:spPr>
        <p:txBody>
          <a:bodyPr anchor="ctr"/>
          <a:lstStyle>
            <a:lvl1pPr marL="0" indent="0">
              <a:buNone/>
              <a:defRPr sz="1500" b="1">
                <a:solidFill>
                  <a:schemeClr val="tx1"/>
                </a:solidFill>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Insert your slide title in Arial bold 20pt</a:t>
            </a:r>
          </a:p>
        </p:txBody>
      </p:sp>
      <p:sp>
        <p:nvSpPr>
          <p:cNvPr id="19" name="Text Placeholder 6">
            <a:extLst>
              <a:ext uri="{FF2B5EF4-FFF2-40B4-BE49-F238E27FC236}">
                <a16:creationId xmlns:a16="http://schemas.microsoft.com/office/drawing/2014/main" id="{4A3D0FAE-E229-7018-93B3-C0AF25E639B9}"/>
              </a:ext>
            </a:extLst>
          </p:cNvPr>
          <p:cNvSpPr>
            <a:spLocks noGrp="1"/>
          </p:cNvSpPr>
          <p:nvPr>
            <p:ph type="body" sz="quarter" idx="17" hasCustomPrompt="1"/>
          </p:nvPr>
        </p:nvSpPr>
        <p:spPr>
          <a:xfrm>
            <a:off x="4769680" y="432242"/>
            <a:ext cx="4185560" cy="329786"/>
          </a:xfrm>
        </p:spPr>
        <p:txBody>
          <a:bodyPr/>
          <a:lstStyle>
            <a:lvl1pPr marL="0" indent="0">
              <a:spcBef>
                <a:spcPts val="0"/>
              </a:spcBef>
              <a:spcAft>
                <a:spcPts val="0"/>
              </a:spcAft>
              <a:buNone/>
              <a:defRPr sz="1200">
                <a:solidFill>
                  <a:schemeClr val="tx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p:txBody>
      </p:sp>
      <p:sp>
        <p:nvSpPr>
          <p:cNvPr id="20" name="Text Placeholder 6">
            <a:extLst>
              <a:ext uri="{FF2B5EF4-FFF2-40B4-BE49-F238E27FC236}">
                <a16:creationId xmlns:a16="http://schemas.microsoft.com/office/drawing/2014/main" id="{36BBC8CE-5633-09AF-7152-3719FD92EBEB}"/>
              </a:ext>
            </a:extLst>
          </p:cNvPr>
          <p:cNvSpPr>
            <a:spLocks noGrp="1"/>
          </p:cNvSpPr>
          <p:nvPr>
            <p:ph type="body" sz="quarter" idx="19" hasCustomPrompt="1"/>
          </p:nvPr>
        </p:nvSpPr>
        <p:spPr>
          <a:xfrm>
            <a:off x="216419" y="434621"/>
            <a:ext cx="4152940" cy="327407"/>
          </a:xfrm>
        </p:spPr>
        <p:txBody>
          <a:bodyPr/>
          <a:lstStyle>
            <a:lvl1pPr marL="0" indent="0">
              <a:spcBef>
                <a:spcPts val="0"/>
              </a:spcBef>
              <a:spcAft>
                <a:spcPts val="0"/>
              </a:spcAft>
              <a:buNone/>
              <a:defRPr sz="1200"/>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p:txBody>
      </p:sp>
      <p:sp>
        <p:nvSpPr>
          <p:cNvPr id="21" name="Title 1">
            <a:extLst>
              <a:ext uri="{FF2B5EF4-FFF2-40B4-BE49-F238E27FC236}">
                <a16:creationId xmlns:a16="http://schemas.microsoft.com/office/drawing/2014/main" id="{B5D76F3C-D010-68D3-984D-E588033F9C1D}"/>
              </a:ext>
            </a:extLst>
          </p:cNvPr>
          <p:cNvSpPr>
            <a:spLocks noGrp="1"/>
          </p:cNvSpPr>
          <p:nvPr>
            <p:ph type="title" hasCustomPrompt="1"/>
          </p:nvPr>
        </p:nvSpPr>
        <p:spPr>
          <a:xfrm>
            <a:off x="216419" y="134228"/>
            <a:ext cx="4152940" cy="298014"/>
          </a:xfrm>
          <a:prstGeom prst="rect">
            <a:avLst/>
          </a:prstGeom>
        </p:spPr>
        <p:txBody>
          <a:bodyPr anchor="ctr"/>
          <a:lstStyle>
            <a:lvl1pPr>
              <a:defRPr sz="1500"/>
            </a:lvl1pPr>
          </a:lstStyle>
          <a:p>
            <a:r>
              <a:rPr lang="en-US"/>
              <a:t>Insert your slide title in Arial bold 20pt</a:t>
            </a:r>
          </a:p>
        </p:txBody>
      </p:sp>
      <p:pic>
        <p:nvPicPr>
          <p:cNvPr id="2" name="Picture 1">
            <a:extLst>
              <a:ext uri="{FF2B5EF4-FFF2-40B4-BE49-F238E27FC236}">
                <a16:creationId xmlns:a16="http://schemas.microsoft.com/office/drawing/2014/main" id="{EB294C38-578D-BE97-AFC9-FAF4C2178692}"/>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1638662027"/>
      </p:ext>
    </p:extLst>
  </p:cSld>
  <p:clrMapOvr>
    <a:masterClrMapping/>
  </p:clrMapOvr>
  <p:hf sldNum="0" hdr="0" ftr="0" dt="0"/>
</p:sldLayout>
</file>

<file path=ppt/slideLayouts/slideLayout118.xml><?xml version="1.0" encoding="utf-8"?>
<p:sldLayout xmlns:a="http://schemas.openxmlformats.org/drawingml/2006/main" xmlns:r="http://schemas.openxmlformats.org/officeDocument/2006/relationships" xmlns:p="http://schemas.openxmlformats.org/presentationml/2006/main" matchingName="06_Title only">
  <p:cSld name="06_Title 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594360" y="507492"/>
            <a:ext cx="81666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49" name="Google Shape;49;p7"/>
          <p:cNvSpPr txBox="1">
            <a:spLocks noGrp="1"/>
          </p:cNvSpPr>
          <p:nvPr>
            <p:ph type="body" idx="1"/>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50" name="Google Shape;50;p7"/>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60"/>
              </a:spcBef>
              <a:spcAft>
                <a:spcPts val="0"/>
              </a:spcAft>
              <a:buClr>
                <a:schemeClr val="dk1"/>
              </a:buClr>
              <a:buSzPts val="1400"/>
              <a:buFont typeface="Open Sans"/>
              <a:buNone/>
              <a:defRPr sz="800" i="0" u="none" strike="noStrike" cap="none">
                <a:solidFill>
                  <a:schemeClr val="dk1"/>
                </a:solidFill>
                <a:latin typeface="Open Sans"/>
                <a:ea typeface="Open Sans"/>
                <a:cs typeface="Open Sans"/>
                <a:sym typeface="Open Sans"/>
              </a:defRPr>
            </a:lvl1pPr>
            <a:lvl2pPr marL="457200" marR="0" lvl="1"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L="914400" marR="0" lvl="2"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L="1371600" marR="0" lvl="3"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L="1828800" marR="0" lvl="4"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L="2286000" marR="0" lvl="5"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L="2743200" marR="0" lvl="6"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L="3200400" marR="0" lvl="7"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L="3657600" marR="0" lvl="8" indent="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1836215700"/>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matchingName="07_Chart">
  <p:cSld name="07_Chart">
    <p:spTree>
      <p:nvGrpSpPr>
        <p:cNvPr id="1" name="Shape 57"/>
        <p:cNvGrpSpPr/>
        <p:nvPr/>
      </p:nvGrpSpPr>
      <p:grpSpPr>
        <a:xfrm>
          <a:off x="0" y="0"/>
          <a:ext cx="0" cy="0"/>
          <a:chOff x="0" y="0"/>
          <a:chExt cx="0" cy="0"/>
        </a:xfrm>
      </p:grpSpPr>
      <p:sp>
        <p:nvSpPr>
          <p:cNvPr id="58" name="Google Shape;58;p9"/>
          <p:cNvSpPr txBox="1">
            <a:spLocks noGrp="1"/>
          </p:cNvSpPr>
          <p:nvPr>
            <p:ph type="body" idx="1"/>
          </p:nvPr>
        </p:nvSpPr>
        <p:spPr>
          <a:xfrm>
            <a:off x="594360" y="1351026"/>
            <a:ext cx="8168700" cy="1920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200" i="0" u="none" strike="noStrike" cap="none">
                <a:solidFill>
                  <a:schemeClr val="accent1"/>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59" name="Google Shape;59;p9"/>
          <p:cNvSpPr>
            <a:spLocks noGrp="1"/>
          </p:cNvSpPr>
          <p:nvPr>
            <p:ph type="chart" idx="2"/>
          </p:nvPr>
        </p:nvSpPr>
        <p:spPr>
          <a:xfrm>
            <a:off x="588818" y="1971485"/>
            <a:ext cx="8174100" cy="2429100"/>
          </a:xfrm>
          <a:prstGeom prst="rect">
            <a:avLst/>
          </a:prstGeom>
          <a:noFill/>
          <a:ln>
            <a:noFill/>
          </a:ln>
        </p:spPr>
        <p:txBody>
          <a:bodyPr spcFirstLastPara="1" wrap="square" lIns="91425" tIns="91425" rIns="91425" bIns="91425" anchor="t" anchorCtr="0">
            <a:noAutofit/>
          </a:bodyPr>
          <a:lstStyle>
            <a:lvl1pPr marL="230187" marR="0" lvl="0" indent="-230187" algn="l" rtl="0">
              <a:spcBef>
                <a:spcPts val="800"/>
              </a:spcBef>
              <a:spcAft>
                <a:spcPts val="0"/>
              </a:spcAft>
              <a:buClr>
                <a:schemeClr val="dk2"/>
              </a:buClr>
              <a:buSzPts val="1400"/>
              <a:buFont typeface="Open Sans"/>
              <a:buNone/>
              <a:defRPr sz="1800" i="0" u="none" strike="noStrike" cap="none">
                <a:solidFill>
                  <a:schemeClr val="dk2"/>
                </a:solidFill>
                <a:latin typeface="Open Sans"/>
                <a:ea typeface="Open Sans"/>
                <a:cs typeface="Open Sans"/>
                <a:sym typeface="Open Sans"/>
              </a:defRPr>
            </a:lvl1pPr>
            <a:lvl2pPr marL="461962" marR="0" lvl="1" indent="-246062"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681037" marR="0" lvl="2" indent="-236537"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912812" marR="0" lvl="3" indent="-227012"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1143000" marR="0" lvl="4" indent="-2286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514600" marR="0" lvl="5"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2971800" marR="0" lvl="6"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429000" marR="0" lvl="7"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3886200" marR="0" lvl="8" indent="-228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60" name="Google Shape;60;p9"/>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None/>
              <a:defRPr sz="3000" i="0" u="none" strike="noStrike" cap="none">
                <a:solidFill>
                  <a:schemeClr val="dk2"/>
                </a:solidFill>
              </a:defRPr>
            </a:lvl1pPr>
            <a:lvl2pPr marL="0" marR="0" lvl="1"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2pPr>
            <a:lvl3pPr marL="0" marR="0" lvl="2"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3pPr>
            <a:lvl4pPr marL="0" marR="0" lvl="3"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4pPr>
            <a:lvl5pPr marL="0" marR="0" lvl="4"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5pPr>
            <a:lvl6pPr marL="457200" marR="0" lvl="5"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6pPr>
            <a:lvl7pPr marL="914400" marR="0" lvl="6"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7pPr>
            <a:lvl8pPr marL="1371600" marR="0" lvl="7"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8pPr>
            <a:lvl9pPr marL="1828800" marR="0" lvl="8" indent="0" algn="l" rtl="0">
              <a:spcBef>
                <a:spcPts val="0"/>
              </a:spcBef>
              <a:spcAft>
                <a:spcPts val="0"/>
              </a:spcAft>
              <a:buSzPts val="1400"/>
              <a:buNone/>
              <a:defRPr sz="3000" b="0" i="0" u="none" strike="noStrike" cap="none">
                <a:solidFill>
                  <a:srgbClr val="009DD9"/>
                </a:solidFill>
                <a:latin typeface="Calibri"/>
                <a:ea typeface="Calibri"/>
                <a:cs typeface="Calibri"/>
                <a:sym typeface="Calibri"/>
              </a:defRPr>
            </a:lvl9pPr>
          </a:lstStyle>
          <a:p>
            <a:endParaRPr/>
          </a:p>
        </p:txBody>
      </p:sp>
      <p:sp>
        <p:nvSpPr>
          <p:cNvPr id="61" name="Google Shape;61;p9"/>
          <p:cNvSpPr txBox="1">
            <a:spLocks noGrp="1"/>
          </p:cNvSpPr>
          <p:nvPr>
            <p:ph type="body" idx="3"/>
          </p:nvPr>
        </p:nvSpPr>
        <p:spPr>
          <a:xfrm>
            <a:off x="594360" y="960120"/>
            <a:ext cx="8160300" cy="236400"/>
          </a:xfrm>
          <a:prstGeom prst="rect">
            <a:avLst/>
          </a:prstGeom>
          <a:noFill/>
          <a:ln>
            <a:noFill/>
          </a:ln>
        </p:spPr>
        <p:txBody>
          <a:bodyPr spcFirstLastPara="1" wrap="square" lIns="91425" tIns="91425" rIns="91425" bIns="91425" anchor="t" anchorCtr="0">
            <a:noAutofit/>
          </a:bodyPr>
          <a:lstStyle>
            <a:lvl1pPr marL="457200" marR="0" lvl="0" indent="-228600" algn="l" rtl="0">
              <a:spcBef>
                <a:spcPts val="0"/>
              </a:spcBef>
              <a:spcAft>
                <a:spcPts val="0"/>
              </a:spcAft>
              <a:buClr>
                <a:schemeClr val="dk2"/>
              </a:buClr>
              <a:buSzPts val="1800"/>
              <a:buNone/>
              <a:defRPr sz="1800" i="0" u="none" strike="noStrike" cap="none">
                <a:solidFill>
                  <a:schemeClr val="dk2"/>
                </a:solidFill>
              </a:defRPr>
            </a:lvl1pPr>
            <a:lvl2pPr marL="914400" marR="0" lvl="1" indent="-228600" algn="l" rtl="0">
              <a:spcBef>
                <a:spcPts val="800"/>
              </a:spcBef>
              <a:spcAft>
                <a:spcPts val="0"/>
              </a:spcAft>
              <a:buClr>
                <a:schemeClr val="dk2"/>
              </a:buClr>
              <a:buSzPts val="1600"/>
              <a:buNone/>
              <a:defRPr sz="2000" b="1" i="0" u="none" strike="noStrike" cap="none">
                <a:solidFill>
                  <a:schemeClr val="dk2"/>
                </a:solidFill>
              </a:defRPr>
            </a:lvl2pPr>
            <a:lvl3pPr marL="1371600" marR="0" lvl="2" indent="-228600" algn="l" rtl="0">
              <a:spcBef>
                <a:spcPts val="700"/>
              </a:spcBef>
              <a:spcAft>
                <a:spcPts val="0"/>
              </a:spcAft>
              <a:buClr>
                <a:schemeClr val="dk2"/>
              </a:buClr>
              <a:buSzPts val="1400"/>
              <a:buNone/>
              <a:defRPr sz="1800" b="1" i="0" u="none" strike="noStrike" cap="none">
                <a:solidFill>
                  <a:schemeClr val="dk2"/>
                </a:solidFill>
              </a:defRPr>
            </a:lvl3pPr>
            <a:lvl4pPr marL="1828800" marR="0" lvl="3" indent="-228600" algn="l" rtl="0">
              <a:spcBef>
                <a:spcPts val="700"/>
              </a:spcBef>
              <a:spcAft>
                <a:spcPts val="0"/>
              </a:spcAft>
              <a:buClr>
                <a:schemeClr val="dk2"/>
              </a:buClr>
              <a:buSzPts val="1200"/>
              <a:buNone/>
              <a:defRPr sz="1600" b="1" i="0" u="none" strike="noStrike" cap="none">
                <a:solidFill>
                  <a:schemeClr val="dk2"/>
                </a:solidFill>
              </a:defRPr>
            </a:lvl4pPr>
            <a:lvl5pPr marL="2286000" marR="0" lvl="4" indent="-228600" algn="l" rtl="0">
              <a:spcBef>
                <a:spcPts val="700"/>
              </a:spcBef>
              <a:spcAft>
                <a:spcPts val="0"/>
              </a:spcAft>
              <a:buClr>
                <a:schemeClr val="dk2"/>
              </a:buClr>
              <a:buSzPts val="1200"/>
              <a:buNone/>
              <a:defRPr sz="1600" b="1" i="0" u="none" strike="noStrike" cap="none">
                <a:solidFill>
                  <a:schemeClr val="dk2"/>
                </a:solidFill>
              </a:defRPr>
            </a:lvl5pPr>
            <a:lvl6pPr marL="2743200" marR="0" lvl="5" indent="-228600" algn="l" rtl="0">
              <a:spcBef>
                <a:spcPts val="320"/>
              </a:spcBef>
              <a:spcAft>
                <a:spcPts val="0"/>
              </a:spcAft>
              <a:buClr>
                <a:schemeClr val="dk1"/>
              </a:buClr>
              <a:buSzPts val="2000"/>
              <a:buNone/>
              <a:defRPr sz="1600" b="1" i="0" u="none" strike="noStrike" cap="none">
                <a:solidFill>
                  <a:schemeClr val="dk1"/>
                </a:solidFill>
              </a:defRPr>
            </a:lvl6pPr>
            <a:lvl7pPr marL="3200400" marR="0" lvl="6" indent="-228600" algn="l" rtl="0">
              <a:spcBef>
                <a:spcPts val="320"/>
              </a:spcBef>
              <a:spcAft>
                <a:spcPts val="0"/>
              </a:spcAft>
              <a:buClr>
                <a:schemeClr val="dk1"/>
              </a:buClr>
              <a:buSzPts val="2000"/>
              <a:buNone/>
              <a:defRPr sz="1600" b="1" i="0" u="none" strike="noStrike" cap="none">
                <a:solidFill>
                  <a:schemeClr val="dk1"/>
                </a:solidFill>
              </a:defRPr>
            </a:lvl7pPr>
            <a:lvl8pPr marL="3657600" marR="0" lvl="7" indent="-228600" algn="l" rtl="0">
              <a:spcBef>
                <a:spcPts val="320"/>
              </a:spcBef>
              <a:spcAft>
                <a:spcPts val="0"/>
              </a:spcAft>
              <a:buClr>
                <a:schemeClr val="dk1"/>
              </a:buClr>
              <a:buSzPts val="2000"/>
              <a:buNone/>
              <a:defRPr sz="1600" b="1" i="0" u="none" strike="noStrike" cap="none">
                <a:solidFill>
                  <a:schemeClr val="dk1"/>
                </a:solidFill>
              </a:defRPr>
            </a:lvl8pPr>
            <a:lvl9pPr marL="4114800" marR="0" lvl="8" indent="-228600" algn="l" rtl="0">
              <a:spcBef>
                <a:spcPts val="320"/>
              </a:spcBef>
              <a:spcAft>
                <a:spcPts val="0"/>
              </a:spcAft>
              <a:buClr>
                <a:schemeClr val="dk1"/>
              </a:buClr>
              <a:buSzPts val="2000"/>
              <a:buNone/>
              <a:defRPr sz="1600" b="1" i="0" u="none" strike="noStrike" cap="none">
                <a:solidFill>
                  <a:schemeClr val="dk1"/>
                </a:solidFill>
              </a:defRPr>
            </a:lvl9pPr>
          </a:lstStyle>
          <a:p>
            <a:endParaRPr/>
          </a:p>
        </p:txBody>
      </p:sp>
      <p:sp>
        <p:nvSpPr>
          <p:cNvPr id="62" name="Google Shape;62;p9"/>
          <p:cNvSpPr txBox="1">
            <a:spLocks noGrp="1"/>
          </p:cNvSpPr>
          <p:nvPr>
            <p:ph type="ftr" idx="11"/>
          </p:nvPr>
        </p:nvSpPr>
        <p:spPr>
          <a:xfrm>
            <a:off x="609600" y="4571999"/>
            <a:ext cx="8153400" cy="471300"/>
          </a:xfrm>
          <a:prstGeom prst="rect">
            <a:avLst/>
          </a:prstGeom>
          <a:noFill/>
          <a:ln>
            <a:noFill/>
          </a:ln>
        </p:spPr>
        <p:txBody>
          <a:bodyPr spcFirstLastPara="1" wrap="square" lIns="91425" tIns="91425" rIns="91425" bIns="91425" anchor="t" anchorCtr="0">
            <a:noAutofit/>
          </a:bodyPr>
          <a:lstStyle>
            <a:lvl1pPr marL="0" marR="0" lvl="0" indent="0" algn="l" rtl="0">
              <a:spcBef>
                <a:spcPts val="60"/>
              </a:spcBef>
              <a:spcAft>
                <a:spcPts val="0"/>
              </a:spcAft>
              <a:buSzPts val="1400"/>
              <a:buFont typeface="Open Sans"/>
              <a:buNone/>
              <a:defRPr sz="800">
                <a:solidFill>
                  <a:schemeClr val="dk1"/>
                </a:solidFill>
                <a:latin typeface="Open Sans"/>
                <a:ea typeface="Open Sans"/>
                <a:cs typeface="Open Sans"/>
                <a:sym typeface="Open Sans"/>
              </a:defRPr>
            </a:lvl1pPr>
            <a:lvl2pPr marL="457200" marR="0" lvl="1"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2pPr>
            <a:lvl3pPr marL="914400" marR="0" lvl="2"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3pPr>
            <a:lvl4pPr marL="1371600" marR="0" lvl="3"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4pPr>
            <a:lvl5pPr marL="1828800" marR="0" lvl="4"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5pPr>
            <a:lvl6pPr marL="2286000" marR="0" lvl="5"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6pPr>
            <a:lvl7pPr marL="2743200" marR="0" lvl="6"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7pPr>
            <a:lvl8pPr marL="3200400" marR="0" lvl="7"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8pPr>
            <a:lvl9pPr marL="3657600" marR="0" lvl="8" indent="0" algn="l" rtl="0">
              <a:spcBef>
                <a:spcPts val="0"/>
              </a:spcBef>
              <a:spcAft>
                <a:spcPts val="0"/>
              </a:spcAft>
              <a:buSzPts val="1400"/>
              <a:buFont typeface="Open Sans"/>
              <a:buNone/>
              <a:defRPr sz="1800" i="0" u="none" strike="noStrike" cap="none">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182525922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9"/>
        <p:cNvGrpSpPr/>
        <p:nvPr/>
      </p:nvGrpSpPr>
      <p:grpSpPr>
        <a:xfrm>
          <a:off x="0" y="0"/>
          <a:ext cx="0" cy="0"/>
          <a:chOff x="0" y="0"/>
          <a:chExt cx="0" cy="0"/>
        </a:xfrm>
      </p:grpSpPr>
      <p:sp>
        <p:nvSpPr>
          <p:cNvPr id="560" name="Google Shape;560;p94"/>
          <p:cNvSpPr txBox="1">
            <a:spLocks noGrp="1"/>
          </p:cNvSpPr>
          <p:nvPr>
            <p:ph type="title"/>
          </p:nvPr>
        </p:nvSpPr>
        <p:spPr>
          <a:xfrm>
            <a:off x="590550" y="205978"/>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61" name="Google Shape;561;p94"/>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101539858"/>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555"/>
        <p:cNvGrpSpPr/>
        <p:nvPr/>
      </p:nvGrpSpPr>
      <p:grpSpPr>
        <a:xfrm>
          <a:off x="0" y="0"/>
          <a:ext cx="0" cy="0"/>
          <a:chOff x="0" y="0"/>
          <a:chExt cx="0" cy="0"/>
        </a:xfrm>
      </p:grpSpPr>
      <p:sp>
        <p:nvSpPr>
          <p:cNvPr id="556" name="Google Shape;556;p93"/>
          <p:cNvSpPr txBox="1">
            <a:spLocks noGrp="1"/>
          </p:cNvSpPr>
          <p:nvPr>
            <p:ph type="title"/>
          </p:nvPr>
        </p:nvSpPr>
        <p:spPr>
          <a:xfrm>
            <a:off x="590550" y="205978"/>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57" name="Google Shape;557;p93"/>
          <p:cNvSpPr txBox="1">
            <a:spLocks noGrp="1"/>
          </p:cNvSpPr>
          <p:nvPr>
            <p:ph type="body" idx="1"/>
          </p:nvPr>
        </p:nvSpPr>
        <p:spPr>
          <a:xfrm>
            <a:off x="582613" y="844153"/>
            <a:ext cx="8191500" cy="3320700"/>
          </a:xfrm>
          <a:prstGeom prst="rect">
            <a:avLst/>
          </a:prstGeom>
          <a:noFill/>
          <a:ln>
            <a:noFill/>
          </a:ln>
        </p:spPr>
        <p:txBody>
          <a:bodyPr spcFirstLastPara="1" wrap="square" lIns="91425" tIns="45700" rIns="91425" bIns="45700" anchor="t" anchorCtr="0">
            <a:noAutofit/>
          </a:bodyPr>
          <a:lstStyle>
            <a:lvl1pPr marL="457200" lvl="0" indent="-342900" algn="l" rtl="0">
              <a:lnSpc>
                <a:spcPct val="100000"/>
              </a:lnSpc>
              <a:spcBef>
                <a:spcPts val="0"/>
              </a:spcBef>
              <a:spcAft>
                <a:spcPts val="0"/>
              </a:spcAft>
              <a:buSzPts val="1800"/>
              <a:buChar char="•"/>
              <a:defRPr/>
            </a:lvl1pPr>
            <a:lvl2pPr marL="914400" lvl="1" indent="-342900" algn="l" rtl="0">
              <a:lnSpc>
                <a:spcPct val="100000"/>
              </a:lnSpc>
              <a:spcBef>
                <a:spcPts val="0"/>
              </a:spcBef>
              <a:spcAft>
                <a:spcPts val="0"/>
              </a:spcAft>
              <a:buSzPts val="1800"/>
              <a:buChar char="–"/>
              <a:defRPr/>
            </a:lvl2pPr>
            <a:lvl3pPr marL="1371600" lvl="2" indent="-342900" algn="l" rtl="0">
              <a:lnSpc>
                <a:spcPct val="100000"/>
              </a:lnSpc>
              <a:spcBef>
                <a:spcPts val="0"/>
              </a:spcBef>
              <a:spcAft>
                <a:spcPts val="0"/>
              </a:spcAft>
              <a:buSzPts val="1800"/>
              <a:buChar char="–"/>
              <a:defRPr/>
            </a:lvl3pPr>
            <a:lvl4pPr marL="1828800" lvl="3" indent="-342900" algn="l" rtl="0">
              <a:lnSpc>
                <a:spcPct val="100000"/>
              </a:lnSpc>
              <a:spcBef>
                <a:spcPts val="0"/>
              </a:spcBef>
              <a:spcAft>
                <a:spcPts val="0"/>
              </a:spcAft>
              <a:buSzPts val="1800"/>
              <a:buChar char="–"/>
              <a:defRPr/>
            </a:lvl4pPr>
            <a:lvl5pPr marL="2286000" lvl="4" indent="-342900" algn="l" rtl="0">
              <a:lnSpc>
                <a:spcPct val="100000"/>
              </a:lnSpc>
              <a:spcBef>
                <a:spcPts val="0"/>
              </a:spcBef>
              <a:spcAft>
                <a:spcPts val="0"/>
              </a:spcAft>
              <a:buSzPts val="1800"/>
              <a:buChar char="•"/>
              <a:defRPr/>
            </a:lvl5pPr>
            <a:lvl6pPr marL="2743200" lvl="5" indent="-342900" algn="l" rtl="0">
              <a:lnSpc>
                <a:spcPct val="100000"/>
              </a:lnSpc>
              <a:spcBef>
                <a:spcPts val="0"/>
              </a:spcBef>
              <a:spcAft>
                <a:spcPts val="0"/>
              </a:spcAft>
              <a:buSzPts val="1800"/>
              <a:buChar char="•"/>
              <a:defRPr/>
            </a:lvl6pPr>
            <a:lvl7pPr marL="3200400" lvl="6" indent="-342900" algn="l" rtl="0">
              <a:lnSpc>
                <a:spcPct val="100000"/>
              </a:lnSpc>
              <a:spcBef>
                <a:spcPts val="0"/>
              </a:spcBef>
              <a:spcAft>
                <a:spcPts val="0"/>
              </a:spcAft>
              <a:buSzPts val="1800"/>
              <a:buChar char="•"/>
              <a:defRPr/>
            </a:lvl7pPr>
            <a:lvl8pPr marL="3657600" lvl="7" indent="-342900" algn="l" rtl="0">
              <a:lnSpc>
                <a:spcPct val="100000"/>
              </a:lnSpc>
              <a:spcBef>
                <a:spcPts val="0"/>
              </a:spcBef>
              <a:spcAft>
                <a:spcPts val="0"/>
              </a:spcAft>
              <a:buSzPts val="1800"/>
              <a:buChar char="•"/>
              <a:defRPr/>
            </a:lvl8pPr>
            <a:lvl9pPr marL="4114800" lvl="8" indent="-342900" algn="l" rtl="0">
              <a:lnSpc>
                <a:spcPct val="100000"/>
              </a:lnSpc>
              <a:spcBef>
                <a:spcPts val="0"/>
              </a:spcBef>
              <a:spcAft>
                <a:spcPts val="0"/>
              </a:spcAft>
              <a:buSzPts val="1800"/>
              <a:buChar char="•"/>
              <a:defRPr/>
            </a:lvl9pPr>
          </a:lstStyle>
          <a:p>
            <a:endParaRPr/>
          </a:p>
        </p:txBody>
      </p:sp>
      <p:sp>
        <p:nvSpPr>
          <p:cNvPr id="558" name="Google Shape;558;p93"/>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207213908"/>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573"/>
        <p:cNvGrpSpPr/>
        <p:nvPr/>
      </p:nvGrpSpPr>
      <p:grpSpPr>
        <a:xfrm>
          <a:off x="0" y="0"/>
          <a:ext cx="0" cy="0"/>
          <a:chOff x="0" y="0"/>
          <a:chExt cx="0" cy="0"/>
        </a:xfrm>
      </p:grpSpPr>
      <p:sp>
        <p:nvSpPr>
          <p:cNvPr id="574" name="Google Shape;574;p98"/>
          <p:cNvSpPr txBox="1">
            <a:spLocks noGrp="1"/>
          </p:cNvSpPr>
          <p:nvPr>
            <p:ph type="title"/>
          </p:nvPr>
        </p:nvSpPr>
        <p:spPr>
          <a:xfrm>
            <a:off x="590550" y="205979"/>
            <a:ext cx="7918500" cy="451500"/>
          </a:xfrm>
          <a:prstGeom prst="rect">
            <a:avLst/>
          </a:prstGeom>
          <a:noFill/>
          <a:ln>
            <a:noFill/>
          </a:ln>
        </p:spPr>
        <p:txBody>
          <a:bodyPr spcFirstLastPara="1" wrap="square" lIns="91425" tIns="45700" rIns="91425" bIns="45700" anchor="t" anchorCtr="0">
            <a:noAutofit/>
          </a:bodyPr>
          <a:lstStyle>
            <a:lvl1pPr lvl="0" algn="l" rtl="0">
              <a:lnSpc>
                <a:spcPct val="95000"/>
              </a:lnSpc>
              <a:spcBef>
                <a:spcPts val="0"/>
              </a:spcBef>
              <a:spcAft>
                <a:spcPts val="0"/>
              </a:spcAft>
              <a:buSzPts val="1400"/>
              <a:buNone/>
              <a:defRPr/>
            </a:lvl1pPr>
            <a:lvl2pPr lvl="1" algn="l" rtl="0">
              <a:lnSpc>
                <a:spcPct val="95000"/>
              </a:lnSpc>
              <a:spcBef>
                <a:spcPts val="0"/>
              </a:spcBef>
              <a:spcAft>
                <a:spcPts val="0"/>
              </a:spcAft>
              <a:buSzPts val="1400"/>
              <a:buNone/>
              <a:defRPr/>
            </a:lvl2pPr>
            <a:lvl3pPr lvl="2" algn="l" rtl="0">
              <a:lnSpc>
                <a:spcPct val="95000"/>
              </a:lnSpc>
              <a:spcBef>
                <a:spcPts val="0"/>
              </a:spcBef>
              <a:spcAft>
                <a:spcPts val="0"/>
              </a:spcAft>
              <a:buSzPts val="1400"/>
              <a:buNone/>
              <a:defRPr/>
            </a:lvl3pPr>
            <a:lvl4pPr lvl="3" algn="l" rtl="0">
              <a:lnSpc>
                <a:spcPct val="95000"/>
              </a:lnSpc>
              <a:spcBef>
                <a:spcPts val="0"/>
              </a:spcBef>
              <a:spcAft>
                <a:spcPts val="0"/>
              </a:spcAft>
              <a:buSzPts val="1400"/>
              <a:buNone/>
              <a:defRPr/>
            </a:lvl4pPr>
            <a:lvl5pPr lvl="4" algn="l" rtl="0">
              <a:lnSpc>
                <a:spcPct val="95000"/>
              </a:lnSpc>
              <a:spcBef>
                <a:spcPts val="0"/>
              </a:spcBef>
              <a:spcAft>
                <a:spcPts val="0"/>
              </a:spcAft>
              <a:buSzPts val="1400"/>
              <a:buNone/>
              <a:defRPr/>
            </a:lvl5pPr>
            <a:lvl6pPr lvl="5" algn="l" rtl="0">
              <a:lnSpc>
                <a:spcPct val="95000"/>
              </a:lnSpc>
              <a:spcBef>
                <a:spcPts val="0"/>
              </a:spcBef>
              <a:spcAft>
                <a:spcPts val="0"/>
              </a:spcAft>
              <a:buSzPts val="1400"/>
              <a:buNone/>
              <a:defRPr/>
            </a:lvl6pPr>
            <a:lvl7pPr lvl="6" algn="l" rtl="0">
              <a:lnSpc>
                <a:spcPct val="95000"/>
              </a:lnSpc>
              <a:spcBef>
                <a:spcPts val="0"/>
              </a:spcBef>
              <a:spcAft>
                <a:spcPts val="0"/>
              </a:spcAft>
              <a:buSzPts val="1400"/>
              <a:buNone/>
              <a:defRPr/>
            </a:lvl7pPr>
            <a:lvl8pPr lvl="7" algn="l" rtl="0">
              <a:lnSpc>
                <a:spcPct val="95000"/>
              </a:lnSpc>
              <a:spcBef>
                <a:spcPts val="0"/>
              </a:spcBef>
              <a:spcAft>
                <a:spcPts val="0"/>
              </a:spcAft>
              <a:buSzPts val="1400"/>
              <a:buNone/>
              <a:defRPr/>
            </a:lvl8pPr>
            <a:lvl9pPr lvl="8" algn="l" rtl="0">
              <a:lnSpc>
                <a:spcPct val="95000"/>
              </a:lnSpc>
              <a:spcBef>
                <a:spcPts val="0"/>
              </a:spcBef>
              <a:spcAft>
                <a:spcPts val="0"/>
              </a:spcAft>
              <a:buSzPts val="1400"/>
              <a:buNone/>
              <a:defRPr/>
            </a:lvl9pPr>
          </a:lstStyle>
          <a:p>
            <a:endParaRPr/>
          </a:p>
        </p:txBody>
      </p:sp>
      <p:sp>
        <p:nvSpPr>
          <p:cNvPr id="575" name="Google Shape;575;p98"/>
          <p:cNvSpPr txBox="1">
            <a:spLocks noGrp="1"/>
          </p:cNvSpPr>
          <p:nvPr>
            <p:ph type="body" idx="1"/>
          </p:nvPr>
        </p:nvSpPr>
        <p:spPr>
          <a:xfrm>
            <a:off x="582613" y="844156"/>
            <a:ext cx="4019400" cy="3320700"/>
          </a:xfrm>
          <a:prstGeom prst="rect">
            <a:avLst/>
          </a:prstGeom>
          <a:noFill/>
          <a:ln>
            <a:noFill/>
          </a:ln>
        </p:spPr>
        <p:txBody>
          <a:bodyPr spcFirstLastPara="1" wrap="square" lIns="91425" tIns="45700" rIns="91425" bIns="45700" anchor="t" anchorCtr="0">
            <a:noAutofit/>
          </a:bodyPr>
          <a:lstStyle>
            <a:lvl1pPr marL="457200" lvl="0" indent="-406400" algn="l" rtl="0">
              <a:lnSpc>
                <a:spcPct val="100000"/>
              </a:lnSpc>
              <a:spcBef>
                <a:spcPts val="0"/>
              </a:spcBef>
              <a:spcAft>
                <a:spcPts val="0"/>
              </a:spcAft>
              <a:buSzPts val="2800"/>
              <a:buChar char="•"/>
              <a:defRPr sz="2800"/>
            </a:lvl1pPr>
            <a:lvl2pPr marL="914400" lvl="1" indent="-381000" algn="l" rtl="0">
              <a:lnSpc>
                <a:spcPct val="100000"/>
              </a:lnSpc>
              <a:spcBef>
                <a:spcPts val="0"/>
              </a:spcBef>
              <a:spcAft>
                <a:spcPts val="0"/>
              </a:spcAft>
              <a:buSzPts val="2400"/>
              <a:buChar char="–"/>
              <a:defRPr sz="2400"/>
            </a:lvl2pPr>
            <a:lvl3pPr marL="1371600" lvl="2" indent="-355600" algn="l" rtl="0">
              <a:lnSpc>
                <a:spcPct val="100000"/>
              </a:lnSpc>
              <a:spcBef>
                <a:spcPts val="0"/>
              </a:spcBef>
              <a:spcAft>
                <a:spcPts val="0"/>
              </a:spcAft>
              <a:buSzPts val="2000"/>
              <a:buChar char="–"/>
              <a:defRPr sz="20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76" name="Google Shape;576;p98"/>
          <p:cNvSpPr txBox="1">
            <a:spLocks noGrp="1"/>
          </p:cNvSpPr>
          <p:nvPr>
            <p:ph type="body" idx="2"/>
          </p:nvPr>
        </p:nvSpPr>
        <p:spPr>
          <a:xfrm>
            <a:off x="4754563" y="844156"/>
            <a:ext cx="4019400" cy="3320700"/>
          </a:xfrm>
          <a:prstGeom prst="rect">
            <a:avLst/>
          </a:prstGeom>
          <a:noFill/>
          <a:ln>
            <a:noFill/>
          </a:ln>
        </p:spPr>
        <p:txBody>
          <a:bodyPr spcFirstLastPara="1" wrap="square" lIns="91425" tIns="45700" rIns="91425" bIns="45700" anchor="t" anchorCtr="0">
            <a:noAutofit/>
          </a:bodyPr>
          <a:lstStyle>
            <a:lvl1pPr marL="457200" lvl="0" indent="-406400" algn="l" rtl="0">
              <a:lnSpc>
                <a:spcPct val="100000"/>
              </a:lnSpc>
              <a:spcBef>
                <a:spcPts val="0"/>
              </a:spcBef>
              <a:spcAft>
                <a:spcPts val="0"/>
              </a:spcAft>
              <a:buSzPts val="2800"/>
              <a:buChar char="•"/>
              <a:defRPr sz="2800"/>
            </a:lvl1pPr>
            <a:lvl2pPr marL="914400" lvl="1" indent="-381000" algn="l" rtl="0">
              <a:lnSpc>
                <a:spcPct val="100000"/>
              </a:lnSpc>
              <a:spcBef>
                <a:spcPts val="0"/>
              </a:spcBef>
              <a:spcAft>
                <a:spcPts val="0"/>
              </a:spcAft>
              <a:buSzPts val="2400"/>
              <a:buChar char="–"/>
              <a:defRPr sz="2400"/>
            </a:lvl2pPr>
            <a:lvl3pPr marL="1371600" lvl="2" indent="-355600" algn="l" rtl="0">
              <a:lnSpc>
                <a:spcPct val="100000"/>
              </a:lnSpc>
              <a:spcBef>
                <a:spcPts val="0"/>
              </a:spcBef>
              <a:spcAft>
                <a:spcPts val="0"/>
              </a:spcAft>
              <a:buSzPts val="2000"/>
              <a:buChar char="–"/>
              <a:defRPr sz="2000"/>
            </a:lvl3pPr>
            <a:lvl4pPr marL="1828800" lvl="3" indent="-342900" algn="l" rtl="0">
              <a:lnSpc>
                <a:spcPct val="100000"/>
              </a:lnSpc>
              <a:spcBef>
                <a:spcPts val="0"/>
              </a:spcBef>
              <a:spcAft>
                <a:spcPts val="0"/>
              </a:spcAft>
              <a:buSzPts val="1800"/>
              <a:buChar char="–"/>
              <a:defRPr sz="1800"/>
            </a:lvl4pPr>
            <a:lvl5pPr marL="2286000" lvl="4" indent="-342900" algn="l" rtl="0">
              <a:lnSpc>
                <a:spcPct val="100000"/>
              </a:lnSpc>
              <a:spcBef>
                <a:spcPts val="0"/>
              </a:spcBef>
              <a:spcAft>
                <a:spcPts val="0"/>
              </a:spcAft>
              <a:buSzPts val="1800"/>
              <a:buChar char="•"/>
              <a:defRPr sz="1800"/>
            </a:lvl5pPr>
            <a:lvl6pPr marL="2743200" lvl="5" indent="-342900" algn="l" rtl="0">
              <a:lnSpc>
                <a:spcPct val="100000"/>
              </a:lnSpc>
              <a:spcBef>
                <a:spcPts val="0"/>
              </a:spcBef>
              <a:spcAft>
                <a:spcPts val="0"/>
              </a:spcAft>
              <a:buSzPts val="1800"/>
              <a:buChar char="•"/>
              <a:defRPr sz="1800"/>
            </a:lvl6pPr>
            <a:lvl7pPr marL="3200400" lvl="6" indent="-342900" algn="l" rtl="0">
              <a:lnSpc>
                <a:spcPct val="100000"/>
              </a:lnSpc>
              <a:spcBef>
                <a:spcPts val="0"/>
              </a:spcBef>
              <a:spcAft>
                <a:spcPts val="0"/>
              </a:spcAft>
              <a:buSzPts val="1800"/>
              <a:buChar char="•"/>
              <a:defRPr sz="1800"/>
            </a:lvl7pPr>
            <a:lvl8pPr marL="3657600" lvl="7" indent="-342900" algn="l" rtl="0">
              <a:lnSpc>
                <a:spcPct val="100000"/>
              </a:lnSpc>
              <a:spcBef>
                <a:spcPts val="0"/>
              </a:spcBef>
              <a:spcAft>
                <a:spcPts val="0"/>
              </a:spcAft>
              <a:buSzPts val="1800"/>
              <a:buChar char="•"/>
              <a:defRPr sz="1800"/>
            </a:lvl8pPr>
            <a:lvl9pPr marL="4114800" lvl="8" indent="-342900" algn="l" rtl="0">
              <a:lnSpc>
                <a:spcPct val="100000"/>
              </a:lnSpc>
              <a:spcBef>
                <a:spcPts val="0"/>
              </a:spcBef>
              <a:spcAft>
                <a:spcPts val="0"/>
              </a:spcAft>
              <a:buSzPts val="1800"/>
              <a:buChar char="•"/>
              <a:defRPr sz="1800"/>
            </a:lvl9pPr>
          </a:lstStyle>
          <a:p>
            <a:endParaRPr/>
          </a:p>
        </p:txBody>
      </p:sp>
      <p:sp>
        <p:nvSpPr>
          <p:cNvPr id="577" name="Google Shape;577;p98"/>
          <p:cNvSpPr txBox="1">
            <a:spLocks noGrp="1"/>
          </p:cNvSpPr>
          <p:nvPr>
            <p:ph type="ftr" idx="11"/>
          </p:nvPr>
        </p:nvSpPr>
        <p:spPr>
          <a:xfrm>
            <a:off x="3987804"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596702548"/>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2"/>
        <p:cNvGrpSpPr/>
        <p:nvPr/>
      </p:nvGrpSpPr>
      <p:grpSpPr>
        <a:xfrm>
          <a:off x="0" y="0"/>
          <a:ext cx="0" cy="0"/>
          <a:chOff x="0" y="0"/>
          <a:chExt cx="0" cy="0"/>
        </a:xfrm>
      </p:grpSpPr>
      <p:sp>
        <p:nvSpPr>
          <p:cNvPr id="563" name="Google Shape;563;p95"/>
          <p:cNvSpPr txBox="1">
            <a:spLocks noGrp="1"/>
          </p:cNvSpPr>
          <p:nvPr>
            <p:ph type="ftr" idx="11"/>
          </p:nvPr>
        </p:nvSpPr>
        <p:spPr>
          <a:xfrm>
            <a:off x="3987800" y="4743450"/>
            <a:ext cx="4962600" cy="228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2787831385"/>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p:cSld name="niq-gfk_cover_white">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5F151AF7-737A-1648-9BC4-B9D881179FB7}"/>
              </a:ext>
            </a:extLst>
          </p:cNvPr>
          <p:cNvSpPr>
            <a:spLocks noGrp="1"/>
          </p:cNvSpPr>
          <p:nvPr>
            <p:ph type="ctrTitle" hasCustomPrompt="1"/>
          </p:nvPr>
        </p:nvSpPr>
        <p:spPr>
          <a:xfrm>
            <a:off x="216418" y="1253516"/>
            <a:ext cx="6481562" cy="1790700"/>
          </a:xfrm>
          <a:prstGeom prst="rect">
            <a:avLst/>
          </a:prstGeom>
        </p:spPr>
        <p:txBody>
          <a:bodyPr anchor="b">
            <a:noAutofit/>
          </a:bodyPr>
          <a:lstStyle>
            <a:lvl1pPr algn="l">
              <a:defRPr sz="4050">
                <a:solidFill>
                  <a:schemeClr val="tx1"/>
                </a:solidFill>
              </a:defRPr>
            </a:lvl1pPr>
          </a:lstStyle>
          <a:p>
            <a:r>
              <a:rPr lang="en-US"/>
              <a:t>Insert your presentation title here maximum of three lines</a:t>
            </a:r>
          </a:p>
        </p:txBody>
      </p:sp>
      <p:sp>
        <p:nvSpPr>
          <p:cNvPr id="3" name="Subtitle 2">
            <a:extLst>
              <a:ext uri="{FF2B5EF4-FFF2-40B4-BE49-F238E27FC236}">
                <a16:creationId xmlns:a16="http://schemas.microsoft.com/office/drawing/2014/main" id="{D952C9CE-AA03-A24B-BBD9-8EA2482DC59D}"/>
              </a:ext>
            </a:extLst>
          </p:cNvPr>
          <p:cNvSpPr>
            <a:spLocks noGrp="1"/>
          </p:cNvSpPr>
          <p:nvPr>
            <p:ph type="subTitle" idx="1"/>
          </p:nvPr>
        </p:nvSpPr>
        <p:spPr>
          <a:xfrm>
            <a:off x="216418" y="3113272"/>
            <a:ext cx="6481562" cy="628412"/>
          </a:xfrm>
        </p:spPr>
        <p:txBody>
          <a:bodyPr>
            <a:noAutofit/>
          </a:bodyPr>
          <a:lstStyle>
            <a:lvl1pPr marL="0" indent="0" algn="l">
              <a:spcBef>
                <a:spcPts val="0"/>
              </a:spcBef>
              <a:spcAft>
                <a:spcPts val="0"/>
              </a:spcAft>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cxnSp>
        <p:nvCxnSpPr>
          <p:cNvPr id="9" name="Straight Connector 8">
            <a:extLst>
              <a:ext uri="{FF2B5EF4-FFF2-40B4-BE49-F238E27FC236}">
                <a16:creationId xmlns:a16="http://schemas.microsoft.com/office/drawing/2014/main" id="{429C2072-EE2B-A064-5CA2-6097546F935A}"/>
              </a:ext>
            </a:extLst>
          </p:cNvPr>
          <p:cNvCxnSpPr>
            <a:cxnSpLocks/>
          </p:cNvCxnSpPr>
          <p:nvPr/>
        </p:nvCxnSpPr>
        <p:spPr>
          <a:xfrm>
            <a:off x="209199" y="1023564"/>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 Placeholder 17">
            <a:extLst>
              <a:ext uri="{FF2B5EF4-FFF2-40B4-BE49-F238E27FC236}">
                <a16:creationId xmlns:a16="http://schemas.microsoft.com/office/drawing/2014/main" id="{D70F9698-6E59-9274-EC44-4917B7B92AAA}"/>
              </a:ext>
            </a:extLst>
          </p:cNvPr>
          <p:cNvSpPr>
            <a:spLocks noGrp="1"/>
          </p:cNvSpPr>
          <p:nvPr>
            <p:ph type="body" sz="quarter" idx="12" hasCustomPrompt="1"/>
          </p:nvPr>
        </p:nvSpPr>
        <p:spPr>
          <a:xfrm>
            <a:off x="216419" y="4583843"/>
            <a:ext cx="6481562" cy="258289"/>
          </a:xfrm>
        </p:spPr>
        <p:txBody>
          <a:bodyPr tIns="0" bIns="0">
            <a:noAutofit/>
          </a:bodyPr>
          <a:lstStyle>
            <a:lvl1pPr marL="0" indent="0">
              <a:lnSpc>
                <a:spcPct val="100000"/>
              </a:lnSpc>
              <a:spcBef>
                <a:spcPts val="0"/>
              </a:spcBef>
              <a:spcAft>
                <a:spcPts val="0"/>
              </a:spcAft>
              <a:buNone/>
              <a:defRPr sz="900" b="0">
                <a:solidFill>
                  <a:schemeClr val="tx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Date</a:t>
            </a:r>
          </a:p>
        </p:txBody>
      </p:sp>
      <p:sp>
        <p:nvSpPr>
          <p:cNvPr id="7" name="TextBox 6">
            <a:extLst>
              <a:ext uri="{FF2B5EF4-FFF2-40B4-BE49-F238E27FC236}">
                <a16:creationId xmlns:a16="http://schemas.microsoft.com/office/drawing/2014/main" id="{597486B2-E0C5-0362-6797-2154FB2AC31F}"/>
              </a:ext>
            </a:extLst>
          </p:cNvPr>
          <p:cNvSpPr txBox="1"/>
          <p:nvPr/>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6" name="Picture 5">
            <a:extLst>
              <a:ext uri="{FF2B5EF4-FFF2-40B4-BE49-F238E27FC236}">
                <a16:creationId xmlns:a16="http://schemas.microsoft.com/office/drawing/2014/main" id="{863B666E-2345-2688-191A-D14AA1EE6996}"/>
              </a:ext>
            </a:extLst>
          </p:cNvPr>
          <p:cNvPicPr>
            <a:picLocks noChangeAspect="1"/>
          </p:cNvPicPr>
          <p:nvPr/>
        </p:nvPicPr>
        <p:blipFill>
          <a:blip r:embed="rId2"/>
          <a:srcRect/>
          <a:stretch/>
        </p:blipFill>
        <p:spPr>
          <a:xfrm>
            <a:off x="236221" y="194803"/>
            <a:ext cx="1756761" cy="638048"/>
          </a:xfrm>
          <a:prstGeom prst="rect">
            <a:avLst/>
          </a:prstGeom>
        </p:spPr>
      </p:pic>
    </p:spTree>
    <p:extLst>
      <p:ext uri="{BB962C8B-B14F-4D97-AF65-F5344CB8AC3E}">
        <p14:creationId xmlns:p14="http://schemas.microsoft.com/office/powerpoint/2010/main" val="2970406535"/>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p:cSld name="niq-gfk_title_and_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2F25C-611F-5946-A757-98CBE87CC8B7}"/>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7" name="Text Placeholder 6">
            <a:extLst>
              <a:ext uri="{FF2B5EF4-FFF2-40B4-BE49-F238E27FC236}">
                <a16:creationId xmlns:a16="http://schemas.microsoft.com/office/drawing/2014/main" id="{47F7929F-4D80-0F4F-EFFB-21D9B3A08195}"/>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
        <p:nvSpPr>
          <p:cNvPr id="11" name="Text Placeholder 10">
            <a:extLst>
              <a:ext uri="{FF2B5EF4-FFF2-40B4-BE49-F238E27FC236}">
                <a16:creationId xmlns:a16="http://schemas.microsoft.com/office/drawing/2014/main" id="{D84B7C4B-5E7C-3B57-7A87-AA7A24A5F2B5}"/>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5" name="Straight Connector 4">
            <a:extLst>
              <a:ext uri="{FF2B5EF4-FFF2-40B4-BE49-F238E27FC236}">
                <a16:creationId xmlns:a16="http://schemas.microsoft.com/office/drawing/2014/main" id="{6FD4EA98-BF31-5C57-6FCA-CC2DE7D012B7}"/>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3710273"/>
      </p:ext>
    </p:extLst>
  </p:cSld>
  <p:clrMapOvr>
    <a:masterClrMapping/>
  </p:clrMapOvr>
  <p:hf sldNum="0" hdr="0" ftr="0" dt="0"/>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p:cSld name="niq-gfk_content_and_description">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9" name="Text Placeholder 10">
            <a:extLst>
              <a:ext uri="{FF2B5EF4-FFF2-40B4-BE49-F238E27FC236}">
                <a16:creationId xmlns:a16="http://schemas.microsoft.com/office/drawing/2014/main" id="{A7D447D7-AD37-E5BC-FBE0-AE089392E05B}"/>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12" name="Content Placeholder 2">
            <a:extLst>
              <a:ext uri="{FF2B5EF4-FFF2-40B4-BE49-F238E27FC236}">
                <a16:creationId xmlns:a16="http://schemas.microsoft.com/office/drawing/2014/main" id="{B5C80055-36CD-03A0-FF2F-FB1F135FCA85}"/>
              </a:ext>
            </a:extLst>
          </p:cNvPr>
          <p:cNvSpPr>
            <a:spLocks noGrp="1"/>
          </p:cNvSpPr>
          <p:nvPr>
            <p:ph idx="1"/>
          </p:nvPr>
        </p:nvSpPr>
        <p:spPr>
          <a:xfrm>
            <a:off x="216418" y="1369219"/>
            <a:ext cx="6472481"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56DE0CA5-5C4E-EFCB-2BE8-EB8DC2300D09}"/>
              </a:ext>
            </a:extLst>
          </p:cNvPr>
          <p:cNvSpPr>
            <a:spLocks noGrp="1"/>
          </p:cNvSpPr>
          <p:nvPr>
            <p:ph idx="21"/>
          </p:nvPr>
        </p:nvSpPr>
        <p:spPr>
          <a:xfrm>
            <a:off x="6885234" y="1369219"/>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A7CFE5F6-0ABB-2CA3-C74A-99B42FD5E927}"/>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4" name="Straight Connector 3">
            <a:extLst>
              <a:ext uri="{FF2B5EF4-FFF2-40B4-BE49-F238E27FC236}">
                <a16:creationId xmlns:a16="http://schemas.microsoft.com/office/drawing/2014/main" id="{126D5F0D-4411-C2F1-C6EE-CE0F553BA1C6}"/>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FE75FFEF-1818-D449-CEAB-1C574E815329}"/>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2088284126"/>
      </p:ext>
    </p:extLst>
  </p:cSld>
  <p:clrMapOvr>
    <a:masterClrMapping/>
  </p:clrMapOvr>
  <p:hf sldNum="0" hdr="0" ftr="0" dt="0"/>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p:cSld name="niq-gfk_three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216419" y="1562103"/>
            <a:ext cx="2763264"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10" name="Content Placeholder 2">
            <a:extLst>
              <a:ext uri="{FF2B5EF4-FFF2-40B4-BE49-F238E27FC236}">
                <a16:creationId xmlns:a16="http://schemas.microsoft.com/office/drawing/2014/main" id="{505D1794-3A67-EC85-D51D-19CC621969E3}"/>
              </a:ext>
            </a:extLst>
          </p:cNvPr>
          <p:cNvSpPr>
            <a:spLocks noGrp="1"/>
          </p:cNvSpPr>
          <p:nvPr>
            <p:ph idx="14"/>
          </p:nvPr>
        </p:nvSpPr>
        <p:spPr>
          <a:xfrm>
            <a:off x="3178187" y="1562103"/>
            <a:ext cx="2763264"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2">
            <a:extLst>
              <a:ext uri="{FF2B5EF4-FFF2-40B4-BE49-F238E27FC236}">
                <a16:creationId xmlns:a16="http://schemas.microsoft.com/office/drawing/2014/main" id="{C1A58A57-9AA2-995B-F17B-EF0CC5FF39C5}"/>
              </a:ext>
            </a:extLst>
          </p:cNvPr>
          <p:cNvSpPr>
            <a:spLocks noGrp="1"/>
          </p:cNvSpPr>
          <p:nvPr>
            <p:ph idx="15"/>
          </p:nvPr>
        </p:nvSpPr>
        <p:spPr>
          <a:xfrm>
            <a:off x="6139955" y="1562103"/>
            <a:ext cx="2763264"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6">
            <a:extLst>
              <a:ext uri="{FF2B5EF4-FFF2-40B4-BE49-F238E27FC236}">
                <a16:creationId xmlns:a16="http://schemas.microsoft.com/office/drawing/2014/main" id="{90678F05-80CC-A3DE-FAE5-0A6E66AB8B9B}"/>
              </a:ext>
            </a:extLst>
          </p:cNvPr>
          <p:cNvSpPr>
            <a:spLocks noGrp="1"/>
          </p:cNvSpPr>
          <p:nvPr>
            <p:ph type="body" sz="quarter" idx="16" hasCustomPrompt="1"/>
          </p:nvPr>
        </p:nvSpPr>
        <p:spPr>
          <a:xfrm>
            <a:off x="216419" y="1206307"/>
            <a:ext cx="2763264"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3" name="Text Placeholder 6">
            <a:extLst>
              <a:ext uri="{FF2B5EF4-FFF2-40B4-BE49-F238E27FC236}">
                <a16:creationId xmlns:a16="http://schemas.microsoft.com/office/drawing/2014/main" id="{4F7AC8A2-64C0-1D9F-7AB1-472AE18BD1D5}"/>
              </a:ext>
            </a:extLst>
          </p:cNvPr>
          <p:cNvSpPr>
            <a:spLocks noGrp="1"/>
          </p:cNvSpPr>
          <p:nvPr>
            <p:ph type="body" sz="quarter" idx="17" hasCustomPrompt="1"/>
          </p:nvPr>
        </p:nvSpPr>
        <p:spPr>
          <a:xfrm>
            <a:off x="3178187" y="1206307"/>
            <a:ext cx="2763264"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4" name="Text Placeholder 6">
            <a:extLst>
              <a:ext uri="{FF2B5EF4-FFF2-40B4-BE49-F238E27FC236}">
                <a16:creationId xmlns:a16="http://schemas.microsoft.com/office/drawing/2014/main" id="{CED75715-C317-75F7-78F6-9C944FD28A22}"/>
              </a:ext>
            </a:extLst>
          </p:cNvPr>
          <p:cNvSpPr>
            <a:spLocks noGrp="1"/>
          </p:cNvSpPr>
          <p:nvPr>
            <p:ph type="body" sz="quarter" idx="18" hasCustomPrompt="1"/>
          </p:nvPr>
        </p:nvSpPr>
        <p:spPr>
          <a:xfrm>
            <a:off x="6139954" y="1206307"/>
            <a:ext cx="2763264"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5" name="Text Placeholder 10">
            <a:extLst>
              <a:ext uri="{FF2B5EF4-FFF2-40B4-BE49-F238E27FC236}">
                <a16:creationId xmlns:a16="http://schemas.microsoft.com/office/drawing/2014/main" id="{EE3F5269-C1DC-2C7C-6829-F77D90998064}"/>
              </a:ext>
            </a:extLst>
          </p:cNvPr>
          <p:cNvSpPr>
            <a:spLocks noGrp="1"/>
          </p:cNvSpPr>
          <p:nvPr>
            <p:ph type="body" sz="quarter" idx="19"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7" name="Title 1">
            <a:extLst>
              <a:ext uri="{FF2B5EF4-FFF2-40B4-BE49-F238E27FC236}">
                <a16:creationId xmlns:a16="http://schemas.microsoft.com/office/drawing/2014/main" id="{AEE6AB25-4CDE-ED86-EE3C-2CA82FCF446F}"/>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18" name="Straight Connector 17">
            <a:extLst>
              <a:ext uri="{FF2B5EF4-FFF2-40B4-BE49-F238E27FC236}">
                <a16:creationId xmlns:a16="http://schemas.microsoft.com/office/drawing/2014/main" id="{67EF1E46-1337-435B-6F96-948F983E07BB}"/>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E6F7F4C0-E6F7-792B-D58C-643DEB47C12E}"/>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1017996896"/>
      </p:ext>
    </p:extLst>
  </p:cSld>
  <p:clrMapOvr>
    <a:masterClrMapping/>
  </p:clrMapOvr>
  <p:hf sldNum="0" hdr="0" ftr="0" dt="0"/>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p:cSld name="niq-gfk_four_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216420"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12" name="Text Placeholder 6">
            <a:extLst>
              <a:ext uri="{FF2B5EF4-FFF2-40B4-BE49-F238E27FC236}">
                <a16:creationId xmlns:a16="http://schemas.microsoft.com/office/drawing/2014/main" id="{90678F05-80CC-A3DE-FAE5-0A6E66AB8B9B}"/>
              </a:ext>
            </a:extLst>
          </p:cNvPr>
          <p:cNvSpPr>
            <a:spLocks noGrp="1"/>
          </p:cNvSpPr>
          <p:nvPr>
            <p:ph type="body" sz="quarter" idx="16" hasCustomPrompt="1"/>
          </p:nvPr>
        </p:nvSpPr>
        <p:spPr>
          <a:xfrm>
            <a:off x="216419"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8" name="Content Placeholder 2">
            <a:extLst>
              <a:ext uri="{FF2B5EF4-FFF2-40B4-BE49-F238E27FC236}">
                <a16:creationId xmlns:a16="http://schemas.microsoft.com/office/drawing/2014/main" id="{723B6A2A-2C2E-7735-F6AF-C9EBC41827D7}"/>
              </a:ext>
            </a:extLst>
          </p:cNvPr>
          <p:cNvSpPr>
            <a:spLocks noGrp="1"/>
          </p:cNvSpPr>
          <p:nvPr>
            <p:ph idx="17"/>
          </p:nvPr>
        </p:nvSpPr>
        <p:spPr>
          <a:xfrm>
            <a:off x="2439357"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6">
            <a:extLst>
              <a:ext uri="{FF2B5EF4-FFF2-40B4-BE49-F238E27FC236}">
                <a16:creationId xmlns:a16="http://schemas.microsoft.com/office/drawing/2014/main" id="{390CEB3B-329E-7CFB-C82C-196F404D94D0}"/>
              </a:ext>
            </a:extLst>
          </p:cNvPr>
          <p:cNvSpPr>
            <a:spLocks noGrp="1"/>
          </p:cNvSpPr>
          <p:nvPr>
            <p:ph type="body" sz="quarter" idx="18" hasCustomPrompt="1"/>
          </p:nvPr>
        </p:nvSpPr>
        <p:spPr>
          <a:xfrm>
            <a:off x="2439357"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5" name="Content Placeholder 2">
            <a:extLst>
              <a:ext uri="{FF2B5EF4-FFF2-40B4-BE49-F238E27FC236}">
                <a16:creationId xmlns:a16="http://schemas.microsoft.com/office/drawing/2014/main" id="{BE267DF4-9717-0259-6B0E-DAD8B209CF46}"/>
              </a:ext>
            </a:extLst>
          </p:cNvPr>
          <p:cNvSpPr>
            <a:spLocks noGrp="1"/>
          </p:cNvSpPr>
          <p:nvPr>
            <p:ph idx="19"/>
          </p:nvPr>
        </p:nvSpPr>
        <p:spPr>
          <a:xfrm>
            <a:off x="4662295"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Text Placeholder 6">
            <a:extLst>
              <a:ext uri="{FF2B5EF4-FFF2-40B4-BE49-F238E27FC236}">
                <a16:creationId xmlns:a16="http://schemas.microsoft.com/office/drawing/2014/main" id="{3638A4D9-F985-A57C-CB8F-B5BE0F172727}"/>
              </a:ext>
            </a:extLst>
          </p:cNvPr>
          <p:cNvSpPr>
            <a:spLocks noGrp="1"/>
          </p:cNvSpPr>
          <p:nvPr>
            <p:ph type="body" sz="quarter" idx="20" hasCustomPrompt="1"/>
          </p:nvPr>
        </p:nvSpPr>
        <p:spPr>
          <a:xfrm>
            <a:off x="4662294"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17" name="Content Placeholder 2">
            <a:extLst>
              <a:ext uri="{FF2B5EF4-FFF2-40B4-BE49-F238E27FC236}">
                <a16:creationId xmlns:a16="http://schemas.microsoft.com/office/drawing/2014/main" id="{B48447AD-132B-DD45-8F26-5684D33A864A}"/>
              </a:ext>
            </a:extLst>
          </p:cNvPr>
          <p:cNvSpPr>
            <a:spLocks noGrp="1"/>
          </p:cNvSpPr>
          <p:nvPr>
            <p:ph idx="21"/>
          </p:nvPr>
        </p:nvSpPr>
        <p:spPr>
          <a:xfrm>
            <a:off x="6885234" y="1562104"/>
            <a:ext cx="2030167"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6">
            <a:extLst>
              <a:ext uri="{FF2B5EF4-FFF2-40B4-BE49-F238E27FC236}">
                <a16:creationId xmlns:a16="http://schemas.microsoft.com/office/drawing/2014/main" id="{93012D8C-6A00-0751-CA0A-B3A4D6620527}"/>
              </a:ext>
            </a:extLst>
          </p:cNvPr>
          <p:cNvSpPr>
            <a:spLocks noGrp="1"/>
          </p:cNvSpPr>
          <p:nvPr>
            <p:ph type="body" sz="quarter" idx="22" hasCustomPrompt="1"/>
          </p:nvPr>
        </p:nvSpPr>
        <p:spPr>
          <a:xfrm>
            <a:off x="6885233" y="1206308"/>
            <a:ext cx="2030167" cy="327407"/>
          </a:xfrm>
        </p:spPr>
        <p:txBody>
          <a:bodyPr anchor="b"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0" name="Text Placeholder 10">
            <a:extLst>
              <a:ext uri="{FF2B5EF4-FFF2-40B4-BE49-F238E27FC236}">
                <a16:creationId xmlns:a16="http://schemas.microsoft.com/office/drawing/2014/main" id="{F180A1E1-EF14-8968-BBD5-6D02AC2BDF0F}"/>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7" name="Title 1">
            <a:extLst>
              <a:ext uri="{FF2B5EF4-FFF2-40B4-BE49-F238E27FC236}">
                <a16:creationId xmlns:a16="http://schemas.microsoft.com/office/drawing/2014/main" id="{5C652087-4AD9-06EF-5607-15CECEB54C20}"/>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19" name="Straight Connector 18">
            <a:extLst>
              <a:ext uri="{FF2B5EF4-FFF2-40B4-BE49-F238E27FC236}">
                <a16:creationId xmlns:a16="http://schemas.microsoft.com/office/drawing/2014/main" id="{BA135750-1261-BC7B-9A58-A00B48682132}"/>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5370EF36-EB2A-65C7-C0F8-688E55EF8052}"/>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2822545444"/>
      </p:ext>
    </p:extLst>
  </p:cSld>
  <p:clrMapOvr>
    <a:masterClrMapping/>
  </p:clrMapOvr>
  <p:hf sldNum="0" hdr="0" ftr="0" dt="0"/>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p:cSld name="niq-gfk_three_columns_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18" name="Text Placeholder 10">
            <a:extLst>
              <a:ext uri="{FF2B5EF4-FFF2-40B4-BE49-F238E27FC236}">
                <a16:creationId xmlns:a16="http://schemas.microsoft.com/office/drawing/2014/main" id="{4C9009D2-DE9F-C580-0069-71F8F68B674F}"/>
              </a:ext>
            </a:extLst>
          </p:cNvPr>
          <p:cNvSpPr>
            <a:spLocks noGrp="1"/>
          </p:cNvSpPr>
          <p:nvPr>
            <p:ph type="body" sz="quarter" idx="23"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 name="Title 1">
            <a:extLst>
              <a:ext uri="{FF2B5EF4-FFF2-40B4-BE49-F238E27FC236}">
                <a16:creationId xmlns:a16="http://schemas.microsoft.com/office/drawing/2014/main" id="{73FCBC1E-7EFE-4663-A738-6886100E9E70}"/>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7" name="Straight Connector 6">
            <a:extLst>
              <a:ext uri="{FF2B5EF4-FFF2-40B4-BE49-F238E27FC236}">
                <a16:creationId xmlns:a16="http://schemas.microsoft.com/office/drawing/2014/main" id="{B39A74BF-2DD6-3F05-945A-5D71479F4CEE}"/>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1726E5B4-BD5B-4E00-35E0-4F73235E8DC6}"/>
              </a:ext>
            </a:extLst>
          </p:cNvPr>
          <p:cNvSpPr>
            <a:spLocks noGrp="1"/>
          </p:cNvSpPr>
          <p:nvPr>
            <p:ph idx="1"/>
          </p:nvPr>
        </p:nvSpPr>
        <p:spPr>
          <a:xfrm>
            <a:off x="216419" y="3143078"/>
            <a:ext cx="2763264" cy="1247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DF3ADE24-C798-CA63-134A-D2928B468889}"/>
              </a:ext>
            </a:extLst>
          </p:cNvPr>
          <p:cNvSpPr>
            <a:spLocks noGrp="1"/>
          </p:cNvSpPr>
          <p:nvPr>
            <p:ph idx="14"/>
          </p:nvPr>
        </p:nvSpPr>
        <p:spPr>
          <a:xfrm>
            <a:off x="3178187" y="3143078"/>
            <a:ext cx="2763264" cy="1247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38BBDA64-0D13-2635-3928-601607F3A856}"/>
              </a:ext>
            </a:extLst>
          </p:cNvPr>
          <p:cNvSpPr>
            <a:spLocks noGrp="1"/>
          </p:cNvSpPr>
          <p:nvPr>
            <p:ph idx="15"/>
          </p:nvPr>
        </p:nvSpPr>
        <p:spPr>
          <a:xfrm>
            <a:off x="6139955" y="3143078"/>
            <a:ext cx="2763264" cy="124719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4">
            <a:extLst>
              <a:ext uri="{FF2B5EF4-FFF2-40B4-BE49-F238E27FC236}">
                <a16:creationId xmlns:a16="http://schemas.microsoft.com/office/drawing/2014/main" id="{86D304D5-4D81-59E8-3AA0-6583EA6CE8DE}"/>
              </a:ext>
            </a:extLst>
          </p:cNvPr>
          <p:cNvSpPr>
            <a:spLocks noGrp="1"/>
          </p:cNvSpPr>
          <p:nvPr>
            <p:ph type="pic" sz="quarter" idx="20" hasCustomPrompt="1"/>
          </p:nvPr>
        </p:nvSpPr>
        <p:spPr>
          <a:xfrm>
            <a:off x="216419" y="1224644"/>
            <a:ext cx="2763264" cy="1530834"/>
          </a:xfrm>
        </p:spPr>
        <p:txBody>
          <a:bodyPr/>
          <a:lstStyle>
            <a:lvl1pPr marL="0" indent="0" algn="ctr">
              <a:buNone/>
              <a:defRPr/>
            </a:lvl1pPr>
          </a:lstStyle>
          <a:p>
            <a:r>
              <a:rPr lang="en-US"/>
              <a:t>Click picture icon to add photo</a:t>
            </a:r>
          </a:p>
        </p:txBody>
      </p:sp>
      <p:sp>
        <p:nvSpPr>
          <p:cNvPr id="16" name="Picture Placeholder 4">
            <a:extLst>
              <a:ext uri="{FF2B5EF4-FFF2-40B4-BE49-F238E27FC236}">
                <a16:creationId xmlns:a16="http://schemas.microsoft.com/office/drawing/2014/main" id="{AD624F43-E3B5-F3DF-65BA-18BEBC9ABE3F}"/>
              </a:ext>
            </a:extLst>
          </p:cNvPr>
          <p:cNvSpPr>
            <a:spLocks noGrp="1"/>
          </p:cNvSpPr>
          <p:nvPr>
            <p:ph type="pic" sz="quarter" idx="21" hasCustomPrompt="1"/>
          </p:nvPr>
        </p:nvSpPr>
        <p:spPr>
          <a:xfrm>
            <a:off x="3178187" y="1224644"/>
            <a:ext cx="2763264" cy="1530834"/>
          </a:xfrm>
        </p:spPr>
        <p:txBody>
          <a:bodyPr/>
          <a:lstStyle>
            <a:lvl1pPr marL="0" indent="0" algn="ctr">
              <a:buNone/>
              <a:defRPr/>
            </a:lvl1pPr>
          </a:lstStyle>
          <a:p>
            <a:r>
              <a:rPr lang="en-US"/>
              <a:t>Click picture icon to add photo</a:t>
            </a:r>
          </a:p>
        </p:txBody>
      </p:sp>
      <p:sp>
        <p:nvSpPr>
          <p:cNvPr id="17" name="Picture Placeholder 4">
            <a:extLst>
              <a:ext uri="{FF2B5EF4-FFF2-40B4-BE49-F238E27FC236}">
                <a16:creationId xmlns:a16="http://schemas.microsoft.com/office/drawing/2014/main" id="{7A405C6D-D024-EC52-520E-7CEF7118B63F}"/>
              </a:ext>
            </a:extLst>
          </p:cNvPr>
          <p:cNvSpPr>
            <a:spLocks noGrp="1"/>
          </p:cNvSpPr>
          <p:nvPr>
            <p:ph type="pic" sz="quarter" idx="22" hasCustomPrompt="1"/>
          </p:nvPr>
        </p:nvSpPr>
        <p:spPr>
          <a:xfrm>
            <a:off x="6139954" y="1224644"/>
            <a:ext cx="2763264" cy="1530834"/>
          </a:xfrm>
        </p:spPr>
        <p:txBody>
          <a:bodyPr/>
          <a:lstStyle>
            <a:lvl1pPr marL="0" indent="0" algn="ctr">
              <a:buNone/>
              <a:defRPr/>
            </a:lvl1pPr>
          </a:lstStyle>
          <a:p>
            <a:r>
              <a:rPr lang="en-US"/>
              <a:t>Click picture icon to add photo</a:t>
            </a:r>
          </a:p>
        </p:txBody>
      </p:sp>
      <p:sp>
        <p:nvSpPr>
          <p:cNvPr id="19" name="Text Placeholder 6">
            <a:extLst>
              <a:ext uri="{FF2B5EF4-FFF2-40B4-BE49-F238E27FC236}">
                <a16:creationId xmlns:a16="http://schemas.microsoft.com/office/drawing/2014/main" id="{3BFB8C74-B06B-6CFC-2D77-48ACF087ADE7}"/>
              </a:ext>
            </a:extLst>
          </p:cNvPr>
          <p:cNvSpPr>
            <a:spLocks noGrp="1"/>
          </p:cNvSpPr>
          <p:nvPr>
            <p:ph type="body" sz="quarter" idx="16" hasCustomPrompt="1"/>
          </p:nvPr>
        </p:nvSpPr>
        <p:spPr>
          <a:xfrm>
            <a:off x="216419" y="2815672"/>
            <a:ext cx="2763264" cy="327407"/>
          </a:xfrm>
        </p:spPr>
        <p:txBody>
          <a:bodyPr anchor="ctr" anchorCtr="0"/>
          <a:lstStyle>
            <a:lvl1pPr marL="0" indent="0">
              <a:spcBef>
                <a:spcPts val="0"/>
              </a:spcBef>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0" name="Text Placeholder 6">
            <a:extLst>
              <a:ext uri="{FF2B5EF4-FFF2-40B4-BE49-F238E27FC236}">
                <a16:creationId xmlns:a16="http://schemas.microsoft.com/office/drawing/2014/main" id="{6743F6AA-342D-8F2B-566B-B9BF40019FF0}"/>
              </a:ext>
            </a:extLst>
          </p:cNvPr>
          <p:cNvSpPr>
            <a:spLocks noGrp="1"/>
          </p:cNvSpPr>
          <p:nvPr>
            <p:ph type="body" sz="quarter" idx="24" hasCustomPrompt="1"/>
          </p:nvPr>
        </p:nvSpPr>
        <p:spPr>
          <a:xfrm>
            <a:off x="3178187" y="2815672"/>
            <a:ext cx="2763264" cy="327407"/>
          </a:xfrm>
        </p:spPr>
        <p:txBody>
          <a:bodyPr anchor="ctr" anchorCtr="0"/>
          <a:lstStyle>
            <a:lvl1pPr marL="0" indent="0">
              <a:spcBef>
                <a:spcPts val="0"/>
              </a:spcBef>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1" name="Text Placeholder 6">
            <a:extLst>
              <a:ext uri="{FF2B5EF4-FFF2-40B4-BE49-F238E27FC236}">
                <a16:creationId xmlns:a16="http://schemas.microsoft.com/office/drawing/2014/main" id="{4C467062-502A-D066-43CD-99EE05E7C5DA}"/>
              </a:ext>
            </a:extLst>
          </p:cNvPr>
          <p:cNvSpPr>
            <a:spLocks noGrp="1"/>
          </p:cNvSpPr>
          <p:nvPr>
            <p:ph type="body" sz="quarter" idx="18" hasCustomPrompt="1"/>
          </p:nvPr>
        </p:nvSpPr>
        <p:spPr>
          <a:xfrm>
            <a:off x="6139954" y="2815672"/>
            <a:ext cx="2763264" cy="327407"/>
          </a:xfrm>
        </p:spPr>
        <p:txBody>
          <a:bodyPr anchor="ctr" anchorCtr="0"/>
          <a:lstStyle>
            <a:lvl1pPr marL="0" indent="0">
              <a:spcBef>
                <a:spcPts val="0"/>
              </a:spcBef>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3" name="Text Placeholder 6">
            <a:extLst>
              <a:ext uri="{FF2B5EF4-FFF2-40B4-BE49-F238E27FC236}">
                <a16:creationId xmlns:a16="http://schemas.microsoft.com/office/drawing/2014/main" id="{51484B43-21FE-B0A1-A31A-BE6AD84E3926}"/>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3904491571"/>
      </p:ext>
    </p:extLst>
  </p:cSld>
  <p:clrMapOvr>
    <a:masterClrMapping/>
  </p:clrMapOvr>
  <p:hf sldNum="0" hdr="0" ftr="0" dt="0"/>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p:cSld name="niq-gfk_four_columns_photos">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20" name="Text Placeholder 10">
            <a:extLst>
              <a:ext uri="{FF2B5EF4-FFF2-40B4-BE49-F238E27FC236}">
                <a16:creationId xmlns:a16="http://schemas.microsoft.com/office/drawing/2014/main" id="{52BD1DA6-2F3A-8497-317F-A33FE7FE9D1F}"/>
              </a:ext>
            </a:extLst>
          </p:cNvPr>
          <p:cNvSpPr>
            <a:spLocks noGrp="1"/>
          </p:cNvSpPr>
          <p:nvPr>
            <p:ph type="body" sz="quarter" idx="14"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 name="Title 1">
            <a:extLst>
              <a:ext uri="{FF2B5EF4-FFF2-40B4-BE49-F238E27FC236}">
                <a16:creationId xmlns:a16="http://schemas.microsoft.com/office/drawing/2014/main" id="{E626DB92-A0AA-1D4E-DCEC-54D5E5605B1B}"/>
              </a:ext>
            </a:extLst>
          </p:cNvPr>
          <p:cNvSpPr>
            <a:spLocks noGrp="1"/>
          </p:cNvSpPr>
          <p:nvPr>
            <p:ph type="title" hasCustomPrompt="1"/>
          </p:nvPr>
        </p:nvSpPr>
        <p:spPr>
          <a:xfrm>
            <a:off x="216419" y="134228"/>
            <a:ext cx="8686800" cy="298014"/>
          </a:xfrm>
          <a:prstGeom prst="rect">
            <a:avLst/>
          </a:prstGeom>
        </p:spPr>
        <p:txBody>
          <a:bodyPr anchor="ctr"/>
          <a:lstStyle>
            <a:lvl1pPr>
              <a:defRPr sz="1500"/>
            </a:lvl1pPr>
          </a:lstStyle>
          <a:p>
            <a:r>
              <a:rPr lang="en-US"/>
              <a:t>Insert your slide title in Arial bold 20pt</a:t>
            </a:r>
          </a:p>
        </p:txBody>
      </p:sp>
      <p:cxnSp>
        <p:nvCxnSpPr>
          <p:cNvPr id="9" name="Straight Connector 8">
            <a:extLst>
              <a:ext uri="{FF2B5EF4-FFF2-40B4-BE49-F238E27FC236}">
                <a16:creationId xmlns:a16="http://schemas.microsoft.com/office/drawing/2014/main" id="{5C7DD2E8-792A-AEFC-E67F-D77E3B5938C1}"/>
              </a:ext>
            </a:extLst>
          </p:cNvPr>
          <p:cNvCxnSpPr>
            <a:cxnSpLocks/>
          </p:cNvCxnSpPr>
          <p:nvPr/>
        </p:nvCxnSpPr>
        <p:spPr>
          <a:xfrm>
            <a:off x="209199" y="538955"/>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Content Placeholder 2">
            <a:extLst>
              <a:ext uri="{FF2B5EF4-FFF2-40B4-BE49-F238E27FC236}">
                <a16:creationId xmlns:a16="http://schemas.microsoft.com/office/drawing/2014/main" id="{53A50AC7-EF1B-06BD-6C82-F5E0A8824140}"/>
              </a:ext>
            </a:extLst>
          </p:cNvPr>
          <p:cNvSpPr>
            <a:spLocks noGrp="1"/>
          </p:cNvSpPr>
          <p:nvPr>
            <p:ph idx="1"/>
          </p:nvPr>
        </p:nvSpPr>
        <p:spPr>
          <a:xfrm>
            <a:off x="216420"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2ECCED81-E160-CC9F-96BC-CCA54BC2AB36}"/>
              </a:ext>
            </a:extLst>
          </p:cNvPr>
          <p:cNvSpPr>
            <a:spLocks noGrp="1"/>
          </p:cNvSpPr>
          <p:nvPr>
            <p:ph idx="17"/>
          </p:nvPr>
        </p:nvSpPr>
        <p:spPr>
          <a:xfrm>
            <a:off x="2439357"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2">
            <a:extLst>
              <a:ext uri="{FF2B5EF4-FFF2-40B4-BE49-F238E27FC236}">
                <a16:creationId xmlns:a16="http://schemas.microsoft.com/office/drawing/2014/main" id="{0C1824ED-E104-5863-D8DF-6AF9F3142146}"/>
              </a:ext>
            </a:extLst>
          </p:cNvPr>
          <p:cNvSpPr>
            <a:spLocks noGrp="1"/>
          </p:cNvSpPr>
          <p:nvPr>
            <p:ph idx="19"/>
          </p:nvPr>
        </p:nvSpPr>
        <p:spPr>
          <a:xfrm>
            <a:off x="4662966"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6C693F40-4A3C-FDB9-A028-98592D644B6C}"/>
              </a:ext>
            </a:extLst>
          </p:cNvPr>
          <p:cNvSpPr>
            <a:spLocks noGrp="1"/>
          </p:cNvSpPr>
          <p:nvPr>
            <p:ph idx="21"/>
          </p:nvPr>
        </p:nvSpPr>
        <p:spPr>
          <a:xfrm>
            <a:off x="6885234" y="2862351"/>
            <a:ext cx="2030167" cy="14478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Picture Placeholder 4">
            <a:extLst>
              <a:ext uri="{FF2B5EF4-FFF2-40B4-BE49-F238E27FC236}">
                <a16:creationId xmlns:a16="http://schemas.microsoft.com/office/drawing/2014/main" id="{DB8AF23D-65B8-8384-5548-FF42652FBF21}"/>
              </a:ext>
            </a:extLst>
          </p:cNvPr>
          <p:cNvSpPr>
            <a:spLocks noGrp="1"/>
          </p:cNvSpPr>
          <p:nvPr>
            <p:ph type="pic" sz="quarter" idx="20" hasCustomPrompt="1"/>
          </p:nvPr>
        </p:nvSpPr>
        <p:spPr>
          <a:xfrm>
            <a:off x="216419" y="1357011"/>
            <a:ext cx="2030166" cy="1124702"/>
          </a:xfrm>
        </p:spPr>
        <p:txBody>
          <a:bodyPr/>
          <a:lstStyle>
            <a:lvl1pPr marL="0" indent="0" algn="ctr">
              <a:buNone/>
              <a:defRPr/>
            </a:lvl1pPr>
          </a:lstStyle>
          <a:p>
            <a:r>
              <a:rPr lang="en-US"/>
              <a:t>Click picture icon to add photo</a:t>
            </a:r>
          </a:p>
        </p:txBody>
      </p:sp>
      <p:sp>
        <p:nvSpPr>
          <p:cNvPr id="19" name="Picture Placeholder 4">
            <a:extLst>
              <a:ext uri="{FF2B5EF4-FFF2-40B4-BE49-F238E27FC236}">
                <a16:creationId xmlns:a16="http://schemas.microsoft.com/office/drawing/2014/main" id="{1CCE717F-B29B-9E5A-9E93-FDAD0795A740}"/>
              </a:ext>
            </a:extLst>
          </p:cNvPr>
          <p:cNvSpPr>
            <a:spLocks noGrp="1"/>
          </p:cNvSpPr>
          <p:nvPr>
            <p:ph type="pic" sz="quarter" idx="22" hasCustomPrompt="1"/>
          </p:nvPr>
        </p:nvSpPr>
        <p:spPr>
          <a:xfrm>
            <a:off x="2439357" y="1357011"/>
            <a:ext cx="2030166" cy="1124702"/>
          </a:xfrm>
        </p:spPr>
        <p:txBody>
          <a:bodyPr/>
          <a:lstStyle>
            <a:lvl1pPr marL="0" indent="0" algn="ctr">
              <a:buNone/>
              <a:defRPr/>
            </a:lvl1pPr>
          </a:lstStyle>
          <a:p>
            <a:r>
              <a:rPr lang="en-US"/>
              <a:t>Click picture icon to add photo</a:t>
            </a:r>
          </a:p>
        </p:txBody>
      </p:sp>
      <p:sp>
        <p:nvSpPr>
          <p:cNvPr id="21" name="Picture Placeholder 4">
            <a:extLst>
              <a:ext uri="{FF2B5EF4-FFF2-40B4-BE49-F238E27FC236}">
                <a16:creationId xmlns:a16="http://schemas.microsoft.com/office/drawing/2014/main" id="{7D458F08-34A8-CE5C-DD22-63798281F6E7}"/>
              </a:ext>
            </a:extLst>
          </p:cNvPr>
          <p:cNvSpPr>
            <a:spLocks noGrp="1"/>
          </p:cNvSpPr>
          <p:nvPr>
            <p:ph type="pic" sz="quarter" idx="23" hasCustomPrompt="1"/>
          </p:nvPr>
        </p:nvSpPr>
        <p:spPr>
          <a:xfrm>
            <a:off x="4662966" y="1357011"/>
            <a:ext cx="2030166" cy="1124702"/>
          </a:xfrm>
        </p:spPr>
        <p:txBody>
          <a:bodyPr/>
          <a:lstStyle>
            <a:lvl1pPr marL="0" indent="0" algn="ctr">
              <a:buNone/>
              <a:defRPr/>
            </a:lvl1pPr>
          </a:lstStyle>
          <a:p>
            <a:r>
              <a:rPr lang="en-US"/>
              <a:t>Click picture icon to add photo</a:t>
            </a:r>
          </a:p>
        </p:txBody>
      </p:sp>
      <p:sp>
        <p:nvSpPr>
          <p:cNvPr id="22" name="Picture Placeholder 4">
            <a:extLst>
              <a:ext uri="{FF2B5EF4-FFF2-40B4-BE49-F238E27FC236}">
                <a16:creationId xmlns:a16="http://schemas.microsoft.com/office/drawing/2014/main" id="{CDD1D9EB-F526-0267-384F-4B3F58A56D9E}"/>
              </a:ext>
            </a:extLst>
          </p:cNvPr>
          <p:cNvSpPr>
            <a:spLocks noGrp="1"/>
          </p:cNvSpPr>
          <p:nvPr>
            <p:ph type="pic" sz="quarter" idx="24" hasCustomPrompt="1"/>
          </p:nvPr>
        </p:nvSpPr>
        <p:spPr>
          <a:xfrm>
            <a:off x="6885233" y="1357011"/>
            <a:ext cx="2030166" cy="1124702"/>
          </a:xfrm>
        </p:spPr>
        <p:txBody>
          <a:bodyPr/>
          <a:lstStyle>
            <a:lvl1pPr marL="0" indent="0" algn="ctr">
              <a:buNone/>
              <a:defRPr/>
            </a:lvl1pPr>
          </a:lstStyle>
          <a:p>
            <a:r>
              <a:rPr lang="en-US"/>
              <a:t>Click picture icon to add photo</a:t>
            </a:r>
          </a:p>
        </p:txBody>
      </p:sp>
      <p:sp>
        <p:nvSpPr>
          <p:cNvPr id="23" name="Text Placeholder 6">
            <a:extLst>
              <a:ext uri="{FF2B5EF4-FFF2-40B4-BE49-F238E27FC236}">
                <a16:creationId xmlns:a16="http://schemas.microsoft.com/office/drawing/2014/main" id="{2D8888BC-56A9-8D6B-3914-B5265AF614EB}"/>
              </a:ext>
            </a:extLst>
          </p:cNvPr>
          <p:cNvSpPr>
            <a:spLocks noGrp="1"/>
          </p:cNvSpPr>
          <p:nvPr>
            <p:ph type="body" sz="quarter" idx="16" hasCustomPrompt="1"/>
          </p:nvPr>
        </p:nvSpPr>
        <p:spPr>
          <a:xfrm>
            <a:off x="216419"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4" name="Text Placeholder 6">
            <a:extLst>
              <a:ext uri="{FF2B5EF4-FFF2-40B4-BE49-F238E27FC236}">
                <a16:creationId xmlns:a16="http://schemas.microsoft.com/office/drawing/2014/main" id="{1A83D8D5-1A14-BFA8-3A2D-8F83DAE8E4F3}"/>
              </a:ext>
            </a:extLst>
          </p:cNvPr>
          <p:cNvSpPr>
            <a:spLocks noGrp="1"/>
          </p:cNvSpPr>
          <p:nvPr>
            <p:ph type="body" sz="quarter" idx="18" hasCustomPrompt="1"/>
          </p:nvPr>
        </p:nvSpPr>
        <p:spPr>
          <a:xfrm>
            <a:off x="2439357"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5" name="Text Placeholder 6">
            <a:extLst>
              <a:ext uri="{FF2B5EF4-FFF2-40B4-BE49-F238E27FC236}">
                <a16:creationId xmlns:a16="http://schemas.microsoft.com/office/drawing/2014/main" id="{8FD46FC2-34E5-C791-DF24-FDA9AC97DE4B}"/>
              </a:ext>
            </a:extLst>
          </p:cNvPr>
          <p:cNvSpPr>
            <a:spLocks noGrp="1"/>
          </p:cNvSpPr>
          <p:nvPr>
            <p:ph type="body" sz="quarter" idx="26" hasCustomPrompt="1"/>
          </p:nvPr>
        </p:nvSpPr>
        <p:spPr>
          <a:xfrm>
            <a:off x="4662294"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26" name="Text Placeholder 6">
            <a:extLst>
              <a:ext uri="{FF2B5EF4-FFF2-40B4-BE49-F238E27FC236}">
                <a16:creationId xmlns:a16="http://schemas.microsoft.com/office/drawing/2014/main" id="{61527C26-EEF9-B6E7-95A8-57A4BB373F3A}"/>
              </a:ext>
            </a:extLst>
          </p:cNvPr>
          <p:cNvSpPr>
            <a:spLocks noGrp="1"/>
          </p:cNvSpPr>
          <p:nvPr>
            <p:ph type="body" sz="quarter" idx="27" hasCustomPrompt="1"/>
          </p:nvPr>
        </p:nvSpPr>
        <p:spPr>
          <a:xfrm>
            <a:off x="6885233" y="2522616"/>
            <a:ext cx="2030167" cy="327407"/>
          </a:xfrm>
        </p:spPr>
        <p:txBody>
          <a:bodyPr anchor="ctr" anchorCtr="0"/>
          <a:lstStyle>
            <a:lvl1pPr marL="0" indent="0">
              <a:buNone/>
              <a:defRPr sz="1200" b="1">
                <a:solidFill>
                  <a:schemeClr val="bg2"/>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column header</a:t>
            </a:r>
          </a:p>
        </p:txBody>
      </p:sp>
      <p:sp>
        <p:nvSpPr>
          <p:cNvPr id="3" name="Text Placeholder 6">
            <a:extLst>
              <a:ext uri="{FF2B5EF4-FFF2-40B4-BE49-F238E27FC236}">
                <a16:creationId xmlns:a16="http://schemas.microsoft.com/office/drawing/2014/main" id="{5ED8B14D-BD06-2581-E921-C80B76E260C7}"/>
              </a:ext>
            </a:extLst>
          </p:cNvPr>
          <p:cNvSpPr>
            <a:spLocks noGrp="1" noChangeAspect="1"/>
          </p:cNvSpPr>
          <p:nvPr>
            <p:ph type="body" sz="quarter" idx="13" hasCustomPrompt="1"/>
          </p:nvPr>
        </p:nvSpPr>
        <p:spPr>
          <a:xfrm>
            <a:off x="216419" y="634273"/>
            <a:ext cx="868680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3262530948"/>
      </p:ext>
    </p:extLst>
  </p:cSld>
  <p:clrMapOvr>
    <a:masterClrMapping/>
  </p:clrMapOvr>
  <p:hf sldNum="0" hdr="0" ftr="0" dt="0"/>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p:cSld name="niq-gfk_left_title_and_content_deep_blu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54AF76-AD3D-99EA-BB6C-F380750B8D51}"/>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a:extLst>
              <a:ext uri="{FF2B5EF4-FFF2-40B4-BE49-F238E27FC236}">
                <a16:creationId xmlns:a16="http://schemas.microsoft.com/office/drawing/2014/main" id="{E18F88F4-971A-A6B1-1A27-9CE89013B620}"/>
              </a:ext>
            </a:extLst>
          </p:cNvPr>
          <p:cNvSpPr/>
          <p:nvPr/>
        </p:nvSpPr>
        <p:spPr>
          <a:xfrm>
            <a:off x="0" y="0"/>
            <a:ext cx="3001781"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3218199" y="1253517"/>
            <a:ext cx="5696449" cy="2992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13" name="Title 1">
            <a:extLst>
              <a:ext uri="{FF2B5EF4-FFF2-40B4-BE49-F238E27FC236}">
                <a16:creationId xmlns:a16="http://schemas.microsoft.com/office/drawing/2014/main" id="{C9E80DB3-397B-6246-0042-983989BBFF67}"/>
              </a:ext>
            </a:extLst>
          </p:cNvPr>
          <p:cNvSpPr>
            <a:spLocks noGrp="1"/>
          </p:cNvSpPr>
          <p:nvPr>
            <p:ph type="ctrTitle" hasCustomPrompt="1"/>
          </p:nvPr>
        </p:nvSpPr>
        <p:spPr>
          <a:xfrm>
            <a:off x="216419" y="833644"/>
            <a:ext cx="2627964" cy="1793229"/>
          </a:xfrm>
          <a:prstGeom prst="rect">
            <a:avLst/>
          </a:prstGeom>
        </p:spPr>
        <p:txBody>
          <a:bodyPr anchor="b" anchorCtr="0">
            <a:noAutofit/>
          </a:bodyPr>
          <a:lstStyle>
            <a:lvl1pPr algn="l">
              <a:defRPr sz="2700">
                <a:solidFill>
                  <a:schemeClr val="bg1"/>
                </a:solidFill>
              </a:defRPr>
            </a:lvl1pPr>
          </a:lstStyle>
          <a:p>
            <a:r>
              <a:rPr lang="en-US"/>
              <a:t>Insert your slide title here maximum of four lines</a:t>
            </a:r>
          </a:p>
        </p:txBody>
      </p:sp>
      <p:sp>
        <p:nvSpPr>
          <p:cNvPr id="14" name="Subtitle 2">
            <a:extLst>
              <a:ext uri="{FF2B5EF4-FFF2-40B4-BE49-F238E27FC236}">
                <a16:creationId xmlns:a16="http://schemas.microsoft.com/office/drawing/2014/main" id="{B088BB5C-5C7B-0E3F-0629-E297953C56D2}"/>
              </a:ext>
            </a:extLst>
          </p:cNvPr>
          <p:cNvSpPr>
            <a:spLocks noGrp="1"/>
          </p:cNvSpPr>
          <p:nvPr>
            <p:ph type="subTitle" idx="13" hasCustomPrompt="1"/>
          </p:nvPr>
        </p:nvSpPr>
        <p:spPr>
          <a:xfrm>
            <a:off x="216419" y="2636635"/>
            <a:ext cx="2627965" cy="327158"/>
          </a:xfrm>
        </p:spPr>
        <p:txBody>
          <a:bodyPr>
            <a:noAutofit/>
          </a:bodyPr>
          <a:lstStyle>
            <a:lvl1pPr marL="0" indent="0" algn="l">
              <a:spcBef>
                <a:spcPts val="0"/>
              </a:spcBef>
              <a:spcAft>
                <a:spcPts val="0"/>
              </a:spcAft>
              <a:buNone/>
              <a:defRPr sz="1500">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divider subtitle</a:t>
            </a:r>
          </a:p>
        </p:txBody>
      </p:sp>
      <p:sp>
        <p:nvSpPr>
          <p:cNvPr id="15" name="Text Placeholder 10">
            <a:extLst>
              <a:ext uri="{FF2B5EF4-FFF2-40B4-BE49-F238E27FC236}">
                <a16:creationId xmlns:a16="http://schemas.microsoft.com/office/drawing/2014/main" id="{54422616-9A6B-BD2A-EEE6-5D4F31127FD9}"/>
              </a:ext>
            </a:extLst>
          </p:cNvPr>
          <p:cNvSpPr>
            <a:spLocks noGrp="1"/>
          </p:cNvSpPr>
          <p:nvPr>
            <p:ph type="body" sz="quarter" idx="14" hasCustomPrompt="1"/>
          </p:nvPr>
        </p:nvSpPr>
        <p:spPr>
          <a:xfrm>
            <a:off x="3218199" y="4488996"/>
            <a:ext cx="569644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2" name="Straight Connector 1">
            <a:extLst>
              <a:ext uri="{FF2B5EF4-FFF2-40B4-BE49-F238E27FC236}">
                <a16:creationId xmlns:a16="http://schemas.microsoft.com/office/drawing/2014/main" id="{003D84F1-EE1E-31A0-2CC0-537B0D5A18BF}"/>
              </a:ext>
            </a:extLst>
          </p:cNvPr>
          <p:cNvCxnSpPr>
            <a:cxnSpLocks/>
          </p:cNvCxnSpPr>
          <p:nvPr/>
        </p:nvCxnSpPr>
        <p:spPr>
          <a:xfrm>
            <a:off x="3194891" y="4796816"/>
            <a:ext cx="57254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5341D27D-C9D4-960C-C280-35DFDBD6B9CE}"/>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4" name="Text Placeholder 6">
            <a:extLst>
              <a:ext uri="{FF2B5EF4-FFF2-40B4-BE49-F238E27FC236}">
                <a16:creationId xmlns:a16="http://schemas.microsoft.com/office/drawing/2014/main" id="{C644E75E-F3FD-631A-D490-8B6F7CE333C8}"/>
              </a:ext>
            </a:extLst>
          </p:cNvPr>
          <p:cNvSpPr>
            <a:spLocks noGrp="1" noChangeAspect="1"/>
          </p:cNvSpPr>
          <p:nvPr>
            <p:ph type="body" sz="quarter" idx="16" hasCustomPrompt="1"/>
          </p:nvPr>
        </p:nvSpPr>
        <p:spPr>
          <a:xfrm>
            <a:off x="3206769" y="591409"/>
            <a:ext cx="569645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10" name="Picture 9">
            <a:extLst>
              <a:ext uri="{FF2B5EF4-FFF2-40B4-BE49-F238E27FC236}">
                <a16:creationId xmlns:a16="http://schemas.microsoft.com/office/drawing/2014/main" id="{8BA80876-4EBA-D97B-F95A-AE166E0D4310}"/>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740795298"/>
      </p:ext>
    </p:extLst>
  </p:cSld>
  <p:clrMapOvr>
    <a:masterClrMapping/>
  </p:clrMapOvr>
  <p:hf sldNum="0" hdr="0" ftr="0" dt="0"/>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niq-gfk_left_title_and_content_grey">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B54AF76-AD3D-99EA-BB6C-F380750B8D51}"/>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8" name="Rectangle 7">
            <a:extLst>
              <a:ext uri="{FF2B5EF4-FFF2-40B4-BE49-F238E27FC236}">
                <a16:creationId xmlns:a16="http://schemas.microsoft.com/office/drawing/2014/main" id="{E18F88F4-971A-A6B1-1A27-9CE89013B620}"/>
              </a:ext>
            </a:extLst>
          </p:cNvPr>
          <p:cNvSpPr/>
          <p:nvPr/>
        </p:nvSpPr>
        <p:spPr>
          <a:xfrm>
            <a:off x="0" y="0"/>
            <a:ext cx="3001781" cy="51435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Content Placeholder 2">
            <a:extLst>
              <a:ext uri="{FF2B5EF4-FFF2-40B4-BE49-F238E27FC236}">
                <a16:creationId xmlns:a16="http://schemas.microsoft.com/office/drawing/2014/main" id="{F4F98D61-E26E-644F-9C2C-DFBD31B6CC1A}"/>
              </a:ext>
            </a:extLst>
          </p:cNvPr>
          <p:cNvSpPr>
            <a:spLocks noGrp="1"/>
          </p:cNvSpPr>
          <p:nvPr>
            <p:ph idx="1"/>
          </p:nvPr>
        </p:nvSpPr>
        <p:spPr>
          <a:xfrm>
            <a:off x="3218199" y="1253517"/>
            <a:ext cx="5696449" cy="29928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13" name="Title 1">
            <a:extLst>
              <a:ext uri="{FF2B5EF4-FFF2-40B4-BE49-F238E27FC236}">
                <a16:creationId xmlns:a16="http://schemas.microsoft.com/office/drawing/2014/main" id="{C9E80DB3-397B-6246-0042-983989BBFF67}"/>
              </a:ext>
            </a:extLst>
          </p:cNvPr>
          <p:cNvSpPr>
            <a:spLocks noGrp="1"/>
          </p:cNvSpPr>
          <p:nvPr>
            <p:ph type="ctrTitle" hasCustomPrompt="1"/>
          </p:nvPr>
        </p:nvSpPr>
        <p:spPr>
          <a:xfrm>
            <a:off x="216419" y="833644"/>
            <a:ext cx="2627964" cy="1793229"/>
          </a:xfrm>
          <a:prstGeom prst="rect">
            <a:avLst/>
          </a:prstGeom>
        </p:spPr>
        <p:txBody>
          <a:bodyPr anchor="b" anchorCtr="0">
            <a:noAutofit/>
          </a:bodyPr>
          <a:lstStyle>
            <a:lvl1pPr algn="l">
              <a:defRPr sz="2700">
                <a:solidFill>
                  <a:schemeClr val="tx1"/>
                </a:solidFill>
              </a:defRPr>
            </a:lvl1pPr>
          </a:lstStyle>
          <a:p>
            <a:r>
              <a:rPr lang="en-US"/>
              <a:t>Insert your slide title here maximum of four lines</a:t>
            </a:r>
          </a:p>
        </p:txBody>
      </p:sp>
      <p:sp>
        <p:nvSpPr>
          <p:cNvPr id="14" name="Subtitle 2">
            <a:extLst>
              <a:ext uri="{FF2B5EF4-FFF2-40B4-BE49-F238E27FC236}">
                <a16:creationId xmlns:a16="http://schemas.microsoft.com/office/drawing/2014/main" id="{B088BB5C-5C7B-0E3F-0629-E297953C56D2}"/>
              </a:ext>
            </a:extLst>
          </p:cNvPr>
          <p:cNvSpPr>
            <a:spLocks noGrp="1"/>
          </p:cNvSpPr>
          <p:nvPr>
            <p:ph type="subTitle" idx="13" hasCustomPrompt="1"/>
          </p:nvPr>
        </p:nvSpPr>
        <p:spPr>
          <a:xfrm>
            <a:off x="216419" y="2636635"/>
            <a:ext cx="2627965" cy="327158"/>
          </a:xfrm>
        </p:spPr>
        <p:txBody>
          <a:bodyPr>
            <a:noAutofit/>
          </a:bodyPr>
          <a:lstStyle>
            <a:lvl1pPr marL="0" indent="0" algn="l">
              <a:spcBef>
                <a:spcPts val="0"/>
              </a:spcBef>
              <a:spcAft>
                <a:spcPts val="0"/>
              </a:spcAft>
              <a:buNone/>
              <a:defRPr sz="15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divider subtitle</a:t>
            </a:r>
          </a:p>
        </p:txBody>
      </p:sp>
      <p:sp>
        <p:nvSpPr>
          <p:cNvPr id="15" name="Text Placeholder 10">
            <a:extLst>
              <a:ext uri="{FF2B5EF4-FFF2-40B4-BE49-F238E27FC236}">
                <a16:creationId xmlns:a16="http://schemas.microsoft.com/office/drawing/2014/main" id="{54422616-9A6B-BD2A-EEE6-5D4F31127FD9}"/>
              </a:ext>
            </a:extLst>
          </p:cNvPr>
          <p:cNvSpPr>
            <a:spLocks noGrp="1"/>
          </p:cNvSpPr>
          <p:nvPr>
            <p:ph type="body" sz="quarter" idx="14" hasCustomPrompt="1"/>
          </p:nvPr>
        </p:nvSpPr>
        <p:spPr>
          <a:xfrm>
            <a:off x="3218199" y="4488996"/>
            <a:ext cx="569644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2" name="Straight Connector 1">
            <a:extLst>
              <a:ext uri="{FF2B5EF4-FFF2-40B4-BE49-F238E27FC236}">
                <a16:creationId xmlns:a16="http://schemas.microsoft.com/office/drawing/2014/main" id="{8E247AFE-5B75-F5AA-309C-B98C55C22DA8}"/>
              </a:ext>
            </a:extLst>
          </p:cNvPr>
          <p:cNvCxnSpPr>
            <a:cxnSpLocks/>
          </p:cNvCxnSpPr>
          <p:nvPr/>
        </p:nvCxnSpPr>
        <p:spPr>
          <a:xfrm>
            <a:off x="3194891" y="4796816"/>
            <a:ext cx="5725472"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55F2EF6-07A6-4B65-6BBC-2B0FAC46A5B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4" name="Text Placeholder 6">
            <a:extLst>
              <a:ext uri="{FF2B5EF4-FFF2-40B4-BE49-F238E27FC236}">
                <a16:creationId xmlns:a16="http://schemas.microsoft.com/office/drawing/2014/main" id="{C4C10D55-544E-81C6-6C20-39E78BC83FEA}"/>
              </a:ext>
            </a:extLst>
          </p:cNvPr>
          <p:cNvSpPr>
            <a:spLocks noGrp="1" noChangeAspect="1"/>
          </p:cNvSpPr>
          <p:nvPr>
            <p:ph type="body" sz="quarter" idx="16" hasCustomPrompt="1"/>
          </p:nvPr>
        </p:nvSpPr>
        <p:spPr>
          <a:xfrm>
            <a:off x="3206769" y="591409"/>
            <a:ext cx="5696450"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7" name="Picture 6">
            <a:extLst>
              <a:ext uri="{FF2B5EF4-FFF2-40B4-BE49-F238E27FC236}">
                <a16:creationId xmlns:a16="http://schemas.microsoft.com/office/drawing/2014/main" id="{38F4644C-5154-6F8B-C984-3B51CE49135A}"/>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2469205204"/>
      </p:ext>
    </p:extLst>
  </p:cSld>
  <p:clrMapOvr>
    <a:masterClrMapping/>
  </p:clrMapOvr>
  <p:hf sldNum="0" hdr="0" ftr="0" dt="0"/>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niq-gfk_sidebar_blue_circle">
    <p:spTree>
      <p:nvGrpSpPr>
        <p:cNvPr id="1" name=""/>
        <p:cNvGrpSpPr/>
        <p:nvPr/>
      </p:nvGrpSpPr>
      <p:grpSpPr>
        <a:xfrm>
          <a:off x="0" y="0"/>
          <a:ext cx="0" cy="0"/>
          <a:chOff x="0" y="0"/>
          <a:chExt cx="0" cy="0"/>
        </a:xfrm>
      </p:grpSpPr>
      <p:pic>
        <p:nvPicPr>
          <p:cNvPr id="13" name="Picture 12" descr="Shape, circle&#10;&#10;Description automatically generated">
            <a:extLst>
              <a:ext uri="{FF2B5EF4-FFF2-40B4-BE49-F238E27FC236}">
                <a16:creationId xmlns:a16="http://schemas.microsoft.com/office/drawing/2014/main" id="{0F962C91-6536-8C92-5712-D8E7D79A179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64" b="-475"/>
          <a:stretch/>
        </p:blipFill>
        <p:spPr>
          <a:xfrm>
            <a:off x="4760761" y="0"/>
            <a:ext cx="4383239" cy="4699774"/>
          </a:xfrm>
          <a:prstGeom prst="rect">
            <a:avLst/>
          </a:prstGeom>
        </p:spPr>
      </p:pic>
      <p:sp>
        <p:nvSpPr>
          <p:cNvPr id="4" name="Oval 3">
            <a:extLst>
              <a:ext uri="{FF2B5EF4-FFF2-40B4-BE49-F238E27FC236}">
                <a16:creationId xmlns:a16="http://schemas.microsoft.com/office/drawing/2014/main" id="{41013006-A4C4-8E9B-582A-F881CD2B33EB}"/>
              </a:ext>
            </a:extLst>
          </p:cNvPr>
          <p:cNvSpPr/>
          <p:nvPr/>
        </p:nvSpPr>
        <p:spPr>
          <a:xfrm>
            <a:off x="5588010" y="230225"/>
            <a:ext cx="3706846" cy="3706846"/>
          </a:xfrm>
          <a:prstGeom prst="ellipse">
            <a:avLst/>
          </a:prstGeom>
          <a:solidFill>
            <a:schemeClr val="bg1"/>
          </a:solidFill>
          <a:ln w="28575">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bg1"/>
              </a:solidFill>
            </a:endParaRP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7" name="Content Placeholder 2">
            <a:extLst>
              <a:ext uri="{FF2B5EF4-FFF2-40B4-BE49-F238E27FC236}">
                <a16:creationId xmlns:a16="http://schemas.microsoft.com/office/drawing/2014/main" id="{18E1557B-C916-3D4A-06A3-5841A72F546D}"/>
              </a:ext>
            </a:extLst>
          </p:cNvPr>
          <p:cNvSpPr>
            <a:spLocks noGrp="1"/>
          </p:cNvSpPr>
          <p:nvPr>
            <p:ph idx="13"/>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ext Placeholder 2">
            <a:extLst>
              <a:ext uri="{FF2B5EF4-FFF2-40B4-BE49-F238E27FC236}">
                <a16:creationId xmlns:a16="http://schemas.microsoft.com/office/drawing/2014/main" id="{B22CCE7A-44FB-F660-8825-197D91082D19}"/>
              </a:ext>
            </a:extLst>
          </p:cNvPr>
          <p:cNvSpPr>
            <a:spLocks noGrp="1"/>
          </p:cNvSpPr>
          <p:nvPr>
            <p:ph type="body" sz="quarter" idx="14" hasCustomPrompt="1"/>
          </p:nvPr>
        </p:nvSpPr>
        <p:spPr>
          <a:xfrm>
            <a:off x="5981076" y="1173415"/>
            <a:ext cx="2934325" cy="1820465"/>
          </a:xfrm>
        </p:spPr>
        <p:txBody>
          <a:bodyPr anchor="ctr" anchorCtr="0"/>
          <a:lstStyle>
            <a:lvl1pPr marL="0" indent="0" algn="ctr">
              <a:buNone/>
              <a:defRPr sz="2400" b="1">
                <a:solidFill>
                  <a:schemeClr val="bg2"/>
                </a:solidFill>
              </a:defRPr>
            </a:lvl1pPr>
            <a:lvl2pPr marL="342900" indent="0">
              <a:buNone/>
              <a:defRPr sz="2700"/>
            </a:lvl2pPr>
            <a:lvl3pPr marL="685800" indent="0">
              <a:buNone/>
              <a:defRPr sz="2700"/>
            </a:lvl3pPr>
            <a:lvl4pPr marL="1028700" indent="0">
              <a:buNone/>
              <a:defRPr sz="2700"/>
            </a:lvl4pPr>
            <a:lvl5pPr marL="1371600" indent="0">
              <a:buNone/>
              <a:defRPr sz="2700"/>
            </a:lvl5pPr>
          </a:lstStyle>
          <a:p>
            <a:pPr lvl="0"/>
            <a:r>
              <a:rPr lang="en-US"/>
              <a:t>Insert key takeaway/stat</a:t>
            </a:r>
          </a:p>
        </p:txBody>
      </p:sp>
      <p:sp>
        <p:nvSpPr>
          <p:cNvPr id="17" name="Text Placeholder 10">
            <a:extLst>
              <a:ext uri="{FF2B5EF4-FFF2-40B4-BE49-F238E27FC236}">
                <a16:creationId xmlns:a16="http://schemas.microsoft.com/office/drawing/2014/main" id="{402E7EE9-4D36-82A0-ADAA-86A3F1D4BB13}"/>
              </a:ext>
            </a:extLst>
          </p:cNvPr>
          <p:cNvSpPr>
            <a:spLocks noGrp="1"/>
          </p:cNvSpPr>
          <p:nvPr>
            <p:ph type="body" sz="quarter" idx="17"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9" name="Title 1">
            <a:extLst>
              <a:ext uri="{FF2B5EF4-FFF2-40B4-BE49-F238E27FC236}">
                <a16:creationId xmlns:a16="http://schemas.microsoft.com/office/drawing/2014/main" id="{67B38013-170F-74E2-9E07-4B0FB008B93A}"/>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11" name="Straight Connector 10">
            <a:extLst>
              <a:ext uri="{FF2B5EF4-FFF2-40B4-BE49-F238E27FC236}">
                <a16:creationId xmlns:a16="http://schemas.microsoft.com/office/drawing/2014/main" id="{F58155AE-A3BE-5FB3-3DFA-87FBA1907EE7}"/>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EA1EEDF0-6722-37DF-014E-CBC766E1C5AD}"/>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2783782221"/>
      </p:ext>
    </p:extLst>
  </p:cSld>
  <p:clrMapOvr>
    <a:masterClrMapping/>
  </p:clrMapOvr>
  <p:hf sldNum="0" hdr="0" ftr="0" dt="0"/>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niq-gfk_sidebar_blue_circle2">
    <p:spTree>
      <p:nvGrpSpPr>
        <p:cNvPr id="1" name=""/>
        <p:cNvGrpSpPr/>
        <p:nvPr/>
      </p:nvGrpSpPr>
      <p:grpSpPr>
        <a:xfrm>
          <a:off x="0" y="0"/>
          <a:ext cx="0" cy="0"/>
          <a:chOff x="0" y="0"/>
          <a:chExt cx="0" cy="0"/>
        </a:xfrm>
      </p:grpSpPr>
      <p:pic>
        <p:nvPicPr>
          <p:cNvPr id="15" name="Picture 14" descr="Shape, circle&#10;&#10;Description automatically generated">
            <a:extLst>
              <a:ext uri="{FF2B5EF4-FFF2-40B4-BE49-F238E27FC236}">
                <a16:creationId xmlns:a16="http://schemas.microsoft.com/office/drawing/2014/main" id="{5EAD1CE0-8C43-3A65-CBE4-F6500A6A3AD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64" b="-475"/>
          <a:stretch/>
        </p:blipFill>
        <p:spPr>
          <a:xfrm>
            <a:off x="4760761" y="0"/>
            <a:ext cx="4383239" cy="4699774"/>
          </a:xfrm>
          <a:prstGeom prst="rect">
            <a:avLst/>
          </a:prstGeom>
        </p:spPr>
      </p:pic>
      <p:sp>
        <p:nvSpPr>
          <p:cNvPr id="4" name="Oval 3">
            <a:extLst>
              <a:ext uri="{FF2B5EF4-FFF2-40B4-BE49-F238E27FC236}">
                <a16:creationId xmlns:a16="http://schemas.microsoft.com/office/drawing/2014/main" id="{41013006-A4C4-8E9B-582A-F881CD2B33EB}"/>
              </a:ext>
            </a:extLst>
          </p:cNvPr>
          <p:cNvSpPr/>
          <p:nvPr/>
        </p:nvSpPr>
        <p:spPr>
          <a:xfrm>
            <a:off x="5588010" y="230225"/>
            <a:ext cx="3706846" cy="370684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solidFill>
                <a:schemeClr val="bg1"/>
              </a:solidFill>
            </a:endParaRPr>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7" name="Content Placeholder 2">
            <a:extLst>
              <a:ext uri="{FF2B5EF4-FFF2-40B4-BE49-F238E27FC236}">
                <a16:creationId xmlns:a16="http://schemas.microsoft.com/office/drawing/2014/main" id="{18E1557B-C916-3D4A-06A3-5841A72F546D}"/>
              </a:ext>
            </a:extLst>
          </p:cNvPr>
          <p:cNvSpPr>
            <a:spLocks noGrp="1"/>
          </p:cNvSpPr>
          <p:nvPr>
            <p:ph idx="13"/>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912D01FA-DA8D-5F18-9C23-78DF80969118}"/>
              </a:ext>
            </a:extLst>
          </p:cNvPr>
          <p:cNvSpPr>
            <a:spLocks noGrp="1"/>
          </p:cNvSpPr>
          <p:nvPr>
            <p:ph type="body" sz="quarter" idx="14" hasCustomPrompt="1"/>
          </p:nvPr>
        </p:nvSpPr>
        <p:spPr>
          <a:xfrm>
            <a:off x="5981076" y="1173415"/>
            <a:ext cx="2934325" cy="1820465"/>
          </a:xfrm>
        </p:spPr>
        <p:txBody>
          <a:bodyPr anchor="ctr" anchorCtr="0"/>
          <a:lstStyle>
            <a:lvl1pPr marL="0" indent="0" algn="ctr">
              <a:buNone/>
              <a:defRPr sz="2400" b="1">
                <a:solidFill>
                  <a:schemeClr val="bg1"/>
                </a:solidFill>
              </a:defRPr>
            </a:lvl1pPr>
            <a:lvl2pPr marL="342900" indent="0">
              <a:buNone/>
              <a:defRPr sz="2700"/>
            </a:lvl2pPr>
            <a:lvl3pPr marL="685800" indent="0">
              <a:buNone/>
              <a:defRPr sz="2700"/>
            </a:lvl3pPr>
            <a:lvl4pPr marL="1028700" indent="0">
              <a:buNone/>
              <a:defRPr sz="2700"/>
            </a:lvl4pPr>
            <a:lvl5pPr marL="1371600" indent="0">
              <a:buNone/>
              <a:defRPr sz="2700"/>
            </a:lvl5pPr>
          </a:lstStyle>
          <a:p>
            <a:pPr lvl="0"/>
            <a:r>
              <a:rPr lang="en-US"/>
              <a:t>Insert key takeaway/stat</a:t>
            </a:r>
          </a:p>
        </p:txBody>
      </p:sp>
      <p:sp>
        <p:nvSpPr>
          <p:cNvPr id="11" name="Text Placeholder 10">
            <a:extLst>
              <a:ext uri="{FF2B5EF4-FFF2-40B4-BE49-F238E27FC236}">
                <a16:creationId xmlns:a16="http://schemas.microsoft.com/office/drawing/2014/main" id="{C42D82BB-AEE5-0C84-EEDB-14508AB6B15D}"/>
              </a:ext>
            </a:extLst>
          </p:cNvPr>
          <p:cNvSpPr>
            <a:spLocks noGrp="1"/>
          </p:cNvSpPr>
          <p:nvPr>
            <p:ph type="body" sz="quarter" idx="17"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 name="Title 1">
            <a:extLst>
              <a:ext uri="{FF2B5EF4-FFF2-40B4-BE49-F238E27FC236}">
                <a16:creationId xmlns:a16="http://schemas.microsoft.com/office/drawing/2014/main" id="{D614A774-566F-5341-4A99-50831875B7D8}"/>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12" name="Straight Connector 11">
            <a:extLst>
              <a:ext uri="{FF2B5EF4-FFF2-40B4-BE49-F238E27FC236}">
                <a16:creationId xmlns:a16="http://schemas.microsoft.com/office/drawing/2014/main" id="{763BA60D-9446-8031-B981-76B69B36F853}"/>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Text Placeholder 6">
            <a:extLst>
              <a:ext uri="{FF2B5EF4-FFF2-40B4-BE49-F238E27FC236}">
                <a16:creationId xmlns:a16="http://schemas.microsoft.com/office/drawing/2014/main" id="{998E4BD5-0C50-59F6-AE72-8C460C3264D2}"/>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Tree>
    <p:extLst>
      <p:ext uri="{BB962C8B-B14F-4D97-AF65-F5344CB8AC3E}">
        <p14:creationId xmlns:p14="http://schemas.microsoft.com/office/powerpoint/2010/main" val="676761937"/>
      </p:ext>
    </p:extLst>
  </p:cSld>
  <p:clrMapOvr>
    <a:masterClrMapping/>
  </p:clrMapOvr>
  <p:hf sldNum="0" hdr="0" ftr="0" dt="0"/>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niq-gfk_half_deep_blu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083BD0-CB53-4C20-92B8-5D9B6FB90498}"/>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Rectangle 2">
            <a:extLst>
              <a:ext uri="{FF2B5EF4-FFF2-40B4-BE49-F238E27FC236}">
                <a16:creationId xmlns:a16="http://schemas.microsoft.com/office/drawing/2014/main" id="{CA6E01A0-2BBF-F43A-B5D1-9E31AF6BC972}"/>
              </a:ext>
            </a:extLst>
          </p:cNvPr>
          <p:cNvSpPr/>
          <p:nvPr/>
        </p:nvSpPr>
        <p:spPr>
          <a:xfrm>
            <a:off x="4572000" y="0"/>
            <a:ext cx="4572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lvl1pPr>
              <a:defRPr>
                <a:solidFill>
                  <a:schemeClr val="bg1"/>
                </a:solidFill>
              </a:defRPr>
            </a:lvl1pPr>
          </a:lstStyle>
          <a:p>
            <a:fld id="{516D1C96-CD82-49FE-B67D-E8ED83D4F06E}" type="slidenum">
              <a:rPr lang="en-US" smtClean="0"/>
              <a:t>‹#›</a:t>
            </a:fld>
            <a:endParaRPr lang="en-US"/>
          </a:p>
        </p:txBody>
      </p:sp>
      <p:sp>
        <p:nvSpPr>
          <p:cNvPr id="11" name="Content Placeholder 2">
            <a:extLst>
              <a:ext uri="{FF2B5EF4-FFF2-40B4-BE49-F238E27FC236}">
                <a16:creationId xmlns:a16="http://schemas.microsoft.com/office/drawing/2014/main" id="{AE757F6A-9EA9-44EF-A958-2270491049E4}"/>
              </a:ext>
            </a:extLst>
          </p:cNvPr>
          <p:cNvSpPr>
            <a:spLocks noGrp="1"/>
          </p:cNvSpPr>
          <p:nvPr>
            <p:ph idx="1"/>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44B2E6E-E1B5-CE08-FA8B-59B5B1CA44CC}"/>
              </a:ext>
            </a:extLst>
          </p:cNvPr>
          <p:cNvSpPr>
            <a:spLocks noGrp="1"/>
          </p:cNvSpPr>
          <p:nvPr>
            <p:ph idx="13"/>
          </p:nvPr>
        </p:nvSpPr>
        <p:spPr>
          <a:xfrm>
            <a:off x="4769680" y="1369219"/>
            <a:ext cx="4145720" cy="2877104"/>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12C0470F-CF16-06E7-C6C5-F985FA46839B}"/>
              </a:ext>
            </a:extLst>
          </p:cNvPr>
          <p:cNvSpPr>
            <a:spLocks noGrp="1"/>
          </p:cNvSpPr>
          <p:nvPr>
            <p:ph type="body" sz="quarter" idx="14" hasCustomPrompt="1"/>
          </p:nvPr>
        </p:nvSpPr>
        <p:spPr>
          <a:xfrm>
            <a:off x="216419" y="4488996"/>
            <a:ext cx="4145720"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10" name="Straight Connector 9">
            <a:extLst>
              <a:ext uri="{FF2B5EF4-FFF2-40B4-BE49-F238E27FC236}">
                <a16:creationId xmlns:a16="http://schemas.microsoft.com/office/drawing/2014/main" id="{B0C58F92-15EB-DF6A-3AEA-BEF2B4382D47}"/>
              </a:ext>
            </a:extLst>
          </p:cNvPr>
          <p:cNvCxnSpPr>
            <a:cxnSpLocks/>
          </p:cNvCxnSpPr>
          <p:nvPr/>
        </p:nvCxnSpPr>
        <p:spPr>
          <a:xfrm>
            <a:off x="209199" y="4796816"/>
            <a:ext cx="41529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13B39F9E-29C7-4F5B-9B1A-FE81CF8DB4C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23" name="Title 1">
            <a:extLst>
              <a:ext uri="{FF2B5EF4-FFF2-40B4-BE49-F238E27FC236}">
                <a16:creationId xmlns:a16="http://schemas.microsoft.com/office/drawing/2014/main" id="{E057E11A-E34D-941D-DF21-BE0590947E19}"/>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25" name="Straight Connector 24">
            <a:extLst>
              <a:ext uri="{FF2B5EF4-FFF2-40B4-BE49-F238E27FC236}">
                <a16:creationId xmlns:a16="http://schemas.microsoft.com/office/drawing/2014/main" id="{8F01343E-F55F-6211-AA10-F9EAED084150}"/>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041DD6D-3438-93A3-A777-68EA07FB1D42}"/>
              </a:ext>
            </a:extLst>
          </p:cNvPr>
          <p:cNvCxnSpPr>
            <a:cxnSpLocks/>
          </p:cNvCxnSpPr>
          <p:nvPr/>
        </p:nvCxnSpPr>
        <p:spPr>
          <a:xfrm>
            <a:off x="4747332" y="538955"/>
            <a:ext cx="4157347"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Text Placeholder 16">
            <a:extLst>
              <a:ext uri="{FF2B5EF4-FFF2-40B4-BE49-F238E27FC236}">
                <a16:creationId xmlns:a16="http://schemas.microsoft.com/office/drawing/2014/main" id="{A7949EE8-83D1-17BE-32E2-4AFE47DD5BD4}"/>
              </a:ext>
            </a:extLst>
          </p:cNvPr>
          <p:cNvSpPr>
            <a:spLocks noGrp="1"/>
          </p:cNvSpPr>
          <p:nvPr>
            <p:ph type="body" sz="quarter" idx="15" hasCustomPrompt="1"/>
          </p:nvPr>
        </p:nvSpPr>
        <p:spPr>
          <a:xfrm>
            <a:off x="4769681" y="134229"/>
            <a:ext cx="4164458" cy="298013"/>
          </a:xfrm>
        </p:spPr>
        <p:txBody>
          <a:bodyPr anchor="ctr"/>
          <a:lstStyle>
            <a:lvl1pPr marL="0" indent="0">
              <a:buNone/>
              <a:defRPr sz="1500" b="1">
                <a:solidFill>
                  <a:schemeClr val="bg1"/>
                </a:solidFill>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Insert your slide title in Arial bold 24pt</a:t>
            </a:r>
          </a:p>
        </p:txBody>
      </p:sp>
      <p:sp>
        <p:nvSpPr>
          <p:cNvPr id="2" name="Text Placeholder 6">
            <a:extLst>
              <a:ext uri="{FF2B5EF4-FFF2-40B4-BE49-F238E27FC236}">
                <a16:creationId xmlns:a16="http://schemas.microsoft.com/office/drawing/2014/main" id="{8C99E11B-C159-D17D-C268-1DC72F9A6636}"/>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
        <p:nvSpPr>
          <p:cNvPr id="5" name="Text Placeholder 6">
            <a:extLst>
              <a:ext uri="{FF2B5EF4-FFF2-40B4-BE49-F238E27FC236}">
                <a16:creationId xmlns:a16="http://schemas.microsoft.com/office/drawing/2014/main" id="{F6916D51-7B4D-64A7-C83B-BEB632A7D1FB}"/>
              </a:ext>
            </a:extLst>
          </p:cNvPr>
          <p:cNvSpPr>
            <a:spLocks noGrp="1" noChangeAspect="1"/>
          </p:cNvSpPr>
          <p:nvPr>
            <p:ph type="body" sz="quarter" idx="17" hasCustomPrompt="1"/>
          </p:nvPr>
        </p:nvSpPr>
        <p:spPr>
          <a:xfrm>
            <a:off x="4749536" y="645668"/>
            <a:ext cx="4152939" cy="507831"/>
          </a:xfrm>
          <a:solidFill>
            <a:schemeClr val="bg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8" name="Picture 7">
            <a:extLst>
              <a:ext uri="{FF2B5EF4-FFF2-40B4-BE49-F238E27FC236}">
                <a16:creationId xmlns:a16="http://schemas.microsoft.com/office/drawing/2014/main" id="{E669FDBB-6393-7424-AD73-DCE3EFC2F0D9}"/>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1240796904"/>
      </p:ext>
    </p:extLst>
  </p:cSld>
  <p:clrMapOvr>
    <a:masterClrMapping/>
  </p:clrMapOvr>
  <p:hf sldNum="0" hdr="0" ftr="0" dt="0"/>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1_niq-gfk_half_deep_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6E01A0-2BBF-F43A-B5D1-9E31AF6BC972}"/>
              </a:ext>
            </a:extLst>
          </p:cNvPr>
          <p:cNvSpPr/>
          <p:nvPr/>
        </p:nvSpPr>
        <p:spPr>
          <a:xfrm>
            <a:off x="4572000" y="0"/>
            <a:ext cx="4572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8" name="Freeform 17">
            <a:extLst>
              <a:ext uri="{FF2B5EF4-FFF2-40B4-BE49-F238E27FC236}">
                <a16:creationId xmlns:a16="http://schemas.microsoft.com/office/drawing/2014/main" id="{E8C25628-BD28-6BD1-5784-4CA423147E76}"/>
              </a:ext>
            </a:extLst>
          </p:cNvPr>
          <p:cNvSpPr/>
          <p:nvPr/>
        </p:nvSpPr>
        <p:spPr>
          <a:xfrm>
            <a:off x="1604966" y="1"/>
            <a:ext cx="5934068" cy="5150273"/>
          </a:xfrm>
          <a:custGeom>
            <a:avLst/>
            <a:gdLst>
              <a:gd name="connsiteX0" fmla="*/ 1988762 w 7912090"/>
              <a:gd name="connsiteY0" fmla="*/ 0 h 6867031"/>
              <a:gd name="connsiteX1" fmla="*/ 5923328 w 7912090"/>
              <a:gd name="connsiteY1" fmla="*/ 0 h 6867031"/>
              <a:gd name="connsiteX2" fmla="*/ 6167907 w 7912090"/>
              <a:gd name="connsiteY2" fmla="*/ 148585 h 6867031"/>
              <a:gd name="connsiteX3" fmla="*/ 7912090 w 7912090"/>
              <a:gd name="connsiteY3" fmla="*/ 3429000 h 6867031"/>
              <a:gd name="connsiteX4" fmla="*/ 6007398 w 7912090"/>
              <a:gd name="connsiteY4" fmla="*/ 6812315 h 6867031"/>
              <a:gd name="connsiteX5" fmla="*/ 5912238 w 7912090"/>
              <a:gd name="connsiteY5" fmla="*/ 6867031 h 6867031"/>
              <a:gd name="connsiteX6" fmla="*/ 1999852 w 7912090"/>
              <a:gd name="connsiteY6" fmla="*/ 6867031 h 6867031"/>
              <a:gd name="connsiteX7" fmla="*/ 1904692 w 7912090"/>
              <a:gd name="connsiteY7" fmla="*/ 6812315 h 6867031"/>
              <a:gd name="connsiteX8" fmla="*/ 0 w 7912090"/>
              <a:gd name="connsiteY8" fmla="*/ 3429000 h 6867031"/>
              <a:gd name="connsiteX9" fmla="*/ 1744183 w 7912090"/>
              <a:gd name="connsiteY9" fmla="*/ 148585 h 686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12090" h="6867031">
                <a:moveTo>
                  <a:pt x="1988762" y="0"/>
                </a:moveTo>
                <a:lnTo>
                  <a:pt x="5923328" y="0"/>
                </a:lnTo>
                <a:lnTo>
                  <a:pt x="6167907" y="148585"/>
                </a:lnTo>
                <a:cubicBezTo>
                  <a:pt x="7220222" y="859516"/>
                  <a:pt x="7912090" y="2063461"/>
                  <a:pt x="7912090" y="3429000"/>
                </a:cubicBezTo>
                <a:cubicBezTo>
                  <a:pt x="7912090" y="4862817"/>
                  <a:pt x="7149306" y="6118475"/>
                  <a:pt x="6007398" y="6812315"/>
                </a:cubicBezTo>
                <a:lnTo>
                  <a:pt x="5912238" y="6867031"/>
                </a:lnTo>
                <a:lnTo>
                  <a:pt x="1999852" y="6867031"/>
                </a:lnTo>
                <a:lnTo>
                  <a:pt x="1904692" y="6812315"/>
                </a:lnTo>
                <a:cubicBezTo>
                  <a:pt x="762785" y="6118475"/>
                  <a:pt x="0" y="4862817"/>
                  <a:pt x="0" y="3429000"/>
                </a:cubicBezTo>
                <a:cubicBezTo>
                  <a:pt x="0" y="2063461"/>
                  <a:pt x="691868" y="859516"/>
                  <a:pt x="1744183" y="14858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4290" rIns="34290" rtlCol="0" anchor="ctr">
            <a:noAutofit/>
          </a:bodyPr>
          <a:lstStyle/>
          <a:p>
            <a:pPr algn="ctr">
              <a:spcAft>
                <a:spcPts val="450"/>
              </a:spcAft>
            </a:pPr>
            <a:endParaRPr lang="en-US" sz="1200"/>
          </a:p>
        </p:txBody>
      </p:sp>
      <p:sp>
        <p:nvSpPr>
          <p:cNvPr id="4" name="Rectangle 3">
            <a:extLst>
              <a:ext uri="{FF2B5EF4-FFF2-40B4-BE49-F238E27FC236}">
                <a16:creationId xmlns:a16="http://schemas.microsoft.com/office/drawing/2014/main" id="{90083BD0-CB53-4C20-92B8-5D9B6FB90498}"/>
              </a:ext>
            </a:extLst>
          </p:cNvPr>
          <p:cNvSpPr/>
          <p:nvPr/>
        </p:nvSpPr>
        <p:spPr>
          <a:xfrm>
            <a:off x="0" y="-6773"/>
            <a:ext cx="4572000" cy="5157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lvl1pPr>
              <a:defRPr>
                <a:solidFill>
                  <a:schemeClr val="bg1"/>
                </a:solidFill>
              </a:defRPr>
            </a:lvl1pPr>
          </a:lstStyle>
          <a:p>
            <a:fld id="{516D1C96-CD82-49FE-B67D-E8ED83D4F06E}" type="slidenum">
              <a:rPr lang="en-US" smtClean="0"/>
              <a:t>‹#›</a:t>
            </a:fld>
            <a:endParaRPr lang="en-US"/>
          </a:p>
        </p:txBody>
      </p:sp>
      <p:sp>
        <p:nvSpPr>
          <p:cNvPr id="22" name="TextBox 21">
            <a:extLst>
              <a:ext uri="{FF2B5EF4-FFF2-40B4-BE49-F238E27FC236}">
                <a16:creationId xmlns:a16="http://schemas.microsoft.com/office/drawing/2014/main" id="{13B39F9E-29C7-4F5B-9B1A-FE81CF8DB4C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7" name="Oval 6">
            <a:extLst>
              <a:ext uri="{FF2B5EF4-FFF2-40B4-BE49-F238E27FC236}">
                <a16:creationId xmlns:a16="http://schemas.microsoft.com/office/drawing/2014/main" id="{ED2EC2E1-A1B5-7614-7062-AF646FF3AA8B}"/>
              </a:ext>
            </a:extLst>
          </p:cNvPr>
          <p:cNvSpPr/>
          <p:nvPr/>
        </p:nvSpPr>
        <p:spPr>
          <a:xfrm>
            <a:off x="1993477" y="-6773"/>
            <a:ext cx="5157047" cy="51570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ctr"/>
          <a:lstStyle/>
          <a:p>
            <a:pPr algn="ctr">
              <a:spcAft>
                <a:spcPts val="450"/>
              </a:spcAft>
            </a:pPr>
            <a:endParaRPr lang="en-US" sz="1200"/>
          </a:p>
        </p:txBody>
      </p:sp>
      <p:sp>
        <p:nvSpPr>
          <p:cNvPr id="11" name="Content Placeholder 2">
            <a:extLst>
              <a:ext uri="{FF2B5EF4-FFF2-40B4-BE49-F238E27FC236}">
                <a16:creationId xmlns:a16="http://schemas.microsoft.com/office/drawing/2014/main" id="{AE757F6A-9EA9-44EF-A958-2270491049E4}"/>
              </a:ext>
            </a:extLst>
          </p:cNvPr>
          <p:cNvSpPr>
            <a:spLocks noGrp="1"/>
          </p:cNvSpPr>
          <p:nvPr>
            <p:ph idx="1"/>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12C0470F-CF16-06E7-C6C5-F985FA46839B}"/>
              </a:ext>
            </a:extLst>
          </p:cNvPr>
          <p:cNvSpPr>
            <a:spLocks noGrp="1"/>
          </p:cNvSpPr>
          <p:nvPr>
            <p:ph type="body" sz="quarter" idx="14" hasCustomPrompt="1"/>
          </p:nvPr>
        </p:nvSpPr>
        <p:spPr>
          <a:xfrm>
            <a:off x="216419" y="4488996"/>
            <a:ext cx="4145720"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cxnSp>
        <p:nvCxnSpPr>
          <p:cNvPr id="10" name="Straight Connector 9">
            <a:extLst>
              <a:ext uri="{FF2B5EF4-FFF2-40B4-BE49-F238E27FC236}">
                <a16:creationId xmlns:a16="http://schemas.microsoft.com/office/drawing/2014/main" id="{B0C58F92-15EB-DF6A-3AEA-BEF2B4382D47}"/>
              </a:ext>
            </a:extLst>
          </p:cNvPr>
          <p:cNvCxnSpPr>
            <a:cxnSpLocks/>
          </p:cNvCxnSpPr>
          <p:nvPr/>
        </p:nvCxnSpPr>
        <p:spPr>
          <a:xfrm>
            <a:off x="209199" y="4796816"/>
            <a:ext cx="4152939"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3" name="Title 1">
            <a:extLst>
              <a:ext uri="{FF2B5EF4-FFF2-40B4-BE49-F238E27FC236}">
                <a16:creationId xmlns:a16="http://schemas.microsoft.com/office/drawing/2014/main" id="{E057E11A-E34D-941D-DF21-BE0590947E19}"/>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25" name="Straight Connector 24">
            <a:extLst>
              <a:ext uri="{FF2B5EF4-FFF2-40B4-BE49-F238E27FC236}">
                <a16:creationId xmlns:a16="http://schemas.microsoft.com/office/drawing/2014/main" id="{8F01343E-F55F-6211-AA10-F9EAED084150}"/>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 Placeholder 6">
            <a:extLst>
              <a:ext uri="{FF2B5EF4-FFF2-40B4-BE49-F238E27FC236}">
                <a16:creationId xmlns:a16="http://schemas.microsoft.com/office/drawing/2014/main" id="{8C99E11B-C159-D17D-C268-1DC72F9A6636}"/>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8" name="Picture 7">
            <a:extLst>
              <a:ext uri="{FF2B5EF4-FFF2-40B4-BE49-F238E27FC236}">
                <a16:creationId xmlns:a16="http://schemas.microsoft.com/office/drawing/2014/main" id="{E669FDBB-6393-7424-AD73-DCE3EFC2F0D9}"/>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1728464638"/>
      </p:ext>
    </p:extLst>
  </p:cSld>
  <p:clrMapOvr>
    <a:masterClrMapping/>
  </p:clrMapOvr>
  <p:hf sldNum="0" hdr="0" ftr="0" dt="0"/>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p:cSld name="2_niq-gfk_half_deep_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6E01A0-2BBF-F43A-B5D1-9E31AF6BC972}"/>
              </a:ext>
            </a:extLst>
          </p:cNvPr>
          <p:cNvSpPr/>
          <p:nvPr/>
        </p:nvSpPr>
        <p:spPr>
          <a:xfrm>
            <a:off x="2282869" y="6774"/>
            <a:ext cx="6861131"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8" name="Freeform 17">
            <a:extLst>
              <a:ext uri="{FF2B5EF4-FFF2-40B4-BE49-F238E27FC236}">
                <a16:creationId xmlns:a16="http://schemas.microsoft.com/office/drawing/2014/main" id="{E8C25628-BD28-6BD1-5784-4CA423147E76}"/>
              </a:ext>
            </a:extLst>
          </p:cNvPr>
          <p:cNvSpPr/>
          <p:nvPr/>
        </p:nvSpPr>
        <p:spPr>
          <a:xfrm>
            <a:off x="-684165" y="1"/>
            <a:ext cx="5934068" cy="5150273"/>
          </a:xfrm>
          <a:custGeom>
            <a:avLst/>
            <a:gdLst>
              <a:gd name="connsiteX0" fmla="*/ 1988762 w 7912090"/>
              <a:gd name="connsiteY0" fmla="*/ 0 h 6867031"/>
              <a:gd name="connsiteX1" fmla="*/ 5923328 w 7912090"/>
              <a:gd name="connsiteY1" fmla="*/ 0 h 6867031"/>
              <a:gd name="connsiteX2" fmla="*/ 6167907 w 7912090"/>
              <a:gd name="connsiteY2" fmla="*/ 148585 h 6867031"/>
              <a:gd name="connsiteX3" fmla="*/ 7912090 w 7912090"/>
              <a:gd name="connsiteY3" fmla="*/ 3429000 h 6867031"/>
              <a:gd name="connsiteX4" fmla="*/ 6007398 w 7912090"/>
              <a:gd name="connsiteY4" fmla="*/ 6812315 h 6867031"/>
              <a:gd name="connsiteX5" fmla="*/ 5912238 w 7912090"/>
              <a:gd name="connsiteY5" fmla="*/ 6867031 h 6867031"/>
              <a:gd name="connsiteX6" fmla="*/ 1999852 w 7912090"/>
              <a:gd name="connsiteY6" fmla="*/ 6867031 h 6867031"/>
              <a:gd name="connsiteX7" fmla="*/ 1904692 w 7912090"/>
              <a:gd name="connsiteY7" fmla="*/ 6812315 h 6867031"/>
              <a:gd name="connsiteX8" fmla="*/ 0 w 7912090"/>
              <a:gd name="connsiteY8" fmla="*/ 3429000 h 6867031"/>
              <a:gd name="connsiteX9" fmla="*/ 1744183 w 7912090"/>
              <a:gd name="connsiteY9" fmla="*/ 148585 h 686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12090" h="6867031">
                <a:moveTo>
                  <a:pt x="1988762" y="0"/>
                </a:moveTo>
                <a:lnTo>
                  <a:pt x="5923328" y="0"/>
                </a:lnTo>
                <a:lnTo>
                  <a:pt x="6167907" y="148585"/>
                </a:lnTo>
                <a:cubicBezTo>
                  <a:pt x="7220222" y="859516"/>
                  <a:pt x="7912090" y="2063461"/>
                  <a:pt x="7912090" y="3429000"/>
                </a:cubicBezTo>
                <a:cubicBezTo>
                  <a:pt x="7912090" y="4862817"/>
                  <a:pt x="7149306" y="6118475"/>
                  <a:pt x="6007398" y="6812315"/>
                </a:cubicBezTo>
                <a:lnTo>
                  <a:pt x="5912238" y="6867031"/>
                </a:lnTo>
                <a:lnTo>
                  <a:pt x="1999852" y="6867031"/>
                </a:lnTo>
                <a:lnTo>
                  <a:pt x="1904692" y="6812315"/>
                </a:lnTo>
                <a:cubicBezTo>
                  <a:pt x="762785" y="6118475"/>
                  <a:pt x="0" y="4862817"/>
                  <a:pt x="0" y="3429000"/>
                </a:cubicBezTo>
                <a:cubicBezTo>
                  <a:pt x="0" y="2063461"/>
                  <a:pt x="691868" y="859516"/>
                  <a:pt x="1744183" y="148585"/>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4290" rIns="34290" rtlCol="0" anchor="ctr">
            <a:noAutofit/>
          </a:bodyPr>
          <a:lstStyle/>
          <a:p>
            <a:pPr algn="ctr">
              <a:spcAft>
                <a:spcPts val="450"/>
              </a:spcAft>
            </a:pPr>
            <a:endParaRPr lang="en-US" sz="1200"/>
          </a:p>
        </p:txBody>
      </p:sp>
      <p:sp>
        <p:nvSpPr>
          <p:cNvPr id="4" name="Rectangle 3">
            <a:extLst>
              <a:ext uri="{FF2B5EF4-FFF2-40B4-BE49-F238E27FC236}">
                <a16:creationId xmlns:a16="http://schemas.microsoft.com/office/drawing/2014/main" id="{90083BD0-CB53-4C20-92B8-5D9B6FB90498}"/>
              </a:ext>
            </a:extLst>
          </p:cNvPr>
          <p:cNvSpPr/>
          <p:nvPr/>
        </p:nvSpPr>
        <p:spPr>
          <a:xfrm>
            <a:off x="-12180" y="-6773"/>
            <a:ext cx="2295050" cy="5157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lvl1pPr>
              <a:defRPr>
                <a:solidFill>
                  <a:schemeClr val="bg1"/>
                </a:solidFill>
              </a:defRPr>
            </a:lvl1pPr>
          </a:lstStyle>
          <a:p>
            <a:fld id="{516D1C96-CD82-49FE-B67D-E8ED83D4F06E}" type="slidenum">
              <a:rPr lang="en-US" smtClean="0"/>
              <a:t>‹#›</a:t>
            </a:fld>
            <a:endParaRPr lang="en-US"/>
          </a:p>
        </p:txBody>
      </p:sp>
      <p:sp>
        <p:nvSpPr>
          <p:cNvPr id="22" name="TextBox 21">
            <a:extLst>
              <a:ext uri="{FF2B5EF4-FFF2-40B4-BE49-F238E27FC236}">
                <a16:creationId xmlns:a16="http://schemas.microsoft.com/office/drawing/2014/main" id="{13B39F9E-29C7-4F5B-9B1A-FE81CF8DB4C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7" name="Oval 6">
            <a:extLst>
              <a:ext uri="{FF2B5EF4-FFF2-40B4-BE49-F238E27FC236}">
                <a16:creationId xmlns:a16="http://schemas.microsoft.com/office/drawing/2014/main" id="{ED2EC2E1-A1B5-7614-7062-AF646FF3AA8B}"/>
              </a:ext>
            </a:extLst>
          </p:cNvPr>
          <p:cNvSpPr/>
          <p:nvPr/>
        </p:nvSpPr>
        <p:spPr>
          <a:xfrm>
            <a:off x="-295654" y="-6773"/>
            <a:ext cx="5157047" cy="51570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ctr"/>
          <a:lstStyle/>
          <a:p>
            <a:pPr algn="ctr">
              <a:spcAft>
                <a:spcPts val="450"/>
              </a:spcAft>
            </a:pPr>
            <a:endParaRPr lang="en-US" sz="1200"/>
          </a:p>
        </p:txBody>
      </p:sp>
      <p:sp>
        <p:nvSpPr>
          <p:cNvPr id="23" name="Title 1">
            <a:extLst>
              <a:ext uri="{FF2B5EF4-FFF2-40B4-BE49-F238E27FC236}">
                <a16:creationId xmlns:a16="http://schemas.microsoft.com/office/drawing/2014/main" id="{E057E11A-E34D-941D-DF21-BE0590947E19}"/>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pic>
        <p:nvPicPr>
          <p:cNvPr id="8" name="Picture 7">
            <a:extLst>
              <a:ext uri="{FF2B5EF4-FFF2-40B4-BE49-F238E27FC236}">
                <a16:creationId xmlns:a16="http://schemas.microsoft.com/office/drawing/2014/main" id="{E669FDBB-6393-7424-AD73-DCE3EFC2F0D9}"/>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2722000528"/>
      </p:ext>
    </p:extLst>
  </p:cSld>
  <p:clrMapOvr>
    <a:masterClrMapping/>
  </p:clrMapOvr>
  <p:hf sldNum="0" hdr="0" ftr="0" dt="0"/>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3_niq-gfk_half_deep_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A6E01A0-2BBF-F43A-B5D1-9E31AF6BC972}"/>
              </a:ext>
            </a:extLst>
          </p:cNvPr>
          <p:cNvSpPr/>
          <p:nvPr/>
        </p:nvSpPr>
        <p:spPr>
          <a:xfrm>
            <a:off x="2282869" y="6774"/>
            <a:ext cx="6861131" cy="5143500"/>
          </a:xfrm>
          <a:prstGeom prst="rect">
            <a:avLst/>
          </a:prstGeom>
          <a:solidFill>
            <a:schemeClr val="tx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18" name="Freeform 17">
            <a:extLst>
              <a:ext uri="{FF2B5EF4-FFF2-40B4-BE49-F238E27FC236}">
                <a16:creationId xmlns:a16="http://schemas.microsoft.com/office/drawing/2014/main" id="{E8C25628-BD28-6BD1-5784-4CA423147E76}"/>
              </a:ext>
            </a:extLst>
          </p:cNvPr>
          <p:cNvSpPr/>
          <p:nvPr/>
        </p:nvSpPr>
        <p:spPr>
          <a:xfrm>
            <a:off x="-684165" y="1"/>
            <a:ext cx="5934068" cy="5150273"/>
          </a:xfrm>
          <a:custGeom>
            <a:avLst/>
            <a:gdLst>
              <a:gd name="connsiteX0" fmla="*/ 1988762 w 7912090"/>
              <a:gd name="connsiteY0" fmla="*/ 0 h 6867031"/>
              <a:gd name="connsiteX1" fmla="*/ 5923328 w 7912090"/>
              <a:gd name="connsiteY1" fmla="*/ 0 h 6867031"/>
              <a:gd name="connsiteX2" fmla="*/ 6167907 w 7912090"/>
              <a:gd name="connsiteY2" fmla="*/ 148585 h 6867031"/>
              <a:gd name="connsiteX3" fmla="*/ 7912090 w 7912090"/>
              <a:gd name="connsiteY3" fmla="*/ 3429000 h 6867031"/>
              <a:gd name="connsiteX4" fmla="*/ 6007398 w 7912090"/>
              <a:gd name="connsiteY4" fmla="*/ 6812315 h 6867031"/>
              <a:gd name="connsiteX5" fmla="*/ 5912238 w 7912090"/>
              <a:gd name="connsiteY5" fmla="*/ 6867031 h 6867031"/>
              <a:gd name="connsiteX6" fmla="*/ 1999852 w 7912090"/>
              <a:gd name="connsiteY6" fmla="*/ 6867031 h 6867031"/>
              <a:gd name="connsiteX7" fmla="*/ 1904692 w 7912090"/>
              <a:gd name="connsiteY7" fmla="*/ 6812315 h 6867031"/>
              <a:gd name="connsiteX8" fmla="*/ 0 w 7912090"/>
              <a:gd name="connsiteY8" fmla="*/ 3429000 h 6867031"/>
              <a:gd name="connsiteX9" fmla="*/ 1744183 w 7912090"/>
              <a:gd name="connsiteY9" fmla="*/ 148585 h 6867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12090" h="6867031">
                <a:moveTo>
                  <a:pt x="1988762" y="0"/>
                </a:moveTo>
                <a:lnTo>
                  <a:pt x="5923328" y="0"/>
                </a:lnTo>
                <a:lnTo>
                  <a:pt x="6167907" y="148585"/>
                </a:lnTo>
                <a:cubicBezTo>
                  <a:pt x="7220222" y="859516"/>
                  <a:pt x="7912090" y="2063461"/>
                  <a:pt x="7912090" y="3429000"/>
                </a:cubicBezTo>
                <a:cubicBezTo>
                  <a:pt x="7912090" y="4862817"/>
                  <a:pt x="7149306" y="6118475"/>
                  <a:pt x="6007398" y="6812315"/>
                </a:cubicBezTo>
                <a:lnTo>
                  <a:pt x="5912238" y="6867031"/>
                </a:lnTo>
                <a:lnTo>
                  <a:pt x="1999852" y="6867031"/>
                </a:lnTo>
                <a:lnTo>
                  <a:pt x="1904692" y="6812315"/>
                </a:lnTo>
                <a:cubicBezTo>
                  <a:pt x="762785" y="6118475"/>
                  <a:pt x="0" y="4862817"/>
                  <a:pt x="0" y="3429000"/>
                </a:cubicBezTo>
                <a:cubicBezTo>
                  <a:pt x="0" y="2063461"/>
                  <a:pt x="691868" y="859516"/>
                  <a:pt x="1744183" y="148585"/>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34290" rIns="34290" rtlCol="0" anchor="ctr">
            <a:noAutofit/>
          </a:bodyPr>
          <a:lstStyle/>
          <a:p>
            <a:pPr algn="ctr">
              <a:spcAft>
                <a:spcPts val="450"/>
              </a:spcAft>
            </a:pPr>
            <a:endParaRPr lang="en-US" sz="1200"/>
          </a:p>
        </p:txBody>
      </p:sp>
      <p:sp>
        <p:nvSpPr>
          <p:cNvPr id="4" name="Rectangle 3">
            <a:extLst>
              <a:ext uri="{FF2B5EF4-FFF2-40B4-BE49-F238E27FC236}">
                <a16:creationId xmlns:a16="http://schemas.microsoft.com/office/drawing/2014/main" id="{90083BD0-CB53-4C20-92B8-5D9B6FB90498}"/>
              </a:ext>
            </a:extLst>
          </p:cNvPr>
          <p:cNvSpPr/>
          <p:nvPr/>
        </p:nvSpPr>
        <p:spPr>
          <a:xfrm>
            <a:off x="-12180" y="-6773"/>
            <a:ext cx="2295050" cy="515704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lvl1pPr>
              <a:defRPr>
                <a:solidFill>
                  <a:schemeClr val="bg1"/>
                </a:solidFill>
              </a:defRPr>
            </a:lvl1pPr>
          </a:lstStyle>
          <a:p>
            <a:fld id="{516D1C96-CD82-49FE-B67D-E8ED83D4F06E}" type="slidenum">
              <a:rPr lang="en-US" smtClean="0"/>
              <a:t>‹#›</a:t>
            </a:fld>
            <a:endParaRPr lang="en-US"/>
          </a:p>
        </p:txBody>
      </p:sp>
      <p:sp>
        <p:nvSpPr>
          <p:cNvPr id="22" name="TextBox 21">
            <a:extLst>
              <a:ext uri="{FF2B5EF4-FFF2-40B4-BE49-F238E27FC236}">
                <a16:creationId xmlns:a16="http://schemas.microsoft.com/office/drawing/2014/main" id="{13B39F9E-29C7-4F5B-9B1A-FE81CF8DB4C4}"/>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7" name="Oval 6">
            <a:extLst>
              <a:ext uri="{FF2B5EF4-FFF2-40B4-BE49-F238E27FC236}">
                <a16:creationId xmlns:a16="http://schemas.microsoft.com/office/drawing/2014/main" id="{ED2EC2E1-A1B5-7614-7062-AF646FF3AA8B}"/>
              </a:ext>
            </a:extLst>
          </p:cNvPr>
          <p:cNvSpPr/>
          <p:nvPr/>
        </p:nvSpPr>
        <p:spPr>
          <a:xfrm>
            <a:off x="-295654" y="-6773"/>
            <a:ext cx="5157047" cy="515704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34290" rIns="34290" rtlCol="0" anchor="ctr"/>
          <a:lstStyle/>
          <a:p>
            <a:pPr algn="ctr">
              <a:spcAft>
                <a:spcPts val="450"/>
              </a:spcAft>
            </a:pPr>
            <a:endParaRPr lang="en-US" sz="1200"/>
          </a:p>
        </p:txBody>
      </p:sp>
      <p:sp>
        <p:nvSpPr>
          <p:cNvPr id="23" name="Title 1">
            <a:extLst>
              <a:ext uri="{FF2B5EF4-FFF2-40B4-BE49-F238E27FC236}">
                <a16:creationId xmlns:a16="http://schemas.microsoft.com/office/drawing/2014/main" id="{E057E11A-E34D-941D-DF21-BE0590947E19}"/>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pic>
        <p:nvPicPr>
          <p:cNvPr id="8" name="Picture 7">
            <a:extLst>
              <a:ext uri="{FF2B5EF4-FFF2-40B4-BE49-F238E27FC236}">
                <a16:creationId xmlns:a16="http://schemas.microsoft.com/office/drawing/2014/main" id="{E669FDBB-6393-7424-AD73-DCE3EFC2F0D9}"/>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1297517629"/>
      </p:ext>
    </p:extLst>
  </p:cSld>
  <p:clrMapOvr>
    <a:masterClrMapping/>
  </p:clrMapOvr>
  <p:hf sldNum="0" hdr="0" ftr="0" dt="0"/>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niq-gfk_half_gre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0083BD0-CB53-4C20-92B8-5D9B6FB90498}"/>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3" name="Rectangle 2">
            <a:extLst>
              <a:ext uri="{FF2B5EF4-FFF2-40B4-BE49-F238E27FC236}">
                <a16:creationId xmlns:a16="http://schemas.microsoft.com/office/drawing/2014/main" id="{CA6E01A0-2BBF-F43A-B5D1-9E31AF6BC972}"/>
              </a:ext>
            </a:extLst>
          </p:cNvPr>
          <p:cNvSpPr/>
          <p:nvPr/>
        </p:nvSpPr>
        <p:spPr>
          <a:xfrm>
            <a:off x="4572000" y="0"/>
            <a:ext cx="4572000" cy="51435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cxnSp>
        <p:nvCxnSpPr>
          <p:cNvPr id="8" name="Straight Connector 7">
            <a:extLst>
              <a:ext uri="{FF2B5EF4-FFF2-40B4-BE49-F238E27FC236}">
                <a16:creationId xmlns:a16="http://schemas.microsoft.com/office/drawing/2014/main" id="{CC77EDE7-AEAD-C80E-B46F-DB1E1503E6EC}"/>
              </a:ext>
            </a:extLst>
          </p:cNvPr>
          <p:cNvCxnSpPr>
            <a:cxnSpLocks/>
          </p:cNvCxnSpPr>
          <p:nvPr/>
        </p:nvCxnSpPr>
        <p:spPr>
          <a:xfrm>
            <a:off x="209199" y="4796816"/>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AE757F6A-9EA9-44EF-A958-2270491049E4}"/>
              </a:ext>
            </a:extLst>
          </p:cNvPr>
          <p:cNvSpPr>
            <a:spLocks noGrp="1"/>
          </p:cNvSpPr>
          <p:nvPr>
            <p:ph idx="1"/>
          </p:nvPr>
        </p:nvSpPr>
        <p:spPr>
          <a:xfrm>
            <a:off x="216419"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44B2E6E-E1B5-CE08-FA8B-59B5B1CA44CC}"/>
              </a:ext>
            </a:extLst>
          </p:cNvPr>
          <p:cNvSpPr>
            <a:spLocks noGrp="1"/>
          </p:cNvSpPr>
          <p:nvPr>
            <p:ph idx="13"/>
          </p:nvPr>
        </p:nvSpPr>
        <p:spPr>
          <a:xfrm>
            <a:off x="4769680" y="1369219"/>
            <a:ext cx="4145720" cy="2877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12C0470F-CF16-06E7-C6C5-F985FA46839B}"/>
              </a:ext>
            </a:extLst>
          </p:cNvPr>
          <p:cNvSpPr>
            <a:spLocks noGrp="1"/>
          </p:cNvSpPr>
          <p:nvPr>
            <p:ph type="body" sz="quarter" idx="14" hasCustomPrompt="1"/>
          </p:nvPr>
        </p:nvSpPr>
        <p:spPr>
          <a:xfrm>
            <a:off x="216419" y="4488996"/>
            <a:ext cx="4145720"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
        <p:nvSpPr>
          <p:cNvPr id="22" name="TextBox 21">
            <a:extLst>
              <a:ext uri="{FF2B5EF4-FFF2-40B4-BE49-F238E27FC236}">
                <a16:creationId xmlns:a16="http://schemas.microsoft.com/office/drawing/2014/main" id="{917881B4-E3B9-7482-317F-7A70E837571B}"/>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sp>
        <p:nvSpPr>
          <p:cNvPr id="2" name="Title 1">
            <a:extLst>
              <a:ext uri="{FF2B5EF4-FFF2-40B4-BE49-F238E27FC236}">
                <a16:creationId xmlns:a16="http://schemas.microsoft.com/office/drawing/2014/main" id="{37BBC8E0-99A7-20D7-198E-8C4C5429454D}"/>
              </a:ext>
            </a:extLst>
          </p:cNvPr>
          <p:cNvSpPr>
            <a:spLocks noGrp="1"/>
          </p:cNvSpPr>
          <p:nvPr>
            <p:ph type="title" hasCustomPrompt="1"/>
          </p:nvPr>
        </p:nvSpPr>
        <p:spPr>
          <a:xfrm>
            <a:off x="216418" y="134228"/>
            <a:ext cx="4145720" cy="298014"/>
          </a:xfrm>
          <a:prstGeom prst="rect">
            <a:avLst/>
          </a:prstGeom>
        </p:spPr>
        <p:txBody>
          <a:bodyPr anchor="ctr"/>
          <a:lstStyle>
            <a:lvl1pPr>
              <a:defRPr sz="1500"/>
            </a:lvl1pPr>
          </a:lstStyle>
          <a:p>
            <a:r>
              <a:rPr lang="en-US"/>
              <a:t>Insert your slide title in Arial bold 20pt</a:t>
            </a:r>
          </a:p>
        </p:txBody>
      </p:sp>
      <p:cxnSp>
        <p:nvCxnSpPr>
          <p:cNvPr id="7" name="Straight Connector 6">
            <a:extLst>
              <a:ext uri="{FF2B5EF4-FFF2-40B4-BE49-F238E27FC236}">
                <a16:creationId xmlns:a16="http://schemas.microsoft.com/office/drawing/2014/main" id="{10366EE5-2C84-CBCF-1F7D-90ED78E5262C}"/>
              </a:ext>
            </a:extLst>
          </p:cNvPr>
          <p:cNvCxnSpPr>
            <a:cxnSpLocks/>
          </p:cNvCxnSpPr>
          <p:nvPr/>
        </p:nvCxnSpPr>
        <p:spPr>
          <a:xfrm>
            <a:off x="209199"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F9066B2B-EA3F-EAF6-AFF1-68682E47E581}"/>
              </a:ext>
            </a:extLst>
          </p:cNvPr>
          <p:cNvCxnSpPr>
            <a:cxnSpLocks/>
          </p:cNvCxnSpPr>
          <p:nvPr/>
        </p:nvCxnSpPr>
        <p:spPr>
          <a:xfrm>
            <a:off x="4747332" y="538955"/>
            <a:ext cx="415734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 Placeholder 16">
            <a:extLst>
              <a:ext uri="{FF2B5EF4-FFF2-40B4-BE49-F238E27FC236}">
                <a16:creationId xmlns:a16="http://schemas.microsoft.com/office/drawing/2014/main" id="{B611845A-2C49-8A19-66CD-D9E9ACA2E007}"/>
              </a:ext>
            </a:extLst>
          </p:cNvPr>
          <p:cNvSpPr>
            <a:spLocks noGrp="1"/>
          </p:cNvSpPr>
          <p:nvPr>
            <p:ph type="body" sz="quarter" idx="15" hasCustomPrompt="1"/>
          </p:nvPr>
        </p:nvSpPr>
        <p:spPr>
          <a:xfrm>
            <a:off x="4769681" y="134229"/>
            <a:ext cx="4164458" cy="298013"/>
          </a:xfrm>
        </p:spPr>
        <p:txBody>
          <a:bodyPr anchor="ctr"/>
          <a:lstStyle>
            <a:lvl1pPr marL="0" indent="0">
              <a:buNone/>
              <a:defRPr sz="1500" b="1">
                <a:solidFill>
                  <a:schemeClr val="tx1"/>
                </a:solidFill>
                <a:latin typeface="+mj-lt"/>
              </a:defRPr>
            </a:lvl1pPr>
            <a:lvl2pPr>
              <a:defRPr sz="1800" b="1">
                <a:latin typeface="+mj-lt"/>
              </a:defRPr>
            </a:lvl2pPr>
            <a:lvl3pPr>
              <a:defRPr sz="1800" b="1">
                <a:latin typeface="+mj-lt"/>
              </a:defRPr>
            </a:lvl3pPr>
            <a:lvl4pPr>
              <a:defRPr sz="1800" b="1">
                <a:latin typeface="+mj-lt"/>
              </a:defRPr>
            </a:lvl4pPr>
            <a:lvl5pPr>
              <a:defRPr sz="1800" b="1">
                <a:latin typeface="+mj-lt"/>
              </a:defRPr>
            </a:lvl5pPr>
          </a:lstStyle>
          <a:p>
            <a:pPr lvl="0"/>
            <a:r>
              <a:rPr lang="en-US"/>
              <a:t>Insert your slide title in Arial bold 24pt</a:t>
            </a:r>
          </a:p>
        </p:txBody>
      </p:sp>
      <p:sp>
        <p:nvSpPr>
          <p:cNvPr id="15" name="Text Placeholder 6">
            <a:extLst>
              <a:ext uri="{FF2B5EF4-FFF2-40B4-BE49-F238E27FC236}">
                <a16:creationId xmlns:a16="http://schemas.microsoft.com/office/drawing/2014/main" id="{06F40655-E3AF-340C-6CA8-DA6492402FD0}"/>
              </a:ext>
            </a:extLst>
          </p:cNvPr>
          <p:cNvSpPr>
            <a:spLocks noGrp="1" noChangeAspect="1"/>
          </p:cNvSpPr>
          <p:nvPr>
            <p:ph type="body" sz="quarter" idx="16" hasCustomPrompt="1"/>
          </p:nvPr>
        </p:nvSpPr>
        <p:spPr>
          <a:xfrm>
            <a:off x="209199"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sp>
        <p:nvSpPr>
          <p:cNvPr id="16" name="Text Placeholder 6">
            <a:extLst>
              <a:ext uri="{FF2B5EF4-FFF2-40B4-BE49-F238E27FC236}">
                <a16:creationId xmlns:a16="http://schemas.microsoft.com/office/drawing/2014/main" id="{E943460E-FA8B-6748-9708-860B37DC1D50}"/>
              </a:ext>
            </a:extLst>
          </p:cNvPr>
          <p:cNvSpPr>
            <a:spLocks noGrp="1" noChangeAspect="1"/>
          </p:cNvSpPr>
          <p:nvPr>
            <p:ph type="body" sz="quarter" idx="17" hasCustomPrompt="1"/>
          </p:nvPr>
        </p:nvSpPr>
        <p:spPr>
          <a:xfrm>
            <a:off x="4749536" y="645668"/>
            <a:ext cx="4152939" cy="507831"/>
          </a:xfrm>
          <a:solidFill>
            <a:schemeClr val="tx2"/>
          </a:solidFill>
        </p:spPr>
        <p:txBody>
          <a:bodyPr lIns="91440" tIns="91440" rIns="91440" bIns="91440" anchor="ctr" anchorCtr="0">
            <a:noAutofit/>
          </a:bodyPr>
          <a:lstStyle>
            <a:lvl1pPr marL="0" indent="0" algn="l">
              <a:spcBef>
                <a:spcPts val="0"/>
              </a:spcBef>
              <a:spcAft>
                <a:spcPts val="0"/>
              </a:spcAft>
              <a:buNone/>
              <a:defRPr sz="1200">
                <a:solidFill>
                  <a:schemeClr val="bg1"/>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Insert your subtitle in Arial 16pt</a:t>
            </a:r>
          </a:p>
          <a:p>
            <a:pPr lvl="0"/>
            <a:r>
              <a:rPr lang="en-US"/>
              <a:t>Maximum of two lines</a:t>
            </a:r>
          </a:p>
        </p:txBody>
      </p:sp>
      <p:pic>
        <p:nvPicPr>
          <p:cNvPr id="9" name="Picture 8">
            <a:extLst>
              <a:ext uri="{FF2B5EF4-FFF2-40B4-BE49-F238E27FC236}">
                <a16:creationId xmlns:a16="http://schemas.microsoft.com/office/drawing/2014/main" id="{A1576A31-071E-B868-D73E-A9BF0A005EE0}"/>
              </a:ext>
            </a:extLst>
          </p:cNvPr>
          <p:cNvPicPr>
            <a:picLocks noChangeAspect="1"/>
          </p:cNvPicPr>
          <p:nvPr/>
        </p:nvPicPr>
        <p:blipFill>
          <a:blip r:embed="rId2"/>
          <a:srcRect/>
          <a:stretch/>
        </p:blipFill>
        <p:spPr>
          <a:xfrm>
            <a:off x="209199" y="4856701"/>
            <a:ext cx="670559" cy="243545"/>
          </a:xfrm>
          <a:prstGeom prst="rect">
            <a:avLst/>
          </a:prstGeom>
        </p:spPr>
      </p:pic>
    </p:spTree>
    <p:extLst>
      <p:ext uri="{BB962C8B-B14F-4D97-AF65-F5344CB8AC3E}">
        <p14:creationId xmlns:p14="http://schemas.microsoft.com/office/powerpoint/2010/main" val="2367665490"/>
      </p:ext>
    </p:extLst>
  </p:cSld>
  <p:clrMapOvr>
    <a:masterClrMapping/>
  </p:clrMapOvr>
  <p:hf sldNum="0" hdr="0" ftr="0" dt="0"/>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niq-gfk_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D761142-4A68-ED47-8444-40F12F84B270}"/>
              </a:ext>
            </a:extLst>
          </p:cNvPr>
          <p:cNvSpPr>
            <a:spLocks noGrp="1"/>
          </p:cNvSpPr>
          <p:nvPr>
            <p:ph type="sldNum" sz="quarter" idx="12"/>
          </p:nvPr>
        </p:nvSpPr>
        <p:spPr/>
        <p:txBody>
          <a:bodyPr/>
          <a:lstStyle/>
          <a:p>
            <a:fld id="{516D1C96-CD82-49FE-B67D-E8ED83D4F06E}" type="slidenum">
              <a:rPr lang="en-US" smtClean="0"/>
              <a:t>‹#›</a:t>
            </a:fld>
            <a:endParaRPr lang="en-US"/>
          </a:p>
        </p:txBody>
      </p:sp>
      <p:sp>
        <p:nvSpPr>
          <p:cNvPr id="2" name="Text Placeholder 10">
            <a:extLst>
              <a:ext uri="{FF2B5EF4-FFF2-40B4-BE49-F238E27FC236}">
                <a16:creationId xmlns:a16="http://schemas.microsoft.com/office/drawing/2014/main" id="{5F90632C-301E-32EA-91E1-96C5D6220E7F}"/>
              </a:ext>
            </a:extLst>
          </p:cNvPr>
          <p:cNvSpPr>
            <a:spLocks noGrp="1"/>
          </p:cNvSpPr>
          <p:nvPr>
            <p:ph type="body" sz="quarter" idx="17" hasCustomPrompt="1"/>
          </p:nvPr>
        </p:nvSpPr>
        <p:spPr>
          <a:xfrm>
            <a:off x="216419" y="4488996"/>
            <a:ext cx="8686799" cy="273844"/>
          </a:xfrm>
        </p:spPr>
        <p:txBody>
          <a:bodyPr anchor="b" anchorCtr="0"/>
          <a:lstStyle>
            <a:lvl1pPr marL="0" indent="0">
              <a:spcBef>
                <a:spcPts val="0"/>
              </a:spcBef>
              <a:spcAft>
                <a:spcPts val="0"/>
              </a:spcAft>
              <a:buNone/>
              <a:defRPr sz="600">
                <a:solidFill>
                  <a:srgbClr val="B3B3B3"/>
                </a:solidFill>
              </a:defRPr>
            </a:lvl1pPr>
            <a:lvl2pPr marL="342900" indent="0">
              <a:buNone/>
              <a:defRPr/>
            </a:lvl2pPr>
            <a:lvl3pPr marL="685800" indent="0">
              <a:buNone/>
              <a:defRPr/>
            </a:lvl3pPr>
            <a:lvl4pPr marL="1028700" indent="0">
              <a:buNone/>
              <a:defRPr/>
            </a:lvl4pPr>
            <a:lvl5pPr marL="1371600" indent="0">
              <a:buNone/>
              <a:defRPr/>
            </a:lvl5pPr>
          </a:lstStyle>
          <a:p>
            <a:pPr lvl="0"/>
            <a:r>
              <a:rPr lang="en-US"/>
              <a:t>Source, footnote</a:t>
            </a:r>
          </a:p>
        </p:txBody>
      </p:sp>
    </p:spTree>
    <p:extLst>
      <p:ext uri="{BB962C8B-B14F-4D97-AF65-F5344CB8AC3E}">
        <p14:creationId xmlns:p14="http://schemas.microsoft.com/office/powerpoint/2010/main" val="3948400304"/>
      </p:ext>
    </p:extLst>
  </p:cSld>
  <p:clrMapOvr>
    <a:masterClrMapping/>
  </p:clrMapOvr>
  <p:hf sldNum="0" hdr="0" ftr="0" dt="0"/>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niq-gfk_thank_you_grey">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45CB4A4-7435-1A41-8813-A7FFEC34FAE2}"/>
              </a:ext>
            </a:extLst>
          </p:cNvPr>
          <p:cNvSpPr/>
          <p:nvPr/>
        </p:nvSpPr>
        <p:spPr>
          <a:xfrm>
            <a:off x="0" y="0"/>
            <a:ext cx="9144000"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
        <p:nvSpPr>
          <p:cNvPr id="2" name="Title 1">
            <a:extLst>
              <a:ext uri="{FF2B5EF4-FFF2-40B4-BE49-F238E27FC236}">
                <a16:creationId xmlns:a16="http://schemas.microsoft.com/office/drawing/2014/main" id="{5F151AF7-737A-1648-9BC4-B9D881179FB7}"/>
              </a:ext>
            </a:extLst>
          </p:cNvPr>
          <p:cNvSpPr>
            <a:spLocks noGrp="1"/>
          </p:cNvSpPr>
          <p:nvPr>
            <p:ph type="ctrTitle" hasCustomPrompt="1"/>
          </p:nvPr>
        </p:nvSpPr>
        <p:spPr>
          <a:xfrm>
            <a:off x="216418" y="476276"/>
            <a:ext cx="6481562" cy="1790700"/>
          </a:xfrm>
          <a:prstGeom prst="rect">
            <a:avLst/>
          </a:prstGeom>
        </p:spPr>
        <p:txBody>
          <a:bodyPr anchor="b">
            <a:noAutofit/>
          </a:bodyPr>
          <a:lstStyle>
            <a:lvl1pPr algn="l">
              <a:defRPr sz="2700">
                <a:solidFill>
                  <a:schemeClr val="tx1"/>
                </a:solidFill>
              </a:defRPr>
            </a:lvl1pPr>
          </a:lstStyle>
          <a:p>
            <a:r>
              <a:rPr lang="en-US"/>
              <a:t>[Thank you]</a:t>
            </a:r>
          </a:p>
        </p:txBody>
      </p:sp>
      <p:sp>
        <p:nvSpPr>
          <p:cNvPr id="3" name="Subtitle 2">
            <a:extLst>
              <a:ext uri="{FF2B5EF4-FFF2-40B4-BE49-F238E27FC236}">
                <a16:creationId xmlns:a16="http://schemas.microsoft.com/office/drawing/2014/main" id="{D952C9CE-AA03-A24B-BBD9-8EA2482DC59D}"/>
              </a:ext>
            </a:extLst>
          </p:cNvPr>
          <p:cNvSpPr>
            <a:spLocks noGrp="1"/>
          </p:cNvSpPr>
          <p:nvPr>
            <p:ph type="subTitle" idx="1" hasCustomPrompt="1"/>
          </p:nvPr>
        </p:nvSpPr>
        <p:spPr>
          <a:xfrm>
            <a:off x="216418" y="2336032"/>
            <a:ext cx="6481562" cy="628412"/>
          </a:xfrm>
        </p:spPr>
        <p:txBody>
          <a:bodyPr>
            <a:noAutofit/>
          </a:bodyPr>
          <a:lstStyle>
            <a:lvl1pPr marL="0" indent="0" algn="l">
              <a:spcBef>
                <a:spcPts val="0"/>
              </a:spcBef>
              <a:spcAft>
                <a:spcPts val="0"/>
              </a:spcAft>
              <a:buNone/>
              <a:defRPr sz="180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[Call to action]</a:t>
            </a:r>
          </a:p>
        </p:txBody>
      </p:sp>
      <p:sp>
        <p:nvSpPr>
          <p:cNvPr id="10" name="Text Placeholder 17">
            <a:extLst>
              <a:ext uri="{FF2B5EF4-FFF2-40B4-BE49-F238E27FC236}">
                <a16:creationId xmlns:a16="http://schemas.microsoft.com/office/drawing/2014/main" id="{0FF12D10-3F99-FA54-8A36-1C3BFF703BC4}"/>
              </a:ext>
            </a:extLst>
          </p:cNvPr>
          <p:cNvSpPr>
            <a:spLocks noGrp="1"/>
          </p:cNvSpPr>
          <p:nvPr>
            <p:ph type="body" sz="quarter" idx="10" hasCustomPrompt="1"/>
          </p:nvPr>
        </p:nvSpPr>
        <p:spPr>
          <a:xfrm>
            <a:off x="216419" y="3254510"/>
            <a:ext cx="6481562" cy="258288"/>
          </a:xfrm>
        </p:spPr>
        <p:txBody>
          <a:bodyPr tIns="0" bIns="0" anchor="b" anchorCtr="0">
            <a:noAutofit/>
          </a:bodyPr>
          <a:lstStyle>
            <a:lvl1pPr marL="0" indent="0">
              <a:lnSpc>
                <a:spcPct val="100000"/>
              </a:lnSpc>
              <a:spcBef>
                <a:spcPts val="0"/>
              </a:spcBef>
              <a:spcAft>
                <a:spcPts val="0"/>
              </a:spcAft>
              <a:buNone/>
              <a:defRPr sz="900" b="1">
                <a:solidFill>
                  <a:schemeClr val="tx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First name Last name</a:t>
            </a:r>
          </a:p>
        </p:txBody>
      </p:sp>
      <p:sp>
        <p:nvSpPr>
          <p:cNvPr id="11" name="Text Placeholder 17">
            <a:extLst>
              <a:ext uri="{FF2B5EF4-FFF2-40B4-BE49-F238E27FC236}">
                <a16:creationId xmlns:a16="http://schemas.microsoft.com/office/drawing/2014/main" id="{C023098E-A14A-7175-E122-657D7B94C166}"/>
              </a:ext>
            </a:extLst>
          </p:cNvPr>
          <p:cNvSpPr>
            <a:spLocks noGrp="1"/>
          </p:cNvSpPr>
          <p:nvPr>
            <p:ph type="body" sz="quarter" idx="11" hasCustomPrompt="1"/>
          </p:nvPr>
        </p:nvSpPr>
        <p:spPr>
          <a:xfrm>
            <a:off x="216419" y="3530611"/>
            <a:ext cx="6481562" cy="317599"/>
          </a:xfrm>
        </p:spPr>
        <p:txBody>
          <a:bodyPr tIns="0" bIns="0">
            <a:noAutofit/>
          </a:bodyPr>
          <a:lstStyle>
            <a:lvl1pPr marL="0" indent="0">
              <a:lnSpc>
                <a:spcPct val="100000"/>
              </a:lnSpc>
              <a:spcBef>
                <a:spcPts val="0"/>
              </a:spcBef>
              <a:spcAft>
                <a:spcPts val="0"/>
              </a:spcAft>
              <a:buNone/>
              <a:defRPr sz="900" b="0">
                <a:solidFill>
                  <a:schemeClr val="tx1"/>
                </a:solidFill>
              </a:defRPr>
            </a:lvl1pPr>
            <a:lvl2pPr marL="342900" indent="0">
              <a:buNone/>
              <a:defRPr sz="900" b="1">
                <a:solidFill>
                  <a:schemeClr val="bg1"/>
                </a:solidFill>
              </a:defRPr>
            </a:lvl2pPr>
            <a:lvl3pPr marL="685800" indent="0">
              <a:buNone/>
              <a:defRPr sz="900" b="1">
                <a:solidFill>
                  <a:schemeClr val="bg1"/>
                </a:solidFill>
              </a:defRPr>
            </a:lvl3pPr>
            <a:lvl4pPr marL="1028700" indent="0">
              <a:buNone/>
              <a:defRPr sz="900" b="1">
                <a:solidFill>
                  <a:schemeClr val="bg1"/>
                </a:solidFill>
              </a:defRPr>
            </a:lvl4pPr>
            <a:lvl5pPr marL="1371600" indent="0">
              <a:buNone/>
              <a:defRPr sz="900" b="1">
                <a:solidFill>
                  <a:schemeClr val="bg1"/>
                </a:solidFill>
              </a:defRPr>
            </a:lvl5pPr>
          </a:lstStyle>
          <a:p>
            <a:pPr lvl="0"/>
            <a:r>
              <a:rPr lang="en-US"/>
              <a:t>Contact information</a:t>
            </a:r>
          </a:p>
        </p:txBody>
      </p:sp>
      <p:sp>
        <p:nvSpPr>
          <p:cNvPr id="6" name="TextBox 5">
            <a:extLst>
              <a:ext uri="{FF2B5EF4-FFF2-40B4-BE49-F238E27FC236}">
                <a16:creationId xmlns:a16="http://schemas.microsoft.com/office/drawing/2014/main" id="{CB3923C6-70F5-38D5-0F2A-AFB1BB6D8A02}"/>
              </a:ext>
            </a:extLst>
          </p:cNvPr>
          <p:cNvSpPr txBox="1"/>
          <p:nvPr/>
        </p:nvSpPr>
        <p:spPr>
          <a:xfrm>
            <a:off x="216419" y="4899177"/>
            <a:ext cx="1843841"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pic>
        <p:nvPicPr>
          <p:cNvPr id="5" name="Picture 4">
            <a:extLst>
              <a:ext uri="{FF2B5EF4-FFF2-40B4-BE49-F238E27FC236}">
                <a16:creationId xmlns:a16="http://schemas.microsoft.com/office/drawing/2014/main" id="{F6D44297-0006-84C1-7779-FDE9470A4271}"/>
              </a:ext>
            </a:extLst>
          </p:cNvPr>
          <p:cNvPicPr>
            <a:picLocks noChangeAspect="1"/>
          </p:cNvPicPr>
          <p:nvPr/>
        </p:nvPicPr>
        <p:blipFill>
          <a:blip r:embed="rId2"/>
          <a:srcRect/>
          <a:stretch/>
        </p:blipFill>
        <p:spPr>
          <a:xfrm>
            <a:off x="236221" y="4135503"/>
            <a:ext cx="1756761" cy="638048"/>
          </a:xfrm>
          <a:prstGeom prst="rect">
            <a:avLst/>
          </a:prstGeom>
        </p:spPr>
      </p:pic>
    </p:spTree>
    <p:extLst>
      <p:ext uri="{BB962C8B-B14F-4D97-AF65-F5344CB8AC3E}">
        <p14:creationId xmlns:p14="http://schemas.microsoft.com/office/powerpoint/2010/main" val="119004947"/>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4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551"/>
        <p:cNvGrpSpPr/>
        <p:nvPr/>
      </p:nvGrpSpPr>
      <p:grpSpPr>
        <a:xfrm>
          <a:off x="0" y="0"/>
          <a:ext cx="0" cy="0"/>
          <a:chOff x="0" y="0"/>
          <a:chExt cx="0" cy="0"/>
        </a:xfrm>
      </p:grpSpPr>
      <p:sp>
        <p:nvSpPr>
          <p:cNvPr id="552" name="Google Shape;552;p9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553" name="Google Shape;553;p9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rtl="0">
              <a:lnSpc>
                <a:spcPct val="100000"/>
              </a:lnSpc>
              <a:spcBef>
                <a:spcPts val="800"/>
              </a:spcBef>
              <a:spcAft>
                <a:spcPts val="0"/>
              </a:spcAft>
              <a:buSzPts val="2800"/>
              <a:buNone/>
              <a:defRPr sz="2800"/>
            </a:lvl1pPr>
            <a:lvl2pPr lvl="1" algn="ctr" rtl="0">
              <a:lnSpc>
                <a:spcPct val="100000"/>
              </a:lnSpc>
              <a:spcBef>
                <a:spcPts val="800"/>
              </a:spcBef>
              <a:spcAft>
                <a:spcPts val="0"/>
              </a:spcAft>
              <a:buSzPts val="2800"/>
              <a:buNone/>
              <a:defRPr sz="2800"/>
            </a:lvl2pPr>
            <a:lvl3pPr lvl="2" algn="ctr" rtl="0">
              <a:lnSpc>
                <a:spcPct val="100000"/>
              </a:lnSpc>
              <a:spcBef>
                <a:spcPts val="700"/>
              </a:spcBef>
              <a:spcAft>
                <a:spcPts val="0"/>
              </a:spcAft>
              <a:buSzPts val="2800"/>
              <a:buNone/>
              <a:defRPr sz="2800"/>
            </a:lvl3pPr>
            <a:lvl4pPr lvl="3" algn="ctr" rtl="0">
              <a:lnSpc>
                <a:spcPct val="100000"/>
              </a:lnSpc>
              <a:spcBef>
                <a:spcPts val="700"/>
              </a:spcBef>
              <a:spcAft>
                <a:spcPts val="0"/>
              </a:spcAft>
              <a:buSzPts val="2800"/>
              <a:buNone/>
              <a:defRPr sz="2800"/>
            </a:lvl4pPr>
            <a:lvl5pPr lvl="4" algn="ctr" rtl="0">
              <a:lnSpc>
                <a:spcPct val="100000"/>
              </a:lnSpc>
              <a:spcBef>
                <a:spcPts val="700"/>
              </a:spcBef>
              <a:spcAft>
                <a:spcPts val="0"/>
              </a:spcAft>
              <a:buSzPts val="2800"/>
              <a:buNone/>
              <a:defRPr sz="2800"/>
            </a:lvl5pPr>
            <a:lvl6pPr lvl="5" algn="ctr" rtl="0">
              <a:lnSpc>
                <a:spcPct val="100000"/>
              </a:lnSpc>
              <a:spcBef>
                <a:spcPts val="400"/>
              </a:spcBef>
              <a:spcAft>
                <a:spcPts val="0"/>
              </a:spcAft>
              <a:buSzPts val="2800"/>
              <a:buNone/>
              <a:defRPr sz="2800"/>
            </a:lvl6pPr>
            <a:lvl7pPr lvl="6" algn="ctr" rtl="0">
              <a:lnSpc>
                <a:spcPct val="100000"/>
              </a:lnSpc>
              <a:spcBef>
                <a:spcPts val="400"/>
              </a:spcBef>
              <a:spcAft>
                <a:spcPts val="0"/>
              </a:spcAft>
              <a:buSzPts val="2800"/>
              <a:buNone/>
              <a:defRPr sz="2800"/>
            </a:lvl7pPr>
            <a:lvl8pPr lvl="7" algn="ctr" rtl="0">
              <a:lnSpc>
                <a:spcPct val="100000"/>
              </a:lnSpc>
              <a:spcBef>
                <a:spcPts val="400"/>
              </a:spcBef>
              <a:spcAft>
                <a:spcPts val="0"/>
              </a:spcAft>
              <a:buSzPts val="2800"/>
              <a:buNone/>
              <a:defRPr sz="2800"/>
            </a:lvl8pPr>
            <a:lvl9pPr lvl="8" algn="ctr" rtl="0">
              <a:lnSpc>
                <a:spcPct val="100000"/>
              </a:lnSpc>
              <a:spcBef>
                <a:spcPts val="400"/>
              </a:spcBef>
              <a:spcAft>
                <a:spcPts val="0"/>
              </a:spcAft>
              <a:buSzPts val="2800"/>
              <a:buNone/>
              <a:defRPr sz="2800"/>
            </a:lvl9pPr>
          </a:lstStyle>
          <a:p>
            <a:endParaRPr/>
          </a:p>
        </p:txBody>
      </p:sp>
      <p:sp>
        <p:nvSpPr>
          <p:cNvPr id="554" name="Google Shape;554;p9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l"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557836658"/>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theme" Target="../theme/theme1.xml"/><Relationship Id="rId101"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image" Target="../media/image1.jpeg"/><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theme" Target="../theme/theme2.xml"/><Relationship Id="rId3" Type="http://schemas.openxmlformats.org/officeDocument/2006/relationships/slideLayout" Target="../slideLayouts/slideLayout101.xml"/><Relationship Id="rId21" Type="http://schemas.openxmlformats.org/officeDocument/2006/relationships/slideLayout" Target="../slideLayouts/slideLayout119.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slideLayout" Target="../slideLayouts/slideLayout118.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image" Target="../media/image25.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31.xml"/><Relationship Id="rId13" Type="http://schemas.openxmlformats.org/officeDocument/2006/relationships/slideLayout" Target="../slideLayouts/slideLayout136.xml"/><Relationship Id="rId18" Type="http://schemas.openxmlformats.org/officeDocument/2006/relationships/slideLayout" Target="../slideLayouts/slideLayout141.xml"/><Relationship Id="rId3" Type="http://schemas.openxmlformats.org/officeDocument/2006/relationships/slideLayout" Target="../slideLayouts/slideLayout126.xml"/><Relationship Id="rId21" Type="http://schemas.openxmlformats.org/officeDocument/2006/relationships/image" Target="../media/image25.png"/><Relationship Id="rId7" Type="http://schemas.openxmlformats.org/officeDocument/2006/relationships/slideLayout" Target="../slideLayouts/slideLayout130.xml"/><Relationship Id="rId12" Type="http://schemas.openxmlformats.org/officeDocument/2006/relationships/slideLayout" Target="../slideLayouts/slideLayout135.xml"/><Relationship Id="rId17" Type="http://schemas.openxmlformats.org/officeDocument/2006/relationships/slideLayout" Target="../slideLayouts/slideLayout140.xml"/><Relationship Id="rId2" Type="http://schemas.openxmlformats.org/officeDocument/2006/relationships/slideLayout" Target="../slideLayouts/slideLayout125.xml"/><Relationship Id="rId16" Type="http://schemas.openxmlformats.org/officeDocument/2006/relationships/slideLayout" Target="../slideLayouts/slideLayout139.xml"/><Relationship Id="rId20" Type="http://schemas.openxmlformats.org/officeDocument/2006/relationships/theme" Target="../theme/theme3.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slideLayout" Target="../slideLayouts/slideLayout134.xml"/><Relationship Id="rId5" Type="http://schemas.openxmlformats.org/officeDocument/2006/relationships/slideLayout" Target="../slideLayouts/slideLayout128.xml"/><Relationship Id="rId15" Type="http://schemas.openxmlformats.org/officeDocument/2006/relationships/slideLayout" Target="../slideLayouts/slideLayout138.xml"/><Relationship Id="rId10" Type="http://schemas.openxmlformats.org/officeDocument/2006/relationships/slideLayout" Target="../slideLayouts/slideLayout133.xml"/><Relationship Id="rId19" Type="http://schemas.openxmlformats.org/officeDocument/2006/relationships/slideLayout" Target="../slideLayouts/slideLayout142.xml"/><Relationship Id="rId4" Type="http://schemas.openxmlformats.org/officeDocument/2006/relationships/slideLayout" Target="../slideLayouts/slideLayout127.xml"/><Relationship Id="rId9" Type="http://schemas.openxmlformats.org/officeDocument/2006/relationships/slideLayout" Target="../slideLayouts/slideLayout132.xml"/><Relationship Id="rId14" Type="http://schemas.openxmlformats.org/officeDocument/2006/relationships/slideLayout" Target="../slideLayouts/slideLayout13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descr="Blue Stri.jpg"/>
          <p:cNvPicPr preferRelativeResize="0"/>
          <p:nvPr/>
        </p:nvPicPr>
        <p:blipFill rotWithShape="1">
          <a:blip r:embed="rId100">
            <a:alphaModFix/>
          </a:blip>
          <a:srcRect/>
          <a:stretch/>
        </p:blipFill>
        <p:spPr>
          <a:xfrm>
            <a:off x="0" y="0"/>
            <a:ext cx="231600" cy="5143500"/>
          </a:xfrm>
          <a:prstGeom prst="rect">
            <a:avLst/>
          </a:prstGeom>
          <a:noFill/>
          <a:ln>
            <a:noFill/>
          </a:ln>
        </p:spPr>
      </p:pic>
      <p:sp>
        <p:nvSpPr>
          <p:cNvPr id="7" name="Google Shape;7;p1"/>
          <p:cNvSpPr/>
          <p:nvPr/>
        </p:nvSpPr>
        <p:spPr>
          <a:xfrm rot="-5400000">
            <a:off x="-1725600" y="3177113"/>
            <a:ext cx="3660900" cy="18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 sz="600">
                <a:solidFill>
                  <a:srgbClr val="FFFFFF"/>
                </a:solidFill>
                <a:latin typeface="Open Sans"/>
                <a:ea typeface="Open Sans"/>
                <a:cs typeface="Open Sans"/>
                <a:sym typeface="Open Sans"/>
              </a:rPr>
              <a:t>Copyright © 2017 The Nielsen Company (US), LLC. Confidential and proprietary. Do not distribute.</a:t>
            </a:r>
            <a:endParaRPr sz="600">
              <a:solidFill>
                <a:srgbClr val="FFFFFF"/>
              </a:solidFill>
              <a:latin typeface="Open Sans"/>
              <a:ea typeface="Open Sans"/>
              <a:cs typeface="Open Sans"/>
              <a:sym typeface="Open Sans"/>
            </a:endParaRPr>
          </a:p>
        </p:txBody>
      </p:sp>
      <p:sp>
        <p:nvSpPr>
          <p:cNvPr id="8" name="Google Shape;8;p1"/>
          <p:cNvSpPr txBox="1">
            <a:spLocks noGrp="1"/>
          </p:cNvSpPr>
          <p:nvPr>
            <p:ph type="title"/>
          </p:nvPr>
        </p:nvSpPr>
        <p:spPr>
          <a:xfrm>
            <a:off x="593725" y="507206"/>
            <a:ext cx="8166000" cy="428700"/>
          </a:xfrm>
          <a:prstGeom prst="rect">
            <a:avLst/>
          </a:prstGeom>
          <a:noFill/>
          <a:ln>
            <a:noFill/>
          </a:ln>
        </p:spPr>
        <p:txBody>
          <a:bodyPr spcFirstLastPara="1" wrap="square" lIns="91425" tIns="91425" rIns="91425" bIns="91425" anchor="b" anchorCtr="0">
            <a:noAutofit/>
          </a:bodyPr>
          <a:lstStyle>
            <a:lvl1pPr marL="0" marR="0" lvl="0" indent="0" algn="l" rtl="0">
              <a:spcBef>
                <a:spcPts val="0"/>
              </a:spcBef>
              <a:spcAft>
                <a:spcPts val="0"/>
              </a:spcAft>
              <a:buSzPts val="1400"/>
              <a:buFont typeface="Archivo Narrow"/>
              <a:buNone/>
              <a:defRPr sz="3000" b="1" i="0" u="none" strike="noStrike" cap="none">
                <a:solidFill>
                  <a:schemeClr val="dk2"/>
                </a:solidFill>
                <a:latin typeface="Archivo Narrow"/>
                <a:ea typeface="Archivo Narrow"/>
                <a:cs typeface="Archivo Narrow"/>
                <a:sym typeface="Archivo Narrow"/>
              </a:defRPr>
            </a:lvl1pPr>
            <a:lvl2pPr marL="0" marR="0" lvl="1"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2pPr>
            <a:lvl3pPr marL="0" marR="0" lvl="2"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3pPr>
            <a:lvl4pPr marL="0" marR="0" lvl="3"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4pPr>
            <a:lvl5pPr marL="0" marR="0" lvl="4"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5pPr>
            <a:lvl6pPr marL="457200" marR="0" lvl="5"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6pPr>
            <a:lvl7pPr marL="914400" marR="0" lvl="6"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7pPr>
            <a:lvl8pPr marL="1371600" marR="0" lvl="7"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8pPr>
            <a:lvl9pPr marL="1828800" marR="0" lvl="8" indent="0" algn="l" rtl="0">
              <a:spcBef>
                <a:spcPts val="0"/>
              </a:spcBef>
              <a:spcAft>
                <a:spcPts val="0"/>
              </a:spcAft>
              <a:buSzPts val="1400"/>
              <a:buFont typeface="Archivo Narrow"/>
              <a:buNone/>
              <a:defRPr sz="3000" i="0" u="none" strike="noStrike" cap="none">
                <a:solidFill>
                  <a:srgbClr val="009DD9"/>
                </a:solidFill>
                <a:latin typeface="Archivo Narrow"/>
                <a:ea typeface="Archivo Narrow"/>
                <a:cs typeface="Archivo Narrow"/>
                <a:sym typeface="Archivo Narrow"/>
              </a:defRPr>
            </a:lvl9pPr>
          </a:lstStyle>
          <a:p>
            <a:endParaRPr/>
          </a:p>
        </p:txBody>
      </p:sp>
      <p:sp>
        <p:nvSpPr>
          <p:cNvPr id="9" name="Google Shape;9;p1"/>
          <p:cNvSpPr txBox="1">
            <a:spLocks noGrp="1"/>
          </p:cNvSpPr>
          <p:nvPr>
            <p:ph type="body" idx="1"/>
          </p:nvPr>
        </p:nvSpPr>
        <p:spPr>
          <a:xfrm>
            <a:off x="593725" y="1515666"/>
            <a:ext cx="8166000" cy="3058500"/>
          </a:xfrm>
          <a:prstGeom prst="rect">
            <a:avLst/>
          </a:prstGeom>
          <a:noFill/>
          <a:ln>
            <a:noFill/>
          </a:ln>
        </p:spPr>
        <p:txBody>
          <a:bodyPr spcFirstLastPara="1" wrap="square" lIns="91425" tIns="91425" rIns="91425" bIns="91425" anchor="t" anchorCtr="0">
            <a:noAutofit/>
          </a:bodyPr>
          <a:lstStyle>
            <a:lvl1pPr marL="457200" marR="0" lvl="0" indent="-342900" algn="l" rtl="0">
              <a:spcBef>
                <a:spcPts val="800"/>
              </a:spcBef>
              <a:spcAft>
                <a:spcPts val="0"/>
              </a:spcAft>
              <a:buClr>
                <a:schemeClr val="dk2"/>
              </a:buClr>
              <a:buSzPts val="1800"/>
              <a:buFont typeface="Open Sans"/>
              <a:buChar char="•"/>
              <a:defRPr sz="1800" i="0" u="none" strike="noStrike" cap="none">
                <a:solidFill>
                  <a:schemeClr val="dk2"/>
                </a:solidFill>
                <a:latin typeface="Open Sans"/>
                <a:ea typeface="Open Sans"/>
                <a:cs typeface="Open Sans"/>
                <a:sym typeface="Open Sans"/>
              </a:defRPr>
            </a:lvl1pPr>
            <a:lvl2pPr marL="914400" marR="0" lvl="1" indent="-330200" algn="l" rtl="0">
              <a:spcBef>
                <a:spcPts val="800"/>
              </a:spcBef>
              <a:spcAft>
                <a:spcPts val="0"/>
              </a:spcAft>
              <a:buClr>
                <a:schemeClr val="dk2"/>
              </a:buClr>
              <a:buSzPts val="1600"/>
              <a:buFont typeface="Open Sans"/>
              <a:buChar char="•"/>
              <a:defRPr sz="1600" i="0" u="none" strike="noStrike" cap="none">
                <a:solidFill>
                  <a:schemeClr val="dk2"/>
                </a:solidFill>
                <a:latin typeface="Open Sans"/>
                <a:ea typeface="Open Sans"/>
                <a:cs typeface="Open Sans"/>
                <a:sym typeface="Open Sans"/>
              </a:defRPr>
            </a:lvl2pPr>
            <a:lvl3pPr marL="1371600" marR="0" lvl="2" indent="-317500" algn="l" rtl="0">
              <a:spcBef>
                <a:spcPts val="700"/>
              </a:spcBef>
              <a:spcAft>
                <a:spcPts val="0"/>
              </a:spcAft>
              <a:buClr>
                <a:schemeClr val="dk2"/>
              </a:buClr>
              <a:buSzPts val="1400"/>
              <a:buFont typeface="Open Sans"/>
              <a:buChar char="•"/>
              <a:defRPr sz="1400" i="0" u="none" strike="noStrike" cap="none">
                <a:solidFill>
                  <a:schemeClr val="dk2"/>
                </a:solidFill>
                <a:latin typeface="Open Sans"/>
                <a:ea typeface="Open Sans"/>
                <a:cs typeface="Open Sans"/>
                <a:sym typeface="Open Sans"/>
              </a:defRPr>
            </a:lvl3pPr>
            <a:lvl4pPr marL="1828800" marR="0" lvl="3" indent="-3048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4pPr>
            <a:lvl5pPr marL="2286000" marR="0" lvl="4" indent="-304800" algn="l" rtl="0">
              <a:spcBef>
                <a:spcPts val="700"/>
              </a:spcBef>
              <a:spcAft>
                <a:spcPts val="0"/>
              </a:spcAft>
              <a:buClr>
                <a:schemeClr val="dk2"/>
              </a:buClr>
              <a:buSzPts val="1200"/>
              <a:buFont typeface="Open Sans"/>
              <a:buChar char="•"/>
              <a:defRPr sz="1200" i="0" u="none" strike="noStrike" cap="none">
                <a:solidFill>
                  <a:schemeClr val="dk2"/>
                </a:solidFill>
                <a:latin typeface="Open Sans"/>
                <a:ea typeface="Open Sans"/>
                <a:cs typeface="Open Sans"/>
                <a:sym typeface="Open Sans"/>
              </a:defRPr>
            </a:lvl5pPr>
            <a:lvl6pPr marL="2743200" marR="0" lvl="5" indent="-355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6pPr>
            <a:lvl7pPr marL="3200400" marR="0" lvl="6" indent="-355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7pPr>
            <a:lvl8pPr marL="3657600" marR="0" lvl="7" indent="-355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8pPr>
            <a:lvl9pPr marL="4114800" marR="0" lvl="8" indent="-355600" algn="l" rtl="0">
              <a:spcBef>
                <a:spcPts val="400"/>
              </a:spcBef>
              <a:spcAft>
                <a:spcPts val="0"/>
              </a:spcAft>
              <a:buClr>
                <a:schemeClr val="dk1"/>
              </a:buClr>
              <a:buSzPts val="2000"/>
              <a:buFont typeface="Open Sans"/>
              <a:buChar char="•"/>
              <a:defRPr sz="2000" i="0" u="none" strike="noStrike" cap="none">
                <a:solidFill>
                  <a:schemeClr val="dk1"/>
                </a:solidFill>
                <a:latin typeface="Open Sans"/>
                <a:ea typeface="Open Sans"/>
                <a:cs typeface="Open Sans"/>
                <a:sym typeface="Open Sans"/>
              </a:defRPr>
            </a:lvl9pPr>
          </a:lstStyle>
          <a:p>
            <a:endParaRPr/>
          </a:p>
        </p:txBody>
      </p:sp>
      <p:sp>
        <p:nvSpPr>
          <p:cNvPr id="10" name="Google Shape;10;p1"/>
          <p:cNvSpPr txBox="1"/>
          <p:nvPr/>
        </p:nvSpPr>
        <p:spPr>
          <a:xfrm>
            <a:off x="8877412" y="4950474"/>
            <a:ext cx="141000" cy="1041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None/>
            </a:pPr>
            <a:fld id="{00000000-1234-1234-1234-123412341234}" type="slidenum">
              <a:rPr lang="en" sz="900" i="0" u="none" strike="noStrike" cap="none">
                <a:solidFill>
                  <a:schemeClr val="dk2"/>
                </a:solidFill>
                <a:latin typeface="Open Sans"/>
                <a:ea typeface="Open Sans"/>
                <a:cs typeface="Open Sans"/>
                <a:sym typeface="Open Sans"/>
              </a:rPr>
              <a:t>‹#›</a:t>
            </a:fld>
            <a:endParaRPr sz="900" i="0" u="none" strike="noStrike" cap="none">
              <a:solidFill>
                <a:schemeClr val="dk2"/>
              </a:solidFill>
              <a:latin typeface="Open Sans"/>
              <a:ea typeface="Open Sans"/>
              <a:cs typeface="Open Sans"/>
              <a:sym typeface="Open Sans"/>
            </a:endParaRPr>
          </a:p>
        </p:txBody>
      </p:sp>
      <p:pic>
        <p:nvPicPr>
          <p:cNvPr id="11" name="Google Shape;11;p1" descr="N-Element-Tab-Blue_RGB.png"/>
          <p:cNvPicPr preferRelativeResize="0"/>
          <p:nvPr/>
        </p:nvPicPr>
        <p:blipFill rotWithShape="1">
          <a:blip r:embed="rId101">
            <a:alphaModFix/>
          </a:blip>
          <a:srcRect/>
          <a:stretch/>
        </p:blipFill>
        <p:spPr>
          <a:xfrm>
            <a:off x="8610600" y="0"/>
            <a:ext cx="236400" cy="2550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 id="2147483716" r:id="rId68"/>
    <p:sldLayoutId id="2147483717" r:id="rId69"/>
    <p:sldLayoutId id="2147483718" r:id="rId70"/>
    <p:sldLayoutId id="2147483719" r:id="rId71"/>
    <p:sldLayoutId id="2147483720" r:id="rId72"/>
    <p:sldLayoutId id="2147483721" r:id="rId73"/>
    <p:sldLayoutId id="2147483722" r:id="rId74"/>
    <p:sldLayoutId id="2147483723" r:id="rId75"/>
    <p:sldLayoutId id="2147483724" r:id="rId76"/>
    <p:sldLayoutId id="2147483725" r:id="rId77"/>
    <p:sldLayoutId id="2147483726" r:id="rId78"/>
    <p:sldLayoutId id="2147483727" r:id="rId79"/>
    <p:sldLayoutId id="2147483728" r:id="rId80"/>
    <p:sldLayoutId id="2147483729" r:id="rId81"/>
    <p:sldLayoutId id="2147483730" r:id="rId82"/>
    <p:sldLayoutId id="2147483731" r:id="rId83"/>
    <p:sldLayoutId id="2147483732" r:id="rId84"/>
    <p:sldLayoutId id="2147483733" r:id="rId85"/>
    <p:sldLayoutId id="2147483734" r:id="rId86"/>
    <p:sldLayoutId id="2147483735" r:id="rId87"/>
    <p:sldLayoutId id="2147483736" r:id="rId88"/>
    <p:sldLayoutId id="2147483737" r:id="rId89"/>
    <p:sldLayoutId id="2147483738" r:id="rId90"/>
    <p:sldLayoutId id="2147483739" r:id="rId91"/>
    <p:sldLayoutId id="2147483740" r:id="rId92"/>
    <p:sldLayoutId id="2147483741" r:id="rId93"/>
    <p:sldLayoutId id="2147483742" r:id="rId94"/>
    <p:sldLayoutId id="2147483743" r:id="rId95"/>
    <p:sldLayoutId id="2147483744" r:id="rId96"/>
    <p:sldLayoutId id="2147483745" r:id="rId97"/>
    <p:sldLayoutId id="2147483747" r:id="rId9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653F65-BA9C-1740-A28B-B1DAA4DD9CA1}"/>
              </a:ext>
            </a:extLst>
          </p:cNvPr>
          <p:cNvSpPr>
            <a:spLocks noGrp="1"/>
          </p:cNvSpPr>
          <p:nvPr>
            <p:ph type="title"/>
          </p:nvPr>
        </p:nvSpPr>
        <p:spPr>
          <a:xfrm>
            <a:off x="216419" y="113143"/>
            <a:ext cx="8686800" cy="327406"/>
          </a:xfrm>
          <a:prstGeom prst="rect">
            <a:avLst/>
          </a:prstGeom>
        </p:spPr>
        <p:txBody>
          <a:bodyPr vert="horz" lIns="0" tIns="45720" rIns="0" bIns="45720" rtlCol="0" anchor="ctr">
            <a:noAutofit/>
          </a:bodyPr>
          <a:lstStyle/>
          <a:p>
            <a:r>
              <a:rPr lang="en-US"/>
              <a:t>Insert your slide title in Arial bold 20pt</a:t>
            </a:r>
          </a:p>
        </p:txBody>
      </p:sp>
      <p:sp>
        <p:nvSpPr>
          <p:cNvPr id="3" name="Text Placeholder 2">
            <a:extLst>
              <a:ext uri="{FF2B5EF4-FFF2-40B4-BE49-F238E27FC236}">
                <a16:creationId xmlns:a16="http://schemas.microsoft.com/office/drawing/2014/main" id="{24B979C3-6A0F-BF4F-B648-934820FFA018}"/>
              </a:ext>
            </a:extLst>
          </p:cNvPr>
          <p:cNvSpPr>
            <a:spLocks noGrp="1"/>
          </p:cNvSpPr>
          <p:nvPr>
            <p:ph type="body" idx="1"/>
          </p:nvPr>
        </p:nvSpPr>
        <p:spPr>
          <a:xfrm>
            <a:off x="216419" y="1369219"/>
            <a:ext cx="8698229" cy="2877104"/>
          </a:xfrm>
          <a:prstGeom prst="rect">
            <a:avLst/>
          </a:prstGeom>
        </p:spPr>
        <p:txBody>
          <a:bodyPr vert="horz" lIns="0" tIns="45720" rIns="0" bIns="45720" rtlCol="0">
            <a:noAutofit/>
          </a:bodyPr>
          <a:lstStyle/>
          <a:p>
            <a:pPr lvl="0"/>
            <a:r>
              <a:rPr lang="en-US"/>
              <a:t>Insert your copy here</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70C11DF5-A807-A249-BC11-866DFE18866A}"/>
              </a:ext>
            </a:extLst>
          </p:cNvPr>
          <p:cNvSpPr>
            <a:spLocks noGrp="1"/>
          </p:cNvSpPr>
          <p:nvPr>
            <p:ph type="sldNum" sz="quarter" idx="4"/>
          </p:nvPr>
        </p:nvSpPr>
        <p:spPr>
          <a:xfrm>
            <a:off x="8238994" y="4826403"/>
            <a:ext cx="676406" cy="273844"/>
          </a:xfrm>
          <a:prstGeom prst="rect">
            <a:avLst/>
          </a:prstGeom>
        </p:spPr>
        <p:txBody>
          <a:bodyPr vert="horz" lIns="0" tIns="45720" rIns="0" bIns="45720" rtlCol="0" anchor="ctr"/>
          <a:lstStyle>
            <a:lvl1pPr algn="r">
              <a:defRPr sz="750">
                <a:solidFill>
                  <a:schemeClr val="tx1"/>
                </a:solidFill>
              </a:defRPr>
            </a:lvl1pPr>
          </a:lstStyle>
          <a:p>
            <a:fld id="{403EF4E2-7A7A-0548-85F1-5479B7C9E1B2}" type="slidenum">
              <a:rPr lang="en-US" smtClean="0"/>
              <a:pPr/>
              <a:t>‹#›</a:t>
            </a:fld>
            <a:endParaRPr lang="en-US"/>
          </a:p>
        </p:txBody>
      </p:sp>
      <p:sp>
        <p:nvSpPr>
          <p:cNvPr id="13" name="TextBox 12">
            <a:extLst>
              <a:ext uri="{FF2B5EF4-FFF2-40B4-BE49-F238E27FC236}">
                <a16:creationId xmlns:a16="http://schemas.microsoft.com/office/drawing/2014/main" id="{E6F4DD64-3534-DEB8-AEE5-0372CCAEBF2E}"/>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cxnSp>
        <p:nvCxnSpPr>
          <p:cNvPr id="15" name="Straight Connector 14">
            <a:extLst>
              <a:ext uri="{FF2B5EF4-FFF2-40B4-BE49-F238E27FC236}">
                <a16:creationId xmlns:a16="http://schemas.microsoft.com/office/drawing/2014/main" id="{01AEB538-380C-AB5A-CF46-BE17C122D67C}"/>
              </a:ext>
            </a:extLst>
          </p:cNvPr>
          <p:cNvCxnSpPr>
            <a:cxnSpLocks/>
          </p:cNvCxnSpPr>
          <p:nvPr/>
        </p:nvCxnSpPr>
        <p:spPr>
          <a:xfrm>
            <a:off x="209199" y="4796816"/>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F7ADE58-1D7F-E4C8-79C1-186ABFD5E841}"/>
              </a:ext>
            </a:extLst>
          </p:cNvPr>
          <p:cNvPicPr>
            <a:picLocks noChangeAspect="1"/>
          </p:cNvPicPr>
          <p:nvPr/>
        </p:nvPicPr>
        <p:blipFill>
          <a:blip r:embed="rId27"/>
          <a:srcRect/>
          <a:stretch/>
        </p:blipFill>
        <p:spPr>
          <a:xfrm>
            <a:off x="209199" y="4856701"/>
            <a:ext cx="670559" cy="243545"/>
          </a:xfrm>
          <a:prstGeom prst="rect">
            <a:avLst/>
          </a:prstGeom>
        </p:spPr>
      </p:pic>
    </p:spTree>
    <p:extLst>
      <p:ext uri="{BB962C8B-B14F-4D97-AF65-F5344CB8AC3E}">
        <p14:creationId xmlns:p14="http://schemas.microsoft.com/office/powerpoint/2010/main" val="1399672687"/>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 id="2147483762" r:id="rId14"/>
    <p:sldLayoutId id="2147483763" r:id="rId15"/>
    <p:sldLayoutId id="2147483764" r:id="rId16"/>
    <p:sldLayoutId id="2147483765" r:id="rId17"/>
    <p:sldLayoutId id="2147483766" r:id="rId18"/>
    <p:sldLayoutId id="2147483767" r:id="rId19"/>
    <p:sldLayoutId id="2147483768" r:id="rId20"/>
    <p:sldLayoutId id="2147483789" r:id="rId21"/>
    <p:sldLayoutId id="2147483790" r:id="rId22"/>
    <p:sldLayoutId id="2147483791" r:id="rId23"/>
    <p:sldLayoutId id="2147483792" r:id="rId24"/>
    <p:sldLayoutId id="2147483793" r:id="rId25"/>
  </p:sldLayoutIdLst>
  <p:hf sldNum="0" hdr="0" ftr="0" dt="0"/>
  <p:txStyles>
    <p:titleStyle>
      <a:lvl1pPr algn="l" defTabSz="685800" rtl="0" eaLnBrk="1" latinLnBrk="0" hangingPunct="1">
        <a:lnSpc>
          <a:spcPct val="100000"/>
        </a:lnSpc>
        <a:spcBef>
          <a:spcPct val="0"/>
        </a:spcBef>
        <a:buNone/>
        <a:defRPr sz="1500" b="1" kern="1200">
          <a:solidFill>
            <a:schemeClr val="tx1"/>
          </a:solidFill>
          <a:latin typeface="+mj-lt"/>
          <a:ea typeface="+mj-ea"/>
          <a:cs typeface="+mj-cs"/>
        </a:defRPr>
      </a:lvl1pPr>
    </p:titleStyle>
    <p:bodyStyle>
      <a:lvl1pPr marL="171450" indent="-171450" algn="l" defTabSz="685800" rtl="0" eaLnBrk="1" latinLnBrk="0" hangingPunct="1">
        <a:lnSpc>
          <a:spcPct val="10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1pPr>
      <a:lvl2pPr marL="514350" indent="-171450" algn="l" defTabSz="685800" rtl="0" eaLnBrk="1" latinLnBrk="0" hangingPunct="1">
        <a:lnSpc>
          <a:spcPct val="100000"/>
        </a:lnSpc>
        <a:spcBef>
          <a:spcPts val="0"/>
        </a:spcBef>
        <a:spcAft>
          <a:spcPts val="450"/>
        </a:spcAft>
        <a:buSzPct val="100000"/>
        <a:buFont typeface="System Font Regular"/>
        <a:buChar char="-"/>
        <a:defRPr sz="1050" kern="1200">
          <a:solidFill>
            <a:schemeClr val="tx1"/>
          </a:solidFill>
          <a:latin typeface="+mn-lt"/>
          <a:ea typeface="+mn-ea"/>
          <a:cs typeface="+mn-cs"/>
        </a:defRPr>
      </a:lvl2pPr>
      <a:lvl3pPr marL="857250" indent="-171450" algn="l" defTabSz="685800" rtl="0" eaLnBrk="1" latinLnBrk="0" hangingPunct="1">
        <a:lnSpc>
          <a:spcPct val="10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3pPr>
      <a:lvl4pPr marL="1200150" indent="-171450" algn="l" defTabSz="685800" rtl="0" eaLnBrk="1" latinLnBrk="0" hangingPunct="1">
        <a:lnSpc>
          <a:spcPct val="100000"/>
        </a:lnSpc>
        <a:spcBef>
          <a:spcPts val="0"/>
        </a:spcBef>
        <a:spcAft>
          <a:spcPts val="450"/>
        </a:spcAft>
        <a:buFont typeface="Arial" panose="020B0604020202020204" pitchFamily="34" charset="0"/>
        <a:buChar char="•"/>
        <a:defRPr sz="825" kern="1200">
          <a:solidFill>
            <a:schemeClr val="tx1"/>
          </a:solidFill>
          <a:latin typeface="+mn-lt"/>
          <a:ea typeface="+mn-ea"/>
          <a:cs typeface="+mn-cs"/>
        </a:defRPr>
      </a:lvl4pPr>
      <a:lvl5pPr marL="1543050" indent="-171450" algn="l" defTabSz="685800" rtl="0" eaLnBrk="1" latinLnBrk="0" hangingPunct="1">
        <a:lnSpc>
          <a:spcPct val="100000"/>
        </a:lnSpc>
        <a:spcBef>
          <a:spcPts val="0"/>
        </a:spcBef>
        <a:spcAft>
          <a:spcPts val="450"/>
        </a:spcAft>
        <a:buFont typeface="Arial" panose="020B0604020202020204" pitchFamily="34" charset="0"/>
        <a:buChar char="•"/>
        <a:defRPr sz="8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F653F65-BA9C-1740-A28B-B1DAA4DD9CA1}"/>
              </a:ext>
            </a:extLst>
          </p:cNvPr>
          <p:cNvSpPr>
            <a:spLocks noGrp="1"/>
          </p:cNvSpPr>
          <p:nvPr>
            <p:ph type="title"/>
          </p:nvPr>
        </p:nvSpPr>
        <p:spPr>
          <a:xfrm>
            <a:off x="216419" y="113143"/>
            <a:ext cx="8686800" cy="327406"/>
          </a:xfrm>
          <a:prstGeom prst="rect">
            <a:avLst/>
          </a:prstGeom>
        </p:spPr>
        <p:txBody>
          <a:bodyPr vert="horz" lIns="0" tIns="45720" rIns="0" bIns="45720" rtlCol="0" anchor="ctr">
            <a:noAutofit/>
          </a:bodyPr>
          <a:lstStyle/>
          <a:p>
            <a:r>
              <a:rPr lang="en-US"/>
              <a:t>Insert your slide title in Arial bold 20pt</a:t>
            </a:r>
          </a:p>
        </p:txBody>
      </p:sp>
      <p:sp>
        <p:nvSpPr>
          <p:cNvPr id="3" name="Text Placeholder 2">
            <a:extLst>
              <a:ext uri="{FF2B5EF4-FFF2-40B4-BE49-F238E27FC236}">
                <a16:creationId xmlns:a16="http://schemas.microsoft.com/office/drawing/2014/main" id="{24B979C3-6A0F-BF4F-B648-934820FFA018}"/>
              </a:ext>
            </a:extLst>
          </p:cNvPr>
          <p:cNvSpPr>
            <a:spLocks noGrp="1"/>
          </p:cNvSpPr>
          <p:nvPr>
            <p:ph type="body" idx="1"/>
          </p:nvPr>
        </p:nvSpPr>
        <p:spPr>
          <a:xfrm>
            <a:off x="216419" y="1369219"/>
            <a:ext cx="8698229" cy="2877104"/>
          </a:xfrm>
          <a:prstGeom prst="rect">
            <a:avLst/>
          </a:prstGeom>
        </p:spPr>
        <p:txBody>
          <a:bodyPr vert="horz" lIns="0" tIns="45720" rIns="0" bIns="45720" rtlCol="0">
            <a:noAutofit/>
          </a:bodyPr>
          <a:lstStyle/>
          <a:p>
            <a:pPr lvl="0"/>
            <a:r>
              <a:rPr lang="en-US"/>
              <a:t>Insert your copy here</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70C11DF5-A807-A249-BC11-866DFE18866A}"/>
              </a:ext>
            </a:extLst>
          </p:cNvPr>
          <p:cNvSpPr>
            <a:spLocks noGrp="1"/>
          </p:cNvSpPr>
          <p:nvPr>
            <p:ph type="sldNum" sz="quarter" idx="4"/>
          </p:nvPr>
        </p:nvSpPr>
        <p:spPr>
          <a:xfrm>
            <a:off x="8238994" y="4826403"/>
            <a:ext cx="676406" cy="273844"/>
          </a:xfrm>
          <a:prstGeom prst="rect">
            <a:avLst/>
          </a:prstGeom>
        </p:spPr>
        <p:txBody>
          <a:bodyPr vert="horz" lIns="0" tIns="45720" rIns="0" bIns="45720" rtlCol="0" anchor="ctr"/>
          <a:lstStyle>
            <a:lvl1pPr algn="r">
              <a:defRPr sz="750">
                <a:solidFill>
                  <a:schemeClr val="tx1"/>
                </a:solidFill>
              </a:defRPr>
            </a:lvl1pPr>
          </a:lstStyle>
          <a:p>
            <a:fld id="{516D1C96-CD82-49FE-B67D-E8ED83D4F06E}" type="slidenum">
              <a:rPr lang="en-US" smtClean="0"/>
              <a:t>‹#›</a:t>
            </a:fld>
            <a:endParaRPr lang="en-US"/>
          </a:p>
        </p:txBody>
      </p:sp>
      <p:sp>
        <p:nvSpPr>
          <p:cNvPr id="13" name="TextBox 12">
            <a:extLst>
              <a:ext uri="{FF2B5EF4-FFF2-40B4-BE49-F238E27FC236}">
                <a16:creationId xmlns:a16="http://schemas.microsoft.com/office/drawing/2014/main" id="{E6F4DD64-3534-DEB8-AEE5-0372CCAEBF2E}"/>
              </a:ext>
            </a:extLst>
          </p:cNvPr>
          <p:cNvSpPr txBox="1"/>
          <p:nvPr/>
        </p:nvSpPr>
        <p:spPr>
          <a:xfrm>
            <a:off x="6626269" y="4888445"/>
            <a:ext cx="1950929" cy="173124"/>
          </a:xfrm>
          <a:prstGeom prst="rect">
            <a:avLst/>
          </a:prstGeom>
          <a:noFill/>
        </p:spPr>
        <p:txBody>
          <a:bodyPr wrap="square" lIns="0" rIns="0" rtlCol="0">
            <a:spAutoFit/>
          </a:bodyPr>
          <a:lstStyle/>
          <a:p>
            <a:pPr marL="0" marR="0" indent="0" algn="l" defTabSz="685800" rtl="0" eaLnBrk="1" fontAlgn="auto" latinLnBrk="0" hangingPunct="1">
              <a:lnSpc>
                <a:spcPct val="100000"/>
              </a:lnSpc>
              <a:spcBef>
                <a:spcPts val="0"/>
              </a:spcBef>
              <a:spcAft>
                <a:spcPts val="0"/>
              </a:spcAft>
              <a:buClrTx/>
              <a:buSzTx/>
              <a:buFontTx/>
              <a:buNone/>
              <a:tabLst/>
              <a:defRPr/>
            </a:pPr>
            <a:r>
              <a:rPr lang="en-US" sz="525">
                <a:solidFill>
                  <a:schemeClr val="tx1">
                    <a:lumMod val="40000"/>
                    <a:lumOff val="60000"/>
                  </a:schemeClr>
                </a:solidFill>
              </a:rPr>
              <a:t>© 2023 Nielsen Consumer LLC. All Rights Reserved.</a:t>
            </a:r>
          </a:p>
        </p:txBody>
      </p:sp>
      <p:cxnSp>
        <p:nvCxnSpPr>
          <p:cNvPr id="15" name="Straight Connector 14">
            <a:extLst>
              <a:ext uri="{FF2B5EF4-FFF2-40B4-BE49-F238E27FC236}">
                <a16:creationId xmlns:a16="http://schemas.microsoft.com/office/drawing/2014/main" id="{01AEB538-380C-AB5A-CF46-BE17C122D67C}"/>
              </a:ext>
            </a:extLst>
          </p:cNvPr>
          <p:cNvCxnSpPr>
            <a:cxnSpLocks/>
          </p:cNvCxnSpPr>
          <p:nvPr/>
        </p:nvCxnSpPr>
        <p:spPr>
          <a:xfrm>
            <a:off x="209199" y="4796816"/>
            <a:ext cx="871116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F7ADE58-1D7F-E4C8-79C1-186ABFD5E841}"/>
              </a:ext>
            </a:extLst>
          </p:cNvPr>
          <p:cNvPicPr>
            <a:picLocks noChangeAspect="1"/>
          </p:cNvPicPr>
          <p:nvPr/>
        </p:nvPicPr>
        <p:blipFill>
          <a:blip r:embed="rId21"/>
          <a:srcRect/>
          <a:stretch/>
        </p:blipFill>
        <p:spPr>
          <a:xfrm>
            <a:off x="209199" y="4856701"/>
            <a:ext cx="670559" cy="243545"/>
          </a:xfrm>
          <a:prstGeom prst="rect">
            <a:avLst/>
          </a:prstGeom>
        </p:spPr>
      </p:pic>
    </p:spTree>
    <p:extLst>
      <p:ext uri="{BB962C8B-B14F-4D97-AF65-F5344CB8AC3E}">
        <p14:creationId xmlns:p14="http://schemas.microsoft.com/office/powerpoint/2010/main" val="3845802045"/>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Lst>
  <p:hf sldNum="0" hdr="0" ftr="0" dt="0"/>
  <p:txStyles>
    <p:titleStyle>
      <a:lvl1pPr algn="l" defTabSz="685800" rtl="0" eaLnBrk="1" latinLnBrk="0" hangingPunct="1">
        <a:lnSpc>
          <a:spcPct val="100000"/>
        </a:lnSpc>
        <a:spcBef>
          <a:spcPct val="0"/>
        </a:spcBef>
        <a:buNone/>
        <a:defRPr sz="1500" b="1" kern="1200">
          <a:solidFill>
            <a:schemeClr val="tx1"/>
          </a:solidFill>
          <a:latin typeface="+mj-lt"/>
          <a:ea typeface="+mj-ea"/>
          <a:cs typeface="+mj-cs"/>
        </a:defRPr>
      </a:lvl1pPr>
    </p:titleStyle>
    <p:bodyStyle>
      <a:lvl1pPr marL="171450" indent="-171450" algn="l" defTabSz="685800" rtl="0" eaLnBrk="1" latinLnBrk="0" hangingPunct="1">
        <a:lnSpc>
          <a:spcPct val="100000"/>
        </a:lnSpc>
        <a:spcBef>
          <a:spcPts val="0"/>
        </a:spcBef>
        <a:spcAft>
          <a:spcPts val="450"/>
        </a:spcAft>
        <a:buFont typeface="Arial" panose="020B0604020202020204" pitchFamily="34" charset="0"/>
        <a:buChar char="•"/>
        <a:defRPr sz="1200" kern="1200">
          <a:solidFill>
            <a:schemeClr val="tx1"/>
          </a:solidFill>
          <a:latin typeface="+mn-lt"/>
          <a:ea typeface="+mn-ea"/>
          <a:cs typeface="+mn-cs"/>
        </a:defRPr>
      </a:lvl1pPr>
      <a:lvl2pPr marL="514350" indent="-171450" algn="l" defTabSz="685800" rtl="0" eaLnBrk="1" latinLnBrk="0" hangingPunct="1">
        <a:lnSpc>
          <a:spcPct val="100000"/>
        </a:lnSpc>
        <a:spcBef>
          <a:spcPts val="0"/>
        </a:spcBef>
        <a:spcAft>
          <a:spcPts val="450"/>
        </a:spcAft>
        <a:buSzPct val="100000"/>
        <a:buFont typeface="System Font Regular"/>
        <a:buChar char="-"/>
        <a:defRPr sz="1050" kern="1200">
          <a:solidFill>
            <a:schemeClr val="tx1"/>
          </a:solidFill>
          <a:latin typeface="+mn-lt"/>
          <a:ea typeface="+mn-ea"/>
          <a:cs typeface="+mn-cs"/>
        </a:defRPr>
      </a:lvl2pPr>
      <a:lvl3pPr marL="857250" indent="-171450" algn="l" defTabSz="685800" rtl="0" eaLnBrk="1" latinLnBrk="0" hangingPunct="1">
        <a:lnSpc>
          <a:spcPct val="100000"/>
        </a:lnSpc>
        <a:spcBef>
          <a:spcPts val="0"/>
        </a:spcBef>
        <a:spcAft>
          <a:spcPts val="450"/>
        </a:spcAft>
        <a:buFont typeface="Arial" panose="020B0604020202020204" pitchFamily="34" charset="0"/>
        <a:buChar char="•"/>
        <a:defRPr sz="900" kern="1200">
          <a:solidFill>
            <a:schemeClr val="tx1"/>
          </a:solidFill>
          <a:latin typeface="+mn-lt"/>
          <a:ea typeface="+mn-ea"/>
          <a:cs typeface="+mn-cs"/>
        </a:defRPr>
      </a:lvl3pPr>
      <a:lvl4pPr marL="1200150" indent="-171450" algn="l" defTabSz="685800" rtl="0" eaLnBrk="1" latinLnBrk="0" hangingPunct="1">
        <a:lnSpc>
          <a:spcPct val="100000"/>
        </a:lnSpc>
        <a:spcBef>
          <a:spcPts val="0"/>
        </a:spcBef>
        <a:spcAft>
          <a:spcPts val="450"/>
        </a:spcAft>
        <a:buFont typeface="Arial" panose="020B0604020202020204" pitchFamily="34" charset="0"/>
        <a:buChar char="•"/>
        <a:defRPr sz="825" kern="1200">
          <a:solidFill>
            <a:schemeClr val="tx1"/>
          </a:solidFill>
          <a:latin typeface="+mn-lt"/>
          <a:ea typeface="+mn-ea"/>
          <a:cs typeface="+mn-cs"/>
        </a:defRPr>
      </a:lvl4pPr>
      <a:lvl5pPr marL="1543050" indent="-171450" algn="l" defTabSz="685800" rtl="0" eaLnBrk="1" latinLnBrk="0" hangingPunct="1">
        <a:lnSpc>
          <a:spcPct val="100000"/>
        </a:lnSpc>
        <a:spcBef>
          <a:spcPts val="0"/>
        </a:spcBef>
        <a:spcAft>
          <a:spcPts val="450"/>
        </a:spcAft>
        <a:buFont typeface="Arial" panose="020B0604020202020204" pitchFamily="34" charset="0"/>
        <a:buChar char="•"/>
        <a:defRPr sz="825"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19.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18.xml"/><Relationship Id="rId1" Type="http://schemas.openxmlformats.org/officeDocument/2006/relationships/themeOverride" Target="../theme/themeOverride2.xml"/><Relationship Id="rId5" Type="http://schemas.openxmlformats.org/officeDocument/2006/relationships/slide" Target="slide86.xml"/><Relationship Id="rId4" Type="http://schemas.openxmlformats.org/officeDocument/2006/relationships/hyperlink" Target="https://nielsenenterprise.sharepoint.com/:p:/r/sites/SIRVALZTV_SOP_DOC/_layouts/15/Doc.aspx?sourcedoc=%7BC38E6935-04D1-55FA-129B-6A5BC3B857F9%7D&amp;file=FOVA%20Handling.pptx&amp;action=edit&amp;mobileredirect=true&amp;DefaultItemOpen=1" TargetMode="Externa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2.xml"/><Relationship Id="rId1" Type="http://schemas.openxmlformats.org/officeDocument/2006/relationships/themeOverride" Target="../theme/themeOverride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19.xml"/><Relationship Id="rId1" Type="http://schemas.openxmlformats.org/officeDocument/2006/relationships/themeOverride" Target="../theme/themeOverride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19.xml"/><Relationship Id="rId1" Type="http://schemas.openxmlformats.org/officeDocument/2006/relationships/themeOverride" Target="../theme/themeOverride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19.xml"/><Relationship Id="rId1" Type="http://schemas.openxmlformats.org/officeDocument/2006/relationships/themeOverride" Target="../theme/themeOverr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0.xml"/><Relationship Id="rId1" Type="http://schemas.openxmlformats.org/officeDocument/2006/relationships/themeOverride" Target="../theme/themeOverride7.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0.xml"/><Relationship Id="rId1" Type="http://schemas.openxmlformats.org/officeDocument/2006/relationships/themeOverride" Target="../theme/themeOverride8.xml"/><Relationship Id="rId4"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0.xml"/><Relationship Id="rId1" Type="http://schemas.openxmlformats.org/officeDocument/2006/relationships/themeOverride" Target="../theme/themeOverride9.xml"/><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0.xml"/><Relationship Id="rId1" Type="http://schemas.openxmlformats.org/officeDocument/2006/relationships/themeOverride" Target="../theme/themeOverride10.xml"/><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0.xml"/><Relationship Id="rId1" Type="http://schemas.openxmlformats.org/officeDocument/2006/relationships/themeOverride" Target="../theme/themeOverride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0.xml"/><Relationship Id="rId1" Type="http://schemas.openxmlformats.org/officeDocument/2006/relationships/themeOverride" Target="../theme/themeOverride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0.xml"/><Relationship Id="rId1" Type="http://schemas.openxmlformats.org/officeDocument/2006/relationships/themeOverride" Target="../theme/themeOverride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0.xml"/><Relationship Id="rId1" Type="http://schemas.openxmlformats.org/officeDocument/2006/relationships/themeOverride" Target="../theme/themeOverride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0.xml"/><Relationship Id="rId1" Type="http://schemas.openxmlformats.org/officeDocument/2006/relationships/themeOverride" Target="../theme/themeOverride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0.xml"/><Relationship Id="rId1" Type="http://schemas.openxmlformats.org/officeDocument/2006/relationships/themeOverride" Target="../theme/themeOverride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0.xml"/><Relationship Id="rId1" Type="http://schemas.openxmlformats.org/officeDocument/2006/relationships/themeOverride" Target="../theme/themeOverride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0.xml"/><Relationship Id="rId1" Type="http://schemas.openxmlformats.org/officeDocument/2006/relationships/themeOverride" Target="../theme/themeOverride18.xml"/><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1.xml"/><Relationship Id="rId1" Type="http://schemas.openxmlformats.org/officeDocument/2006/relationships/themeOverride" Target="../theme/themeOverride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1.xml"/><Relationship Id="rId1" Type="http://schemas.openxmlformats.org/officeDocument/2006/relationships/themeOverride" Target="../theme/themeOverride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1.xml"/><Relationship Id="rId1" Type="http://schemas.openxmlformats.org/officeDocument/2006/relationships/themeOverride" Target="../theme/themeOverride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21.xml"/><Relationship Id="rId1" Type="http://schemas.openxmlformats.org/officeDocument/2006/relationships/themeOverride" Target="../theme/themeOverride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21.xml"/><Relationship Id="rId1" Type="http://schemas.openxmlformats.org/officeDocument/2006/relationships/themeOverride" Target="../theme/themeOverride23.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21.xml"/><Relationship Id="rId1" Type="http://schemas.openxmlformats.org/officeDocument/2006/relationships/themeOverride" Target="../theme/themeOverride24.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21.xml"/><Relationship Id="rId1" Type="http://schemas.openxmlformats.org/officeDocument/2006/relationships/themeOverride" Target="../theme/themeOverride25.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21.xml"/><Relationship Id="rId1" Type="http://schemas.openxmlformats.org/officeDocument/2006/relationships/themeOverride" Target="../theme/themeOverride26.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21.xml"/><Relationship Id="rId1" Type="http://schemas.openxmlformats.org/officeDocument/2006/relationships/themeOverride" Target="../theme/themeOverride27.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21.xml"/><Relationship Id="rId1" Type="http://schemas.openxmlformats.org/officeDocument/2006/relationships/themeOverride" Target="../theme/themeOverride28.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121.xml"/><Relationship Id="rId1" Type="http://schemas.openxmlformats.org/officeDocument/2006/relationships/themeOverride" Target="../theme/themeOverride29.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21.xml"/><Relationship Id="rId1" Type="http://schemas.openxmlformats.org/officeDocument/2006/relationships/themeOverride" Target="../theme/themeOverride3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21.xml"/><Relationship Id="rId1" Type="http://schemas.openxmlformats.org/officeDocument/2006/relationships/themeOverride" Target="../theme/themeOverride31.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21.xml"/><Relationship Id="rId1" Type="http://schemas.openxmlformats.org/officeDocument/2006/relationships/themeOverride" Target="../theme/themeOverride3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21.xml"/><Relationship Id="rId1" Type="http://schemas.openxmlformats.org/officeDocument/2006/relationships/themeOverride" Target="../theme/themeOverride33.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1.xml"/><Relationship Id="rId1" Type="http://schemas.openxmlformats.org/officeDocument/2006/relationships/themeOverride" Target="../theme/themeOverride34.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21.xml"/><Relationship Id="rId1" Type="http://schemas.openxmlformats.org/officeDocument/2006/relationships/themeOverride" Target="../theme/themeOverride35.xml"/><Relationship Id="rId4" Type="http://schemas.openxmlformats.org/officeDocument/2006/relationships/image" Target="../media/image35.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21.xml"/><Relationship Id="rId1" Type="http://schemas.openxmlformats.org/officeDocument/2006/relationships/themeOverride" Target="../theme/themeOverride36.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21.xml"/><Relationship Id="rId1" Type="http://schemas.openxmlformats.org/officeDocument/2006/relationships/themeOverride" Target="../theme/themeOverride37.xml"/><Relationship Id="rId4" Type="http://schemas.openxmlformats.org/officeDocument/2006/relationships/image" Target="../media/image37.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21.xml"/><Relationship Id="rId1" Type="http://schemas.openxmlformats.org/officeDocument/2006/relationships/themeOverride" Target="../theme/themeOverride38.xml"/><Relationship Id="rId4" Type="http://schemas.openxmlformats.org/officeDocument/2006/relationships/image" Target="../media/image38.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21.xml"/><Relationship Id="rId1" Type="http://schemas.openxmlformats.org/officeDocument/2006/relationships/themeOverride" Target="../theme/themeOverride39.xml"/><Relationship Id="rId5" Type="http://schemas.openxmlformats.org/officeDocument/2006/relationships/image" Target="../media/image40.png"/><Relationship Id="rId4" Type="http://schemas.openxmlformats.org/officeDocument/2006/relationships/image" Target="../media/image39.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21.xml"/><Relationship Id="rId1" Type="http://schemas.openxmlformats.org/officeDocument/2006/relationships/themeOverride" Target="../theme/themeOverride40.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21.xml"/><Relationship Id="rId1" Type="http://schemas.openxmlformats.org/officeDocument/2006/relationships/themeOverride" Target="../theme/themeOverride41.xml"/><Relationship Id="rId4" Type="http://schemas.openxmlformats.org/officeDocument/2006/relationships/image" Target="../media/image41.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21.xml"/><Relationship Id="rId1" Type="http://schemas.openxmlformats.org/officeDocument/2006/relationships/themeOverride" Target="../theme/themeOverride4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21.xml"/><Relationship Id="rId1" Type="http://schemas.openxmlformats.org/officeDocument/2006/relationships/themeOverride" Target="../theme/themeOverride43.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121.xml"/><Relationship Id="rId1" Type="http://schemas.openxmlformats.org/officeDocument/2006/relationships/themeOverride" Target="../theme/themeOverride44.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121.xml"/><Relationship Id="rId1" Type="http://schemas.openxmlformats.org/officeDocument/2006/relationships/themeOverride" Target="../theme/themeOverride45.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121.xml"/><Relationship Id="rId1" Type="http://schemas.openxmlformats.org/officeDocument/2006/relationships/themeOverride" Target="../theme/themeOverride46.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121.xml"/><Relationship Id="rId1" Type="http://schemas.openxmlformats.org/officeDocument/2006/relationships/themeOverride" Target="../theme/themeOverride47.xml"/><Relationship Id="rId4" Type="http://schemas.openxmlformats.org/officeDocument/2006/relationships/image" Target="../media/image43.png"/></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121.xml"/><Relationship Id="rId1" Type="http://schemas.openxmlformats.org/officeDocument/2006/relationships/themeOverride" Target="../theme/themeOverride48.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21.xml"/><Relationship Id="rId1" Type="http://schemas.openxmlformats.org/officeDocument/2006/relationships/themeOverride" Target="../theme/themeOverride49.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21.xml"/><Relationship Id="rId1" Type="http://schemas.openxmlformats.org/officeDocument/2006/relationships/themeOverride" Target="../theme/themeOverride50.xml"/><Relationship Id="rId4" Type="http://schemas.openxmlformats.org/officeDocument/2006/relationships/image" Target="../media/image44.pn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21.xml"/><Relationship Id="rId1" Type="http://schemas.openxmlformats.org/officeDocument/2006/relationships/themeOverride" Target="../theme/themeOverride51.xml"/></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21.xml"/><Relationship Id="rId1" Type="http://schemas.openxmlformats.org/officeDocument/2006/relationships/themeOverride" Target="../theme/themeOverride52.xml"/><Relationship Id="rId4" Type="http://schemas.openxmlformats.org/officeDocument/2006/relationships/image" Target="../media/image45.png"/></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53.xml"/><Relationship Id="rId2" Type="http://schemas.openxmlformats.org/officeDocument/2006/relationships/slideLayout" Target="../slideLayouts/slideLayout121.xml"/><Relationship Id="rId1" Type="http://schemas.openxmlformats.org/officeDocument/2006/relationships/themeOverride" Target="../theme/themeOverride53.xml"/></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54.xml"/><Relationship Id="rId2" Type="http://schemas.openxmlformats.org/officeDocument/2006/relationships/slideLayout" Target="../slideLayouts/slideLayout121.xml"/><Relationship Id="rId1" Type="http://schemas.openxmlformats.org/officeDocument/2006/relationships/themeOverride" Target="../theme/themeOverride54.xml"/><Relationship Id="rId4" Type="http://schemas.openxmlformats.org/officeDocument/2006/relationships/image" Target="../media/image46.png"/></Relationships>
</file>

<file path=ppt/slides/_rels/slide56.xml.rels><?xml version="1.0" encoding="UTF-8" standalone="yes"?>
<Relationships xmlns="http://schemas.openxmlformats.org/package/2006/relationships"><Relationship Id="rId3" Type="http://schemas.openxmlformats.org/officeDocument/2006/relationships/notesSlide" Target="../notesSlides/notesSlide55.xml"/><Relationship Id="rId2" Type="http://schemas.openxmlformats.org/officeDocument/2006/relationships/slideLayout" Target="../slideLayouts/slideLayout121.xml"/><Relationship Id="rId1" Type="http://schemas.openxmlformats.org/officeDocument/2006/relationships/themeOverride" Target="../theme/themeOverride55.xml"/><Relationship Id="rId4" Type="http://schemas.openxmlformats.org/officeDocument/2006/relationships/image" Target="../media/image47.png"/></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56.xml"/><Relationship Id="rId2" Type="http://schemas.openxmlformats.org/officeDocument/2006/relationships/slideLayout" Target="../slideLayouts/slideLayout121.xml"/><Relationship Id="rId1" Type="http://schemas.openxmlformats.org/officeDocument/2006/relationships/themeOverride" Target="../theme/themeOverride56.xml"/><Relationship Id="rId5" Type="http://schemas.openxmlformats.org/officeDocument/2006/relationships/image" Target="../media/image49.png"/><Relationship Id="rId4" Type="http://schemas.openxmlformats.org/officeDocument/2006/relationships/image" Target="../media/image48.png"/></Relationships>
</file>

<file path=ppt/slides/_rels/slide58.xml.rels><?xml version="1.0" encoding="UTF-8" standalone="yes"?>
<Relationships xmlns="http://schemas.openxmlformats.org/package/2006/relationships"><Relationship Id="rId3" Type="http://schemas.openxmlformats.org/officeDocument/2006/relationships/notesSlide" Target="../notesSlides/notesSlide57.xml"/><Relationship Id="rId2" Type="http://schemas.openxmlformats.org/officeDocument/2006/relationships/slideLayout" Target="../slideLayouts/slideLayout121.xml"/><Relationship Id="rId1" Type="http://schemas.openxmlformats.org/officeDocument/2006/relationships/themeOverride" Target="../theme/themeOverride57.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58.xml"/><Relationship Id="rId2" Type="http://schemas.openxmlformats.org/officeDocument/2006/relationships/slideLayout" Target="../slideLayouts/slideLayout121.xml"/><Relationship Id="rId1" Type="http://schemas.openxmlformats.org/officeDocument/2006/relationships/themeOverride" Target="../theme/themeOverride58.xml"/></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59.xml"/><Relationship Id="rId2" Type="http://schemas.openxmlformats.org/officeDocument/2006/relationships/slideLayout" Target="../slideLayouts/slideLayout121.xml"/><Relationship Id="rId1" Type="http://schemas.openxmlformats.org/officeDocument/2006/relationships/themeOverride" Target="../theme/themeOverride59.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121.xml"/><Relationship Id="rId1" Type="http://schemas.openxmlformats.org/officeDocument/2006/relationships/themeOverride" Target="../theme/themeOverride60.xml"/></Relationships>
</file>

<file path=ppt/slides/_rels/slide62.xml.rels><?xml version="1.0" encoding="UTF-8" standalone="yes"?>
<Relationships xmlns="http://schemas.openxmlformats.org/package/2006/relationships"><Relationship Id="rId3" Type="http://schemas.openxmlformats.org/officeDocument/2006/relationships/notesSlide" Target="../notesSlides/notesSlide61.xml"/><Relationship Id="rId2" Type="http://schemas.openxmlformats.org/officeDocument/2006/relationships/slideLayout" Target="../slideLayouts/slideLayout121.xml"/><Relationship Id="rId1" Type="http://schemas.openxmlformats.org/officeDocument/2006/relationships/themeOverride" Target="../theme/themeOverride61.xml"/><Relationship Id="rId5" Type="http://schemas.openxmlformats.org/officeDocument/2006/relationships/image" Target="../media/image51.png"/><Relationship Id="rId4" Type="http://schemas.openxmlformats.org/officeDocument/2006/relationships/image" Target="../media/image50.png"/></Relationships>
</file>

<file path=ppt/slides/_rels/slide63.xml.rels><?xml version="1.0" encoding="UTF-8" standalone="yes"?>
<Relationships xmlns="http://schemas.openxmlformats.org/package/2006/relationships"><Relationship Id="rId3" Type="http://schemas.openxmlformats.org/officeDocument/2006/relationships/notesSlide" Target="../notesSlides/notesSlide62.xml"/><Relationship Id="rId2" Type="http://schemas.openxmlformats.org/officeDocument/2006/relationships/slideLayout" Target="../slideLayouts/slideLayout121.xml"/><Relationship Id="rId1" Type="http://schemas.openxmlformats.org/officeDocument/2006/relationships/themeOverride" Target="../theme/themeOverride62.xml"/></Relationships>
</file>

<file path=ppt/slides/_rels/slide64.xml.rels><?xml version="1.0" encoding="UTF-8" standalone="yes"?>
<Relationships xmlns="http://schemas.openxmlformats.org/package/2006/relationships"><Relationship Id="rId3" Type="http://schemas.openxmlformats.org/officeDocument/2006/relationships/notesSlide" Target="../notesSlides/notesSlide63.xml"/><Relationship Id="rId2" Type="http://schemas.openxmlformats.org/officeDocument/2006/relationships/slideLayout" Target="../slideLayouts/slideLayout121.xml"/><Relationship Id="rId1" Type="http://schemas.openxmlformats.org/officeDocument/2006/relationships/themeOverride" Target="../theme/themeOverride63.xml"/><Relationship Id="rId5" Type="http://schemas.openxmlformats.org/officeDocument/2006/relationships/image" Target="../media/image53.png"/><Relationship Id="rId4" Type="http://schemas.openxmlformats.org/officeDocument/2006/relationships/image" Target="../media/image52.png"/></Relationships>
</file>

<file path=ppt/slides/_rels/slide65.xml.rels><?xml version="1.0" encoding="UTF-8" standalone="yes"?>
<Relationships xmlns="http://schemas.openxmlformats.org/package/2006/relationships"><Relationship Id="rId3" Type="http://schemas.openxmlformats.org/officeDocument/2006/relationships/notesSlide" Target="../notesSlides/notesSlide64.xml"/><Relationship Id="rId2" Type="http://schemas.openxmlformats.org/officeDocument/2006/relationships/slideLayout" Target="../slideLayouts/slideLayout121.xml"/><Relationship Id="rId1" Type="http://schemas.openxmlformats.org/officeDocument/2006/relationships/themeOverride" Target="../theme/themeOverride64.xml"/><Relationship Id="rId4" Type="http://schemas.openxmlformats.org/officeDocument/2006/relationships/image" Target="../media/image54.png"/></Relationships>
</file>

<file path=ppt/slides/_rels/slide66.xml.rels><?xml version="1.0" encoding="UTF-8" standalone="yes"?>
<Relationships xmlns="http://schemas.openxmlformats.org/package/2006/relationships"><Relationship Id="rId3" Type="http://schemas.openxmlformats.org/officeDocument/2006/relationships/notesSlide" Target="../notesSlides/notesSlide65.xml"/><Relationship Id="rId2" Type="http://schemas.openxmlformats.org/officeDocument/2006/relationships/slideLayout" Target="../slideLayouts/slideLayout121.xml"/><Relationship Id="rId1" Type="http://schemas.openxmlformats.org/officeDocument/2006/relationships/themeOverride" Target="../theme/themeOverride65.xml"/><Relationship Id="rId4" Type="http://schemas.openxmlformats.org/officeDocument/2006/relationships/image" Target="../media/image55.png"/></Relationships>
</file>

<file path=ppt/slides/_rels/slide67.xml.rels><?xml version="1.0" encoding="UTF-8" standalone="yes"?>
<Relationships xmlns="http://schemas.openxmlformats.org/package/2006/relationships"><Relationship Id="rId3" Type="http://schemas.openxmlformats.org/officeDocument/2006/relationships/notesSlide" Target="../notesSlides/notesSlide66.xml"/><Relationship Id="rId2" Type="http://schemas.openxmlformats.org/officeDocument/2006/relationships/slideLayout" Target="../slideLayouts/slideLayout121.xml"/><Relationship Id="rId1" Type="http://schemas.openxmlformats.org/officeDocument/2006/relationships/themeOverride" Target="../theme/themeOverride66.xml"/><Relationship Id="rId4" Type="http://schemas.openxmlformats.org/officeDocument/2006/relationships/image" Target="../media/image56.png"/></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67.xml"/><Relationship Id="rId2" Type="http://schemas.openxmlformats.org/officeDocument/2006/relationships/slideLayout" Target="../slideLayouts/slideLayout121.xml"/><Relationship Id="rId1" Type="http://schemas.openxmlformats.org/officeDocument/2006/relationships/themeOverride" Target="../theme/themeOverride67.xml"/><Relationship Id="rId4" Type="http://schemas.openxmlformats.org/officeDocument/2006/relationships/image" Target="../media/image57.png"/></Relationships>
</file>

<file path=ppt/slides/_rels/slide69.xml.rels><?xml version="1.0" encoding="UTF-8" standalone="yes"?>
<Relationships xmlns="http://schemas.openxmlformats.org/package/2006/relationships"><Relationship Id="rId3" Type="http://schemas.openxmlformats.org/officeDocument/2006/relationships/notesSlide" Target="../notesSlides/notesSlide68.xml"/><Relationship Id="rId2" Type="http://schemas.openxmlformats.org/officeDocument/2006/relationships/slideLayout" Target="../slideLayouts/slideLayout121.xml"/><Relationship Id="rId1" Type="http://schemas.openxmlformats.org/officeDocument/2006/relationships/themeOverride" Target="../theme/themeOverride68.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69.xml"/><Relationship Id="rId2" Type="http://schemas.openxmlformats.org/officeDocument/2006/relationships/slideLayout" Target="../slideLayouts/slideLayout121.xml"/><Relationship Id="rId1" Type="http://schemas.openxmlformats.org/officeDocument/2006/relationships/themeOverride" Target="../theme/themeOverride69.xml"/><Relationship Id="rId4" Type="http://schemas.openxmlformats.org/officeDocument/2006/relationships/image" Target="../media/image58.png"/></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70.xml"/><Relationship Id="rId2" Type="http://schemas.openxmlformats.org/officeDocument/2006/relationships/slideLayout" Target="../slideLayouts/slideLayout121.xml"/><Relationship Id="rId1" Type="http://schemas.openxmlformats.org/officeDocument/2006/relationships/themeOverride" Target="../theme/themeOverride70.xml"/><Relationship Id="rId4" Type="http://schemas.openxmlformats.org/officeDocument/2006/relationships/hyperlink" Target="https://nielsenenterprise.sharepoint.com/:p:/r/sites/SIRVALZTV_SOP_DOC/_layouts/15/Doc.aspx?sourcedoc=%7BC38E6935-04D1-55FA-129B-6A5BC3B857F9%7D&amp;file=FOVA%20Handling.pptx&amp;action=edit&amp;mobileredirect=true&amp;DefaultItemOpen=1" TargetMode="External"/></Relationships>
</file>

<file path=ppt/slides/_rels/slide72.xml.rels><?xml version="1.0" encoding="UTF-8" standalone="yes"?>
<Relationships xmlns="http://schemas.openxmlformats.org/package/2006/relationships"><Relationship Id="rId3" Type="http://schemas.openxmlformats.org/officeDocument/2006/relationships/notesSlide" Target="../notesSlides/notesSlide71.xml"/><Relationship Id="rId2" Type="http://schemas.openxmlformats.org/officeDocument/2006/relationships/slideLayout" Target="../slideLayouts/slideLayout121.xml"/><Relationship Id="rId1" Type="http://schemas.openxmlformats.org/officeDocument/2006/relationships/themeOverride" Target="../theme/themeOverride71.xml"/><Relationship Id="rId4" Type="http://schemas.openxmlformats.org/officeDocument/2006/relationships/image" Target="../media/image59.png"/></Relationships>
</file>

<file path=ppt/slides/_rels/slide73.xml.rels><?xml version="1.0" encoding="UTF-8" standalone="yes"?>
<Relationships xmlns="http://schemas.openxmlformats.org/package/2006/relationships"><Relationship Id="rId3" Type="http://schemas.openxmlformats.org/officeDocument/2006/relationships/notesSlide" Target="../notesSlides/notesSlide72.xml"/><Relationship Id="rId2" Type="http://schemas.openxmlformats.org/officeDocument/2006/relationships/slideLayout" Target="../slideLayouts/slideLayout121.xml"/><Relationship Id="rId1" Type="http://schemas.openxmlformats.org/officeDocument/2006/relationships/themeOverride" Target="../theme/themeOverride72.xml"/><Relationship Id="rId4" Type="http://schemas.openxmlformats.org/officeDocument/2006/relationships/image" Target="../media/image60.png"/></Relationships>
</file>

<file path=ppt/slides/_rels/slide74.xml.rels><?xml version="1.0" encoding="UTF-8" standalone="yes"?>
<Relationships xmlns="http://schemas.openxmlformats.org/package/2006/relationships"><Relationship Id="rId3" Type="http://schemas.openxmlformats.org/officeDocument/2006/relationships/notesSlide" Target="../notesSlides/notesSlide73.xml"/><Relationship Id="rId2" Type="http://schemas.openxmlformats.org/officeDocument/2006/relationships/slideLayout" Target="../slideLayouts/slideLayout121.xml"/><Relationship Id="rId1" Type="http://schemas.openxmlformats.org/officeDocument/2006/relationships/themeOverride" Target="../theme/themeOverride73.xml"/></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74.xml"/><Relationship Id="rId2" Type="http://schemas.openxmlformats.org/officeDocument/2006/relationships/slideLayout" Target="../slideLayouts/slideLayout121.xml"/><Relationship Id="rId1" Type="http://schemas.openxmlformats.org/officeDocument/2006/relationships/themeOverride" Target="../theme/themeOverride74.xml"/></Relationships>
</file>

<file path=ppt/slides/_rels/slide76.xml.rels><?xml version="1.0" encoding="UTF-8" standalone="yes"?>
<Relationships xmlns="http://schemas.openxmlformats.org/package/2006/relationships"><Relationship Id="rId3" Type="http://schemas.openxmlformats.org/officeDocument/2006/relationships/notesSlide" Target="../notesSlides/notesSlide75.xml"/><Relationship Id="rId2" Type="http://schemas.openxmlformats.org/officeDocument/2006/relationships/slideLayout" Target="../slideLayouts/slideLayout121.xml"/><Relationship Id="rId1" Type="http://schemas.openxmlformats.org/officeDocument/2006/relationships/themeOverride" Target="../theme/themeOverride75.xml"/><Relationship Id="rId4" Type="http://schemas.openxmlformats.org/officeDocument/2006/relationships/image" Target="../media/image61.png"/></Relationships>
</file>

<file path=ppt/slides/_rels/slide77.xml.rels><?xml version="1.0" encoding="UTF-8" standalone="yes"?>
<Relationships xmlns="http://schemas.openxmlformats.org/package/2006/relationships"><Relationship Id="rId3" Type="http://schemas.openxmlformats.org/officeDocument/2006/relationships/notesSlide" Target="../notesSlides/notesSlide76.xml"/><Relationship Id="rId2" Type="http://schemas.openxmlformats.org/officeDocument/2006/relationships/slideLayout" Target="../slideLayouts/slideLayout121.xml"/><Relationship Id="rId1" Type="http://schemas.openxmlformats.org/officeDocument/2006/relationships/themeOverride" Target="../theme/themeOverride76.xml"/><Relationship Id="rId4" Type="http://schemas.openxmlformats.org/officeDocument/2006/relationships/image" Target="../media/image62.png"/></Relationships>
</file>

<file path=ppt/slides/_rels/slide78.xml.rels><?xml version="1.0" encoding="UTF-8" standalone="yes"?>
<Relationships xmlns="http://schemas.openxmlformats.org/package/2006/relationships"><Relationship Id="rId3" Type="http://schemas.openxmlformats.org/officeDocument/2006/relationships/notesSlide" Target="../notesSlides/notesSlide77.xml"/><Relationship Id="rId2" Type="http://schemas.openxmlformats.org/officeDocument/2006/relationships/slideLayout" Target="../slideLayouts/slideLayout121.xml"/><Relationship Id="rId1" Type="http://schemas.openxmlformats.org/officeDocument/2006/relationships/themeOverride" Target="../theme/themeOverride77.xml"/><Relationship Id="rId4" Type="http://schemas.openxmlformats.org/officeDocument/2006/relationships/image" Target="../media/image63.png"/></Relationships>
</file>

<file path=ppt/slides/_rels/slide79.xml.rels><?xml version="1.0" encoding="UTF-8" standalone="yes"?>
<Relationships xmlns="http://schemas.openxmlformats.org/package/2006/relationships"><Relationship Id="rId3" Type="http://schemas.openxmlformats.org/officeDocument/2006/relationships/notesSlide" Target="../notesSlides/notesSlide78.xml"/><Relationship Id="rId2" Type="http://schemas.openxmlformats.org/officeDocument/2006/relationships/slideLayout" Target="../slideLayouts/slideLayout121.xml"/><Relationship Id="rId1" Type="http://schemas.openxmlformats.org/officeDocument/2006/relationships/themeOverride" Target="../theme/themeOverride78.xml"/><Relationship Id="rId5" Type="http://schemas.openxmlformats.org/officeDocument/2006/relationships/image" Target="../media/image65.jpeg"/><Relationship Id="rId4" Type="http://schemas.openxmlformats.org/officeDocument/2006/relationships/image" Target="../media/image64.jpeg"/></Relationships>
</file>

<file path=ppt/slides/_rels/slide80.xml.rels><?xml version="1.0" encoding="UTF-8" standalone="yes"?>
<Relationships xmlns="http://schemas.openxmlformats.org/package/2006/relationships"><Relationship Id="rId3" Type="http://schemas.openxmlformats.org/officeDocument/2006/relationships/notesSlide" Target="../notesSlides/notesSlide79.xml"/><Relationship Id="rId2" Type="http://schemas.openxmlformats.org/officeDocument/2006/relationships/slideLayout" Target="../slideLayouts/slideLayout122.xml"/><Relationship Id="rId1" Type="http://schemas.openxmlformats.org/officeDocument/2006/relationships/themeOverride" Target="../theme/themeOverride79.xml"/></Relationships>
</file>

<file path=ppt/slides/_rels/slide81.xml.rels><?xml version="1.0" encoding="UTF-8" standalone="yes"?>
<Relationships xmlns="http://schemas.openxmlformats.org/package/2006/relationships"><Relationship Id="rId3" Type="http://schemas.openxmlformats.org/officeDocument/2006/relationships/notesSlide" Target="../notesSlides/notesSlide80.xml"/><Relationship Id="rId2" Type="http://schemas.openxmlformats.org/officeDocument/2006/relationships/slideLayout" Target="../slideLayouts/slideLayout121.xml"/><Relationship Id="rId1" Type="http://schemas.openxmlformats.org/officeDocument/2006/relationships/themeOverride" Target="../theme/themeOverride80.xml"/></Relationships>
</file>

<file path=ppt/slides/_rels/slide82.xml.rels><?xml version="1.0" encoding="UTF-8" standalone="yes"?>
<Relationships xmlns="http://schemas.openxmlformats.org/package/2006/relationships"><Relationship Id="rId3" Type="http://schemas.openxmlformats.org/officeDocument/2006/relationships/notesSlide" Target="../notesSlides/notesSlide81.xml"/><Relationship Id="rId2" Type="http://schemas.openxmlformats.org/officeDocument/2006/relationships/slideLayout" Target="../slideLayouts/slideLayout121.xml"/><Relationship Id="rId1" Type="http://schemas.openxmlformats.org/officeDocument/2006/relationships/themeOverride" Target="../theme/themeOverride81.xml"/></Relationships>
</file>

<file path=ppt/slides/_rels/slide83.xml.rels><?xml version="1.0" encoding="UTF-8" standalone="yes"?>
<Relationships xmlns="http://schemas.openxmlformats.org/package/2006/relationships"><Relationship Id="rId3" Type="http://schemas.openxmlformats.org/officeDocument/2006/relationships/notesSlide" Target="../notesSlides/notesSlide82.xml"/><Relationship Id="rId2" Type="http://schemas.openxmlformats.org/officeDocument/2006/relationships/slideLayout" Target="../slideLayouts/slideLayout121.xml"/><Relationship Id="rId1" Type="http://schemas.openxmlformats.org/officeDocument/2006/relationships/themeOverride" Target="../theme/themeOverride8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83.xml"/><Relationship Id="rId2" Type="http://schemas.openxmlformats.org/officeDocument/2006/relationships/slideLayout" Target="../slideLayouts/slideLayout121.xml"/><Relationship Id="rId1" Type="http://schemas.openxmlformats.org/officeDocument/2006/relationships/themeOverride" Target="../theme/themeOverride83.xml"/></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84.xml"/><Relationship Id="rId2" Type="http://schemas.openxmlformats.org/officeDocument/2006/relationships/slideLayout" Target="../slideLayouts/slideLayout121.xml"/><Relationship Id="rId1" Type="http://schemas.openxmlformats.org/officeDocument/2006/relationships/themeOverride" Target="../theme/themeOverride84.xml"/></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85.xml"/><Relationship Id="rId2" Type="http://schemas.openxmlformats.org/officeDocument/2006/relationships/slideLayout" Target="../slideLayouts/slideLayout121.xml"/><Relationship Id="rId1" Type="http://schemas.openxmlformats.org/officeDocument/2006/relationships/themeOverride" Target="../theme/themeOverride85.xml"/></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86.xml"/><Relationship Id="rId2" Type="http://schemas.openxmlformats.org/officeDocument/2006/relationships/slideLayout" Target="../slideLayouts/slideLayout121.xml"/><Relationship Id="rId1" Type="http://schemas.openxmlformats.org/officeDocument/2006/relationships/themeOverride" Target="../theme/themeOverride86.xml"/></Relationships>
</file>

<file path=ppt/slides/_rels/slide88.xml.rels><?xml version="1.0" encoding="UTF-8" standalone="yes"?>
<Relationships xmlns="http://schemas.openxmlformats.org/package/2006/relationships"><Relationship Id="rId3" Type="http://schemas.openxmlformats.org/officeDocument/2006/relationships/notesSlide" Target="../notesSlides/notesSlide87.xml"/><Relationship Id="rId2" Type="http://schemas.openxmlformats.org/officeDocument/2006/relationships/slideLayout" Target="../slideLayouts/slideLayout121.xml"/><Relationship Id="rId1" Type="http://schemas.openxmlformats.org/officeDocument/2006/relationships/themeOverride" Target="../theme/themeOverride87.xml"/><Relationship Id="rId4" Type="http://schemas.openxmlformats.org/officeDocument/2006/relationships/hyperlink" Target="https://nielsenenterprise.sharepoint.com/:x:/r/sites/SIRVALZTV_SOP_DOC/_layouts/15/Doc.aspx?sourcedoc=%7BFB3A5A6B-36E4-5C85-CFAC-8B26432E1DFB%7D&amp;file=FOVA%20-%20Seasonality%20Template.xls&amp;action=default&amp;mobileredirect=true&amp;DefaultItemOpen=1" TargetMode="External"/></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1.xml"/><Relationship Id="rId1" Type="http://schemas.openxmlformats.org/officeDocument/2006/relationships/themeOverride" Target="../theme/themeOverride88.xml"/></Relationships>
</file>

<file path=ppt/slides/_rels/slide90.xml.rels><?xml version="1.0" encoding="UTF-8" standalone="yes"?>
<Relationships xmlns="http://schemas.openxmlformats.org/package/2006/relationships"><Relationship Id="rId2" Type="http://schemas.openxmlformats.org/officeDocument/2006/relationships/slideLayout" Target="../slideLayouts/slideLayout121.xml"/><Relationship Id="rId1" Type="http://schemas.openxmlformats.org/officeDocument/2006/relationships/themeOverride" Target="../theme/themeOverride89.xml"/></Relationships>
</file>

<file path=ppt/slides/_rels/slide91.xml.rels><?xml version="1.0" encoding="UTF-8" standalone="yes"?>
<Relationships xmlns="http://schemas.openxmlformats.org/package/2006/relationships"><Relationship Id="rId2" Type="http://schemas.openxmlformats.org/officeDocument/2006/relationships/slideLayout" Target="../slideLayouts/slideLayout121.xml"/><Relationship Id="rId1" Type="http://schemas.openxmlformats.org/officeDocument/2006/relationships/themeOverride" Target="../theme/themeOverride90.xml"/></Relationships>
</file>

<file path=ppt/slides/_rels/slide92.xml.rels><?xml version="1.0" encoding="UTF-8" standalone="yes"?>
<Relationships xmlns="http://schemas.openxmlformats.org/package/2006/relationships"><Relationship Id="rId2" Type="http://schemas.openxmlformats.org/officeDocument/2006/relationships/slideLayout" Target="../slideLayouts/slideLayout121.xml"/><Relationship Id="rId1" Type="http://schemas.openxmlformats.org/officeDocument/2006/relationships/themeOverride" Target="../theme/themeOverride91.xml"/></Relationships>
</file>

<file path=ppt/slides/_rels/slide93.xml.rels><?xml version="1.0" encoding="UTF-8" standalone="yes"?>
<Relationships xmlns="http://schemas.openxmlformats.org/package/2006/relationships"><Relationship Id="rId2" Type="http://schemas.openxmlformats.org/officeDocument/2006/relationships/slideLayout" Target="../slideLayouts/slideLayout121.xml"/><Relationship Id="rId1" Type="http://schemas.openxmlformats.org/officeDocument/2006/relationships/themeOverride" Target="../theme/themeOverride92.xml"/></Relationships>
</file>

<file path=ppt/slides/_rels/slide94.xml.rels><?xml version="1.0" encoding="UTF-8" standalone="yes"?>
<Relationships xmlns="http://schemas.openxmlformats.org/package/2006/relationships"><Relationship Id="rId2" Type="http://schemas.openxmlformats.org/officeDocument/2006/relationships/slideLayout" Target="../slideLayouts/slideLayout121.xml"/><Relationship Id="rId1" Type="http://schemas.openxmlformats.org/officeDocument/2006/relationships/themeOverride" Target="../theme/themeOverride93.xml"/></Relationships>
</file>

<file path=ppt/slides/_rels/slide95.xml.rels><?xml version="1.0" encoding="UTF-8" standalone="yes"?>
<Relationships xmlns="http://schemas.openxmlformats.org/package/2006/relationships"><Relationship Id="rId3" Type="http://schemas.openxmlformats.org/officeDocument/2006/relationships/notesSlide" Target="../notesSlides/notesSlide88.xml"/><Relationship Id="rId2" Type="http://schemas.openxmlformats.org/officeDocument/2006/relationships/slideLayout" Target="../slideLayouts/slideLayout121.xml"/><Relationship Id="rId1" Type="http://schemas.openxmlformats.org/officeDocument/2006/relationships/themeOverride" Target="../theme/themeOverride94.xml"/></Relationships>
</file>

<file path=ppt/slides/_rels/slide96.xml.rels><?xml version="1.0" encoding="UTF-8" standalone="yes"?>
<Relationships xmlns="http://schemas.openxmlformats.org/package/2006/relationships"><Relationship Id="rId3" Type="http://schemas.openxmlformats.org/officeDocument/2006/relationships/notesSlide" Target="../notesSlides/notesSlide89.xml"/><Relationship Id="rId2" Type="http://schemas.openxmlformats.org/officeDocument/2006/relationships/slideLayout" Target="../slideLayouts/slideLayout121.xml"/><Relationship Id="rId1" Type="http://schemas.openxmlformats.org/officeDocument/2006/relationships/themeOverride" Target="../theme/themeOverride95.xml"/></Relationships>
</file>

<file path=ppt/slides/_rels/slide97.xml.rels><?xml version="1.0" encoding="UTF-8" standalone="yes"?>
<Relationships xmlns="http://schemas.openxmlformats.org/package/2006/relationships"><Relationship Id="rId3" Type="http://schemas.openxmlformats.org/officeDocument/2006/relationships/notesSlide" Target="../notesSlides/notesSlide90.xml"/><Relationship Id="rId2" Type="http://schemas.openxmlformats.org/officeDocument/2006/relationships/slideLayout" Target="../slideLayouts/slideLayout121.xml"/><Relationship Id="rId1" Type="http://schemas.openxmlformats.org/officeDocument/2006/relationships/themeOverride" Target="../theme/themeOverride96.xml"/></Relationships>
</file>

<file path=ppt/slides/_rels/slide98.xml.rels><?xml version="1.0" encoding="UTF-8" standalone="yes"?>
<Relationships xmlns="http://schemas.openxmlformats.org/package/2006/relationships"><Relationship Id="rId3" Type="http://schemas.openxmlformats.org/officeDocument/2006/relationships/notesSlide" Target="../notesSlides/notesSlide91.xml"/><Relationship Id="rId2" Type="http://schemas.openxmlformats.org/officeDocument/2006/relationships/slideLayout" Target="../slideLayouts/slideLayout121.xml"/><Relationship Id="rId1" Type="http://schemas.openxmlformats.org/officeDocument/2006/relationships/themeOverride" Target="../theme/themeOverride97.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92.xml"/><Relationship Id="rId2" Type="http://schemas.openxmlformats.org/officeDocument/2006/relationships/slideLayout" Target="../slideLayouts/slideLayout121.xml"/><Relationship Id="rId1" Type="http://schemas.openxmlformats.org/officeDocument/2006/relationships/themeOverride" Target="../theme/themeOverride98.xml"/></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93.xml"/><Relationship Id="rId2" Type="http://schemas.openxmlformats.org/officeDocument/2006/relationships/slideLayout" Target="../slideLayouts/slideLayout121.xml"/><Relationship Id="rId1" Type="http://schemas.openxmlformats.org/officeDocument/2006/relationships/themeOverride" Target="../theme/themeOverride99.xml"/></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94.xml"/><Relationship Id="rId2" Type="http://schemas.openxmlformats.org/officeDocument/2006/relationships/slideLayout" Target="../slideLayouts/slideLayout121.xml"/><Relationship Id="rId1" Type="http://schemas.openxmlformats.org/officeDocument/2006/relationships/themeOverride" Target="../theme/themeOverride100.xml"/></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95.xml"/><Relationship Id="rId2" Type="http://schemas.openxmlformats.org/officeDocument/2006/relationships/slideLayout" Target="../slideLayouts/slideLayout121.xml"/><Relationship Id="rId1" Type="http://schemas.openxmlformats.org/officeDocument/2006/relationships/themeOverride" Target="../theme/themeOverride101.xml"/></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96.xml"/><Relationship Id="rId2" Type="http://schemas.openxmlformats.org/officeDocument/2006/relationships/slideLayout" Target="../slideLayouts/slideLayout121.xml"/><Relationship Id="rId1" Type="http://schemas.openxmlformats.org/officeDocument/2006/relationships/themeOverride" Target="../theme/themeOverride102.xml"/></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97.xml"/><Relationship Id="rId2" Type="http://schemas.openxmlformats.org/officeDocument/2006/relationships/slideLayout" Target="../slideLayouts/slideLayout121.xml"/><Relationship Id="rId1" Type="http://schemas.openxmlformats.org/officeDocument/2006/relationships/themeOverride" Target="../theme/themeOverride103.xml"/></Relationships>
</file>

<file path=ppt/slides/_rels/slide105.xml.rels><?xml version="1.0" encoding="UTF-8" standalone="yes"?>
<Relationships xmlns="http://schemas.openxmlformats.org/package/2006/relationships"><Relationship Id="rId3" Type="http://schemas.openxmlformats.org/officeDocument/2006/relationships/notesSlide" Target="../notesSlides/notesSlide98.xml"/><Relationship Id="rId2" Type="http://schemas.openxmlformats.org/officeDocument/2006/relationships/slideLayout" Target="../slideLayouts/slideLayout121.xml"/><Relationship Id="rId1" Type="http://schemas.openxmlformats.org/officeDocument/2006/relationships/themeOverride" Target="../theme/themeOverride104.xml"/><Relationship Id="rId5" Type="http://schemas.openxmlformats.org/officeDocument/2006/relationships/image" Target="../media/image67.png"/><Relationship Id="rId4" Type="http://schemas.openxmlformats.org/officeDocument/2006/relationships/image" Target="../media/image66.png"/></Relationships>
</file>

<file path=ppt/slides/_rels/slide106.xml.rels><?xml version="1.0" encoding="UTF-8" standalone="yes"?>
<Relationships xmlns="http://schemas.openxmlformats.org/package/2006/relationships"><Relationship Id="rId3" Type="http://schemas.openxmlformats.org/officeDocument/2006/relationships/notesSlide" Target="../notesSlides/notesSlide99.xml"/><Relationship Id="rId2" Type="http://schemas.openxmlformats.org/officeDocument/2006/relationships/slideLayout" Target="../slideLayouts/slideLayout121.xml"/><Relationship Id="rId1" Type="http://schemas.openxmlformats.org/officeDocument/2006/relationships/themeOverride" Target="../theme/themeOverride105.xml"/></Relationships>
</file>

<file path=ppt/slides/_rels/slide107.xml.rels><?xml version="1.0" encoding="UTF-8" standalone="yes"?>
<Relationships xmlns="http://schemas.openxmlformats.org/package/2006/relationships"><Relationship Id="rId3" Type="http://schemas.openxmlformats.org/officeDocument/2006/relationships/notesSlide" Target="../notesSlides/notesSlide100.xml"/><Relationship Id="rId2" Type="http://schemas.openxmlformats.org/officeDocument/2006/relationships/slideLayout" Target="../slideLayouts/slideLayout121.xml"/><Relationship Id="rId1" Type="http://schemas.openxmlformats.org/officeDocument/2006/relationships/themeOverride" Target="../theme/themeOverride106.xml"/><Relationship Id="rId4" Type="http://schemas.openxmlformats.org/officeDocument/2006/relationships/image" Target="../media/image68.png"/></Relationships>
</file>

<file path=ppt/slides/_rels/slide108.xml.rels><?xml version="1.0" encoding="UTF-8" standalone="yes"?>
<Relationships xmlns="http://schemas.openxmlformats.org/package/2006/relationships"><Relationship Id="rId3" Type="http://schemas.openxmlformats.org/officeDocument/2006/relationships/notesSlide" Target="../notesSlides/notesSlide101.xml"/><Relationship Id="rId2" Type="http://schemas.openxmlformats.org/officeDocument/2006/relationships/slideLayout" Target="../slideLayouts/slideLayout121.xml"/><Relationship Id="rId1" Type="http://schemas.openxmlformats.org/officeDocument/2006/relationships/themeOverride" Target="../theme/themeOverride107.xml"/><Relationship Id="rId5" Type="http://schemas.openxmlformats.org/officeDocument/2006/relationships/image" Target="../media/image70.png"/><Relationship Id="rId4" Type="http://schemas.openxmlformats.org/officeDocument/2006/relationships/image" Target="../media/image69.png"/></Relationships>
</file>

<file path=ppt/slides/_rels/slide109.xml.rels><?xml version="1.0" encoding="UTF-8" standalone="yes"?>
<Relationships xmlns="http://schemas.openxmlformats.org/package/2006/relationships"><Relationship Id="rId3" Type="http://schemas.openxmlformats.org/officeDocument/2006/relationships/notesSlide" Target="../notesSlides/notesSlide102.xml"/><Relationship Id="rId2" Type="http://schemas.openxmlformats.org/officeDocument/2006/relationships/slideLayout" Target="../slideLayouts/slideLayout121.xml"/><Relationship Id="rId1" Type="http://schemas.openxmlformats.org/officeDocument/2006/relationships/themeOverride" Target="../theme/themeOverride108.xml"/><Relationship Id="rId5" Type="http://schemas.openxmlformats.org/officeDocument/2006/relationships/image" Target="../media/image72.png"/><Relationship Id="rId4" Type="http://schemas.openxmlformats.org/officeDocument/2006/relationships/image" Target="../media/image71.png"/></Relationships>
</file>

<file path=ppt/slides/_rels/slide110.xml.rels><?xml version="1.0" encoding="UTF-8" standalone="yes"?>
<Relationships xmlns="http://schemas.openxmlformats.org/package/2006/relationships"><Relationship Id="rId3" Type="http://schemas.openxmlformats.org/officeDocument/2006/relationships/notesSlide" Target="../notesSlides/notesSlide103.xml"/><Relationship Id="rId2" Type="http://schemas.openxmlformats.org/officeDocument/2006/relationships/slideLayout" Target="../slideLayouts/slideLayout121.xml"/><Relationship Id="rId1" Type="http://schemas.openxmlformats.org/officeDocument/2006/relationships/themeOverride" Target="../theme/themeOverride109.xml"/></Relationships>
</file>

<file path=ppt/slides/_rels/slide111.xml.rels><?xml version="1.0" encoding="UTF-8" standalone="yes"?>
<Relationships xmlns="http://schemas.openxmlformats.org/package/2006/relationships"><Relationship Id="rId3" Type="http://schemas.openxmlformats.org/officeDocument/2006/relationships/notesSlide" Target="../notesSlides/notesSlide104.xml"/><Relationship Id="rId2" Type="http://schemas.openxmlformats.org/officeDocument/2006/relationships/slideLayout" Target="../slideLayouts/slideLayout121.xml"/><Relationship Id="rId1" Type="http://schemas.openxmlformats.org/officeDocument/2006/relationships/themeOverride" Target="../theme/themeOverride110.xml"/><Relationship Id="rId4" Type="http://schemas.openxmlformats.org/officeDocument/2006/relationships/image" Target="../media/image73.png"/></Relationships>
</file>

<file path=ppt/slides/_rels/slide112.xml.rels><?xml version="1.0" encoding="UTF-8" standalone="yes"?>
<Relationships xmlns="http://schemas.openxmlformats.org/package/2006/relationships"><Relationship Id="rId3" Type="http://schemas.openxmlformats.org/officeDocument/2006/relationships/notesSlide" Target="../notesSlides/notesSlide105.xml"/><Relationship Id="rId2" Type="http://schemas.openxmlformats.org/officeDocument/2006/relationships/slideLayout" Target="../slideLayouts/slideLayout121.xml"/><Relationship Id="rId1" Type="http://schemas.openxmlformats.org/officeDocument/2006/relationships/themeOverride" Target="../theme/themeOverride111.xml"/><Relationship Id="rId4" Type="http://schemas.openxmlformats.org/officeDocument/2006/relationships/image" Target="../media/image74.png"/></Relationships>
</file>

<file path=ppt/slides/_rels/slide113.xml.rels><?xml version="1.0" encoding="UTF-8" standalone="yes"?>
<Relationships xmlns="http://schemas.openxmlformats.org/package/2006/relationships"><Relationship Id="rId3" Type="http://schemas.openxmlformats.org/officeDocument/2006/relationships/notesSlide" Target="../notesSlides/notesSlide106.xml"/><Relationship Id="rId2" Type="http://schemas.openxmlformats.org/officeDocument/2006/relationships/slideLayout" Target="../slideLayouts/slideLayout121.xml"/><Relationship Id="rId1" Type="http://schemas.openxmlformats.org/officeDocument/2006/relationships/themeOverride" Target="../theme/themeOverride112.xml"/><Relationship Id="rId4" Type="http://schemas.openxmlformats.org/officeDocument/2006/relationships/image" Target="../media/image75.png"/></Relationships>
</file>

<file path=ppt/slides/_rels/slide114.xml.rels><?xml version="1.0" encoding="UTF-8" standalone="yes"?>
<Relationships xmlns="http://schemas.openxmlformats.org/package/2006/relationships"><Relationship Id="rId3" Type="http://schemas.openxmlformats.org/officeDocument/2006/relationships/notesSlide" Target="../notesSlides/notesSlide107.xml"/><Relationship Id="rId2" Type="http://schemas.openxmlformats.org/officeDocument/2006/relationships/slideLayout" Target="../slideLayouts/slideLayout121.xml"/><Relationship Id="rId1" Type="http://schemas.openxmlformats.org/officeDocument/2006/relationships/themeOverride" Target="../theme/themeOverride113.xml"/><Relationship Id="rId5" Type="http://schemas.openxmlformats.org/officeDocument/2006/relationships/image" Target="../media/image77.png"/><Relationship Id="rId4" Type="http://schemas.openxmlformats.org/officeDocument/2006/relationships/image" Target="../media/image76.png"/></Relationships>
</file>

<file path=ppt/slides/_rels/slide115.xml.rels><?xml version="1.0" encoding="UTF-8" standalone="yes"?>
<Relationships xmlns="http://schemas.openxmlformats.org/package/2006/relationships"><Relationship Id="rId3" Type="http://schemas.openxmlformats.org/officeDocument/2006/relationships/notesSlide" Target="../notesSlides/notesSlide108.xml"/><Relationship Id="rId2" Type="http://schemas.openxmlformats.org/officeDocument/2006/relationships/slideLayout" Target="../slideLayouts/slideLayout121.xml"/><Relationship Id="rId1" Type="http://schemas.openxmlformats.org/officeDocument/2006/relationships/themeOverride" Target="../theme/themeOverride114.xml"/></Relationships>
</file>

<file path=ppt/slides/_rels/slide116.xml.rels><?xml version="1.0" encoding="UTF-8" standalone="yes"?>
<Relationships xmlns="http://schemas.openxmlformats.org/package/2006/relationships"><Relationship Id="rId3" Type="http://schemas.openxmlformats.org/officeDocument/2006/relationships/notesSlide" Target="../notesSlides/notesSlide109.xml"/><Relationship Id="rId2" Type="http://schemas.openxmlformats.org/officeDocument/2006/relationships/slideLayout" Target="../slideLayouts/slideLayout121.xml"/><Relationship Id="rId1" Type="http://schemas.openxmlformats.org/officeDocument/2006/relationships/themeOverride" Target="../theme/themeOverride115.xml"/></Relationships>
</file>

<file path=ppt/slides/_rels/slide117.xml.rels><?xml version="1.0" encoding="UTF-8" standalone="yes"?>
<Relationships xmlns="http://schemas.openxmlformats.org/package/2006/relationships"><Relationship Id="rId3" Type="http://schemas.openxmlformats.org/officeDocument/2006/relationships/notesSlide" Target="../notesSlides/notesSlide110.xml"/><Relationship Id="rId2" Type="http://schemas.openxmlformats.org/officeDocument/2006/relationships/slideLayout" Target="../slideLayouts/slideLayout121.xml"/><Relationship Id="rId1" Type="http://schemas.openxmlformats.org/officeDocument/2006/relationships/themeOverride" Target="../theme/themeOverride116.xml"/></Relationships>
</file>

<file path=ppt/slides/_rels/slide118.xml.rels><?xml version="1.0" encoding="UTF-8" standalone="yes"?>
<Relationships xmlns="http://schemas.openxmlformats.org/package/2006/relationships"><Relationship Id="rId3" Type="http://schemas.openxmlformats.org/officeDocument/2006/relationships/notesSlide" Target="../notesSlides/notesSlide111.xml"/><Relationship Id="rId7" Type="http://schemas.openxmlformats.org/officeDocument/2006/relationships/hyperlink" Target="https://nielsenenterprise.sharepoint.com/:p:/r/sites/SIRVALZTV_SOP_DOC/_layouts/15/Doc.aspx?sourcedoc=%7BE575C04B-8E0D-5574-81EC-5D10C0E15B46%7D&amp;file=Formal%20Validation%20of%20Volumetric%20data%20in%20Sirval.ppt&amp;action=edit&amp;mobileredirect=true&amp;DefaultItemOpen=1" TargetMode="External"/><Relationship Id="rId2" Type="http://schemas.openxmlformats.org/officeDocument/2006/relationships/slideLayout" Target="../slideLayouts/slideLayout121.xml"/><Relationship Id="rId1" Type="http://schemas.openxmlformats.org/officeDocument/2006/relationships/themeOverride" Target="../theme/themeOverride117.xml"/><Relationship Id="rId6" Type="http://schemas.openxmlformats.org/officeDocument/2006/relationships/hyperlink" Target="https://nielsenenterprise.sharepoint.com/:w:/r/sites/SIRVALZTV_SOP_DOC/_layouts/15/Doc.aspx?sourcedoc=%7B155AA5E5-2450-42CD-A081-F5C9E88A71C5%7D&amp;file=Specification%20for%20dynamic%20calcualtion%20of%20FoVa%20parameters_V7_final%20withExcelUpdated.docx&amp;action=default&amp;mobileredirect=true" TargetMode="External"/><Relationship Id="rId5" Type="http://schemas.openxmlformats.org/officeDocument/2006/relationships/image" Target="../media/image79.png"/><Relationship Id="rId4" Type="http://schemas.openxmlformats.org/officeDocument/2006/relationships/image" Target="../media/image78.png"/></Relationships>
</file>

<file path=ppt/slides/_rels/slide119.xml.rels><?xml version="1.0" encoding="UTF-8" standalone="yes"?>
<Relationships xmlns="http://schemas.openxmlformats.org/package/2006/relationships"><Relationship Id="rId3" Type="http://schemas.openxmlformats.org/officeDocument/2006/relationships/notesSlide" Target="../notesSlides/notesSlide112.xml"/><Relationship Id="rId2" Type="http://schemas.openxmlformats.org/officeDocument/2006/relationships/slideLayout" Target="../slideLayouts/slideLayout121.xml"/><Relationship Id="rId1" Type="http://schemas.openxmlformats.org/officeDocument/2006/relationships/themeOverride" Target="../theme/themeOverride118.xml"/><Relationship Id="rId4" Type="http://schemas.openxmlformats.org/officeDocument/2006/relationships/image" Target="../media/image80.png"/></Relationships>
</file>

<file path=ppt/slides/_rels/slide120.xml.rels><?xml version="1.0" encoding="UTF-8" standalone="yes"?>
<Relationships xmlns="http://schemas.openxmlformats.org/package/2006/relationships"><Relationship Id="rId3" Type="http://schemas.openxmlformats.org/officeDocument/2006/relationships/notesSlide" Target="../notesSlides/notesSlide113.xml"/><Relationship Id="rId2" Type="http://schemas.openxmlformats.org/officeDocument/2006/relationships/slideLayout" Target="../slideLayouts/slideLayout121.xml"/><Relationship Id="rId1" Type="http://schemas.openxmlformats.org/officeDocument/2006/relationships/themeOverride" Target="../theme/themeOverride119.xml"/><Relationship Id="rId4" Type="http://schemas.openxmlformats.org/officeDocument/2006/relationships/image" Target="../media/image81.png"/></Relationships>
</file>

<file path=ppt/slides/_rels/slide121.xml.rels><?xml version="1.0" encoding="UTF-8" standalone="yes"?>
<Relationships xmlns="http://schemas.openxmlformats.org/package/2006/relationships"><Relationship Id="rId3" Type="http://schemas.openxmlformats.org/officeDocument/2006/relationships/notesSlide" Target="../notesSlides/notesSlide114.xml"/><Relationship Id="rId2" Type="http://schemas.openxmlformats.org/officeDocument/2006/relationships/slideLayout" Target="../slideLayouts/slideLayout120.xml"/><Relationship Id="rId1" Type="http://schemas.openxmlformats.org/officeDocument/2006/relationships/themeOverride" Target="../theme/themeOverride120.xml"/></Relationships>
</file>

<file path=ppt/slides/_rels/slide122.xml.rels><?xml version="1.0" encoding="UTF-8" standalone="yes"?>
<Relationships xmlns="http://schemas.openxmlformats.org/package/2006/relationships"><Relationship Id="rId3" Type="http://schemas.openxmlformats.org/officeDocument/2006/relationships/notesSlide" Target="../notesSlides/notesSlide115.xml"/><Relationship Id="rId2" Type="http://schemas.openxmlformats.org/officeDocument/2006/relationships/slideLayout" Target="../slideLayouts/slideLayout120.xml"/><Relationship Id="rId1" Type="http://schemas.openxmlformats.org/officeDocument/2006/relationships/themeOverride" Target="../theme/themeOverride121.xml"/></Relationships>
</file>

<file path=ppt/slides/_rels/slide123.xml.rels><?xml version="1.0" encoding="UTF-8" standalone="yes"?>
<Relationships xmlns="http://schemas.openxmlformats.org/package/2006/relationships"><Relationship Id="rId3" Type="http://schemas.openxmlformats.org/officeDocument/2006/relationships/notesSlide" Target="../notesSlides/notesSlide116.xml"/><Relationship Id="rId2" Type="http://schemas.openxmlformats.org/officeDocument/2006/relationships/slideLayout" Target="../slideLayouts/slideLayout120.xml"/><Relationship Id="rId1" Type="http://schemas.openxmlformats.org/officeDocument/2006/relationships/themeOverride" Target="../theme/themeOverride122.xml"/></Relationships>
</file>

<file path=ppt/slides/_rels/slide124.xml.rels><?xml version="1.0" encoding="UTF-8" standalone="yes"?>
<Relationships xmlns="http://schemas.openxmlformats.org/package/2006/relationships"><Relationship Id="rId3" Type="http://schemas.openxmlformats.org/officeDocument/2006/relationships/notesSlide" Target="../notesSlides/notesSlide117.xml"/><Relationship Id="rId2" Type="http://schemas.openxmlformats.org/officeDocument/2006/relationships/slideLayout" Target="../slideLayouts/slideLayout120.xml"/><Relationship Id="rId1" Type="http://schemas.openxmlformats.org/officeDocument/2006/relationships/themeOverride" Target="../theme/themeOverride123.xml"/><Relationship Id="rId5" Type="http://schemas.openxmlformats.org/officeDocument/2006/relationships/image" Target="../media/image83.png"/><Relationship Id="rId4" Type="http://schemas.openxmlformats.org/officeDocument/2006/relationships/image" Target="../media/image82.png"/></Relationships>
</file>

<file path=ppt/slides/_rels/slide125.xml.rels><?xml version="1.0" encoding="UTF-8" standalone="yes"?>
<Relationships xmlns="http://schemas.openxmlformats.org/package/2006/relationships"><Relationship Id="rId3" Type="http://schemas.openxmlformats.org/officeDocument/2006/relationships/notesSlide" Target="../notesSlides/notesSlide118.xml"/><Relationship Id="rId2" Type="http://schemas.openxmlformats.org/officeDocument/2006/relationships/slideLayout" Target="../slideLayouts/slideLayout121.xml"/><Relationship Id="rId1" Type="http://schemas.openxmlformats.org/officeDocument/2006/relationships/themeOverride" Target="../theme/themeOverride124.xml"/><Relationship Id="rId4" Type="http://schemas.openxmlformats.org/officeDocument/2006/relationships/image" Target="../media/image84.png"/></Relationships>
</file>

<file path=ppt/slides/_rels/slide126.xml.rels><?xml version="1.0" encoding="UTF-8" standalone="yes"?>
<Relationships xmlns="http://schemas.openxmlformats.org/package/2006/relationships"><Relationship Id="rId3" Type="http://schemas.openxmlformats.org/officeDocument/2006/relationships/notesSlide" Target="../notesSlides/notesSlide119.xml"/><Relationship Id="rId2" Type="http://schemas.openxmlformats.org/officeDocument/2006/relationships/slideLayout" Target="../slideLayouts/slideLayout121.xml"/><Relationship Id="rId1" Type="http://schemas.openxmlformats.org/officeDocument/2006/relationships/themeOverride" Target="../theme/themeOverride125.xml"/><Relationship Id="rId5" Type="http://schemas.openxmlformats.org/officeDocument/2006/relationships/image" Target="../media/image86.png"/><Relationship Id="rId4" Type="http://schemas.openxmlformats.org/officeDocument/2006/relationships/image" Target="../media/image85.png"/></Relationships>
</file>

<file path=ppt/slides/_rels/slide127.xml.rels><?xml version="1.0" encoding="UTF-8" standalone="yes"?>
<Relationships xmlns="http://schemas.openxmlformats.org/package/2006/relationships"><Relationship Id="rId3" Type="http://schemas.openxmlformats.org/officeDocument/2006/relationships/notesSlide" Target="../notesSlides/notesSlide120.xml"/><Relationship Id="rId2" Type="http://schemas.openxmlformats.org/officeDocument/2006/relationships/slideLayout" Target="../slideLayouts/slideLayout121.xml"/><Relationship Id="rId1" Type="http://schemas.openxmlformats.org/officeDocument/2006/relationships/themeOverride" Target="../theme/themeOverride126.xml"/></Relationships>
</file>

<file path=ppt/slides/_rels/slide128.xml.rels><?xml version="1.0" encoding="UTF-8" standalone="yes"?>
<Relationships xmlns="http://schemas.openxmlformats.org/package/2006/relationships"><Relationship Id="rId3" Type="http://schemas.openxmlformats.org/officeDocument/2006/relationships/notesSlide" Target="../notesSlides/notesSlide121.xml"/><Relationship Id="rId2" Type="http://schemas.openxmlformats.org/officeDocument/2006/relationships/slideLayout" Target="../slideLayouts/slideLayout121.xml"/><Relationship Id="rId1" Type="http://schemas.openxmlformats.org/officeDocument/2006/relationships/themeOverride" Target="../theme/themeOverride127.xml"/><Relationship Id="rId4" Type="http://schemas.openxmlformats.org/officeDocument/2006/relationships/image" Target="../media/image87.png"/></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122.xml"/><Relationship Id="rId2" Type="http://schemas.openxmlformats.org/officeDocument/2006/relationships/slideLayout" Target="../slideLayouts/slideLayout123.xml"/><Relationship Id="rId1" Type="http://schemas.openxmlformats.org/officeDocument/2006/relationships/themeOverride" Target="../theme/themeOverride128.xml"/></Relationships>
</file>

<file path=ppt/slides/_rels/slide130.xml.rels><?xml version="1.0" encoding="UTF-8" standalone="yes"?>
<Relationships xmlns="http://schemas.openxmlformats.org/package/2006/relationships"><Relationship Id="rId3" Type="http://schemas.openxmlformats.org/officeDocument/2006/relationships/notesSlide" Target="../notesSlides/notesSlide123.xml"/><Relationship Id="rId2" Type="http://schemas.openxmlformats.org/officeDocument/2006/relationships/slideLayout" Target="../slideLayouts/slideLayout123.xml"/><Relationship Id="rId1" Type="http://schemas.openxmlformats.org/officeDocument/2006/relationships/themeOverride" Target="../theme/themeOverride129.xml"/></Relationships>
</file>

<file path=ppt/slides/_rels/slide131.xml.rels><?xml version="1.0" encoding="UTF-8" standalone="yes"?>
<Relationships xmlns="http://schemas.openxmlformats.org/package/2006/relationships"><Relationship Id="rId3" Type="http://schemas.openxmlformats.org/officeDocument/2006/relationships/notesSlide" Target="../notesSlides/notesSlide124.xml"/><Relationship Id="rId7" Type="http://schemas.openxmlformats.org/officeDocument/2006/relationships/hyperlink" Target="https://nielsenenterprise.sharepoint.com/:w:/r/sites/SIRVALZTV_SOP_DOC/_layouts/15/Doc.aspx?sourcedoc=%7B1738F402-3986-46AC-98BF-42F161330C6F%7D&amp;file=Store%20Validation%20Guidence.docx&amp;action=default&amp;mobileredirect=true" TargetMode="External"/><Relationship Id="rId2" Type="http://schemas.openxmlformats.org/officeDocument/2006/relationships/slideLayout" Target="../slideLayouts/slideLayout119.xml"/><Relationship Id="rId1" Type="http://schemas.openxmlformats.org/officeDocument/2006/relationships/themeOverride" Target="../theme/themeOverride130.xml"/><Relationship Id="rId6" Type="http://schemas.openxmlformats.org/officeDocument/2006/relationships/hyperlink" Target="https://nielsenenterprise.sharepoint.com/:p:/r/sites/SIRVALZTV_SOP_DOC/_layouts/15/Doc.aspx?sourcedoc=%7BE575C04B-8E0D-5574-81EC-5D10C0E15B46%7D&amp;file=Formal%20Validation%20of%20Volumetric%20data%20in%20Sirval.ppt&amp;action=edit&amp;mobileredirect=true&amp;DefaultItemOpen=1" TargetMode="External"/><Relationship Id="rId5" Type="http://schemas.openxmlformats.org/officeDocument/2006/relationships/hyperlink" Target="https://nielsenenterprise.sharepoint.com/:w:/r/sites/SIRVALZTV_SOP_DOC/_layouts/15/Doc.aspx?sourcedoc=%7B155AA5E5-2450-42CD-A081-F5C9E88A71C5%7D&amp;file=Specification%20for%20dynamic%20calcualtion%20of%20FoVa%20parameters_V7_final%20withExcelUpdated.docx&amp;action=default&amp;mobileredirect=true&amp;DefaultItemOpen=1" TargetMode="External"/><Relationship Id="rId4" Type="http://schemas.openxmlformats.org/officeDocument/2006/relationships/hyperlink" Target="https://nielsenenterprise.sharepoint.com/:p:/r/sites/SIRVALZTV_SOP_DOC/_layouts/15/Doc.aspx?sourcedoc=%7B5474E9AD-88EA-511D-9665-2D16BABD71AA%7D&amp;file=Job%20Scheduler.pptx&amp;action=edit&amp;mobileredirect=true&amp;DefaultItemOpen=1" TargetMode="External"/></Relationships>
</file>

<file path=ppt/slides/_rels/slide132.xml.rels><?xml version="1.0" encoding="UTF-8" standalone="yes"?>
<Relationships xmlns="http://schemas.openxmlformats.org/package/2006/relationships"><Relationship Id="rId3" Type="http://schemas.openxmlformats.org/officeDocument/2006/relationships/notesSlide" Target="../notesSlides/notesSlide125.xml"/><Relationship Id="rId2" Type="http://schemas.openxmlformats.org/officeDocument/2006/relationships/slideLayout" Target="../slideLayouts/slideLayout123.xml"/><Relationship Id="rId1" Type="http://schemas.openxmlformats.org/officeDocument/2006/relationships/themeOverride" Target="../theme/themeOverride131.xml"/></Relationships>
</file>

<file path=ppt/slides/_rels/slide133.xml.rels><?xml version="1.0" encoding="UTF-8" standalone="yes"?>
<Relationships xmlns="http://schemas.openxmlformats.org/package/2006/relationships"><Relationship Id="rId3" Type="http://schemas.openxmlformats.org/officeDocument/2006/relationships/notesSlide" Target="../notesSlides/notesSlide126.xml"/><Relationship Id="rId2" Type="http://schemas.openxmlformats.org/officeDocument/2006/relationships/slideLayout" Target="../slideLayouts/slideLayout123.xml"/><Relationship Id="rId1" Type="http://schemas.openxmlformats.org/officeDocument/2006/relationships/themeOverride" Target="../theme/themeOverride132.xml"/></Relationships>
</file>

<file path=ppt/slides/_rels/slide134.xml.rels><?xml version="1.0" encoding="UTF-8" standalone="yes"?>
<Relationships xmlns="http://schemas.openxmlformats.org/package/2006/relationships"><Relationship Id="rId3" Type="http://schemas.openxmlformats.org/officeDocument/2006/relationships/notesSlide" Target="../notesSlides/notesSlide127.xml"/><Relationship Id="rId2" Type="http://schemas.openxmlformats.org/officeDocument/2006/relationships/slideLayout" Target="../slideLayouts/slideLayout121.xml"/><Relationship Id="rId1" Type="http://schemas.openxmlformats.org/officeDocument/2006/relationships/themeOverride" Target="../theme/themeOverride133.xml"/></Relationships>
</file>

<file path=ppt/slides/_rels/slide135.xml.rels><?xml version="1.0" encoding="UTF-8" standalone="yes"?>
<Relationships xmlns="http://schemas.openxmlformats.org/package/2006/relationships"><Relationship Id="rId3" Type="http://schemas.openxmlformats.org/officeDocument/2006/relationships/notesSlide" Target="../notesSlides/notesSlide128.xml"/><Relationship Id="rId2" Type="http://schemas.openxmlformats.org/officeDocument/2006/relationships/slideLayout" Target="../slideLayouts/slideLayout123.xml"/><Relationship Id="rId1" Type="http://schemas.openxmlformats.org/officeDocument/2006/relationships/themeOverride" Target="../theme/themeOverride134.xml"/></Relationships>
</file>

<file path=ppt/slides/_rels/slide136.xml.rels><?xml version="1.0" encoding="UTF-8" standalone="yes"?>
<Relationships xmlns="http://schemas.openxmlformats.org/package/2006/relationships"><Relationship Id="rId3" Type="http://schemas.openxmlformats.org/officeDocument/2006/relationships/notesSlide" Target="../notesSlides/notesSlide129.xml"/><Relationship Id="rId2" Type="http://schemas.openxmlformats.org/officeDocument/2006/relationships/slideLayout" Target="../slideLayouts/slideLayout123.xml"/><Relationship Id="rId1" Type="http://schemas.openxmlformats.org/officeDocument/2006/relationships/themeOverride" Target="../theme/themeOverride135.xml"/></Relationships>
</file>

<file path=ppt/slides/_rels/slide137.xml.rels><?xml version="1.0" encoding="UTF-8" standalone="yes"?>
<Relationships xmlns="http://schemas.openxmlformats.org/package/2006/relationships"><Relationship Id="rId3" Type="http://schemas.openxmlformats.org/officeDocument/2006/relationships/notesSlide" Target="../notesSlides/notesSlide130.xml"/><Relationship Id="rId2" Type="http://schemas.openxmlformats.org/officeDocument/2006/relationships/slideLayout" Target="../slideLayouts/slideLayout123.xml"/><Relationship Id="rId1" Type="http://schemas.openxmlformats.org/officeDocument/2006/relationships/themeOverride" Target="../theme/themeOverride136.xml"/></Relationships>
</file>

<file path=ppt/slides/_rels/slide138.xml.rels><?xml version="1.0" encoding="UTF-8" standalone="yes"?>
<Relationships xmlns="http://schemas.openxmlformats.org/package/2006/relationships"><Relationship Id="rId3" Type="http://schemas.openxmlformats.org/officeDocument/2006/relationships/notesSlide" Target="../notesSlides/notesSlide131.xml"/><Relationship Id="rId2" Type="http://schemas.openxmlformats.org/officeDocument/2006/relationships/slideLayout" Target="../slideLayouts/slideLayout123.xml"/><Relationship Id="rId1" Type="http://schemas.openxmlformats.org/officeDocument/2006/relationships/themeOverride" Target="../theme/themeOverride137.xml"/></Relationships>
</file>

<file path=ppt/slides/_rels/slide139.xml.rels><?xml version="1.0" encoding="UTF-8" standalone="yes"?>
<Relationships xmlns="http://schemas.openxmlformats.org/package/2006/relationships"><Relationship Id="rId3" Type="http://schemas.openxmlformats.org/officeDocument/2006/relationships/notesSlide" Target="../notesSlides/notesSlide132.xml"/><Relationship Id="rId2" Type="http://schemas.openxmlformats.org/officeDocument/2006/relationships/slideLayout" Target="../slideLayouts/slideLayout123.xml"/><Relationship Id="rId1" Type="http://schemas.openxmlformats.org/officeDocument/2006/relationships/themeOverride" Target="../theme/themeOverride138.xml"/><Relationship Id="rId4" Type="http://schemas.openxmlformats.org/officeDocument/2006/relationships/image" Target="../media/image88.png"/></Relationships>
</file>

<file path=ppt/slides/_rels/slide140.xml.rels><?xml version="1.0" encoding="UTF-8" standalone="yes"?>
<Relationships xmlns="http://schemas.openxmlformats.org/package/2006/relationships"><Relationship Id="rId3" Type="http://schemas.openxmlformats.org/officeDocument/2006/relationships/notesSlide" Target="../notesSlides/notesSlide133.xml"/><Relationship Id="rId2" Type="http://schemas.openxmlformats.org/officeDocument/2006/relationships/slideLayout" Target="../slideLayouts/slideLayout123.xml"/><Relationship Id="rId1" Type="http://schemas.openxmlformats.org/officeDocument/2006/relationships/themeOverride" Target="../theme/themeOverride139.xml"/><Relationship Id="rId4" Type="http://schemas.openxmlformats.org/officeDocument/2006/relationships/image" Target="../media/image89.png"/></Relationships>
</file>

<file path=ppt/slides/_rels/slide141.xml.rels><?xml version="1.0" encoding="UTF-8" standalone="yes"?>
<Relationships xmlns="http://schemas.openxmlformats.org/package/2006/relationships"><Relationship Id="rId3" Type="http://schemas.openxmlformats.org/officeDocument/2006/relationships/notesSlide" Target="../notesSlides/notesSlide134.xml"/><Relationship Id="rId2" Type="http://schemas.openxmlformats.org/officeDocument/2006/relationships/slideLayout" Target="../slideLayouts/slideLayout121.xml"/><Relationship Id="rId1" Type="http://schemas.openxmlformats.org/officeDocument/2006/relationships/themeOverride" Target="../theme/themeOverride140.xml"/></Relationships>
</file>

<file path=ppt/slides/_rels/slide142.xml.rels><?xml version="1.0" encoding="UTF-8" standalone="yes"?>
<Relationships xmlns="http://schemas.openxmlformats.org/package/2006/relationships"><Relationship Id="rId3" Type="http://schemas.openxmlformats.org/officeDocument/2006/relationships/notesSlide" Target="../notesSlides/notesSlide135.xml"/><Relationship Id="rId2" Type="http://schemas.openxmlformats.org/officeDocument/2006/relationships/slideLayout" Target="../slideLayouts/slideLayout121.xml"/><Relationship Id="rId1" Type="http://schemas.openxmlformats.org/officeDocument/2006/relationships/themeOverride" Target="../theme/themeOverride141.xml"/></Relationships>
</file>

<file path=ppt/slides/_rels/slide143.xml.rels><?xml version="1.0" encoding="UTF-8" standalone="yes"?>
<Relationships xmlns="http://schemas.openxmlformats.org/package/2006/relationships"><Relationship Id="rId3" Type="http://schemas.openxmlformats.org/officeDocument/2006/relationships/notesSlide" Target="../notesSlides/notesSlide136.xml"/><Relationship Id="rId2" Type="http://schemas.openxmlformats.org/officeDocument/2006/relationships/slideLayout" Target="../slideLayouts/slideLayout121.xml"/><Relationship Id="rId1" Type="http://schemas.openxmlformats.org/officeDocument/2006/relationships/themeOverride" Target="../theme/themeOverride142.xml"/><Relationship Id="rId4" Type="http://schemas.openxmlformats.org/officeDocument/2006/relationships/image" Target="../media/image90.png"/></Relationships>
</file>

<file path=ppt/slides/_rels/slide144.xml.rels><?xml version="1.0" encoding="UTF-8" standalone="yes"?>
<Relationships xmlns="http://schemas.openxmlformats.org/package/2006/relationships"><Relationship Id="rId3" Type="http://schemas.openxmlformats.org/officeDocument/2006/relationships/notesSlide" Target="../notesSlides/notesSlide137.xml"/><Relationship Id="rId2" Type="http://schemas.openxmlformats.org/officeDocument/2006/relationships/slideLayout" Target="../slideLayouts/slideLayout121.xml"/><Relationship Id="rId1" Type="http://schemas.openxmlformats.org/officeDocument/2006/relationships/themeOverride" Target="../theme/themeOverride143.xml"/><Relationship Id="rId4" Type="http://schemas.openxmlformats.org/officeDocument/2006/relationships/image" Target="../media/image91.png"/></Relationships>
</file>

<file path=ppt/slides/_rels/slide145.xml.rels><?xml version="1.0" encoding="UTF-8" standalone="yes"?>
<Relationships xmlns="http://schemas.openxmlformats.org/package/2006/relationships"><Relationship Id="rId3" Type="http://schemas.openxmlformats.org/officeDocument/2006/relationships/notesSlide" Target="../notesSlides/notesSlide138.xml"/><Relationship Id="rId2" Type="http://schemas.openxmlformats.org/officeDocument/2006/relationships/slideLayout" Target="../slideLayouts/slideLayout121.xml"/><Relationship Id="rId1" Type="http://schemas.openxmlformats.org/officeDocument/2006/relationships/themeOverride" Target="../theme/themeOverride144.xml"/><Relationship Id="rId4" Type="http://schemas.openxmlformats.org/officeDocument/2006/relationships/image" Target="../media/image92.png"/></Relationships>
</file>

<file path=ppt/slides/_rels/slide146.xml.rels><?xml version="1.0" encoding="UTF-8" standalone="yes"?>
<Relationships xmlns="http://schemas.openxmlformats.org/package/2006/relationships"><Relationship Id="rId3" Type="http://schemas.openxmlformats.org/officeDocument/2006/relationships/notesSlide" Target="../notesSlides/notesSlide139.xml"/><Relationship Id="rId2" Type="http://schemas.openxmlformats.org/officeDocument/2006/relationships/slideLayout" Target="../slideLayouts/slideLayout121.xml"/><Relationship Id="rId1" Type="http://schemas.openxmlformats.org/officeDocument/2006/relationships/themeOverride" Target="../theme/themeOverride145.xml"/><Relationship Id="rId4" Type="http://schemas.openxmlformats.org/officeDocument/2006/relationships/image" Target="../media/image93.png"/></Relationships>
</file>

<file path=ppt/slides/_rels/slide147.xml.rels><?xml version="1.0" encoding="UTF-8" standalone="yes"?>
<Relationships xmlns="http://schemas.openxmlformats.org/package/2006/relationships"><Relationship Id="rId3" Type="http://schemas.openxmlformats.org/officeDocument/2006/relationships/notesSlide" Target="../notesSlides/notesSlide140.xml"/><Relationship Id="rId2" Type="http://schemas.openxmlformats.org/officeDocument/2006/relationships/slideLayout" Target="../slideLayouts/slideLayout118.xml"/><Relationship Id="rId1" Type="http://schemas.openxmlformats.org/officeDocument/2006/relationships/themeOverride" Target="../theme/themeOverride146.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674"/>
        <p:cNvGrpSpPr/>
        <p:nvPr/>
      </p:nvGrpSpPr>
      <p:grpSpPr>
        <a:xfrm>
          <a:off x="0" y="0"/>
          <a:ext cx="0" cy="0"/>
          <a:chOff x="0" y="0"/>
          <a:chExt cx="0" cy="0"/>
        </a:xfrm>
      </p:grpSpPr>
      <p:sp>
        <p:nvSpPr>
          <p:cNvPr id="676" name="Google Shape;676;p103"/>
          <p:cNvSpPr txBox="1">
            <a:spLocks noGrp="1"/>
          </p:cNvSpPr>
          <p:nvPr>
            <p:ph type="body" idx="1"/>
          </p:nvPr>
        </p:nvSpPr>
        <p:spPr>
          <a:xfrm>
            <a:off x="414575" y="510335"/>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Why we need FOVA (Formal Validation) processes </a:t>
            </a:r>
            <a:endParaRPr sz="1800" i="0" u="none" strike="noStrike" cap="none">
              <a:solidFill>
                <a:schemeClr val="dk2"/>
              </a:solidFill>
            </a:endParaRPr>
          </a:p>
        </p:txBody>
      </p:sp>
      <p:sp>
        <p:nvSpPr>
          <p:cNvPr id="675" name="Google Shape;675;p103"/>
          <p:cNvSpPr txBox="1">
            <a:spLocks noGrp="1"/>
          </p:cNvSpPr>
          <p:nvPr>
            <p:ph type="title"/>
          </p:nvPr>
        </p:nvSpPr>
        <p:spPr>
          <a:xfrm>
            <a:off x="3651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DEFINITION</a:t>
            </a:r>
            <a:endParaRPr sz="3000" i="0" u="none" strike="noStrike" cap="none">
              <a:solidFill>
                <a:schemeClr val="dk2"/>
              </a:solidFill>
            </a:endParaRPr>
          </a:p>
        </p:txBody>
      </p:sp>
      <p:sp>
        <p:nvSpPr>
          <p:cNvPr id="678" name="Google Shape;678;p103"/>
          <p:cNvSpPr txBox="1">
            <a:spLocks noGrp="1"/>
          </p:cNvSpPr>
          <p:nvPr>
            <p:ph type="body" idx="3"/>
          </p:nvPr>
        </p:nvSpPr>
        <p:spPr>
          <a:xfrm>
            <a:off x="421300" y="1908285"/>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What the process does</a:t>
            </a:r>
            <a:endParaRPr sz="1800" i="0" u="none" strike="noStrike" cap="none">
              <a:solidFill>
                <a:schemeClr val="dk2"/>
              </a:solidFill>
            </a:endParaRPr>
          </a:p>
        </p:txBody>
      </p:sp>
      <p:sp>
        <p:nvSpPr>
          <p:cNvPr id="677" name="Google Shape;677;p103"/>
          <p:cNvSpPr txBox="1"/>
          <p:nvPr/>
        </p:nvSpPr>
        <p:spPr>
          <a:xfrm>
            <a:off x="268900" y="857705"/>
            <a:ext cx="8693400" cy="1050600"/>
          </a:xfrm>
          <a:prstGeom prst="rect">
            <a:avLst/>
          </a:prstGeom>
          <a:noFill/>
          <a:ln>
            <a:noFill/>
          </a:ln>
        </p:spPr>
        <p:txBody>
          <a:bodyPr spcFirstLastPara="1" wrap="square" lIns="91425" tIns="45700" rIns="91425" bIns="45700" anchor="t" anchorCtr="0">
            <a:noAutofit/>
          </a:bodyPr>
          <a:lstStyle/>
          <a:p>
            <a:pPr marL="457200" lvl="0" indent="-304800" algn="l" rtl="0">
              <a:lnSpc>
                <a:spcPct val="115000"/>
              </a:lnSpc>
              <a:spcBef>
                <a:spcPts val="700"/>
              </a:spcBef>
              <a:spcAft>
                <a:spcPts val="0"/>
              </a:spcAft>
              <a:buSzPts val="1200"/>
              <a:buFont typeface="Open Sans"/>
              <a:buChar char="●"/>
            </a:pPr>
            <a:r>
              <a:rPr lang="en" sz="1200">
                <a:latin typeface="Open Sans"/>
                <a:ea typeface="Open Sans"/>
                <a:cs typeface="Open Sans"/>
                <a:sym typeface="Open Sans"/>
              </a:rPr>
              <a:t>FOVA is first validation process in SIRVAL process flow.</a:t>
            </a:r>
            <a:endParaRPr sz="1200">
              <a:latin typeface="Open Sans"/>
              <a:ea typeface="Open Sans"/>
              <a:cs typeface="Open Sans"/>
              <a:sym typeface="Open Sans"/>
            </a:endParaRPr>
          </a:p>
          <a:p>
            <a:pPr marL="457200" lvl="0" indent="-304800" algn="l" rtl="0">
              <a:lnSpc>
                <a:spcPct val="115000"/>
              </a:lnSpc>
              <a:spcBef>
                <a:spcPts val="1000"/>
              </a:spcBef>
              <a:spcAft>
                <a:spcPts val="1000"/>
              </a:spcAft>
              <a:buSzPts val="1200"/>
              <a:buFont typeface="Open Sans"/>
              <a:buChar char="●"/>
            </a:pPr>
            <a:r>
              <a:rPr lang="en" sz="1200">
                <a:latin typeface="Open Sans"/>
                <a:ea typeface="Open Sans"/>
                <a:cs typeface="Open Sans"/>
                <a:sym typeface="Open Sans"/>
              </a:rPr>
              <a:t>FOVA perform store level validation where the focus is on the general acceptance of the store rather than problems in a limited set of items.</a:t>
            </a:r>
            <a:endParaRPr sz="1200">
              <a:latin typeface="Open Sans"/>
              <a:ea typeface="Open Sans"/>
              <a:cs typeface="Open Sans"/>
              <a:sym typeface="Open Sans"/>
            </a:endParaRPr>
          </a:p>
        </p:txBody>
      </p:sp>
      <p:sp>
        <p:nvSpPr>
          <p:cNvPr id="679" name="Google Shape;679;p103"/>
          <p:cNvSpPr txBox="1"/>
          <p:nvPr/>
        </p:nvSpPr>
        <p:spPr>
          <a:xfrm>
            <a:off x="268900" y="2129355"/>
            <a:ext cx="8693400" cy="2567731"/>
          </a:xfrm>
          <a:prstGeom prst="rect">
            <a:avLst/>
          </a:prstGeom>
          <a:noFill/>
          <a:ln>
            <a:noFill/>
          </a:ln>
        </p:spPr>
        <p:txBody>
          <a:bodyPr spcFirstLastPara="1" wrap="square" lIns="91425" tIns="91425" rIns="91425" bIns="91425" anchor="t" anchorCtr="0">
            <a:noAutofit/>
          </a:bodyPr>
          <a:lstStyle/>
          <a:p>
            <a:pPr marL="457200" lvl="0" indent="-304800" algn="l" rtl="0">
              <a:lnSpc>
                <a:spcPct val="115000"/>
              </a:lnSpc>
              <a:spcBef>
                <a:spcPts val="700"/>
              </a:spcBef>
              <a:spcAft>
                <a:spcPts val="0"/>
              </a:spcAft>
              <a:buClr>
                <a:schemeClr val="dk1"/>
              </a:buClr>
              <a:buSzPts val="1200"/>
              <a:buFont typeface="Open Sans"/>
              <a:buChar char="●"/>
            </a:pPr>
            <a:r>
              <a:rPr lang="en" sz="1200" dirty="0">
                <a:solidFill>
                  <a:schemeClr val="dk1"/>
                </a:solidFill>
                <a:latin typeface="Open Sans"/>
                <a:ea typeface="Open Sans"/>
                <a:cs typeface="Open Sans"/>
                <a:sym typeface="Open Sans"/>
              </a:rPr>
              <a:t>For each store, current week’s data will be compared with Last Good period’s data (not salvaged / estimated / Xcopied)</a:t>
            </a:r>
            <a:endParaRPr sz="1200" dirty="0">
              <a:solidFill>
                <a:schemeClr val="dk1"/>
              </a:solidFill>
              <a:latin typeface="Open Sans"/>
              <a:ea typeface="Open Sans"/>
              <a:cs typeface="Open Sans"/>
              <a:sym typeface="Open Sans"/>
            </a:endParaRPr>
          </a:p>
          <a:p>
            <a:pPr marL="457200" lvl="0" indent="-304800" algn="l" rtl="0">
              <a:lnSpc>
                <a:spcPct val="115000"/>
              </a:lnSpc>
              <a:spcBef>
                <a:spcPts val="1000"/>
              </a:spcBef>
              <a:spcAft>
                <a:spcPts val="0"/>
              </a:spcAft>
              <a:buClr>
                <a:schemeClr val="dk1"/>
              </a:buClr>
              <a:buSzPts val="1200"/>
              <a:buFont typeface="Open Sans"/>
              <a:buChar char="●"/>
            </a:pPr>
            <a:r>
              <a:rPr lang="en" sz="1200" dirty="0">
                <a:solidFill>
                  <a:schemeClr val="dk1"/>
                </a:solidFill>
                <a:latin typeface="Open Sans"/>
                <a:ea typeface="Open Sans"/>
                <a:cs typeface="Open Sans"/>
                <a:sym typeface="Open Sans"/>
              </a:rPr>
              <a:t>The comparison is done at different levels like Total sale, Units, Price, Cref (Barcode), Supergroup etc…</a:t>
            </a:r>
            <a:endParaRPr sz="1200" dirty="0">
              <a:solidFill>
                <a:schemeClr val="dk1"/>
              </a:solidFill>
              <a:latin typeface="Open Sans"/>
              <a:ea typeface="Open Sans"/>
              <a:cs typeface="Open Sans"/>
              <a:sym typeface="Open Sans"/>
            </a:endParaRPr>
          </a:p>
          <a:p>
            <a:pPr marL="457200" lvl="0" indent="-304800" algn="l" rtl="0">
              <a:lnSpc>
                <a:spcPct val="115000"/>
              </a:lnSpc>
              <a:spcBef>
                <a:spcPts val="1000"/>
              </a:spcBef>
              <a:spcAft>
                <a:spcPts val="0"/>
              </a:spcAft>
              <a:buClr>
                <a:schemeClr val="dk1"/>
              </a:buClr>
              <a:buSzPts val="1200"/>
              <a:buFont typeface="Open Sans"/>
              <a:buChar char="●"/>
            </a:pPr>
            <a:r>
              <a:rPr lang="en" sz="1200" dirty="0">
                <a:solidFill>
                  <a:schemeClr val="dk1"/>
                </a:solidFill>
                <a:latin typeface="Open Sans"/>
                <a:ea typeface="Open Sans"/>
                <a:cs typeface="Open Sans"/>
                <a:sym typeface="Open Sans"/>
              </a:rPr>
              <a:t>Various statistical tests is run by the system during this comparison using pre-calculated acceptance range.+</a:t>
            </a:r>
            <a:endParaRPr sz="1200" dirty="0">
              <a:solidFill>
                <a:schemeClr val="dk1"/>
              </a:solidFill>
              <a:latin typeface="Open Sans"/>
              <a:ea typeface="Open Sans"/>
              <a:cs typeface="Open Sans"/>
              <a:sym typeface="Open Sans"/>
            </a:endParaRPr>
          </a:p>
          <a:p>
            <a:pPr marL="457200" lvl="0" indent="-304800" algn="l" rtl="0">
              <a:lnSpc>
                <a:spcPct val="115000"/>
              </a:lnSpc>
              <a:spcBef>
                <a:spcPts val="1000"/>
              </a:spcBef>
              <a:spcAft>
                <a:spcPts val="0"/>
              </a:spcAft>
              <a:buClr>
                <a:schemeClr val="dk1"/>
              </a:buClr>
              <a:buSzPts val="1200"/>
              <a:buFont typeface="Open Sans"/>
              <a:buChar char="●"/>
            </a:pPr>
            <a:r>
              <a:rPr lang="en" sz="1200" dirty="0">
                <a:solidFill>
                  <a:schemeClr val="dk1"/>
                </a:solidFill>
                <a:latin typeface="Open Sans"/>
                <a:ea typeface="Open Sans"/>
                <a:cs typeface="Open Sans"/>
                <a:sym typeface="Open Sans"/>
              </a:rPr>
              <a:t>Detailed Report of comparison is generated as the output of the process.</a:t>
            </a:r>
            <a:endParaRPr sz="1200" dirty="0">
              <a:solidFill>
                <a:schemeClr val="dk1"/>
              </a:solidFill>
              <a:latin typeface="Open Sans"/>
              <a:ea typeface="Open Sans"/>
              <a:cs typeface="Open Sans"/>
              <a:sym typeface="Open Sans"/>
            </a:endParaRPr>
          </a:p>
          <a:p>
            <a:pPr marL="457200" lvl="0" indent="-304800" algn="l" rtl="0">
              <a:lnSpc>
                <a:spcPct val="115000"/>
              </a:lnSpc>
              <a:spcBef>
                <a:spcPts val="1000"/>
              </a:spcBef>
              <a:spcAft>
                <a:spcPts val="0"/>
              </a:spcAft>
              <a:buClr>
                <a:schemeClr val="dk1"/>
              </a:buClr>
              <a:buSzPts val="1200"/>
              <a:buFont typeface="Open Sans"/>
              <a:buChar char="●"/>
            </a:pPr>
            <a:r>
              <a:rPr lang="en" sz="1200" dirty="0">
                <a:solidFill>
                  <a:schemeClr val="dk1"/>
                </a:solidFill>
                <a:latin typeface="Open Sans"/>
                <a:ea typeface="Open Sans"/>
                <a:cs typeface="Open Sans"/>
                <a:sym typeface="Open Sans"/>
              </a:rPr>
              <a:t>User can manually validate report for those stores which fail these statistical test/s and decide on whether to accept the data or not.</a:t>
            </a:r>
            <a:endParaRPr sz="1200" dirty="0">
              <a:solidFill>
                <a:schemeClr val="dk1"/>
              </a:solidFill>
              <a:latin typeface="Open Sans"/>
              <a:ea typeface="Open Sans"/>
              <a:cs typeface="Open Sans"/>
              <a:sym typeface="Open Sans"/>
            </a:endParaRPr>
          </a:p>
          <a:p>
            <a:pPr marL="457200" lvl="0" indent="-304800" algn="l" rtl="0">
              <a:lnSpc>
                <a:spcPct val="115000"/>
              </a:lnSpc>
              <a:spcBef>
                <a:spcPts val="1000"/>
              </a:spcBef>
              <a:spcAft>
                <a:spcPts val="1000"/>
              </a:spcAft>
              <a:buClr>
                <a:schemeClr val="dk1"/>
              </a:buClr>
              <a:buSzPts val="1200"/>
              <a:buFont typeface="Open Sans"/>
              <a:buChar char="●"/>
            </a:pPr>
            <a:r>
              <a:rPr lang="en" sz="1200" dirty="0">
                <a:solidFill>
                  <a:schemeClr val="dk1"/>
                </a:solidFill>
                <a:latin typeface="Open Sans"/>
                <a:ea typeface="Open Sans"/>
                <a:cs typeface="Open Sans"/>
                <a:sym typeface="Open Sans"/>
              </a:rPr>
              <a:t>If data of the store is received / loaded for the first time, system automatically considers it to be a DATA_GOOD store.</a:t>
            </a:r>
            <a:endParaRPr sz="1200" dirty="0">
              <a:solidFill>
                <a:schemeClr val="dk1"/>
              </a:solidFill>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DE4FD1-C107-8E87-DF93-B103B1F91F46}"/>
              </a:ext>
            </a:extLst>
          </p:cNvPr>
          <p:cNvSpPr>
            <a:spLocks noGrp="1"/>
          </p:cNvSpPr>
          <p:nvPr>
            <p:ph type="ctrTitle"/>
          </p:nvPr>
        </p:nvSpPr>
        <p:spPr>
          <a:xfrm>
            <a:off x="216417" y="476276"/>
            <a:ext cx="8673247" cy="1790700"/>
          </a:xfrm>
        </p:spPr>
        <p:txBody>
          <a:bodyPr/>
          <a:lstStyle/>
          <a:p>
            <a:r>
              <a:rPr lang="en" sz="4400" b="0" dirty="0">
                <a:solidFill>
                  <a:srgbClr val="FFFFFF"/>
                </a:solidFill>
                <a:latin typeface="Arial"/>
                <a:ea typeface="Arial"/>
                <a:cs typeface="Arial"/>
                <a:sym typeface="Arial"/>
              </a:rPr>
              <a:t>FOVA Handling – Starters training</a:t>
            </a:r>
            <a:endParaRPr lang="en-US" dirty="0"/>
          </a:p>
        </p:txBody>
      </p:sp>
      <p:sp>
        <p:nvSpPr>
          <p:cNvPr id="4" name="Text Placeholder 3">
            <a:extLst>
              <a:ext uri="{FF2B5EF4-FFF2-40B4-BE49-F238E27FC236}">
                <a16:creationId xmlns:a16="http://schemas.microsoft.com/office/drawing/2014/main" id="{B5D59809-A279-91FD-1E2A-5EE58ECEDF19}"/>
              </a:ext>
            </a:extLst>
          </p:cNvPr>
          <p:cNvSpPr>
            <a:spLocks noGrp="1"/>
          </p:cNvSpPr>
          <p:nvPr>
            <p:ph type="body" sz="quarter" idx="10"/>
          </p:nvPr>
        </p:nvSpPr>
        <p:spPr/>
        <p:txBody>
          <a:bodyPr/>
          <a:lstStyle/>
          <a:p>
            <a:pPr marL="0" indent="0"/>
            <a:r>
              <a:rPr lang="en-US" sz="900" dirty="0"/>
              <a:t>Last update on </a:t>
            </a:r>
            <a:r>
              <a:rPr lang="en-US" sz="900" dirty="0">
                <a:solidFill>
                  <a:schemeClr val="lt1"/>
                </a:solidFill>
              </a:rPr>
              <a:t> 10-07-2023</a:t>
            </a:r>
            <a:r>
              <a:rPr lang="en-US" sz="900" dirty="0"/>
              <a:t> </a:t>
            </a:r>
          </a:p>
          <a:p>
            <a:pPr marL="0" indent="0"/>
            <a:r>
              <a:rPr lang="en-US" sz="900" dirty="0"/>
              <a:t>By: </a:t>
            </a:r>
            <a:r>
              <a:rPr lang="en-US" sz="900" dirty="0" err="1"/>
              <a:t>Adarshkumar</a:t>
            </a:r>
            <a:r>
              <a:rPr lang="en-US" sz="900" dirty="0"/>
              <a:t> </a:t>
            </a:r>
            <a:r>
              <a:rPr lang="en-US" sz="900" dirty="0" err="1"/>
              <a:t>Gajjar</a:t>
            </a:r>
            <a:endParaRPr lang="en-US" sz="900" dirty="0"/>
          </a:p>
          <a:p>
            <a:pPr marL="0" marR="0" lvl="0" indent="0" algn="l" rtl="0">
              <a:lnSpc>
                <a:spcPct val="100000"/>
              </a:lnSpc>
              <a:spcBef>
                <a:spcPts val="0"/>
              </a:spcBef>
              <a:spcAft>
                <a:spcPts val="0"/>
              </a:spcAft>
              <a:buClr>
                <a:schemeClr val="dk2"/>
              </a:buClr>
              <a:buFont typeface="Arial"/>
              <a:buNone/>
            </a:pPr>
            <a:endParaRPr lang="en-US" sz="900" dirty="0"/>
          </a:p>
          <a:p>
            <a:pPr marL="0" marR="0" lvl="0" indent="0" algn="l" rtl="0">
              <a:lnSpc>
                <a:spcPct val="100000"/>
              </a:lnSpc>
              <a:spcBef>
                <a:spcPts val="0"/>
              </a:spcBef>
              <a:spcAft>
                <a:spcPts val="0"/>
              </a:spcAft>
              <a:buClr>
                <a:schemeClr val="dk2"/>
              </a:buClr>
              <a:buFont typeface="Arial"/>
              <a:buNone/>
            </a:pPr>
            <a:r>
              <a:rPr lang="en-US" sz="900" dirty="0"/>
              <a:t>Based on “FOVA Handling – Starters training”</a:t>
            </a:r>
          </a:p>
          <a:p>
            <a:pPr marL="0" marR="0" lvl="0" indent="0" algn="l" rtl="0">
              <a:lnSpc>
                <a:spcPct val="100000"/>
              </a:lnSpc>
              <a:spcBef>
                <a:spcPts val="0"/>
              </a:spcBef>
              <a:spcAft>
                <a:spcPts val="0"/>
              </a:spcAft>
              <a:buClr>
                <a:schemeClr val="dk2"/>
              </a:buClr>
              <a:buFont typeface="Arial"/>
              <a:buNone/>
            </a:pPr>
            <a:r>
              <a:rPr lang="en-US" sz="900" dirty="0"/>
              <a:t>Created in Sept 2013 by: </a:t>
            </a:r>
            <a:r>
              <a:rPr lang="en-US" sz="900" dirty="0" err="1"/>
              <a:t>Dhara</a:t>
            </a:r>
            <a:r>
              <a:rPr lang="en-US" sz="900" dirty="0"/>
              <a:t> Patel, Greet </a:t>
            </a:r>
            <a:r>
              <a:rPr lang="en-US" sz="900" dirty="0" err="1"/>
              <a:t>Verryckt</a:t>
            </a:r>
            <a:r>
              <a:rPr lang="en-US" sz="900" dirty="0"/>
              <a:t>, Ferraro Roberto</a:t>
            </a:r>
          </a:p>
        </p:txBody>
      </p:sp>
      <p:sp>
        <p:nvSpPr>
          <p:cNvPr id="6" name="Text Placeholder 5">
            <a:extLst>
              <a:ext uri="{FF2B5EF4-FFF2-40B4-BE49-F238E27FC236}">
                <a16:creationId xmlns:a16="http://schemas.microsoft.com/office/drawing/2014/main" id="{491AD3EB-1922-D3D7-3420-69DFABC1BB90}"/>
              </a:ext>
            </a:extLst>
          </p:cNvPr>
          <p:cNvSpPr>
            <a:spLocks noGrp="1"/>
          </p:cNvSpPr>
          <p:nvPr>
            <p:ph type="body" sz="quarter" idx="12"/>
          </p:nvPr>
        </p:nvSpPr>
        <p:spPr/>
        <p:txBody>
          <a:bodyPr/>
          <a:lstStyle/>
          <a:p>
            <a:r>
              <a:rPr lang="en-US"/>
              <a:t>July 2023</a:t>
            </a:r>
          </a:p>
        </p:txBody>
      </p:sp>
    </p:spTree>
    <p:extLst>
      <p:ext uri="{BB962C8B-B14F-4D97-AF65-F5344CB8AC3E}">
        <p14:creationId xmlns:p14="http://schemas.microsoft.com/office/powerpoint/2010/main" val="11121206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592"/>
        <p:cNvGrpSpPr/>
        <p:nvPr/>
      </p:nvGrpSpPr>
      <p:grpSpPr>
        <a:xfrm>
          <a:off x="0" y="0"/>
          <a:ext cx="0" cy="0"/>
          <a:chOff x="0" y="0"/>
          <a:chExt cx="0" cy="0"/>
        </a:xfrm>
      </p:grpSpPr>
      <p:sp>
        <p:nvSpPr>
          <p:cNvPr id="593" name="Google Shape;593;p101"/>
          <p:cNvSpPr txBox="1"/>
          <p:nvPr/>
        </p:nvSpPr>
        <p:spPr>
          <a:xfrm>
            <a:off x="249425" y="462349"/>
            <a:ext cx="8502000" cy="4465200"/>
          </a:xfrm>
          <a:prstGeom prst="rect">
            <a:avLst/>
          </a:prstGeom>
          <a:noFill/>
          <a:ln>
            <a:noFill/>
          </a:ln>
        </p:spPr>
        <p:txBody>
          <a:bodyPr spcFirstLastPara="1" wrap="square" lIns="91425" tIns="45700" rIns="91425" bIns="45700" anchor="t" anchorCtr="0">
            <a:noAutofit/>
          </a:bodyPr>
          <a:lstStyle/>
          <a:p>
            <a:pPr>
              <a:lnSpc>
                <a:spcPct val="115000"/>
              </a:lnSpc>
            </a:pPr>
            <a:r>
              <a:rPr lang="en" sz="1100" dirty="0">
                <a:solidFill>
                  <a:schemeClr val="dk1"/>
                </a:solidFill>
                <a:latin typeface="Open Sans"/>
                <a:ea typeface="Open Sans"/>
                <a:cs typeface="Open Sans"/>
                <a:sym typeface="Open Sans"/>
              </a:rPr>
              <a:t>    </a:t>
            </a:r>
            <a:r>
              <a:rPr lang="en" sz="1100" u="sng" dirty="0">
                <a:solidFill>
                  <a:schemeClr val="dk1"/>
                </a:solidFill>
                <a:latin typeface="Open Sans"/>
                <a:ea typeface="Open Sans"/>
                <a:cs typeface="Open Sans"/>
                <a:sym typeface="Open Sans"/>
              </a:rPr>
              <a:t>Processes covered on this presentation</a:t>
            </a:r>
            <a:r>
              <a:rPr lang="en" sz="1100" dirty="0">
                <a:solidFill>
                  <a:schemeClr val="dk1"/>
                </a:solidFill>
                <a:latin typeface="Open Sans"/>
                <a:ea typeface="Open Sans"/>
                <a:cs typeface="Open Sans"/>
                <a:sym typeface="Open Sans"/>
              </a:rPr>
              <a:t> - FOVA Parameters, FOVA Report, FOVA Validation &amp; YAFA</a:t>
            </a:r>
            <a:endParaRPr sz="1100" dirty="0">
              <a:solidFill>
                <a:schemeClr val="dk1"/>
              </a:solidFill>
              <a:latin typeface="Open Sans"/>
              <a:ea typeface="Open Sans"/>
              <a:cs typeface="Open Sans"/>
              <a:sym typeface="Open Sans"/>
            </a:endParaRPr>
          </a:p>
          <a:p>
            <a:pPr marL="457200" marR="0" lvl="0" indent="-292100" algn="l" rtl="0">
              <a:lnSpc>
                <a:spcPct val="115000"/>
              </a:lnSpc>
              <a:spcBef>
                <a:spcPts val="700"/>
              </a:spcBef>
              <a:spcAft>
                <a:spcPts val="0"/>
              </a:spcAft>
              <a:buSzPts val="1000"/>
              <a:buFont typeface="Open Sans"/>
              <a:buChar char="●"/>
            </a:pPr>
            <a:r>
              <a:rPr lang="en" sz="1000" dirty="0">
                <a:latin typeface="Open Sans"/>
                <a:ea typeface="Open Sans"/>
                <a:cs typeface="Open Sans"/>
                <a:sym typeface="Open Sans"/>
              </a:rPr>
              <a:t>DEFINITION</a:t>
            </a:r>
            <a:endParaRPr sz="1000" dirty="0">
              <a:latin typeface="Open Sans"/>
              <a:ea typeface="Open Sans"/>
              <a:cs typeface="Open Sans"/>
              <a:sym typeface="Open Sans"/>
            </a:endParaRPr>
          </a:p>
          <a:p>
            <a:pPr marL="914400" lvl="1" indent="-292100" algn="l" rtl="0">
              <a:lnSpc>
                <a:spcPct val="115000"/>
              </a:lnSpc>
              <a:spcBef>
                <a:spcPts val="0"/>
              </a:spcBef>
              <a:spcAft>
                <a:spcPts val="0"/>
              </a:spcAft>
              <a:buClr>
                <a:schemeClr val="dk1"/>
              </a:buClr>
              <a:buSzPts val="1000"/>
              <a:buFont typeface="Open Sans"/>
              <a:buChar char="○"/>
            </a:pPr>
            <a:r>
              <a:rPr lang="en" sz="1000" u="sng" dirty="0">
                <a:solidFill>
                  <a:schemeClr val="hlink"/>
                </a:solidFill>
                <a:latin typeface="Open Sans"/>
                <a:ea typeface="Open Sans"/>
                <a:cs typeface="Open Sans"/>
                <a:sym typeface="Open Sans"/>
                <a:hlinkClick r:id="rId4"/>
              </a:rPr>
              <a:t>Process flow</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Clr>
                <a:schemeClr val="dk1"/>
              </a:buClr>
              <a:buSzPts val="1000"/>
              <a:buFont typeface="Open Sans"/>
              <a:buChar char="○"/>
            </a:pPr>
            <a:r>
              <a:rPr lang="en" sz="1000" u="sng" dirty="0">
                <a:solidFill>
                  <a:schemeClr val="hlink"/>
                </a:solidFill>
                <a:latin typeface="Open Sans"/>
                <a:ea typeface="Open Sans"/>
                <a:cs typeface="Open Sans"/>
                <a:sym typeface="Open Sans"/>
                <a:hlinkClick r:id="rId4"/>
              </a:rPr>
              <a:t>Why we need this process</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Clr>
                <a:schemeClr val="dk1"/>
              </a:buClr>
              <a:buSzPts val="1000"/>
              <a:buFont typeface="Open Sans"/>
              <a:buChar char="○"/>
            </a:pPr>
            <a:r>
              <a:rPr lang="en" sz="1000" u="sng" dirty="0">
                <a:solidFill>
                  <a:schemeClr val="hlink"/>
                </a:solidFill>
                <a:latin typeface="Open Sans"/>
                <a:ea typeface="Open Sans"/>
                <a:cs typeface="Open Sans"/>
                <a:sym typeface="Open Sans"/>
                <a:hlinkClick r:id="rId4"/>
              </a:rPr>
              <a:t>What the process does</a:t>
            </a:r>
            <a:endParaRPr sz="1000" dirty="0">
              <a:solidFill>
                <a:schemeClr val="hlink"/>
              </a:solidFill>
              <a:latin typeface="Open Sans"/>
              <a:ea typeface="Open Sans"/>
              <a:cs typeface="Open Sans"/>
              <a:sym typeface="Open Sans"/>
              <a:hlinkClick r:id="rId4"/>
            </a:endParaRPr>
          </a:p>
          <a:p>
            <a:pPr marL="457200" marR="0" lvl="0" indent="-292100" algn="l" rtl="0">
              <a:lnSpc>
                <a:spcPct val="115000"/>
              </a:lnSpc>
              <a:spcBef>
                <a:spcPts val="1000"/>
              </a:spcBef>
              <a:spcAft>
                <a:spcPts val="0"/>
              </a:spcAft>
              <a:buSzPts val="1000"/>
              <a:buFont typeface="Open Sans"/>
              <a:buChar char="●"/>
            </a:pPr>
            <a:r>
              <a:rPr lang="en" sz="1000" dirty="0">
                <a:latin typeface="Open Sans"/>
                <a:ea typeface="Open Sans"/>
                <a:cs typeface="Open Sans"/>
                <a:sym typeface="Open Sans"/>
              </a:rPr>
              <a:t>HOW THE PROCESS WORKS</a:t>
            </a:r>
            <a:endParaRPr sz="1000" dirty="0">
              <a:latin typeface="Open Sans"/>
              <a:ea typeface="Open Sans"/>
              <a:cs typeface="Open Sans"/>
              <a:sym typeface="Open Sans"/>
            </a:endParaRPr>
          </a:p>
          <a:p>
            <a:pPr marL="91440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Process wise</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Clr>
                <a:schemeClr val="dk1"/>
              </a:buClr>
              <a:buSzPts val="1000"/>
              <a:buFont typeface="Open Sans"/>
              <a:buChar char="○"/>
            </a:pPr>
            <a:r>
              <a:rPr lang="en" sz="1000" u="sng" dirty="0">
                <a:solidFill>
                  <a:schemeClr val="hlink"/>
                </a:solidFill>
                <a:latin typeface="Open Sans"/>
                <a:ea typeface="Open Sans"/>
                <a:cs typeface="Open Sans"/>
                <a:sym typeface="Open Sans"/>
                <a:hlinkClick r:id="rId4"/>
              </a:rPr>
              <a:t>FOVA Validation Flow</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FOVA Report Tables</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FOVA Tags</a:t>
            </a:r>
            <a:endParaRPr sz="1000" dirty="0">
              <a:solidFill>
                <a:schemeClr val="hlink"/>
              </a:solidFill>
              <a:latin typeface="Open Sans"/>
              <a:ea typeface="Open Sans"/>
              <a:cs typeface="Open Sans"/>
              <a:sym typeface="Open Sans"/>
              <a:hlinkClick r:id="rId4"/>
            </a:endParaRPr>
          </a:p>
          <a:p>
            <a:pPr marL="457200" marR="0" lvl="0" indent="-292100" algn="l" rtl="0">
              <a:lnSpc>
                <a:spcPct val="115000"/>
              </a:lnSpc>
              <a:spcBef>
                <a:spcPts val="1000"/>
              </a:spcBef>
              <a:spcAft>
                <a:spcPts val="0"/>
              </a:spcAft>
              <a:buSzPts val="1000"/>
              <a:buFont typeface="Open Sans"/>
              <a:buChar char="●"/>
            </a:pPr>
            <a:r>
              <a:rPr lang="en" sz="1000" dirty="0">
                <a:latin typeface="Open Sans"/>
                <a:ea typeface="Open Sans"/>
                <a:cs typeface="Open Sans"/>
                <a:sym typeface="Open Sans"/>
              </a:rPr>
              <a:t>FOVA HANDLING</a:t>
            </a:r>
            <a:endParaRPr sz="1000" dirty="0">
              <a:latin typeface="Open Sans"/>
              <a:ea typeface="Open Sans"/>
              <a:cs typeface="Open Sans"/>
              <a:sym typeface="Open Sans"/>
            </a:endParaRPr>
          </a:p>
          <a:p>
            <a:pPr marL="914400" marR="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YAFA</a:t>
            </a:r>
            <a:endParaRPr sz="1000" dirty="0">
              <a:solidFill>
                <a:schemeClr val="hlink"/>
              </a:solidFill>
              <a:latin typeface="Open Sans"/>
              <a:ea typeface="Open Sans"/>
              <a:cs typeface="Open Sans"/>
              <a:sym typeface="Open Sans"/>
              <a:hlinkClick r:id="rId4"/>
            </a:endParaRPr>
          </a:p>
          <a:p>
            <a:pPr marL="914400" marR="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Checks</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5" action="ppaction://hlinksldjump">
                  <a:extLst>
                    <a:ext uri="{A12FA001-AC4F-418D-AE19-62706E023703}">
                      <ahyp:hlinkClr xmlns:ahyp="http://schemas.microsoft.com/office/drawing/2018/hyperlinkcolor" val="tx"/>
                    </a:ext>
                  </a:extLst>
                </a:hlinkClick>
              </a:rPr>
              <a:t>Rules </a:t>
            </a:r>
            <a:r>
              <a:rPr lang="en" sz="1000" u="sng" dirty="0">
                <a:solidFill>
                  <a:schemeClr val="hlink"/>
                </a:solid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&amp;</a:t>
            </a:r>
            <a:r>
              <a:rPr lang="en" sz="1000" u="sng" dirty="0">
                <a:solidFill>
                  <a:schemeClr val="hlink"/>
                </a:solidFill>
                <a:latin typeface="Open Sans"/>
                <a:ea typeface="Open Sans"/>
                <a:cs typeface="Open Sans"/>
                <a:sym typeface="Open Sans"/>
                <a:hlinkClick r:id="rId5" action="ppaction://hlinksldjump">
                  <a:extLst>
                    <a:ext uri="{A12FA001-AC4F-418D-AE19-62706E023703}">
                      <ahyp:hlinkClr xmlns:ahyp="http://schemas.microsoft.com/office/drawing/2018/hyperlinkcolor" val="tx"/>
                    </a:ext>
                  </a:extLst>
                </a:hlinkClick>
              </a:rPr>
              <a:t> Restrictions</a:t>
            </a:r>
            <a:endParaRPr sz="1000" dirty="0">
              <a:solidFill>
                <a:schemeClr val="hlink"/>
              </a:solidFill>
              <a:latin typeface="Open Sans"/>
              <a:ea typeface="Open Sans"/>
              <a:cs typeface="Open Sans"/>
              <a:sym typeface="Open Sans"/>
            </a:endParaRPr>
          </a:p>
          <a:p>
            <a:pPr marL="91440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Smart FOVA handling</a:t>
            </a:r>
            <a:endParaRPr sz="1000" dirty="0">
              <a:solidFill>
                <a:schemeClr val="hlink"/>
              </a:solidFill>
              <a:latin typeface="Open Sans"/>
              <a:ea typeface="Open Sans"/>
              <a:cs typeface="Open Sans"/>
              <a:sym typeface="Open Sans"/>
              <a:hlinkClick r:id="rId4"/>
            </a:endParaRPr>
          </a:p>
          <a:p>
            <a:pPr marL="457200" marR="0" lvl="0" indent="-292100" algn="l" rtl="0">
              <a:lnSpc>
                <a:spcPct val="115000"/>
              </a:lnSpc>
              <a:spcBef>
                <a:spcPts val="1000"/>
              </a:spcBef>
              <a:spcAft>
                <a:spcPts val="0"/>
              </a:spcAft>
              <a:buSzPts val="1000"/>
              <a:buFont typeface="Open Sans"/>
              <a:buChar char="●"/>
            </a:pPr>
            <a:r>
              <a:rPr lang="en" sz="1000" dirty="0">
                <a:latin typeface="Open Sans"/>
                <a:ea typeface="Open Sans"/>
                <a:cs typeface="Open Sans"/>
                <a:sym typeface="Open Sans"/>
              </a:rPr>
              <a:t>SETUP</a:t>
            </a:r>
            <a:endParaRPr sz="1000" dirty="0">
              <a:latin typeface="Open Sans"/>
              <a:ea typeface="Open Sans"/>
              <a:cs typeface="Open Sans"/>
              <a:sym typeface="Open Sans"/>
            </a:endParaRPr>
          </a:p>
          <a:p>
            <a:pPr marL="914400" marR="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Parameters</a:t>
            </a:r>
            <a:endParaRPr sz="1000" dirty="0">
              <a:solidFill>
                <a:schemeClr val="hlink"/>
              </a:solidFill>
              <a:latin typeface="Open Sans"/>
              <a:ea typeface="Open Sans"/>
              <a:cs typeface="Open Sans"/>
              <a:sym typeface="Open Sans"/>
              <a:hlinkClick r:id="rId4"/>
            </a:endParaRPr>
          </a:p>
          <a:p>
            <a:pPr marL="457200" marR="0" lvl="0" indent="-292100" algn="l" rtl="0">
              <a:lnSpc>
                <a:spcPct val="115000"/>
              </a:lnSpc>
              <a:spcBef>
                <a:spcPts val="1000"/>
              </a:spcBef>
              <a:spcAft>
                <a:spcPts val="0"/>
              </a:spcAft>
              <a:buSzPts val="1000"/>
              <a:buFont typeface="Open Sans"/>
              <a:buChar char="●"/>
            </a:pPr>
            <a:r>
              <a:rPr lang="en" sz="1000" dirty="0">
                <a:latin typeface="Open Sans"/>
                <a:ea typeface="Open Sans"/>
                <a:cs typeface="Open Sans"/>
                <a:sym typeface="Open Sans"/>
              </a:rPr>
              <a:t>APPENDIX</a:t>
            </a:r>
            <a:endParaRPr sz="1000" dirty="0">
              <a:latin typeface="Open Sans"/>
              <a:ea typeface="Open Sans"/>
              <a:cs typeface="Open Sans"/>
              <a:sym typeface="Open Sans"/>
            </a:endParaRPr>
          </a:p>
          <a:p>
            <a:pPr marL="914400" marR="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Useful links</a:t>
            </a:r>
            <a:endParaRPr sz="1000" dirty="0">
              <a:solidFill>
                <a:schemeClr val="hlink"/>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SzPts val="1000"/>
              <a:buFont typeface="Open Sans"/>
              <a:buChar char="○"/>
            </a:pPr>
            <a:r>
              <a:rPr lang="en" sz="1000" u="sng" dirty="0">
                <a:solidFill>
                  <a:schemeClr val="accent2"/>
                </a:solidFill>
                <a:latin typeface="Open Sans"/>
                <a:ea typeface="Open Sans"/>
                <a:cs typeface="Open Sans"/>
                <a:sym typeface="Open Sans"/>
                <a:hlinkClick r:id="rId4"/>
              </a:rPr>
              <a:t>Small Store FOVA Validation</a:t>
            </a:r>
            <a:endParaRPr sz="1000" dirty="0">
              <a:solidFill>
                <a:schemeClr val="accent2"/>
              </a:solidFill>
              <a:latin typeface="Open Sans"/>
              <a:ea typeface="Open Sans"/>
              <a:cs typeface="Open Sans"/>
              <a:sym typeface="Open Sans"/>
              <a:hlinkClick r:id="rId4"/>
            </a:endParaRPr>
          </a:p>
          <a:p>
            <a:pPr marL="914400" lvl="1" indent="-292100" algn="l" rtl="0">
              <a:lnSpc>
                <a:spcPct val="115000"/>
              </a:lnSpc>
              <a:spcBef>
                <a:spcPts val="0"/>
              </a:spcBef>
              <a:spcAft>
                <a:spcPts val="0"/>
              </a:spcAft>
              <a:buSzPts val="1000"/>
              <a:buFont typeface="Open Sans"/>
              <a:buChar char="○"/>
            </a:pPr>
            <a:r>
              <a:rPr lang="en" sz="1000" u="sng" dirty="0">
                <a:solidFill>
                  <a:schemeClr val="hlink"/>
                </a:solidFill>
                <a:latin typeface="Open Sans"/>
                <a:ea typeface="Open Sans"/>
                <a:cs typeface="Open Sans"/>
                <a:sym typeface="Open Sans"/>
                <a:hlinkClick r:id="rId4"/>
              </a:rPr>
              <a:t>Store format change identification</a:t>
            </a:r>
            <a:endParaRPr sz="1000" dirty="0">
              <a:solidFill>
                <a:schemeClr val="hlink"/>
              </a:solidFill>
              <a:latin typeface="Open Sans"/>
              <a:ea typeface="Open Sans"/>
              <a:cs typeface="Open Sans"/>
              <a:sym typeface="Open Sans"/>
              <a:hlinkClick r:id="rId4"/>
            </a:endParaRPr>
          </a:p>
          <a:p>
            <a:pPr marL="0" marR="0" lvl="0" indent="0" algn="l" rtl="0">
              <a:lnSpc>
                <a:spcPct val="115000"/>
              </a:lnSpc>
              <a:spcBef>
                <a:spcPts val="1000"/>
              </a:spcBef>
              <a:spcAft>
                <a:spcPts val="0"/>
              </a:spcAft>
              <a:buNone/>
            </a:pPr>
            <a:endParaRPr sz="1000" dirty="0">
              <a:latin typeface="Open Sans"/>
              <a:ea typeface="Open Sans"/>
              <a:cs typeface="Open Sans"/>
              <a:sym typeface="Open Sans"/>
            </a:endParaRPr>
          </a:p>
          <a:p>
            <a:pPr marL="0" marR="0" lvl="0" indent="0" algn="l" rtl="0">
              <a:lnSpc>
                <a:spcPct val="115000"/>
              </a:lnSpc>
              <a:spcBef>
                <a:spcPts val="1000"/>
              </a:spcBef>
              <a:spcAft>
                <a:spcPts val="1000"/>
              </a:spcAft>
              <a:buNone/>
            </a:pPr>
            <a:endParaRPr sz="1000" dirty="0">
              <a:solidFill>
                <a:schemeClr val="dk1"/>
              </a:solidFill>
              <a:latin typeface="Open Sans"/>
              <a:ea typeface="Open Sans"/>
              <a:cs typeface="Open Sans"/>
              <a:sym typeface="Open Sans"/>
            </a:endParaRPr>
          </a:p>
        </p:txBody>
      </p:sp>
      <p:sp>
        <p:nvSpPr>
          <p:cNvPr id="594" name="Google Shape;594;p101"/>
          <p:cNvSpPr txBox="1"/>
          <p:nvPr/>
        </p:nvSpPr>
        <p:spPr>
          <a:xfrm>
            <a:off x="365760" y="124883"/>
            <a:ext cx="8166600" cy="4338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None/>
            </a:pPr>
            <a:r>
              <a:rPr lang="en" sz="3000" b="1">
                <a:latin typeface="Archivo Narrow"/>
                <a:ea typeface="Archivo Narrow"/>
                <a:cs typeface="Archivo Narrow"/>
                <a:sym typeface="Archivo Narrow"/>
              </a:rPr>
              <a:t>TABLE OF CONTENT :</a:t>
            </a:r>
            <a:endParaRPr sz="3000" b="1">
              <a:latin typeface="Archivo Narrow"/>
              <a:ea typeface="Archivo Narrow"/>
              <a:cs typeface="Archivo Narrow"/>
              <a:sym typeface="Archivo Narrow"/>
            </a:endParaRP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598"/>
        <p:cNvGrpSpPr/>
        <p:nvPr/>
      </p:nvGrpSpPr>
      <p:grpSpPr>
        <a:xfrm>
          <a:off x="0" y="0"/>
          <a:ext cx="0" cy="0"/>
          <a:chOff x="0" y="0"/>
          <a:chExt cx="0" cy="0"/>
        </a:xfrm>
      </p:grpSpPr>
      <p:sp>
        <p:nvSpPr>
          <p:cNvPr id="599" name="Google Shape;599;p102"/>
          <p:cNvSpPr txBox="1">
            <a:spLocks noGrp="1"/>
          </p:cNvSpPr>
          <p:nvPr>
            <p:ph type="subTitle" idx="1"/>
          </p:nvPr>
        </p:nvSpPr>
        <p:spPr>
          <a:xfrm>
            <a:off x="311700" y="22800"/>
            <a:ext cx="8520600" cy="612000"/>
          </a:xfrm>
          <a:prstGeom prst="rect">
            <a:avLst/>
          </a:prstGeom>
        </p:spPr>
        <p:txBody>
          <a:bodyPr spcFirstLastPara="1" wrap="square" lIns="91425" tIns="91425" rIns="91425" bIns="91425" anchor="ctr" anchorCtr="0">
            <a:noAutofit/>
          </a:bodyPr>
          <a:lstStyle/>
          <a:p>
            <a:pPr marL="230187" lvl="0" indent="-115887" algn="ctr" rtl="0">
              <a:lnSpc>
                <a:spcPct val="115000"/>
              </a:lnSpc>
              <a:spcBef>
                <a:spcPts val="1200"/>
              </a:spcBef>
              <a:spcAft>
                <a:spcPts val="1200"/>
              </a:spcAft>
              <a:buNone/>
            </a:pPr>
            <a:r>
              <a:rPr lang="en" sz="2000" b="1" dirty="0">
                <a:solidFill>
                  <a:srgbClr val="0000FF"/>
                </a:solidFill>
              </a:rPr>
              <a:t>SIRVAL Scanning Process Flow</a:t>
            </a:r>
            <a:endParaRPr dirty="0">
              <a:solidFill>
                <a:srgbClr val="0000FF"/>
              </a:solidFill>
            </a:endParaRPr>
          </a:p>
        </p:txBody>
      </p:sp>
      <p:sp>
        <p:nvSpPr>
          <p:cNvPr id="600" name="Google Shape;600;p102"/>
          <p:cNvSpPr/>
          <p:nvPr/>
        </p:nvSpPr>
        <p:spPr>
          <a:xfrm>
            <a:off x="2175966" y="544730"/>
            <a:ext cx="7209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PCIMDB LOAD</a:t>
            </a:r>
            <a:endParaRPr sz="900" b="1"/>
          </a:p>
        </p:txBody>
      </p:sp>
      <p:sp>
        <p:nvSpPr>
          <p:cNvPr id="601" name="Google Shape;601;p102"/>
          <p:cNvSpPr/>
          <p:nvPr/>
        </p:nvSpPr>
        <p:spPr>
          <a:xfrm>
            <a:off x="987575" y="544730"/>
            <a:ext cx="9339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Bulk Load &amp; Bulk Update</a:t>
            </a:r>
            <a:endParaRPr sz="900" b="1"/>
          </a:p>
        </p:txBody>
      </p:sp>
      <p:sp>
        <p:nvSpPr>
          <p:cNvPr id="602" name="Google Shape;602;p102"/>
          <p:cNvSpPr/>
          <p:nvPr/>
        </p:nvSpPr>
        <p:spPr>
          <a:xfrm>
            <a:off x="987575" y="1248343"/>
            <a:ext cx="6513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Open Period</a:t>
            </a:r>
            <a:endParaRPr sz="900" b="1"/>
          </a:p>
        </p:txBody>
      </p:sp>
      <p:sp>
        <p:nvSpPr>
          <p:cNvPr id="603" name="Google Shape;603;p102"/>
          <p:cNvSpPr/>
          <p:nvPr/>
        </p:nvSpPr>
        <p:spPr>
          <a:xfrm>
            <a:off x="2238525" y="1248343"/>
            <a:ext cx="5958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Buffer Load</a:t>
            </a:r>
            <a:endParaRPr sz="900" b="1"/>
          </a:p>
        </p:txBody>
      </p:sp>
      <p:sp>
        <p:nvSpPr>
          <p:cNvPr id="604" name="Google Shape;604;p102"/>
          <p:cNvSpPr/>
          <p:nvPr/>
        </p:nvSpPr>
        <p:spPr>
          <a:xfrm>
            <a:off x="3337783" y="1248343"/>
            <a:ext cx="7266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Rawdata Load</a:t>
            </a:r>
            <a:endParaRPr sz="900" b="1"/>
          </a:p>
        </p:txBody>
      </p:sp>
      <p:sp>
        <p:nvSpPr>
          <p:cNvPr id="605" name="Google Shape;605;p102"/>
          <p:cNvSpPr/>
          <p:nvPr/>
        </p:nvSpPr>
        <p:spPr>
          <a:xfrm>
            <a:off x="4628451" y="1248343"/>
            <a:ext cx="5958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FOVA</a:t>
            </a:r>
            <a:endParaRPr sz="900" b="1"/>
          </a:p>
        </p:txBody>
      </p:sp>
      <p:sp>
        <p:nvSpPr>
          <p:cNvPr id="606" name="Google Shape;606;p102"/>
          <p:cNvSpPr/>
          <p:nvPr/>
        </p:nvSpPr>
        <p:spPr>
          <a:xfrm>
            <a:off x="5672201" y="1248343"/>
            <a:ext cx="6513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IMDB Output Items</a:t>
            </a:r>
            <a:endParaRPr sz="900" b="1"/>
          </a:p>
        </p:txBody>
      </p:sp>
      <p:sp>
        <p:nvSpPr>
          <p:cNvPr id="607" name="Google Shape;607;p102"/>
          <p:cNvSpPr/>
          <p:nvPr/>
        </p:nvSpPr>
        <p:spPr>
          <a:xfrm>
            <a:off x="6887546" y="1248343"/>
            <a:ext cx="7266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uFill>
                  <a:noFill/>
                </a:uFill>
                <a:hlinkClick r:id="" action="ppaction://hlinkshowjump?jump=nextslide"/>
              </a:rPr>
              <a:t>FOVA Handling</a:t>
            </a:r>
            <a:endParaRPr sz="900" b="1"/>
          </a:p>
        </p:txBody>
      </p:sp>
      <p:sp>
        <p:nvSpPr>
          <p:cNvPr id="608" name="Google Shape;608;p102"/>
          <p:cNvSpPr/>
          <p:nvPr/>
        </p:nvSpPr>
        <p:spPr>
          <a:xfrm>
            <a:off x="8069768" y="1248343"/>
            <a:ext cx="7674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Data Salvation</a:t>
            </a:r>
            <a:endParaRPr sz="900" b="1"/>
          </a:p>
        </p:txBody>
      </p:sp>
      <p:sp>
        <p:nvSpPr>
          <p:cNvPr id="609" name="Google Shape;609;p102"/>
          <p:cNvSpPr/>
          <p:nvPr/>
        </p:nvSpPr>
        <p:spPr>
          <a:xfrm>
            <a:off x="461475" y="3121130"/>
            <a:ext cx="595800" cy="451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Qbrik</a:t>
            </a:r>
            <a:endParaRPr sz="900" b="1"/>
          </a:p>
        </p:txBody>
      </p:sp>
      <p:sp>
        <p:nvSpPr>
          <p:cNvPr id="610" name="Google Shape;610;p102"/>
          <p:cNvSpPr/>
          <p:nvPr/>
        </p:nvSpPr>
        <p:spPr>
          <a:xfrm>
            <a:off x="337575" y="2212055"/>
            <a:ext cx="843600" cy="451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Regular Price</a:t>
            </a:r>
            <a:endParaRPr sz="900" b="1"/>
          </a:p>
        </p:txBody>
      </p:sp>
      <p:sp>
        <p:nvSpPr>
          <p:cNvPr id="611" name="Google Shape;611;p102"/>
          <p:cNvSpPr/>
          <p:nvPr/>
        </p:nvSpPr>
        <p:spPr>
          <a:xfrm>
            <a:off x="3067225" y="2165555"/>
            <a:ext cx="878100" cy="544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b="1"/>
              <a:t>  Rawdata Corrections</a:t>
            </a:r>
            <a:endParaRPr sz="900" b="1"/>
          </a:p>
        </p:txBody>
      </p:sp>
      <p:sp>
        <p:nvSpPr>
          <p:cNvPr id="612" name="Google Shape;612;p102"/>
          <p:cNvSpPr/>
          <p:nvPr/>
        </p:nvSpPr>
        <p:spPr>
          <a:xfrm>
            <a:off x="4334850" y="1879943"/>
            <a:ext cx="8781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b="1"/>
              <a:t>Item Inspection</a:t>
            </a:r>
            <a:endParaRPr sz="900" b="1">
              <a:solidFill>
                <a:schemeClr val="accent5"/>
              </a:solidFill>
            </a:endParaRPr>
          </a:p>
        </p:txBody>
      </p:sp>
      <p:sp>
        <p:nvSpPr>
          <p:cNvPr id="613" name="Google Shape;613;p102"/>
          <p:cNvSpPr/>
          <p:nvPr/>
        </p:nvSpPr>
        <p:spPr>
          <a:xfrm>
            <a:off x="6818625" y="2212055"/>
            <a:ext cx="8229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Rexcoding</a:t>
            </a:r>
            <a:endParaRPr sz="900" b="1"/>
          </a:p>
        </p:txBody>
      </p:sp>
      <p:sp>
        <p:nvSpPr>
          <p:cNvPr id="614" name="Google Shape;614;p102"/>
          <p:cNvSpPr/>
          <p:nvPr/>
        </p:nvSpPr>
        <p:spPr>
          <a:xfrm>
            <a:off x="8014418" y="2212055"/>
            <a:ext cx="8781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Ibenchmark</a:t>
            </a:r>
            <a:endParaRPr sz="900" b="1"/>
          </a:p>
        </p:txBody>
      </p:sp>
      <p:sp>
        <p:nvSpPr>
          <p:cNvPr id="615" name="Google Shape;615;p102"/>
          <p:cNvSpPr/>
          <p:nvPr/>
        </p:nvSpPr>
        <p:spPr>
          <a:xfrm>
            <a:off x="1444775" y="3121130"/>
            <a:ext cx="651300" cy="451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CIG</a:t>
            </a:r>
            <a:endParaRPr sz="900" b="1"/>
          </a:p>
        </p:txBody>
      </p:sp>
      <p:sp>
        <p:nvSpPr>
          <p:cNvPr id="616" name="Google Shape;616;p102"/>
          <p:cNvSpPr/>
          <p:nvPr/>
        </p:nvSpPr>
        <p:spPr>
          <a:xfrm>
            <a:off x="5129692" y="3121130"/>
            <a:ext cx="651300" cy="451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Item Activity</a:t>
            </a:r>
            <a:endParaRPr sz="900" b="1"/>
          </a:p>
        </p:txBody>
      </p:sp>
      <p:sp>
        <p:nvSpPr>
          <p:cNvPr id="617" name="Google Shape;617;p102"/>
          <p:cNvSpPr/>
          <p:nvPr/>
        </p:nvSpPr>
        <p:spPr>
          <a:xfrm>
            <a:off x="2467288" y="3006380"/>
            <a:ext cx="726600" cy="6810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b="1"/>
              <a:t>Baseline</a:t>
            </a:r>
            <a:endParaRPr sz="900" b="1"/>
          </a:p>
        </p:txBody>
      </p:sp>
      <p:sp>
        <p:nvSpPr>
          <p:cNvPr id="618" name="Google Shape;618;p102"/>
          <p:cNvSpPr/>
          <p:nvPr/>
        </p:nvSpPr>
        <p:spPr>
          <a:xfrm>
            <a:off x="6128900" y="3121130"/>
            <a:ext cx="822900" cy="451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NRSP Extraction</a:t>
            </a:r>
            <a:endParaRPr sz="900" b="1"/>
          </a:p>
        </p:txBody>
      </p:sp>
      <p:sp>
        <p:nvSpPr>
          <p:cNvPr id="619" name="Google Shape;619;p102"/>
          <p:cNvSpPr/>
          <p:nvPr/>
        </p:nvSpPr>
        <p:spPr>
          <a:xfrm>
            <a:off x="1529625" y="3828455"/>
            <a:ext cx="6513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Module Totals</a:t>
            </a:r>
            <a:endParaRPr sz="900" b="1"/>
          </a:p>
        </p:txBody>
      </p:sp>
      <p:sp>
        <p:nvSpPr>
          <p:cNvPr id="620" name="Google Shape;620;p102"/>
          <p:cNvSpPr/>
          <p:nvPr/>
        </p:nvSpPr>
        <p:spPr>
          <a:xfrm>
            <a:off x="2411000" y="3828455"/>
            <a:ext cx="7020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Surgery</a:t>
            </a:r>
            <a:endParaRPr sz="900" b="1"/>
          </a:p>
        </p:txBody>
      </p:sp>
      <p:sp>
        <p:nvSpPr>
          <p:cNvPr id="621" name="Google Shape;621;p102"/>
          <p:cNvSpPr/>
          <p:nvPr/>
        </p:nvSpPr>
        <p:spPr>
          <a:xfrm>
            <a:off x="3120499" y="544730"/>
            <a:ext cx="7209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Sample Load</a:t>
            </a:r>
            <a:endParaRPr sz="900" b="1"/>
          </a:p>
        </p:txBody>
      </p:sp>
      <p:sp>
        <p:nvSpPr>
          <p:cNvPr id="622" name="Google Shape;622;p102"/>
          <p:cNvSpPr/>
          <p:nvPr/>
        </p:nvSpPr>
        <p:spPr>
          <a:xfrm>
            <a:off x="3722550" y="478305"/>
            <a:ext cx="136800" cy="1629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9900"/>
              </a:highlight>
            </a:endParaRPr>
          </a:p>
        </p:txBody>
      </p:sp>
      <p:sp>
        <p:nvSpPr>
          <p:cNvPr id="623" name="Google Shape;623;p102"/>
          <p:cNvSpPr/>
          <p:nvPr/>
        </p:nvSpPr>
        <p:spPr>
          <a:xfrm>
            <a:off x="8758600" y="1164380"/>
            <a:ext cx="136800" cy="162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102"/>
          <p:cNvSpPr/>
          <p:nvPr/>
        </p:nvSpPr>
        <p:spPr>
          <a:xfrm>
            <a:off x="3305750" y="3828455"/>
            <a:ext cx="1111500" cy="451500"/>
          </a:xfrm>
          <a:prstGeom prst="rect">
            <a:avLst/>
          </a:prstGeom>
          <a:solidFill>
            <a:srgbClr val="D9D2E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LDI_Preprocess</a:t>
            </a:r>
            <a:endParaRPr sz="900" b="1"/>
          </a:p>
        </p:txBody>
      </p:sp>
      <p:sp>
        <p:nvSpPr>
          <p:cNvPr id="625" name="Google Shape;625;p102"/>
          <p:cNvSpPr/>
          <p:nvPr/>
        </p:nvSpPr>
        <p:spPr>
          <a:xfrm>
            <a:off x="4656575" y="3828455"/>
            <a:ext cx="878100" cy="451500"/>
          </a:xfrm>
          <a:prstGeom prst="rect">
            <a:avLst/>
          </a:prstGeom>
          <a:solidFill>
            <a:srgbClr val="D9D2E9"/>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FOVA parameters</a:t>
            </a:r>
            <a:endParaRPr sz="900" b="1">
              <a:solidFill>
                <a:srgbClr val="DC0015"/>
              </a:solidFill>
            </a:endParaRPr>
          </a:p>
        </p:txBody>
      </p:sp>
      <p:sp>
        <p:nvSpPr>
          <p:cNvPr id="626" name="Google Shape;626;p102"/>
          <p:cNvSpPr/>
          <p:nvPr/>
        </p:nvSpPr>
        <p:spPr>
          <a:xfrm>
            <a:off x="5774018" y="3828455"/>
            <a:ext cx="1091700" cy="4515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Xcodes Last received Date</a:t>
            </a:r>
            <a:endParaRPr sz="900" b="1"/>
          </a:p>
        </p:txBody>
      </p:sp>
      <p:sp>
        <p:nvSpPr>
          <p:cNvPr id="627" name="Google Shape;627;p102"/>
          <p:cNvSpPr/>
          <p:nvPr/>
        </p:nvSpPr>
        <p:spPr>
          <a:xfrm>
            <a:off x="4065022" y="544730"/>
            <a:ext cx="8781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PBD load from MADRAS</a:t>
            </a:r>
            <a:endParaRPr sz="900" b="1"/>
          </a:p>
        </p:txBody>
      </p:sp>
      <p:sp>
        <p:nvSpPr>
          <p:cNvPr id="628" name="Google Shape;628;p102"/>
          <p:cNvSpPr/>
          <p:nvPr/>
        </p:nvSpPr>
        <p:spPr>
          <a:xfrm>
            <a:off x="4857950" y="478305"/>
            <a:ext cx="136800" cy="162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102"/>
          <p:cNvSpPr/>
          <p:nvPr/>
        </p:nvSpPr>
        <p:spPr>
          <a:xfrm>
            <a:off x="8028400" y="1201655"/>
            <a:ext cx="136800" cy="1629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9900"/>
              </a:highlight>
            </a:endParaRPr>
          </a:p>
        </p:txBody>
      </p:sp>
      <p:sp>
        <p:nvSpPr>
          <p:cNvPr id="630" name="Google Shape;630;p102"/>
          <p:cNvSpPr/>
          <p:nvPr/>
        </p:nvSpPr>
        <p:spPr>
          <a:xfrm>
            <a:off x="7396500" y="3121130"/>
            <a:ext cx="13620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Audit Store Usability</a:t>
            </a:r>
            <a:endParaRPr sz="900" b="1"/>
          </a:p>
        </p:txBody>
      </p:sp>
      <p:sp>
        <p:nvSpPr>
          <p:cNvPr id="631" name="Google Shape;631;p102"/>
          <p:cNvSpPr/>
          <p:nvPr/>
        </p:nvSpPr>
        <p:spPr>
          <a:xfrm>
            <a:off x="5166750" y="544730"/>
            <a:ext cx="1111500" cy="4515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Parameter values &amp; Filter management</a:t>
            </a:r>
            <a:endParaRPr sz="900" b="1"/>
          </a:p>
        </p:txBody>
      </p:sp>
      <p:sp>
        <p:nvSpPr>
          <p:cNvPr id="632" name="Google Shape;632;p102"/>
          <p:cNvSpPr/>
          <p:nvPr/>
        </p:nvSpPr>
        <p:spPr>
          <a:xfrm>
            <a:off x="476650" y="3828455"/>
            <a:ext cx="8229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Job Class &amp; Priority Monitor</a:t>
            </a:r>
            <a:endParaRPr sz="900" b="1"/>
          </a:p>
        </p:txBody>
      </p:sp>
      <p:sp>
        <p:nvSpPr>
          <p:cNvPr id="633" name="Google Shape;633;p102"/>
          <p:cNvSpPr txBox="1"/>
          <p:nvPr/>
        </p:nvSpPr>
        <p:spPr>
          <a:xfrm>
            <a:off x="464425" y="4550030"/>
            <a:ext cx="8367900" cy="18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latin typeface="Open Sans"/>
                <a:ea typeface="Open Sans"/>
                <a:cs typeface="Open Sans"/>
                <a:sym typeface="Open Sans"/>
              </a:rPr>
              <a:t>Process in BAU          Production job           Processes which should run during the weekend            Connected Processes (Multicolor)</a:t>
            </a:r>
            <a:endParaRPr sz="1000">
              <a:latin typeface="Open Sans"/>
              <a:ea typeface="Open Sans"/>
              <a:cs typeface="Open Sans"/>
              <a:sym typeface="Open Sans"/>
            </a:endParaRPr>
          </a:p>
        </p:txBody>
      </p:sp>
      <p:sp>
        <p:nvSpPr>
          <p:cNvPr id="634" name="Google Shape;634;p102"/>
          <p:cNvSpPr/>
          <p:nvPr/>
        </p:nvSpPr>
        <p:spPr>
          <a:xfrm>
            <a:off x="335958" y="4616905"/>
            <a:ext cx="172500" cy="144900"/>
          </a:xfrm>
          <a:prstGeom prst="ellipse">
            <a:avLst/>
          </a:prstGeom>
          <a:solidFill>
            <a:srgbClr val="B6D7A8"/>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800" b="1"/>
          </a:p>
        </p:txBody>
      </p:sp>
      <p:sp>
        <p:nvSpPr>
          <p:cNvPr id="635" name="Google Shape;635;p102"/>
          <p:cNvSpPr/>
          <p:nvPr/>
        </p:nvSpPr>
        <p:spPr>
          <a:xfrm>
            <a:off x="1556783" y="4616905"/>
            <a:ext cx="172500" cy="144900"/>
          </a:xfrm>
          <a:prstGeom prst="ellipse">
            <a:avLst/>
          </a:prstGeom>
          <a:solidFill>
            <a:srgbClr val="C9DAF8"/>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800" b="1"/>
          </a:p>
        </p:txBody>
      </p:sp>
      <p:sp>
        <p:nvSpPr>
          <p:cNvPr id="636" name="Google Shape;636;p102"/>
          <p:cNvSpPr/>
          <p:nvPr/>
        </p:nvSpPr>
        <p:spPr>
          <a:xfrm>
            <a:off x="2777608" y="4616905"/>
            <a:ext cx="172500" cy="144900"/>
          </a:xfrm>
          <a:prstGeom prst="ellipse">
            <a:avLst/>
          </a:prstGeom>
          <a:solidFill>
            <a:srgbClr val="D9D2E9"/>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800" b="1"/>
          </a:p>
        </p:txBody>
      </p:sp>
      <p:cxnSp>
        <p:nvCxnSpPr>
          <p:cNvPr id="637" name="Google Shape;637;p102"/>
          <p:cNvCxnSpPr>
            <a:stCxn id="602" idx="3"/>
            <a:endCxn id="603" idx="1"/>
          </p:cNvCxnSpPr>
          <p:nvPr/>
        </p:nvCxnSpPr>
        <p:spPr>
          <a:xfrm>
            <a:off x="1638875" y="1474093"/>
            <a:ext cx="599700" cy="0"/>
          </a:xfrm>
          <a:prstGeom prst="straightConnector1">
            <a:avLst/>
          </a:prstGeom>
          <a:noFill/>
          <a:ln w="9525" cap="flat" cmpd="sng">
            <a:solidFill>
              <a:schemeClr val="dk2"/>
            </a:solidFill>
            <a:prstDash val="solid"/>
            <a:round/>
            <a:headEnd type="none" w="med" len="med"/>
            <a:tailEnd type="triangle" w="med" len="med"/>
          </a:ln>
        </p:spPr>
      </p:cxnSp>
      <p:cxnSp>
        <p:nvCxnSpPr>
          <p:cNvPr id="638" name="Google Shape;638;p102"/>
          <p:cNvCxnSpPr>
            <a:endCxn id="604" idx="1"/>
          </p:cNvCxnSpPr>
          <p:nvPr/>
        </p:nvCxnSpPr>
        <p:spPr>
          <a:xfrm>
            <a:off x="2817583" y="1474093"/>
            <a:ext cx="520200" cy="0"/>
          </a:xfrm>
          <a:prstGeom prst="straightConnector1">
            <a:avLst/>
          </a:prstGeom>
          <a:noFill/>
          <a:ln w="9525" cap="flat" cmpd="sng">
            <a:solidFill>
              <a:schemeClr val="dk2"/>
            </a:solidFill>
            <a:prstDash val="solid"/>
            <a:round/>
            <a:headEnd type="none" w="med" len="med"/>
            <a:tailEnd type="triangle" w="med" len="med"/>
          </a:ln>
        </p:spPr>
      </p:cxnSp>
      <p:cxnSp>
        <p:nvCxnSpPr>
          <p:cNvPr id="639" name="Google Shape;639;p102"/>
          <p:cNvCxnSpPr>
            <a:stCxn id="604" idx="3"/>
            <a:endCxn id="605" idx="1"/>
          </p:cNvCxnSpPr>
          <p:nvPr/>
        </p:nvCxnSpPr>
        <p:spPr>
          <a:xfrm>
            <a:off x="4064383" y="1474093"/>
            <a:ext cx="564000" cy="0"/>
          </a:xfrm>
          <a:prstGeom prst="straightConnector1">
            <a:avLst/>
          </a:prstGeom>
          <a:noFill/>
          <a:ln w="9525" cap="flat" cmpd="sng">
            <a:solidFill>
              <a:schemeClr val="dk2"/>
            </a:solidFill>
            <a:prstDash val="solid"/>
            <a:round/>
            <a:headEnd type="none" w="med" len="med"/>
            <a:tailEnd type="triangle" w="med" len="med"/>
          </a:ln>
        </p:spPr>
      </p:cxnSp>
      <p:cxnSp>
        <p:nvCxnSpPr>
          <p:cNvPr id="640" name="Google Shape;640;p102"/>
          <p:cNvCxnSpPr>
            <a:stCxn id="605" idx="3"/>
          </p:cNvCxnSpPr>
          <p:nvPr/>
        </p:nvCxnSpPr>
        <p:spPr>
          <a:xfrm>
            <a:off x="5224251" y="1474093"/>
            <a:ext cx="443100" cy="0"/>
          </a:xfrm>
          <a:prstGeom prst="straightConnector1">
            <a:avLst/>
          </a:prstGeom>
          <a:noFill/>
          <a:ln w="9525" cap="flat" cmpd="sng">
            <a:solidFill>
              <a:schemeClr val="dk2"/>
            </a:solidFill>
            <a:prstDash val="solid"/>
            <a:round/>
            <a:headEnd type="none" w="med" len="med"/>
            <a:tailEnd type="triangle" w="med" len="med"/>
          </a:ln>
        </p:spPr>
      </p:cxnSp>
      <p:cxnSp>
        <p:nvCxnSpPr>
          <p:cNvPr id="641" name="Google Shape;641;p102"/>
          <p:cNvCxnSpPr>
            <a:stCxn id="606" idx="3"/>
            <a:endCxn id="607" idx="1"/>
          </p:cNvCxnSpPr>
          <p:nvPr/>
        </p:nvCxnSpPr>
        <p:spPr>
          <a:xfrm>
            <a:off x="6323501" y="1474093"/>
            <a:ext cx="564000" cy="0"/>
          </a:xfrm>
          <a:prstGeom prst="straightConnector1">
            <a:avLst/>
          </a:prstGeom>
          <a:noFill/>
          <a:ln w="9525" cap="flat" cmpd="sng">
            <a:solidFill>
              <a:schemeClr val="dk2"/>
            </a:solidFill>
            <a:prstDash val="solid"/>
            <a:round/>
            <a:headEnd type="none" w="med" len="med"/>
            <a:tailEnd type="triangle" w="med" len="med"/>
          </a:ln>
        </p:spPr>
      </p:cxnSp>
      <p:cxnSp>
        <p:nvCxnSpPr>
          <p:cNvPr id="642" name="Google Shape;642;p102"/>
          <p:cNvCxnSpPr>
            <a:stCxn id="607" idx="3"/>
            <a:endCxn id="608" idx="1"/>
          </p:cNvCxnSpPr>
          <p:nvPr/>
        </p:nvCxnSpPr>
        <p:spPr>
          <a:xfrm>
            <a:off x="7614146" y="1474093"/>
            <a:ext cx="455700" cy="0"/>
          </a:xfrm>
          <a:prstGeom prst="straightConnector1">
            <a:avLst/>
          </a:prstGeom>
          <a:noFill/>
          <a:ln w="9525" cap="flat" cmpd="sng">
            <a:solidFill>
              <a:schemeClr val="dk2"/>
            </a:solidFill>
            <a:prstDash val="solid"/>
            <a:round/>
            <a:headEnd type="none" w="med" len="med"/>
            <a:tailEnd type="triangle" w="med" len="med"/>
          </a:ln>
        </p:spPr>
      </p:cxnSp>
      <p:cxnSp>
        <p:nvCxnSpPr>
          <p:cNvPr id="643" name="Google Shape;643;p102"/>
          <p:cNvCxnSpPr>
            <a:stCxn id="608" idx="2"/>
            <a:endCxn id="614" idx="0"/>
          </p:cNvCxnSpPr>
          <p:nvPr/>
        </p:nvCxnSpPr>
        <p:spPr>
          <a:xfrm>
            <a:off x="8453468" y="1699843"/>
            <a:ext cx="0" cy="512100"/>
          </a:xfrm>
          <a:prstGeom prst="straightConnector1">
            <a:avLst/>
          </a:prstGeom>
          <a:noFill/>
          <a:ln w="9525" cap="flat" cmpd="sng">
            <a:solidFill>
              <a:schemeClr val="dk2"/>
            </a:solidFill>
            <a:prstDash val="solid"/>
            <a:round/>
            <a:headEnd type="none" w="med" len="med"/>
            <a:tailEnd type="triangle" w="med" len="med"/>
          </a:ln>
        </p:spPr>
      </p:cxnSp>
      <p:cxnSp>
        <p:nvCxnSpPr>
          <p:cNvPr id="644" name="Google Shape;644;p102"/>
          <p:cNvCxnSpPr>
            <a:stCxn id="614" idx="1"/>
            <a:endCxn id="613" idx="3"/>
          </p:cNvCxnSpPr>
          <p:nvPr/>
        </p:nvCxnSpPr>
        <p:spPr>
          <a:xfrm rot="10800000">
            <a:off x="7641518" y="2437805"/>
            <a:ext cx="372900" cy="0"/>
          </a:xfrm>
          <a:prstGeom prst="straightConnector1">
            <a:avLst/>
          </a:prstGeom>
          <a:noFill/>
          <a:ln w="9525" cap="flat" cmpd="sng">
            <a:solidFill>
              <a:schemeClr val="dk2"/>
            </a:solidFill>
            <a:prstDash val="solid"/>
            <a:round/>
            <a:headEnd type="none" w="med" len="med"/>
            <a:tailEnd type="triangle" w="med" len="med"/>
          </a:ln>
        </p:spPr>
      </p:cxnSp>
      <p:cxnSp>
        <p:nvCxnSpPr>
          <p:cNvPr id="645" name="Google Shape;645;p102"/>
          <p:cNvCxnSpPr>
            <a:stCxn id="613" idx="1"/>
            <a:endCxn id="646" idx="3"/>
          </p:cNvCxnSpPr>
          <p:nvPr/>
        </p:nvCxnSpPr>
        <p:spPr>
          <a:xfrm rot="10800000">
            <a:off x="6480525" y="2437805"/>
            <a:ext cx="338100" cy="0"/>
          </a:xfrm>
          <a:prstGeom prst="straightConnector1">
            <a:avLst/>
          </a:prstGeom>
          <a:noFill/>
          <a:ln w="9525" cap="flat" cmpd="sng">
            <a:solidFill>
              <a:schemeClr val="dk2"/>
            </a:solidFill>
            <a:prstDash val="solid"/>
            <a:round/>
            <a:headEnd type="none" w="med" len="med"/>
            <a:tailEnd type="triangle" w="med" len="med"/>
          </a:ln>
        </p:spPr>
      </p:cxnSp>
      <p:cxnSp>
        <p:nvCxnSpPr>
          <p:cNvPr id="647" name="Google Shape;647;p102"/>
          <p:cNvCxnSpPr>
            <a:stCxn id="612" idx="1"/>
            <a:endCxn id="611" idx="3"/>
          </p:cNvCxnSpPr>
          <p:nvPr/>
        </p:nvCxnSpPr>
        <p:spPr>
          <a:xfrm flipH="1">
            <a:off x="3945450" y="2105693"/>
            <a:ext cx="389400" cy="332100"/>
          </a:xfrm>
          <a:prstGeom prst="straightConnector1">
            <a:avLst/>
          </a:prstGeom>
          <a:noFill/>
          <a:ln w="9525" cap="flat" cmpd="sng">
            <a:solidFill>
              <a:schemeClr val="dk2"/>
            </a:solidFill>
            <a:prstDash val="solid"/>
            <a:round/>
            <a:headEnd type="none" w="med" len="med"/>
            <a:tailEnd type="triangle" w="med" len="med"/>
          </a:ln>
        </p:spPr>
      </p:cxnSp>
      <p:cxnSp>
        <p:nvCxnSpPr>
          <p:cNvPr id="648" name="Google Shape;648;p102"/>
          <p:cNvCxnSpPr>
            <a:stCxn id="611" idx="1"/>
            <a:endCxn id="649" idx="3"/>
          </p:cNvCxnSpPr>
          <p:nvPr/>
        </p:nvCxnSpPr>
        <p:spPr>
          <a:xfrm rot="10800000">
            <a:off x="2739325" y="2437805"/>
            <a:ext cx="327900" cy="0"/>
          </a:xfrm>
          <a:prstGeom prst="straightConnector1">
            <a:avLst/>
          </a:prstGeom>
          <a:noFill/>
          <a:ln w="9525" cap="flat" cmpd="sng">
            <a:solidFill>
              <a:schemeClr val="dk2"/>
            </a:solidFill>
            <a:prstDash val="solid"/>
            <a:round/>
            <a:headEnd type="none" w="med" len="med"/>
            <a:tailEnd type="triangle" w="med" len="med"/>
          </a:ln>
        </p:spPr>
      </p:cxnSp>
      <p:cxnSp>
        <p:nvCxnSpPr>
          <p:cNvPr id="650" name="Google Shape;650;p102"/>
          <p:cNvCxnSpPr>
            <a:stCxn id="615" idx="3"/>
            <a:endCxn id="617" idx="1"/>
          </p:cNvCxnSpPr>
          <p:nvPr/>
        </p:nvCxnSpPr>
        <p:spPr>
          <a:xfrm>
            <a:off x="2096075" y="3346880"/>
            <a:ext cx="371100" cy="0"/>
          </a:xfrm>
          <a:prstGeom prst="straightConnector1">
            <a:avLst/>
          </a:prstGeom>
          <a:noFill/>
          <a:ln w="9525" cap="flat" cmpd="sng">
            <a:solidFill>
              <a:schemeClr val="dk2"/>
            </a:solidFill>
            <a:prstDash val="solid"/>
            <a:round/>
            <a:headEnd type="none" w="med" len="med"/>
            <a:tailEnd type="triangle" w="med" len="med"/>
          </a:ln>
        </p:spPr>
      </p:cxnSp>
      <p:cxnSp>
        <p:nvCxnSpPr>
          <p:cNvPr id="651" name="Google Shape;651;p102"/>
          <p:cNvCxnSpPr>
            <a:stCxn id="617" idx="3"/>
            <a:endCxn id="652" idx="1"/>
          </p:cNvCxnSpPr>
          <p:nvPr/>
        </p:nvCxnSpPr>
        <p:spPr>
          <a:xfrm>
            <a:off x="3193888" y="3346880"/>
            <a:ext cx="420300" cy="0"/>
          </a:xfrm>
          <a:prstGeom prst="straightConnector1">
            <a:avLst/>
          </a:prstGeom>
          <a:noFill/>
          <a:ln w="9525" cap="flat" cmpd="sng">
            <a:solidFill>
              <a:schemeClr val="dk2"/>
            </a:solidFill>
            <a:prstDash val="solid"/>
            <a:round/>
            <a:headEnd type="none" w="med" len="med"/>
            <a:tailEnd type="triangle" w="med" len="med"/>
          </a:ln>
        </p:spPr>
      </p:cxnSp>
      <p:cxnSp>
        <p:nvCxnSpPr>
          <p:cNvPr id="653" name="Google Shape;653;p102"/>
          <p:cNvCxnSpPr>
            <a:stCxn id="616" idx="3"/>
            <a:endCxn id="618" idx="1"/>
          </p:cNvCxnSpPr>
          <p:nvPr/>
        </p:nvCxnSpPr>
        <p:spPr>
          <a:xfrm>
            <a:off x="5780992" y="3346880"/>
            <a:ext cx="348000" cy="0"/>
          </a:xfrm>
          <a:prstGeom prst="straightConnector1">
            <a:avLst/>
          </a:prstGeom>
          <a:noFill/>
          <a:ln w="9525" cap="flat" cmpd="sng">
            <a:solidFill>
              <a:schemeClr val="dk2"/>
            </a:solidFill>
            <a:prstDash val="solid"/>
            <a:round/>
            <a:headEnd type="none" w="med" len="med"/>
            <a:tailEnd type="triangle" w="med" len="med"/>
          </a:ln>
        </p:spPr>
      </p:cxnSp>
      <p:cxnSp>
        <p:nvCxnSpPr>
          <p:cNvPr id="654" name="Google Shape;654;p102"/>
          <p:cNvCxnSpPr>
            <a:stCxn id="618" idx="3"/>
            <a:endCxn id="630" idx="1"/>
          </p:cNvCxnSpPr>
          <p:nvPr/>
        </p:nvCxnSpPr>
        <p:spPr>
          <a:xfrm>
            <a:off x="6951800" y="3346880"/>
            <a:ext cx="444600" cy="0"/>
          </a:xfrm>
          <a:prstGeom prst="straightConnector1">
            <a:avLst/>
          </a:prstGeom>
          <a:noFill/>
          <a:ln w="9525" cap="flat" cmpd="sng">
            <a:solidFill>
              <a:schemeClr val="dk2"/>
            </a:solidFill>
            <a:prstDash val="solid"/>
            <a:round/>
            <a:headEnd type="none" w="med" len="med"/>
            <a:tailEnd type="triangle" w="med" len="med"/>
          </a:ln>
        </p:spPr>
      </p:cxnSp>
      <p:sp>
        <p:nvSpPr>
          <p:cNvPr id="655" name="Google Shape;655;p102"/>
          <p:cNvSpPr/>
          <p:nvPr/>
        </p:nvSpPr>
        <p:spPr>
          <a:xfrm>
            <a:off x="5978008" y="4616905"/>
            <a:ext cx="172500" cy="144900"/>
          </a:xfrm>
          <a:prstGeom prst="ellipse">
            <a:avLst/>
          </a:prstGeom>
          <a:noFill/>
          <a:ln w="9525"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a:highlight>
                <a:srgbClr val="FF9900"/>
              </a:highlight>
            </a:endParaRPr>
          </a:p>
        </p:txBody>
      </p:sp>
      <p:sp>
        <p:nvSpPr>
          <p:cNvPr id="656" name="Google Shape;656;p102"/>
          <p:cNvSpPr/>
          <p:nvPr/>
        </p:nvSpPr>
        <p:spPr>
          <a:xfrm>
            <a:off x="6450250" y="544730"/>
            <a:ext cx="1111500" cy="451500"/>
          </a:xfrm>
          <a:prstGeom prst="rect">
            <a:avLst/>
          </a:prstGeom>
          <a:solidFill>
            <a:srgbClr val="B6D7A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Stores &amp; Batch management</a:t>
            </a:r>
            <a:endParaRPr sz="900" b="1"/>
          </a:p>
        </p:txBody>
      </p:sp>
      <p:sp>
        <p:nvSpPr>
          <p:cNvPr id="646" name="Google Shape;646;p102"/>
          <p:cNvSpPr/>
          <p:nvPr/>
        </p:nvSpPr>
        <p:spPr>
          <a:xfrm>
            <a:off x="5602475" y="2212055"/>
            <a:ext cx="8781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b="1"/>
              <a:t>Superstore Adjustment</a:t>
            </a:r>
            <a:endParaRPr sz="900" b="1">
              <a:solidFill>
                <a:schemeClr val="accent5"/>
              </a:solidFill>
            </a:endParaRPr>
          </a:p>
        </p:txBody>
      </p:sp>
      <p:sp>
        <p:nvSpPr>
          <p:cNvPr id="657" name="Google Shape;657;p102"/>
          <p:cNvSpPr/>
          <p:nvPr/>
        </p:nvSpPr>
        <p:spPr>
          <a:xfrm>
            <a:off x="4334850" y="2489543"/>
            <a:ext cx="8781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900" b="1"/>
              <a:t>Variable Weight Price Validation</a:t>
            </a:r>
            <a:endParaRPr sz="900" b="1">
              <a:solidFill>
                <a:schemeClr val="accent5"/>
              </a:solidFill>
            </a:endParaRPr>
          </a:p>
        </p:txBody>
      </p:sp>
      <p:cxnSp>
        <p:nvCxnSpPr>
          <p:cNvPr id="658" name="Google Shape;658;p102"/>
          <p:cNvCxnSpPr>
            <a:stCxn id="657" idx="1"/>
            <a:endCxn id="611" idx="3"/>
          </p:cNvCxnSpPr>
          <p:nvPr/>
        </p:nvCxnSpPr>
        <p:spPr>
          <a:xfrm rot="10800000">
            <a:off x="3945450" y="2437793"/>
            <a:ext cx="389400" cy="277500"/>
          </a:xfrm>
          <a:prstGeom prst="straightConnector1">
            <a:avLst/>
          </a:prstGeom>
          <a:noFill/>
          <a:ln w="9525" cap="flat" cmpd="sng">
            <a:solidFill>
              <a:schemeClr val="dk2"/>
            </a:solidFill>
            <a:prstDash val="solid"/>
            <a:round/>
            <a:headEnd type="none" w="med" len="med"/>
            <a:tailEnd type="triangle" w="med" len="med"/>
          </a:ln>
        </p:spPr>
      </p:cxnSp>
      <p:cxnSp>
        <p:nvCxnSpPr>
          <p:cNvPr id="659" name="Google Shape;659;p102"/>
          <p:cNvCxnSpPr>
            <a:stCxn id="646" idx="1"/>
            <a:endCxn id="612" idx="3"/>
          </p:cNvCxnSpPr>
          <p:nvPr/>
        </p:nvCxnSpPr>
        <p:spPr>
          <a:xfrm rot="10800000">
            <a:off x="5213075" y="2105705"/>
            <a:ext cx="389400" cy="332100"/>
          </a:xfrm>
          <a:prstGeom prst="straightConnector1">
            <a:avLst/>
          </a:prstGeom>
          <a:noFill/>
          <a:ln w="9525" cap="flat" cmpd="sng">
            <a:solidFill>
              <a:schemeClr val="dk2"/>
            </a:solidFill>
            <a:prstDash val="solid"/>
            <a:round/>
            <a:headEnd type="none" w="med" len="med"/>
            <a:tailEnd type="triangle" w="med" len="med"/>
          </a:ln>
        </p:spPr>
      </p:cxnSp>
      <p:cxnSp>
        <p:nvCxnSpPr>
          <p:cNvPr id="660" name="Google Shape;660;p102"/>
          <p:cNvCxnSpPr>
            <a:stCxn id="646" idx="1"/>
            <a:endCxn id="657" idx="3"/>
          </p:cNvCxnSpPr>
          <p:nvPr/>
        </p:nvCxnSpPr>
        <p:spPr>
          <a:xfrm flipH="1">
            <a:off x="5213075" y="2437805"/>
            <a:ext cx="389400" cy="277500"/>
          </a:xfrm>
          <a:prstGeom prst="straightConnector1">
            <a:avLst/>
          </a:prstGeom>
          <a:noFill/>
          <a:ln w="9525" cap="flat" cmpd="sng">
            <a:solidFill>
              <a:schemeClr val="dk2"/>
            </a:solidFill>
            <a:prstDash val="solid"/>
            <a:round/>
            <a:headEnd type="none" w="med" len="med"/>
            <a:tailEnd type="triangle" w="med" len="med"/>
          </a:ln>
        </p:spPr>
      </p:cxnSp>
      <p:sp>
        <p:nvSpPr>
          <p:cNvPr id="649" name="Google Shape;649;p102"/>
          <p:cNvSpPr/>
          <p:nvPr/>
        </p:nvSpPr>
        <p:spPr>
          <a:xfrm>
            <a:off x="1556775" y="2212055"/>
            <a:ext cx="1182600" cy="451500"/>
          </a:xfrm>
          <a:prstGeom prst="rect">
            <a:avLst/>
          </a:prstGeom>
          <a:solidFill>
            <a:srgbClr val="B6D7A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900" b="1"/>
              <a:t>Shelfbenchmark</a:t>
            </a:r>
            <a:endParaRPr sz="900" b="1"/>
          </a:p>
        </p:txBody>
      </p:sp>
      <p:cxnSp>
        <p:nvCxnSpPr>
          <p:cNvPr id="661" name="Google Shape;661;p102"/>
          <p:cNvCxnSpPr>
            <a:stCxn id="649" idx="1"/>
            <a:endCxn id="610" idx="3"/>
          </p:cNvCxnSpPr>
          <p:nvPr/>
        </p:nvCxnSpPr>
        <p:spPr>
          <a:xfrm rot="10800000">
            <a:off x="1181175" y="2437805"/>
            <a:ext cx="375600" cy="0"/>
          </a:xfrm>
          <a:prstGeom prst="straightConnector1">
            <a:avLst/>
          </a:prstGeom>
          <a:noFill/>
          <a:ln w="9525" cap="flat" cmpd="sng">
            <a:solidFill>
              <a:schemeClr val="dk2"/>
            </a:solidFill>
            <a:prstDash val="solid"/>
            <a:round/>
            <a:headEnd type="none" w="med" len="med"/>
            <a:tailEnd type="triangle" w="med" len="med"/>
          </a:ln>
        </p:spPr>
      </p:cxnSp>
      <p:cxnSp>
        <p:nvCxnSpPr>
          <p:cNvPr id="662" name="Google Shape;662;p102"/>
          <p:cNvCxnSpPr>
            <a:stCxn id="610" idx="2"/>
            <a:endCxn id="609" idx="0"/>
          </p:cNvCxnSpPr>
          <p:nvPr/>
        </p:nvCxnSpPr>
        <p:spPr>
          <a:xfrm>
            <a:off x="759375" y="2663555"/>
            <a:ext cx="0" cy="457500"/>
          </a:xfrm>
          <a:prstGeom prst="straightConnector1">
            <a:avLst/>
          </a:prstGeom>
          <a:noFill/>
          <a:ln w="9525" cap="flat" cmpd="sng">
            <a:solidFill>
              <a:schemeClr val="dk2"/>
            </a:solidFill>
            <a:prstDash val="solid"/>
            <a:round/>
            <a:headEnd type="none" w="med" len="med"/>
            <a:tailEnd type="triangle" w="med" len="med"/>
          </a:ln>
        </p:spPr>
      </p:cxnSp>
      <p:cxnSp>
        <p:nvCxnSpPr>
          <p:cNvPr id="663" name="Google Shape;663;p102"/>
          <p:cNvCxnSpPr>
            <a:stCxn id="609" idx="3"/>
            <a:endCxn id="615" idx="1"/>
          </p:cNvCxnSpPr>
          <p:nvPr/>
        </p:nvCxnSpPr>
        <p:spPr>
          <a:xfrm>
            <a:off x="1057275" y="3346880"/>
            <a:ext cx="387600" cy="0"/>
          </a:xfrm>
          <a:prstGeom prst="straightConnector1">
            <a:avLst/>
          </a:prstGeom>
          <a:noFill/>
          <a:ln w="9525" cap="flat" cmpd="sng">
            <a:solidFill>
              <a:schemeClr val="dk2"/>
            </a:solidFill>
            <a:prstDash val="solid"/>
            <a:round/>
            <a:headEnd type="none" w="med" len="med"/>
            <a:tailEnd type="triangle" w="med" len="med"/>
          </a:ln>
        </p:spPr>
      </p:cxnSp>
      <p:sp>
        <p:nvSpPr>
          <p:cNvPr id="652" name="Google Shape;652;p102"/>
          <p:cNvSpPr/>
          <p:nvPr/>
        </p:nvSpPr>
        <p:spPr>
          <a:xfrm>
            <a:off x="3614175" y="3121130"/>
            <a:ext cx="1182600" cy="451500"/>
          </a:xfrm>
          <a:prstGeom prst="rect">
            <a:avLst/>
          </a:prstGeom>
          <a:solidFill>
            <a:srgbClr val="C9DAF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Shelfspace Treatment</a:t>
            </a:r>
            <a:endParaRPr sz="900" b="1"/>
          </a:p>
        </p:txBody>
      </p:sp>
      <p:cxnSp>
        <p:nvCxnSpPr>
          <p:cNvPr id="664" name="Google Shape;664;p102"/>
          <p:cNvCxnSpPr>
            <a:stCxn id="652" idx="3"/>
            <a:endCxn id="616" idx="1"/>
          </p:cNvCxnSpPr>
          <p:nvPr/>
        </p:nvCxnSpPr>
        <p:spPr>
          <a:xfrm>
            <a:off x="4796775" y="3346880"/>
            <a:ext cx="333000" cy="0"/>
          </a:xfrm>
          <a:prstGeom prst="straightConnector1">
            <a:avLst/>
          </a:prstGeom>
          <a:noFill/>
          <a:ln w="9525" cap="flat" cmpd="sng">
            <a:solidFill>
              <a:schemeClr val="dk2"/>
            </a:solidFill>
            <a:prstDash val="solid"/>
            <a:round/>
            <a:headEnd type="none" w="med" len="med"/>
            <a:tailEnd type="triangle" w="med" len="med"/>
          </a:ln>
        </p:spPr>
      </p:cxnSp>
      <p:sp>
        <p:nvSpPr>
          <p:cNvPr id="665" name="Google Shape;665;p102"/>
          <p:cNvSpPr/>
          <p:nvPr/>
        </p:nvSpPr>
        <p:spPr>
          <a:xfrm>
            <a:off x="4560750" y="1164105"/>
            <a:ext cx="136800" cy="162900"/>
          </a:xfrm>
          <a:prstGeom prst="ellipse">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9900"/>
              </a:highlight>
            </a:endParaRPr>
          </a:p>
        </p:txBody>
      </p:sp>
      <p:sp>
        <p:nvSpPr>
          <p:cNvPr id="666" name="Google Shape;666;p102"/>
          <p:cNvSpPr/>
          <p:nvPr/>
        </p:nvSpPr>
        <p:spPr>
          <a:xfrm>
            <a:off x="5475150" y="3754905"/>
            <a:ext cx="136800" cy="162900"/>
          </a:xfrm>
          <a:prstGeom prst="ellipse">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9900"/>
              </a:highlight>
            </a:endParaRPr>
          </a:p>
        </p:txBody>
      </p:sp>
      <p:sp>
        <p:nvSpPr>
          <p:cNvPr id="667" name="Google Shape;667;p102"/>
          <p:cNvSpPr/>
          <p:nvPr/>
        </p:nvSpPr>
        <p:spPr>
          <a:xfrm>
            <a:off x="3189150" y="3754905"/>
            <a:ext cx="136800" cy="162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9900"/>
              </a:highlight>
            </a:endParaRPr>
          </a:p>
        </p:txBody>
      </p:sp>
      <p:sp>
        <p:nvSpPr>
          <p:cNvPr id="668" name="Google Shape;668;p102"/>
          <p:cNvSpPr/>
          <p:nvPr/>
        </p:nvSpPr>
        <p:spPr>
          <a:xfrm>
            <a:off x="4255950" y="1773705"/>
            <a:ext cx="136800" cy="162900"/>
          </a:xfrm>
          <a:prstGeom prst="ellipse">
            <a:avLst/>
          </a:prstGeom>
          <a:solidFill>
            <a:srgbClr val="0000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highlight>
                <a:srgbClr val="FF9900"/>
              </a:highlight>
            </a:endParaRPr>
          </a:p>
        </p:txBody>
      </p:sp>
      <p:sp>
        <p:nvSpPr>
          <p:cNvPr id="669" name="Google Shape;669;p102"/>
          <p:cNvSpPr/>
          <p:nvPr/>
        </p:nvSpPr>
        <p:spPr>
          <a:xfrm>
            <a:off x="6993225" y="3828455"/>
            <a:ext cx="933900" cy="4575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Last Activity</a:t>
            </a:r>
            <a:endParaRPr sz="900" b="1"/>
          </a:p>
        </p:txBody>
      </p:sp>
      <p:sp>
        <p:nvSpPr>
          <p:cNvPr id="670" name="Google Shape;670;p102"/>
          <p:cNvSpPr/>
          <p:nvPr/>
        </p:nvSpPr>
        <p:spPr>
          <a:xfrm>
            <a:off x="8060025" y="3828455"/>
            <a:ext cx="933900" cy="457500"/>
          </a:xfrm>
          <a:prstGeom prst="rect">
            <a:avLst/>
          </a:prstGeom>
          <a:solidFill>
            <a:srgbClr val="D9D2E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900" b="1"/>
              <a:t>Retailer Rawdata Extraction</a:t>
            </a:r>
            <a:endParaRPr sz="900" b="1"/>
          </a:p>
        </p:txBody>
      </p:sp>
    </p:spTree>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683"/>
        <p:cNvGrpSpPr/>
        <p:nvPr/>
      </p:nvGrpSpPr>
      <p:grpSpPr>
        <a:xfrm>
          <a:off x="0" y="0"/>
          <a:ext cx="0" cy="0"/>
          <a:chOff x="0" y="0"/>
          <a:chExt cx="0" cy="0"/>
        </a:xfrm>
      </p:grpSpPr>
      <p:sp>
        <p:nvSpPr>
          <p:cNvPr id="686" name="Google Shape;686;p104"/>
          <p:cNvSpPr txBox="1">
            <a:spLocks noGrp="1"/>
          </p:cNvSpPr>
          <p:nvPr>
            <p:ph type="body" idx="1"/>
          </p:nvPr>
        </p:nvSpPr>
        <p:spPr>
          <a:xfrm>
            <a:off x="291775" y="5650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a:t>
            </a:r>
            <a:endParaRPr sz="1800" i="0" u="none" strike="noStrike" cap="none">
              <a:solidFill>
                <a:schemeClr val="dk2"/>
              </a:solidFill>
            </a:endParaRPr>
          </a:p>
        </p:txBody>
      </p:sp>
      <p:sp>
        <p:nvSpPr>
          <p:cNvPr id="684" name="Google Shape;684;p104"/>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685" name="Google Shape;685;p104"/>
          <p:cNvSpPr txBox="1"/>
          <p:nvPr/>
        </p:nvSpPr>
        <p:spPr>
          <a:xfrm>
            <a:off x="325625" y="917700"/>
            <a:ext cx="8515800" cy="4081800"/>
          </a:xfrm>
          <a:prstGeom prst="rect">
            <a:avLst/>
          </a:prstGeom>
          <a:noFill/>
          <a:ln>
            <a:noFill/>
          </a:ln>
        </p:spPr>
        <p:txBody>
          <a:bodyPr spcFirstLastPara="1" wrap="square" lIns="91425" tIns="45700" rIns="91425" bIns="45700" anchor="t" anchorCtr="0">
            <a:noAutofit/>
          </a:bodyPr>
          <a:lstStyle/>
          <a:p>
            <a:pPr marL="457200" lvl="0" indent="-311150" algn="l" rtl="0">
              <a:lnSpc>
                <a:spcPct val="150000"/>
              </a:lnSpc>
              <a:spcBef>
                <a:spcPts val="70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FOVA as a process is bundle of 2 processes :</a:t>
            </a:r>
            <a:endParaRPr sz="1300">
              <a:solidFill>
                <a:schemeClr val="dk1"/>
              </a:solidFill>
              <a:latin typeface="Open Sans"/>
              <a:ea typeface="Open Sans"/>
              <a:cs typeface="Open Sans"/>
              <a:sym typeface="Open Sans"/>
            </a:endParaRPr>
          </a:p>
          <a:p>
            <a:pPr marL="457200" lvl="0" indent="-311150" algn="l" rtl="0">
              <a:lnSpc>
                <a:spcPct val="150000"/>
              </a:lnSpc>
              <a:spcBef>
                <a:spcPts val="0"/>
              </a:spcBef>
              <a:spcAft>
                <a:spcPts val="0"/>
              </a:spcAft>
              <a:buClr>
                <a:schemeClr val="dk1"/>
              </a:buClr>
              <a:buSzPts val="1300"/>
              <a:buFont typeface="Open Sans"/>
              <a:buAutoNum type="arabicPeriod"/>
            </a:pPr>
            <a:r>
              <a:rPr lang="en" sz="1300">
                <a:solidFill>
                  <a:schemeClr val="dk1"/>
                </a:solidFill>
                <a:latin typeface="Open Sans"/>
                <a:ea typeface="Open Sans"/>
                <a:cs typeface="Open Sans"/>
                <a:sym typeface="Open Sans"/>
              </a:rPr>
              <a:t>FOVA Parameters</a:t>
            </a:r>
            <a:endParaRPr sz="1300">
              <a:solidFill>
                <a:schemeClr val="dk1"/>
              </a:solidFill>
              <a:latin typeface="Open Sans"/>
              <a:ea typeface="Open Sans"/>
              <a:cs typeface="Open Sans"/>
              <a:sym typeface="Open Sans"/>
            </a:endParaRPr>
          </a:p>
          <a:p>
            <a:pPr marL="457200" lvl="0" indent="-311150" algn="l" rtl="0">
              <a:lnSpc>
                <a:spcPct val="150000"/>
              </a:lnSpc>
              <a:spcBef>
                <a:spcPts val="0"/>
              </a:spcBef>
              <a:spcAft>
                <a:spcPts val="0"/>
              </a:spcAft>
              <a:buClr>
                <a:schemeClr val="dk1"/>
              </a:buClr>
              <a:buSzPts val="1300"/>
              <a:buFont typeface="Open Sans"/>
              <a:buAutoNum type="arabicPeriod"/>
            </a:pPr>
            <a:r>
              <a:rPr lang="en" sz="1300">
                <a:solidFill>
                  <a:schemeClr val="dk1"/>
                </a:solidFill>
                <a:latin typeface="Open Sans"/>
                <a:ea typeface="Open Sans"/>
                <a:cs typeface="Open Sans"/>
                <a:sym typeface="Open Sans"/>
              </a:rPr>
              <a:t>FOVA Process</a:t>
            </a:r>
            <a:endParaRPr sz="1300">
              <a:solidFill>
                <a:schemeClr val="dk1"/>
              </a:solidFill>
              <a:latin typeface="Open Sans"/>
              <a:ea typeface="Open Sans"/>
              <a:cs typeface="Open Sans"/>
              <a:sym typeface="Open Sans"/>
            </a:endParaRPr>
          </a:p>
          <a:p>
            <a:pPr marL="0" lvl="0" indent="0" algn="l" rtl="0">
              <a:lnSpc>
                <a:spcPct val="150000"/>
              </a:lnSpc>
              <a:spcBef>
                <a:spcPts val="700"/>
              </a:spcBef>
              <a:spcAft>
                <a:spcPts val="0"/>
              </a:spcAft>
              <a:buNone/>
            </a:pPr>
            <a:r>
              <a:rPr lang="en" sz="1300">
                <a:solidFill>
                  <a:schemeClr val="dk1"/>
                </a:solidFill>
                <a:latin typeface="Open Sans"/>
                <a:ea typeface="Open Sans"/>
                <a:cs typeface="Open Sans"/>
                <a:sym typeface="Open Sans"/>
              </a:rPr>
              <a:t>Both these process serve different but crucial role in performing Store level validation.</a:t>
            </a:r>
            <a:endParaRPr sz="1300">
              <a:solidFill>
                <a:schemeClr val="dk1"/>
              </a:solidFill>
              <a:latin typeface="Open Sans"/>
              <a:ea typeface="Open Sans"/>
              <a:cs typeface="Open Sans"/>
              <a:sym typeface="Open Sans"/>
            </a:endParaRPr>
          </a:p>
          <a:p>
            <a:pPr marL="457200" lvl="0" indent="-311150" algn="l" rtl="0">
              <a:lnSpc>
                <a:spcPct val="150000"/>
              </a:lnSpc>
              <a:spcBef>
                <a:spcPts val="70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Purpose of FOVA Parameters :</a:t>
            </a:r>
            <a:endParaRPr sz="1300">
              <a:solidFill>
                <a:schemeClr val="dk1"/>
              </a:solidFill>
              <a:latin typeface="Open Sans"/>
              <a:ea typeface="Open Sans"/>
              <a:cs typeface="Open Sans"/>
              <a:sym typeface="Open Sans"/>
            </a:endParaRPr>
          </a:p>
          <a:p>
            <a:pPr marL="457200" lvl="0" indent="0" algn="l" rtl="0">
              <a:lnSpc>
                <a:spcPct val="150000"/>
              </a:lnSpc>
              <a:spcBef>
                <a:spcPts val="700"/>
              </a:spcBef>
              <a:spcAft>
                <a:spcPts val="0"/>
              </a:spcAft>
              <a:buNone/>
            </a:pPr>
            <a:r>
              <a:rPr lang="en" sz="1300">
                <a:solidFill>
                  <a:schemeClr val="dk1"/>
                </a:solidFill>
                <a:latin typeface="Open Sans"/>
                <a:ea typeface="Open Sans"/>
                <a:cs typeface="Open Sans"/>
                <a:sym typeface="Open Sans"/>
              </a:rPr>
              <a:t>To create automatically robust parameter using latest 13 periods which reduces the FOVA NO OK to the real questionable. And these questionable stores needs to check manually.</a:t>
            </a:r>
            <a:endParaRPr sz="1300">
              <a:solidFill>
                <a:schemeClr val="dk1"/>
              </a:solidFill>
              <a:latin typeface="Open Sans"/>
              <a:ea typeface="Open Sans"/>
              <a:cs typeface="Open Sans"/>
              <a:sym typeface="Open Sans"/>
            </a:endParaRPr>
          </a:p>
          <a:p>
            <a:pPr marL="457200" lvl="0" indent="-311150" algn="l" rtl="0">
              <a:lnSpc>
                <a:spcPct val="150000"/>
              </a:lnSpc>
              <a:spcBef>
                <a:spcPts val="70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Purpose of FOVA process :</a:t>
            </a:r>
            <a:endParaRPr sz="1300">
              <a:solidFill>
                <a:schemeClr val="dk1"/>
              </a:solidFill>
              <a:latin typeface="Open Sans"/>
              <a:ea typeface="Open Sans"/>
              <a:cs typeface="Open Sans"/>
              <a:sym typeface="Open Sans"/>
            </a:endParaRPr>
          </a:p>
          <a:p>
            <a:pPr marL="457200" lvl="0" indent="0" algn="l" rtl="0">
              <a:lnSpc>
                <a:spcPct val="150000"/>
              </a:lnSpc>
              <a:spcBef>
                <a:spcPts val="700"/>
              </a:spcBef>
              <a:spcAft>
                <a:spcPts val="0"/>
              </a:spcAft>
              <a:buNone/>
            </a:pPr>
            <a:r>
              <a:rPr lang="en" sz="1300">
                <a:solidFill>
                  <a:schemeClr val="dk1"/>
                </a:solidFill>
                <a:latin typeface="Open Sans"/>
                <a:ea typeface="Open Sans"/>
                <a:cs typeface="Open Sans"/>
                <a:sym typeface="Open Sans"/>
              </a:rPr>
              <a:t>To enable FOVA process for using new calculated parameters//ranges by FOVA _PARAMETER process and take the decision based on new boundaries.</a:t>
            </a:r>
            <a:endParaRPr sz="1300">
              <a:solidFill>
                <a:schemeClr val="dk1"/>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a:solidFill>
                <a:schemeClr val="dk1"/>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a:solidFill>
                <a:schemeClr val="dk1"/>
              </a:solidFill>
              <a:latin typeface="Open Sans"/>
              <a:ea typeface="Open Sans"/>
              <a:cs typeface="Open Sans"/>
              <a:sym typeface="Open Sans"/>
            </a:endParaRPr>
          </a:p>
          <a:p>
            <a:pPr marL="0" lvl="0" indent="0" algn="l" rtl="0">
              <a:lnSpc>
                <a:spcPct val="115000"/>
              </a:lnSpc>
              <a:spcBef>
                <a:spcPts val="700"/>
              </a:spcBef>
              <a:spcAft>
                <a:spcPts val="0"/>
              </a:spcAft>
              <a:buClr>
                <a:schemeClr val="dk1"/>
              </a:buClr>
              <a:buSzPts val="1100"/>
              <a:buFont typeface="Arial"/>
              <a:buNone/>
            </a:pPr>
            <a:endParaRPr sz="1200">
              <a:solidFill>
                <a:schemeClr val="dk1"/>
              </a:solidFill>
              <a:latin typeface="Open Sans"/>
              <a:ea typeface="Open Sans"/>
              <a:cs typeface="Open Sans"/>
              <a:sym typeface="Open Sans"/>
            </a:endParaRPr>
          </a:p>
          <a:p>
            <a:pPr marL="0" lvl="0" indent="0" algn="l" rtl="0">
              <a:lnSpc>
                <a:spcPct val="115000"/>
              </a:lnSpc>
              <a:spcBef>
                <a:spcPts val="700"/>
              </a:spcBef>
              <a:spcAft>
                <a:spcPts val="0"/>
              </a:spcAft>
              <a:buClr>
                <a:schemeClr val="dk1"/>
              </a:buClr>
              <a:buSzPts val="1100"/>
              <a:buFont typeface="Arial"/>
              <a:buNone/>
            </a:pPr>
            <a:endParaRPr sz="1200">
              <a:solidFill>
                <a:schemeClr val="dk1"/>
              </a:solidFill>
              <a:latin typeface="Open Sans"/>
              <a:ea typeface="Open Sans"/>
              <a:cs typeface="Open Sans"/>
              <a:sym typeface="Open Sans"/>
            </a:endParaRPr>
          </a:p>
          <a:p>
            <a:pPr marL="0" lvl="0" indent="0" algn="l" rtl="0">
              <a:lnSpc>
                <a:spcPct val="115000"/>
              </a:lnSpc>
              <a:spcBef>
                <a:spcPts val="700"/>
              </a:spcBef>
              <a:spcAft>
                <a:spcPts val="0"/>
              </a:spcAft>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None/>
            </a:pPr>
            <a:endParaRPr sz="120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690"/>
        <p:cNvGrpSpPr/>
        <p:nvPr/>
      </p:nvGrpSpPr>
      <p:grpSpPr>
        <a:xfrm>
          <a:off x="0" y="0"/>
          <a:ext cx="0" cy="0"/>
          <a:chOff x="0" y="0"/>
          <a:chExt cx="0" cy="0"/>
        </a:xfrm>
      </p:grpSpPr>
      <p:sp>
        <p:nvSpPr>
          <p:cNvPr id="692" name="Google Shape;692;p105"/>
          <p:cNvSpPr txBox="1">
            <a:spLocks noGrp="1"/>
          </p:cNvSpPr>
          <p:nvPr>
            <p:ph type="body" idx="1"/>
          </p:nvPr>
        </p:nvSpPr>
        <p:spPr>
          <a:xfrm>
            <a:off x="291775" y="5650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Parameters </a:t>
            </a:r>
            <a:endParaRPr sz="1800" i="0" u="none" strike="noStrike" cap="none">
              <a:solidFill>
                <a:schemeClr val="dk2"/>
              </a:solidFill>
            </a:endParaRPr>
          </a:p>
        </p:txBody>
      </p:sp>
      <p:sp>
        <p:nvSpPr>
          <p:cNvPr id="691" name="Google Shape;691;p105"/>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grpSp>
        <p:nvGrpSpPr>
          <p:cNvPr id="693" name="Google Shape;693;p105"/>
          <p:cNvGrpSpPr/>
          <p:nvPr/>
        </p:nvGrpSpPr>
        <p:grpSpPr>
          <a:xfrm>
            <a:off x="304800" y="1189989"/>
            <a:ext cx="2165214" cy="3217636"/>
            <a:chOff x="0" y="1189989"/>
            <a:chExt cx="2214600" cy="3217636"/>
          </a:xfrm>
        </p:grpSpPr>
        <p:sp>
          <p:nvSpPr>
            <p:cNvPr id="694" name="Google Shape;694;p105"/>
            <p:cNvSpPr/>
            <p:nvPr/>
          </p:nvSpPr>
          <p:spPr>
            <a:xfrm>
              <a:off x="0" y="1189989"/>
              <a:ext cx="2214600" cy="669000"/>
            </a:xfrm>
            <a:prstGeom prst="homePlate">
              <a:avLst>
                <a:gd name="adj" fmla="val 50000"/>
              </a:avLst>
            </a:prstGeom>
            <a:solidFill>
              <a:srgbClr val="155B5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1</a:t>
              </a:r>
              <a:endParaRPr>
                <a:solidFill>
                  <a:srgbClr val="FFFFFF"/>
                </a:solidFill>
                <a:latin typeface="Roboto"/>
                <a:ea typeface="Roboto"/>
                <a:cs typeface="Roboto"/>
                <a:sym typeface="Roboto"/>
              </a:endParaRPr>
            </a:p>
          </p:txBody>
        </p:sp>
        <p:sp>
          <p:nvSpPr>
            <p:cNvPr id="695" name="Google Shape;695;p105"/>
            <p:cNvSpPr txBox="1"/>
            <p:nvPr/>
          </p:nvSpPr>
          <p:spPr>
            <a:xfrm>
              <a:off x="2950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latin typeface="Roboto"/>
                  <a:ea typeface="Roboto"/>
                  <a:cs typeface="Roboto"/>
                  <a:sym typeface="Roboto"/>
                </a:rPr>
                <a:t>Parameters submission after closing T-1 and before current  Period (T) FoVa load.</a:t>
              </a:r>
              <a:endParaRPr sz="1100">
                <a:latin typeface="Roboto"/>
                <a:ea typeface="Roboto"/>
                <a:cs typeface="Roboto"/>
                <a:sym typeface="Roboto"/>
              </a:endParaRPr>
            </a:p>
          </p:txBody>
        </p:sp>
      </p:grpSp>
      <p:grpSp>
        <p:nvGrpSpPr>
          <p:cNvPr id="696" name="Google Shape;696;p105"/>
          <p:cNvGrpSpPr/>
          <p:nvPr/>
        </p:nvGrpSpPr>
        <p:grpSpPr>
          <a:xfrm>
            <a:off x="2102130" y="1189775"/>
            <a:ext cx="2017973" cy="3217850"/>
            <a:chOff x="1838325" y="1189775"/>
            <a:chExt cx="2064000" cy="3217850"/>
          </a:xfrm>
        </p:grpSpPr>
        <p:sp>
          <p:nvSpPr>
            <p:cNvPr id="697" name="Google Shape;697;p105"/>
            <p:cNvSpPr/>
            <p:nvPr/>
          </p:nvSpPr>
          <p:spPr>
            <a:xfrm>
              <a:off x="1838325" y="1189775"/>
              <a:ext cx="2064000" cy="669000"/>
            </a:xfrm>
            <a:prstGeom prst="chevron">
              <a:avLst>
                <a:gd name="adj" fmla="val 50000"/>
              </a:avLst>
            </a:prstGeom>
            <a:solidFill>
              <a:srgbClr val="1B786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2</a:t>
              </a:r>
              <a:endParaRPr>
                <a:solidFill>
                  <a:srgbClr val="FFFFFF"/>
                </a:solidFill>
                <a:latin typeface="Roboto"/>
                <a:ea typeface="Roboto"/>
                <a:cs typeface="Roboto"/>
                <a:sym typeface="Roboto"/>
              </a:endParaRPr>
            </a:p>
          </p:txBody>
        </p:sp>
        <p:sp>
          <p:nvSpPr>
            <p:cNvPr id="698" name="Google Shape;698;p105"/>
            <p:cNvSpPr txBox="1"/>
            <p:nvPr/>
          </p:nvSpPr>
          <p:spPr>
            <a:xfrm>
              <a:off x="20172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latin typeface="Roboto"/>
                  <a:ea typeface="Roboto"/>
                  <a:cs typeface="Roboto"/>
                  <a:sym typeface="Roboto"/>
                </a:rPr>
                <a:t>Process takes data for X back periods based on parameter “NR_PERIODS_TREND_ANALYSIS”(min 13 is recommended by DS)</a:t>
              </a:r>
              <a:endParaRPr sz="1100">
                <a:latin typeface="Roboto"/>
                <a:ea typeface="Roboto"/>
                <a:cs typeface="Roboto"/>
                <a:sym typeface="Roboto"/>
              </a:endParaRPr>
            </a:p>
          </p:txBody>
        </p:sp>
      </p:grpSp>
      <p:grpSp>
        <p:nvGrpSpPr>
          <p:cNvPr id="699" name="Google Shape;699;p105"/>
          <p:cNvGrpSpPr/>
          <p:nvPr/>
        </p:nvGrpSpPr>
        <p:grpSpPr>
          <a:xfrm>
            <a:off x="3743126" y="1189775"/>
            <a:ext cx="2017973" cy="3217850"/>
            <a:chOff x="3516750" y="1189775"/>
            <a:chExt cx="2064000" cy="3217850"/>
          </a:xfrm>
        </p:grpSpPr>
        <p:sp>
          <p:nvSpPr>
            <p:cNvPr id="700" name="Google Shape;700;p105"/>
            <p:cNvSpPr/>
            <p:nvPr/>
          </p:nvSpPr>
          <p:spPr>
            <a:xfrm>
              <a:off x="3516750" y="1189775"/>
              <a:ext cx="2064000" cy="669000"/>
            </a:xfrm>
            <a:prstGeom prst="chevron">
              <a:avLst>
                <a:gd name="adj" fmla="val 50000"/>
              </a:avLst>
            </a:prstGeom>
            <a:solidFill>
              <a:srgbClr val="1D7E7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3</a:t>
              </a:r>
              <a:endParaRPr>
                <a:solidFill>
                  <a:srgbClr val="FFFFFF"/>
                </a:solidFill>
                <a:latin typeface="Roboto"/>
                <a:ea typeface="Roboto"/>
                <a:cs typeface="Roboto"/>
                <a:sym typeface="Roboto"/>
              </a:endParaRPr>
            </a:p>
          </p:txBody>
        </p:sp>
        <p:sp>
          <p:nvSpPr>
            <p:cNvPr id="701" name="Google Shape;701;p105"/>
            <p:cNvSpPr txBox="1"/>
            <p:nvPr/>
          </p:nvSpPr>
          <p:spPr>
            <a:xfrm>
              <a:off x="37394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latin typeface="Roboto"/>
                  <a:ea typeface="Roboto"/>
                  <a:cs typeface="Roboto"/>
                  <a:sym typeface="Roboto"/>
                </a:rPr>
                <a:t>Based on IBD defined in parameter “IBD”, process calculates the Longitude test, Trend Factor and Short-term Test.</a:t>
              </a:r>
              <a:endParaRPr sz="1100">
                <a:latin typeface="Roboto"/>
                <a:ea typeface="Roboto"/>
                <a:cs typeface="Roboto"/>
                <a:sym typeface="Roboto"/>
              </a:endParaRPr>
            </a:p>
          </p:txBody>
        </p:sp>
      </p:grpSp>
      <p:grpSp>
        <p:nvGrpSpPr>
          <p:cNvPr id="702" name="Google Shape;702;p105"/>
          <p:cNvGrpSpPr/>
          <p:nvPr/>
        </p:nvGrpSpPr>
        <p:grpSpPr>
          <a:xfrm>
            <a:off x="7025534" y="1189775"/>
            <a:ext cx="2017973" cy="3217850"/>
            <a:chOff x="6874025" y="1189775"/>
            <a:chExt cx="2064000" cy="3217850"/>
          </a:xfrm>
        </p:grpSpPr>
        <p:sp>
          <p:nvSpPr>
            <p:cNvPr id="703" name="Google Shape;703;p105"/>
            <p:cNvSpPr/>
            <p:nvPr/>
          </p:nvSpPr>
          <p:spPr>
            <a:xfrm>
              <a:off x="6874025" y="1189775"/>
              <a:ext cx="2064000" cy="669000"/>
            </a:xfrm>
            <a:prstGeom prst="chevron">
              <a:avLst>
                <a:gd name="adj" fmla="val 50000"/>
              </a:avLst>
            </a:prstGeom>
            <a:solidFill>
              <a:srgbClr val="249C9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5</a:t>
              </a:r>
              <a:endParaRPr>
                <a:solidFill>
                  <a:srgbClr val="FFFFFF"/>
                </a:solidFill>
                <a:latin typeface="Roboto"/>
                <a:ea typeface="Roboto"/>
                <a:cs typeface="Roboto"/>
                <a:sym typeface="Roboto"/>
              </a:endParaRPr>
            </a:p>
          </p:txBody>
        </p:sp>
        <p:sp>
          <p:nvSpPr>
            <p:cNvPr id="704" name="Google Shape;704;p105"/>
            <p:cNvSpPr txBox="1"/>
            <p:nvPr/>
          </p:nvSpPr>
          <p:spPr>
            <a:xfrm>
              <a:off x="71838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u="sng">
                  <a:latin typeface="Roboto"/>
                  <a:ea typeface="Roboto"/>
                  <a:cs typeface="Roboto"/>
                  <a:sym typeface="Roboto"/>
                </a:rPr>
                <a:t>TF (Trend Factor)</a:t>
              </a:r>
              <a:endParaRPr sz="1100" u="sng">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Process calculates using stores which are questionable (because of their change on the FOVA test.) and its empirical values between consecutive periods. This factor is defined based on 13 weeks back period</a:t>
              </a:r>
              <a:endParaRPr sz="1100">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p:txBody>
        </p:sp>
      </p:grpSp>
      <p:grpSp>
        <p:nvGrpSpPr>
          <p:cNvPr id="705" name="Google Shape;705;p105"/>
          <p:cNvGrpSpPr/>
          <p:nvPr/>
        </p:nvGrpSpPr>
        <p:grpSpPr>
          <a:xfrm>
            <a:off x="5384294" y="1189775"/>
            <a:ext cx="2017973" cy="3217850"/>
            <a:chOff x="5195350" y="1189775"/>
            <a:chExt cx="2064000" cy="3217850"/>
          </a:xfrm>
        </p:grpSpPr>
        <p:sp>
          <p:nvSpPr>
            <p:cNvPr id="706" name="Google Shape;706;p105"/>
            <p:cNvSpPr/>
            <p:nvPr/>
          </p:nvSpPr>
          <p:spPr>
            <a:xfrm>
              <a:off x="5195350" y="1189775"/>
              <a:ext cx="2064000" cy="669000"/>
            </a:xfrm>
            <a:prstGeom prst="chevron">
              <a:avLst>
                <a:gd name="adj" fmla="val 50000"/>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4</a:t>
              </a:r>
              <a:endParaRPr>
                <a:solidFill>
                  <a:srgbClr val="FFFFFF"/>
                </a:solidFill>
                <a:latin typeface="Roboto"/>
                <a:ea typeface="Roboto"/>
                <a:cs typeface="Roboto"/>
                <a:sym typeface="Roboto"/>
              </a:endParaRPr>
            </a:p>
          </p:txBody>
        </p:sp>
        <p:sp>
          <p:nvSpPr>
            <p:cNvPr id="707" name="Google Shape;707;p105"/>
            <p:cNvSpPr txBox="1"/>
            <p:nvPr/>
          </p:nvSpPr>
          <p:spPr>
            <a:xfrm>
              <a:off x="54616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u="sng">
                  <a:latin typeface="Roboto"/>
                  <a:ea typeface="Roboto"/>
                  <a:cs typeface="Roboto"/>
                  <a:sym typeface="Roboto"/>
                </a:rPr>
                <a:t>LT (Longitude Test)</a:t>
              </a:r>
              <a:endParaRPr sz="1100" u="sng">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Process calculates using stores  for which overall FoVa test empirical values are above the upper and lower bound using 13 weeks back period</a:t>
              </a:r>
              <a:endParaRPr sz="1100">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p:txBody>
        </p:sp>
      </p:grpSp>
    </p:spTree>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711"/>
        <p:cNvGrpSpPr/>
        <p:nvPr/>
      </p:nvGrpSpPr>
      <p:grpSpPr>
        <a:xfrm>
          <a:off x="0" y="0"/>
          <a:ext cx="0" cy="0"/>
          <a:chOff x="0" y="0"/>
          <a:chExt cx="0" cy="0"/>
        </a:xfrm>
      </p:grpSpPr>
      <p:sp>
        <p:nvSpPr>
          <p:cNvPr id="713" name="Google Shape;713;p106"/>
          <p:cNvSpPr txBox="1">
            <a:spLocks noGrp="1"/>
          </p:cNvSpPr>
          <p:nvPr>
            <p:ph type="body" idx="1"/>
          </p:nvPr>
        </p:nvSpPr>
        <p:spPr>
          <a:xfrm>
            <a:off x="291775" y="5650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Parameters </a:t>
            </a:r>
            <a:endParaRPr sz="1800" i="0" u="none" strike="noStrike" cap="none">
              <a:solidFill>
                <a:schemeClr val="dk2"/>
              </a:solidFill>
            </a:endParaRPr>
          </a:p>
        </p:txBody>
      </p:sp>
      <p:sp>
        <p:nvSpPr>
          <p:cNvPr id="712" name="Google Shape;712;p106"/>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grpSp>
        <p:nvGrpSpPr>
          <p:cNvPr id="714" name="Google Shape;714;p106"/>
          <p:cNvGrpSpPr/>
          <p:nvPr/>
        </p:nvGrpSpPr>
        <p:grpSpPr>
          <a:xfrm>
            <a:off x="381000" y="1189989"/>
            <a:ext cx="2165214" cy="3217636"/>
            <a:chOff x="0" y="1189989"/>
            <a:chExt cx="2214600" cy="3217636"/>
          </a:xfrm>
        </p:grpSpPr>
        <p:sp>
          <p:nvSpPr>
            <p:cNvPr id="715" name="Google Shape;715;p106"/>
            <p:cNvSpPr/>
            <p:nvPr/>
          </p:nvSpPr>
          <p:spPr>
            <a:xfrm>
              <a:off x="0" y="1189989"/>
              <a:ext cx="2214600" cy="669000"/>
            </a:xfrm>
            <a:prstGeom prst="homePlate">
              <a:avLst>
                <a:gd name="adj" fmla="val 50000"/>
              </a:avLst>
            </a:prstGeom>
            <a:solidFill>
              <a:srgbClr val="155B5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6</a:t>
              </a:r>
              <a:endParaRPr>
                <a:solidFill>
                  <a:srgbClr val="FFFFFF"/>
                </a:solidFill>
                <a:latin typeface="Roboto"/>
                <a:ea typeface="Roboto"/>
                <a:cs typeface="Roboto"/>
                <a:sym typeface="Roboto"/>
              </a:endParaRPr>
            </a:p>
          </p:txBody>
        </p:sp>
        <p:sp>
          <p:nvSpPr>
            <p:cNvPr id="716" name="Google Shape;716;p106"/>
            <p:cNvSpPr txBox="1"/>
            <p:nvPr/>
          </p:nvSpPr>
          <p:spPr>
            <a:xfrm>
              <a:off x="2950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u="sng">
                  <a:latin typeface="Roboto"/>
                  <a:ea typeface="Roboto"/>
                  <a:cs typeface="Roboto"/>
                  <a:sym typeface="Roboto"/>
                </a:rPr>
                <a:t>ST (Short term Trend)</a:t>
              </a:r>
              <a:endParaRPr sz="1100" u="sng">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Process calculates using stores  for which overall FoVa test empirical values are above the upper and lower bound using 2 weeks back period.</a:t>
              </a:r>
              <a:endParaRPr sz="1100">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p:txBody>
        </p:sp>
      </p:grpSp>
      <p:grpSp>
        <p:nvGrpSpPr>
          <p:cNvPr id="717" name="Google Shape;717;p106"/>
          <p:cNvGrpSpPr/>
          <p:nvPr/>
        </p:nvGrpSpPr>
        <p:grpSpPr>
          <a:xfrm>
            <a:off x="2178330" y="1189775"/>
            <a:ext cx="2017973" cy="3217850"/>
            <a:chOff x="1838325" y="1189775"/>
            <a:chExt cx="2064000" cy="3217850"/>
          </a:xfrm>
        </p:grpSpPr>
        <p:sp>
          <p:nvSpPr>
            <p:cNvPr id="718" name="Google Shape;718;p106"/>
            <p:cNvSpPr/>
            <p:nvPr/>
          </p:nvSpPr>
          <p:spPr>
            <a:xfrm>
              <a:off x="1838325" y="1189775"/>
              <a:ext cx="2064000" cy="669000"/>
            </a:xfrm>
            <a:prstGeom prst="chevron">
              <a:avLst>
                <a:gd name="adj" fmla="val 50000"/>
              </a:avLst>
            </a:prstGeom>
            <a:solidFill>
              <a:srgbClr val="1B786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7</a:t>
              </a:r>
              <a:endParaRPr>
                <a:solidFill>
                  <a:srgbClr val="FFFFFF"/>
                </a:solidFill>
                <a:latin typeface="Roboto"/>
                <a:ea typeface="Roboto"/>
                <a:cs typeface="Roboto"/>
                <a:sym typeface="Roboto"/>
              </a:endParaRPr>
            </a:p>
          </p:txBody>
        </p:sp>
        <p:sp>
          <p:nvSpPr>
            <p:cNvPr id="719" name="Google Shape;719;p106"/>
            <p:cNvSpPr txBox="1"/>
            <p:nvPr/>
          </p:nvSpPr>
          <p:spPr>
            <a:xfrm>
              <a:off x="20172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u="sng">
                  <a:latin typeface="Roboto"/>
                  <a:ea typeface="Roboto"/>
                  <a:cs typeface="Roboto"/>
                  <a:sym typeface="Roboto"/>
                </a:rPr>
                <a:t>CT (Current Trend)</a:t>
              </a:r>
              <a:endParaRPr sz="1100" u="sng">
                <a:latin typeface="Roboto"/>
                <a:ea typeface="Roboto"/>
                <a:cs typeface="Roboto"/>
                <a:sym typeface="Roboto"/>
              </a:endParaRPr>
            </a:p>
            <a:p>
              <a:pPr marL="0" lvl="0" indent="0" algn="l" rtl="0">
                <a:lnSpc>
                  <a:spcPct val="115000"/>
                </a:lnSpc>
                <a:spcBef>
                  <a:spcPts val="0"/>
                </a:spcBef>
                <a:spcAft>
                  <a:spcPts val="0"/>
                </a:spcAft>
                <a:buNone/>
              </a:pPr>
              <a:r>
                <a:rPr lang="en" sz="1100">
                  <a:latin typeface="Roboto"/>
                  <a:ea typeface="Roboto"/>
                  <a:cs typeface="Roboto"/>
                  <a:sym typeface="Roboto"/>
                </a:rPr>
                <a:t>Process calculates LB/UB using Current period’s stores (FOVA OK) . Here current periods means the period for which FOVA_PARAMETER process has submitted.</a:t>
              </a:r>
              <a:endParaRPr sz="1100">
                <a:latin typeface="Roboto"/>
                <a:ea typeface="Roboto"/>
                <a:cs typeface="Roboto"/>
                <a:sym typeface="Roboto"/>
              </a:endParaRPr>
            </a:p>
          </p:txBody>
        </p:sp>
      </p:grpSp>
      <p:grpSp>
        <p:nvGrpSpPr>
          <p:cNvPr id="720" name="Google Shape;720;p106"/>
          <p:cNvGrpSpPr/>
          <p:nvPr/>
        </p:nvGrpSpPr>
        <p:grpSpPr>
          <a:xfrm>
            <a:off x="3819326" y="1189775"/>
            <a:ext cx="2017973" cy="3217850"/>
            <a:chOff x="3516750" y="1189775"/>
            <a:chExt cx="2064000" cy="3217850"/>
          </a:xfrm>
        </p:grpSpPr>
        <p:sp>
          <p:nvSpPr>
            <p:cNvPr id="721" name="Google Shape;721;p106"/>
            <p:cNvSpPr/>
            <p:nvPr/>
          </p:nvSpPr>
          <p:spPr>
            <a:xfrm>
              <a:off x="3516750" y="1189775"/>
              <a:ext cx="2064000" cy="669000"/>
            </a:xfrm>
            <a:prstGeom prst="chevron">
              <a:avLst>
                <a:gd name="adj" fmla="val 50000"/>
              </a:avLst>
            </a:prstGeom>
            <a:solidFill>
              <a:srgbClr val="1D7E7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8</a:t>
              </a:r>
              <a:endParaRPr>
                <a:solidFill>
                  <a:srgbClr val="FFFFFF"/>
                </a:solidFill>
                <a:latin typeface="Roboto"/>
                <a:ea typeface="Roboto"/>
                <a:cs typeface="Roboto"/>
                <a:sym typeface="Roboto"/>
              </a:endParaRPr>
            </a:p>
          </p:txBody>
        </p:sp>
        <p:sp>
          <p:nvSpPr>
            <p:cNvPr id="722" name="Google Shape;722;p106"/>
            <p:cNvSpPr txBox="1"/>
            <p:nvPr/>
          </p:nvSpPr>
          <p:spPr>
            <a:xfrm>
              <a:off x="37394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latin typeface="Roboto"/>
                  <a:ea typeface="Roboto"/>
                  <a:cs typeface="Roboto"/>
                  <a:sym typeface="Roboto"/>
                </a:rPr>
                <a:t>Each boundaries will calculate for each FOVA tags/IBD(i.e. for each FOVA test).</a:t>
              </a:r>
              <a:endParaRPr sz="1100">
                <a:latin typeface="Roboto"/>
                <a:ea typeface="Roboto"/>
                <a:cs typeface="Roboto"/>
                <a:sym typeface="Roboto"/>
              </a:endParaRPr>
            </a:p>
          </p:txBody>
        </p:sp>
      </p:grpSp>
      <p:grpSp>
        <p:nvGrpSpPr>
          <p:cNvPr id="723" name="Google Shape;723;p106"/>
          <p:cNvGrpSpPr/>
          <p:nvPr/>
        </p:nvGrpSpPr>
        <p:grpSpPr>
          <a:xfrm>
            <a:off x="5460494" y="1189775"/>
            <a:ext cx="2017973" cy="3217850"/>
            <a:chOff x="5195350" y="1189775"/>
            <a:chExt cx="2064000" cy="3217850"/>
          </a:xfrm>
        </p:grpSpPr>
        <p:sp>
          <p:nvSpPr>
            <p:cNvPr id="724" name="Google Shape;724;p106"/>
            <p:cNvSpPr/>
            <p:nvPr/>
          </p:nvSpPr>
          <p:spPr>
            <a:xfrm>
              <a:off x="5195350" y="1189775"/>
              <a:ext cx="2064000" cy="669000"/>
            </a:xfrm>
            <a:prstGeom prst="chevron">
              <a:avLst>
                <a:gd name="adj" fmla="val 50000"/>
              </a:avLst>
            </a:prstGeom>
            <a:solidFill>
              <a:srgbClr val="1F887E"/>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FFFFF"/>
                  </a:solidFill>
                  <a:latin typeface="Roboto"/>
                  <a:ea typeface="Roboto"/>
                  <a:cs typeface="Roboto"/>
                  <a:sym typeface="Roboto"/>
                </a:rPr>
                <a:t>9</a:t>
              </a:r>
              <a:endParaRPr>
                <a:solidFill>
                  <a:srgbClr val="FFFFFF"/>
                </a:solidFill>
                <a:latin typeface="Roboto"/>
                <a:ea typeface="Roboto"/>
                <a:cs typeface="Roboto"/>
                <a:sym typeface="Roboto"/>
              </a:endParaRPr>
            </a:p>
          </p:txBody>
        </p:sp>
        <p:sp>
          <p:nvSpPr>
            <p:cNvPr id="725" name="Google Shape;725;p106"/>
            <p:cNvSpPr txBox="1"/>
            <p:nvPr/>
          </p:nvSpPr>
          <p:spPr>
            <a:xfrm>
              <a:off x="5461650" y="2057125"/>
              <a:ext cx="1624500" cy="23505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100">
                  <a:latin typeface="Roboto"/>
                  <a:ea typeface="Roboto"/>
                  <a:cs typeface="Roboto"/>
                  <a:sym typeface="Roboto"/>
                </a:rPr>
                <a:t>All calculated boundaries using historical data system will update tables called “FOVA_PARAMETER” and “FOVA_PARAMETER_STATUS”</a:t>
              </a:r>
              <a:endParaRPr sz="1100">
                <a:latin typeface="Roboto"/>
                <a:ea typeface="Roboto"/>
                <a:cs typeface="Roboto"/>
                <a:sym typeface="Roboto"/>
              </a:endParaRPr>
            </a:p>
            <a:p>
              <a:pPr marL="0" lvl="0" indent="0" algn="l" rtl="0">
                <a:lnSpc>
                  <a:spcPct val="115000"/>
                </a:lnSpc>
                <a:spcBef>
                  <a:spcPts val="0"/>
                </a:spcBef>
                <a:spcAft>
                  <a:spcPts val="0"/>
                </a:spcAft>
                <a:buNone/>
              </a:pPr>
              <a:endParaRPr sz="1100">
                <a:latin typeface="Roboto"/>
                <a:ea typeface="Roboto"/>
                <a:cs typeface="Roboto"/>
                <a:sym typeface="Roboto"/>
              </a:endParaRPr>
            </a:p>
          </p:txBody>
        </p:sp>
      </p:grpSp>
    </p:spTree>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729"/>
        <p:cNvGrpSpPr/>
        <p:nvPr/>
      </p:nvGrpSpPr>
      <p:grpSpPr>
        <a:xfrm>
          <a:off x="0" y="0"/>
          <a:ext cx="0" cy="0"/>
          <a:chOff x="0" y="0"/>
          <a:chExt cx="0" cy="0"/>
        </a:xfrm>
      </p:grpSpPr>
      <p:sp>
        <p:nvSpPr>
          <p:cNvPr id="730" name="Google Shape;730;p107"/>
          <p:cNvSpPr txBox="1"/>
          <p:nvPr/>
        </p:nvSpPr>
        <p:spPr>
          <a:xfrm>
            <a:off x="57150" y="579564"/>
            <a:ext cx="8934600" cy="998042"/>
          </a:xfrm>
          <a:prstGeom prst="rect">
            <a:avLst/>
          </a:prstGeom>
          <a:noFill/>
          <a:ln>
            <a:noFill/>
          </a:ln>
        </p:spPr>
        <p:txBody>
          <a:bodyPr spcFirstLastPara="1" wrap="square" lIns="91425" tIns="45700" rIns="91425" bIns="45700" anchor="t" anchorCtr="0">
            <a:noAutofit/>
          </a:bodyPr>
          <a:lstStyle/>
          <a:p>
            <a:pPr marL="457200" marR="0" lvl="0" indent="-317500" algn="l" rtl="0">
              <a:lnSpc>
                <a:spcPct val="100000"/>
              </a:lnSpc>
              <a:spcBef>
                <a:spcPts val="0"/>
              </a:spcBef>
              <a:spcAft>
                <a:spcPts val="0"/>
              </a:spcAft>
              <a:buSzPts val="1400"/>
              <a:buChar char="●"/>
            </a:pPr>
            <a:r>
              <a:rPr lang="en" b="0" i="0" u="sng" strike="noStrike" cap="none" dirty="0">
                <a:solidFill>
                  <a:schemeClr val="dk1"/>
                </a:solidFill>
                <a:latin typeface="Arial"/>
                <a:ea typeface="Arial"/>
                <a:cs typeface="Arial"/>
                <a:sym typeface="Arial"/>
              </a:rPr>
              <a:t>TABLE 🡪 FOVA_PARAMETER :</a:t>
            </a:r>
            <a:r>
              <a:rPr lang="en" sz="1000" dirty="0"/>
              <a:t> </a:t>
            </a:r>
            <a:endParaRPr sz="1000" dirty="0"/>
          </a:p>
          <a:p>
            <a:pPr marL="457200" marR="0" lvl="0" indent="0" algn="l" rtl="0">
              <a:lnSpc>
                <a:spcPct val="100000"/>
              </a:lnSpc>
              <a:spcBef>
                <a:spcPts val="1000"/>
              </a:spcBef>
              <a:spcAft>
                <a:spcPts val="0"/>
              </a:spcAft>
              <a:buNone/>
            </a:pPr>
            <a:r>
              <a:rPr lang="en" sz="1000" dirty="0">
                <a:solidFill>
                  <a:schemeClr val="dk1"/>
                </a:solidFill>
              </a:rPr>
              <a:t>FOVA parameter is a pre-process and it is to be </a:t>
            </a:r>
            <a:r>
              <a:rPr lang="en" sz="1000" b="0" i="0" u="none" strike="noStrike" cap="none" dirty="0">
                <a:solidFill>
                  <a:schemeClr val="dk1"/>
                </a:solidFill>
                <a:latin typeface="Arial"/>
                <a:ea typeface="Arial"/>
                <a:cs typeface="Arial"/>
                <a:sym typeface="Arial"/>
              </a:rPr>
              <a:t>submitted before </a:t>
            </a:r>
            <a:r>
              <a:rPr lang="en" sz="1000" dirty="0">
                <a:solidFill>
                  <a:schemeClr val="dk1"/>
                </a:solidFill>
              </a:rPr>
              <a:t>latest </a:t>
            </a:r>
            <a:r>
              <a:rPr lang="en" sz="1000" b="0" i="0" u="none" strike="noStrike" cap="none" dirty="0">
                <a:solidFill>
                  <a:schemeClr val="dk1"/>
                </a:solidFill>
                <a:latin typeface="Arial"/>
                <a:ea typeface="Arial"/>
                <a:cs typeface="Arial"/>
                <a:sym typeface="Arial"/>
              </a:rPr>
              <a:t>week</a:t>
            </a:r>
            <a:r>
              <a:rPr lang="en" sz="1000" dirty="0">
                <a:solidFill>
                  <a:schemeClr val="dk1"/>
                </a:solidFill>
              </a:rPr>
              <a:t>’s</a:t>
            </a:r>
            <a:r>
              <a:rPr lang="en" sz="1000" b="0" i="0" u="none" strike="noStrike" cap="none" dirty="0">
                <a:solidFill>
                  <a:schemeClr val="dk1"/>
                </a:solidFill>
                <a:latin typeface="Arial"/>
                <a:ea typeface="Arial"/>
                <a:cs typeface="Arial"/>
                <a:sym typeface="Arial"/>
              </a:rPr>
              <a:t> FOVA load</a:t>
            </a:r>
            <a:r>
              <a:rPr lang="en" sz="1000" dirty="0">
                <a:solidFill>
                  <a:schemeClr val="dk1"/>
                </a:solidFill>
              </a:rPr>
              <a:t> / immediately after production for the week on which production has just finished</a:t>
            </a:r>
            <a:r>
              <a:rPr lang="en" sz="1000" b="0" i="0" u="none" strike="noStrike" cap="none" dirty="0">
                <a:solidFill>
                  <a:schemeClr val="dk1"/>
                </a:solidFill>
                <a:latin typeface="Arial"/>
                <a:ea typeface="Arial"/>
                <a:cs typeface="Arial"/>
                <a:sym typeface="Arial"/>
              </a:rPr>
              <a:t>. </a:t>
            </a:r>
            <a:endParaRPr sz="1000" b="0" i="0" u="none" strike="noStrike" cap="none" dirty="0">
              <a:solidFill>
                <a:schemeClr val="dk1"/>
              </a:solidFill>
              <a:latin typeface="Arial"/>
              <a:ea typeface="Arial"/>
              <a:cs typeface="Arial"/>
              <a:sym typeface="Arial"/>
            </a:endParaRPr>
          </a:p>
          <a:p>
            <a:pPr marL="457200" marR="0" lvl="0" indent="0" algn="l" rtl="0">
              <a:lnSpc>
                <a:spcPct val="100000"/>
              </a:lnSpc>
              <a:spcBef>
                <a:spcPts val="1000"/>
              </a:spcBef>
              <a:spcAft>
                <a:spcPts val="0"/>
              </a:spcAft>
              <a:buNone/>
            </a:pPr>
            <a:r>
              <a:rPr lang="en" sz="1000" b="0" i="0" u="none" strike="noStrike" cap="none" dirty="0">
                <a:solidFill>
                  <a:schemeClr val="dk1"/>
                </a:solidFill>
                <a:latin typeface="Arial"/>
                <a:ea typeface="Arial"/>
                <a:cs typeface="Arial"/>
                <a:sym typeface="Arial"/>
              </a:rPr>
              <a:t>Process calculates all the boundaries for the periods on which process has submitted by Period/IBD/STATTAG </a:t>
            </a:r>
            <a:endParaRPr sz="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b="0" i="0" u="none" strike="noStrike" cap="none"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
        <p:nvSpPr>
          <p:cNvPr id="731" name="Google Shape;731;p107"/>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732" name="Google Shape;732;p107"/>
          <p:cNvSpPr txBox="1">
            <a:spLocks noGrp="1"/>
          </p:cNvSpPr>
          <p:nvPr>
            <p:ph type="body" idx="4294967295"/>
          </p:nvPr>
        </p:nvSpPr>
        <p:spPr>
          <a:xfrm>
            <a:off x="14761" y="457236"/>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Parameters </a:t>
            </a:r>
            <a:endParaRPr sz="1800" i="0" u="none" strike="noStrike" cap="none">
              <a:solidFill>
                <a:schemeClr val="dk2"/>
              </a:solidFill>
            </a:endParaRPr>
          </a:p>
        </p:txBody>
      </p:sp>
      <p:grpSp>
        <p:nvGrpSpPr>
          <p:cNvPr id="733" name="Google Shape;733;p107"/>
          <p:cNvGrpSpPr/>
          <p:nvPr/>
        </p:nvGrpSpPr>
        <p:grpSpPr>
          <a:xfrm>
            <a:off x="533400" y="1508768"/>
            <a:ext cx="8340625" cy="3239100"/>
            <a:chOff x="381000" y="1855435"/>
            <a:chExt cx="8340625" cy="4318800"/>
          </a:xfrm>
        </p:grpSpPr>
        <p:pic>
          <p:nvPicPr>
            <p:cNvPr id="734" name="Google Shape;734;p107"/>
            <p:cNvPicPr preferRelativeResize="0"/>
            <p:nvPr/>
          </p:nvPicPr>
          <p:blipFill rotWithShape="1">
            <a:blip r:embed="rId4">
              <a:alphaModFix/>
            </a:blip>
            <a:srcRect r="11457" b="26373"/>
            <a:stretch/>
          </p:blipFill>
          <p:spPr>
            <a:xfrm>
              <a:off x="381000" y="2937168"/>
              <a:ext cx="8340625" cy="1939633"/>
            </a:xfrm>
            <a:prstGeom prst="rect">
              <a:avLst/>
            </a:prstGeom>
            <a:noFill/>
            <a:ln w="9525" cap="flat" cmpd="sng">
              <a:solidFill>
                <a:schemeClr val="dk1"/>
              </a:solidFill>
              <a:prstDash val="solid"/>
              <a:miter lim="800000"/>
              <a:headEnd type="none" w="sm" len="sm"/>
              <a:tailEnd type="none" w="sm" len="sm"/>
            </a:ln>
          </p:spPr>
        </p:pic>
        <p:sp>
          <p:nvSpPr>
            <p:cNvPr id="735" name="Google Shape;735;p107"/>
            <p:cNvSpPr txBox="1"/>
            <p:nvPr/>
          </p:nvSpPr>
          <p:spPr>
            <a:xfrm>
              <a:off x="2269675" y="2391535"/>
              <a:ext cx="762000" cy="510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000" b="0" i="0" u="none" strike="noStrike" cap="none">
                  <a:solidFill>
                    <a:schemeClr val="dk1"/>
                  </a:solidFill>
                  <a:latin typeface="Arial"/>
                  <a:ea typeface="Arial"/>
                  <a:cs typeface="Arial"/>
                  <a:sym typeface="Arial"/>
                </a:rPr>
                <a:t>FOVA </a:t>
              </a:r>
              <a:r>
                <a:rPr lang="en" sz="1000">
                  <a:solidFill>
                    <a:schemeClr val="dk1"/>
                  </a:solidFill>
                </a:rPr>
                <a:t>Stat</a:t>
              </a:r>
              <a:r>
                <a:rPr lang="en" sz="1000" b="0" i="0" u="none" strike="noStrike" cap="none">
                  <a:solidFill>
                    <a:schemeClr val="dk1"/>
                  </a:solidFill>
                  <a:latin typeface="Arial"/>
                  <a:ea typeface="Arial"/>
                  <a:cs typeface="Arial"/>
                  <a:sym typeface="Arial"/>
                </a:rPr>
                <a:t> Tag</a:t>
              </a:r>
              <a:endParaRPr sz="1000" b="0" i="0" u="none" strike="noStrike" cap="none">
                <a:solidFill>
                  <a:schemeClr val="dk1"/>
                </a:solidFill>
                <a:latin typeface="Arial"/>
                <a:ea typeface="Arial"/>
                <a:cs typeface="Arial"/>
                <a:sym typeface="Arial"/>
              </a:endParaRPr>
            </a:p>
          </p:txBody>
        </p:sp>
        <p:sp>
          <p:nvSpPr>
            <p:cNvPr id="736" name="Google Shape;736;p107"/>
            <p:cNvSpPr txBox="1"/>
            <p:nvPr/>
          </p:nvSpPr>
          <p:spPr>
            <a:xfrm>
              <a:off x="1333500" y="2391549"/>
              <a:ext cx="762000" cy="5109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000" b="0" i="0" u="none" strike="noStrike" cap="none">
                  <a:solidFill>
                    <a:schemeClr val="dk1"/>
                  </a:solidFill>
                  <a:latin typeface="Arial"/>
                  <a:ea typeface="Arial"/>
                  <a:cs typeface="Arial"/>
                  <a:sym typeface="Arial"/>
                </a:rPr>
                <a:t>FOVA IBD</a:t>
              </a:r>
              <a:endParaRPr sz="1000" b="0" i="0" u="none" strike="noStrike" cap="none">
                <a:solidFill>
                  <a:schemeClr val="dk1"/>
                </a:solidFill>
                <a:latin typeface="Arial"/>
                <a:ea typeface="Arial"/>
                <a:cs typeface="Arial"/>
                <a:sym typeface="Arial"/>
              </a:endParaRPr>
            </a:p>
          </p:txBody>
        </p:sp>
        <p:sp>
          <p:nvSpPr>
            <p:cNvPr id="737" name="Google Shape;737;p107"/>
            <p:cNvSpPr txBox="1"/>
            <p:nvPr/>
          </p:nvSpPr>
          <p:spPr>
            <a:xfrm>
              <a:off x="3299500" y="4913935"/>
              <a:ext cx="1076400" cy="9387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000" b="0" i="0" u="none" strike="noStrike" cap="none">
                  <a:solidFill>
                    <a:schemeClr val="dk1"/>
                  </a:solidFill>
                  <a:latin typeface="Arial"/>
                  <a:ea typeface="Arial"/>
                  <a:cs typeface="Arial"/>
                  <a:sym typeface="Arial"/>
                </a:rPr>
                <a:t>Longitude upper/Lower bound using 13 back periods</a:t>
              </a:r>
              <a:endParaRPr sz="1000" b="0" i="0" u="none" strike="noStrike" cap="none">
                <a:solidFill>
                  <a:schemeClr val="dk1"/>
                </a:solidFill>
                <a:latin typeface="Arial"/>
                <a:ea typeface="Arial"/>
                <a:cs typeface="Arial"/>
                <a:sym typeface="Arial"/>
              </a:endParaRPr>
            </a:p>
          </p:txBody>
        </p:sp>
        <p:sp>
          <p:nvSpPr>
            <p:cNvPr id="738" name="Google Shape;738;p107"/>
            <p:cNvSpPr txBox="1"/>
            <p:nvPr/>
          </p:nvSpPr>
          <p:spPr>
            <a:xfrm>
              <a:off x="4771875" y="4913935"/>
              <a:ext cx="971700" cy="1260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Short-term upper/Lower bound using 2 back periods</a:t>
              </a:r>
              <a:endParaRPr sz="1100" b="0" i="0" u="none" strike="noStrike" cap="none">
                <a:solidFill>
                  <a:schemeClr val="dk1"/>
                </a:solidFill>
                <a:latin typeface="Arial"/>
                <a:ea typeface="Arial"/>
                <a:cs typeface="Arial"/>
                <a:sym typeface="Arial"/>
              </a:endParaRPr>
            </a:p>
          </p:txBody>
        </p:sp>
        <p:sp>
          <p:nvSpPr>
            <p:cNvPr id="739" name="Google Shape;739;p107"/>
            <p:cNvSpPr txBox="1"/>
            <p:nvPr/>
          </p:nvSpPr>
          <p:spPr>
            <a:xfrm>
              <a:off x="6195575" y="1855435"/>
              <a:ext cx="1076400" cy="10470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chemeClr val="dk1"/>
                  </a:solidFill>
                  <a:latin typeface="Arial"/>
                  <a:ea typeface="Arial"/>
                  <a:cs typeface="Arial"/>
                  <a:sym typeface="Arial"/>
                </a:rPr>
                <a:t>Current Trend (e.g.1928) Upper/Lower bound</a:t>
              </a:r>
              <a:endParaRPr sz="1100" b="0" i="0" u="none" strike="noStrike" cap="none" dirty="0">
                <a:solidFill>
                  <a:schemeClr val="dk1"/>
                </a:solidFill>
                <a:latin typeface="Arial"/>
                <a:ea typeface="Arial"/>
                <a:cs typeface="Arial"/>
                <a:sym typeface="Arial"/>
              </a:endParaRPr>
            </a:p>
          </p:txBody>
        </p:sp>
        <p:sp>
          <p:nvSpPr>
            <p:cNvPr id="740" name="Google Shape;740;p107"/>
            <p:cNvSpPr txBox="1"/>
            <p:nvPr/>
          </p:nvSpPr>
          <p:spPr>
            <a:xfrm>
              <a:off x="7543800" y="4913938"/>
              <a:ext cx="1076400" cy="587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Trend Factor value </a:t>
              </a:r>
              <a:endParaRPr sz="1100" b="0" i="0" u="none" strike="noStrike" cap="none">
                <a:solidFill>
                  <a:schemeClr val="dk1"/>
                </a:solidFill>
                <a:latin typeface="Arial"/>
                <a:ea typeface="Arial"/>
                <a:cs typeface="Arial"/>
                <a:sym typeface="Arial"/>
              </a:endParaRPr>
            </a:p>
          </p:txBody>
        </p:sp>
      </p:grpSp>
      <p:sp>
        <p:nvSpPr>
          <p:cNvPr id="741" name="Google Shape;741;p107"/>
          <p:cNvSpPr txBox="1"/>
          <p:nvPr/>
        </p:nvSpPr>
        <p:spPr>
          <a:xfrm>
            <a:off x="578900" y="3802638"/>
            <a:ext cx="762000" cy="8466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000" dirty="0">
                <a:solidFill>
                  <a:schemeClr val="dk1"/>
                </a:solidFill>
              </a:rPr>
              <a:t>Indicates the period on which process is submitted</a:t>
            </a:r>
            <a:endParaRPr sz="1000" b="0" i="0" u="none" strike="noStrike" cap="none" dirty="0">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745"/>
        <p:cNvGrpSpPr/>
        <p:nvPr/>
      </p:nvGrpSpPr>
      <p:grpSpPr>
        <a:xfrm>
          <a:off x="0" y="0"/>
          <a:ext cx="0" cy="0"/>
          <a:chOff x="0" y="0"/>
          <a:chExt cx="0" cy="0"/>
        </a:xfrm>
      </p:grpSpPr>
      <p:pic>
        <p:nvPicPr>
          <p:cNvPr id="746" name="Google Shape;746;p108"/>
          <p:cNvPicPr preferRelativeResize="0"/>
          <p:nvPr/>
        </p:nvPicPr>
        <p:blipFill rotWithShape="1">
          <a:blip r:embed="rId4">
            <a:alphaModFix/>
          </a:blip>
          <a:srcRect/>
          <a:stretch/>
        </p:blipFill>
        <p:spPr>
          <a:xfrm>
            <a:off x="495300" y="2114550"/>
            <a:ext cx="7837099" cy="1248387"/>
          </a:xfrm>
          <a:prstGeom prst="rect">
            <a:avLst/>
          </a:prstGeom>
          <a:noFill/>
          <a:ln w="9525" cap="flat" cmpd="sng">
            <a:solidFill>
              <a:schemeClr val="dk1"/>
            </a:solidFill>
            <a:prstDash val="solid"/>
            <a:miter lim="800000"/>
            <a:headEnd type="none" w="sm" len="sm"/>
            <a:tailEnd type="none" w="sm" len="sm"/>
          </a:ln>
        </p:spPr>
      </p:pic>
      <p:sp>
        <p:nvSpPr>
          <p:cNvPr id="747" name="Google Shape;747;p108"/>
          <p:cNvSpPr/>
          <p:nvPr/>
        </p:nvSpPr>
        <p:spPr>
          <a:xfrm>
            <a:off x="266700" y="685800"/>
            <a:ext cx="8877300" cy="1523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457200" marR="0" lvl="0" indent="-311150" algn="l" rtl="0">
              <a:lnSpc>
                <a:spcPct val="100000"/>
              </a:lnSpc>
              <a:spcBef>
                <a:spcPts val="0"/>
              </a:spcBef>
              <a:spcAft>
                <a:spcPts val="0"/>
              </a:spcAft>
              <a:buClr>
                <a:schemeClr val="dk1"/>
              </a:buClr>
              <a:buSzPts val="1300"/>
              <a:buChar char="●"/>
            </a:pPr>
            <a:r>
              <a:rPr lang="en" sz="1300" i="0" u="none" strike="noStrike" cap="none">
                <a:solidFill>
                  <a:schemeClr val="dk1"/>
                </a:solidFill>
              </a:rPr>
              <a:t>Two tables mentioned are refreshed after running X number of stores for the current period. </a:t>
            </a:r>
            <a:endParaRPr sz="1300" i="0" u="none" strike="noStrike" cap="none">
              <a:solidFill>
                <a:schemeClr val="dk1"/>
              </a:solidFill>
            </a:endParaRPr>
          </a:p>
          <a:p>
            <a:pPr marL="457200" marR="0" lvl="0" indent="-311150" algn="l" rtl="0">
              <a:lnSpc>
                <a:spcPct val="100000"/>
              </a:lnSpc>
              <a:spcBef>
                <a:spcPts val="0"/>
              </a:spcBef>
              <a:spcAft>
                <a:spcPts val="0"/>
              </a:spcAft>
              <a:buClr>
                <a:schemeClr val="dk1"/>
              </a:buClr>
              <a:buSzPts val="1300"/>
              <a:buChar char="●"/>
            </a:pPr>
            <a:r>
              <a:rPr lang="en" sz="1300" i="0" u="none" strike="noStrike" cap="none">
                <a:solidFill>
                  <a:schemeClr val="dk1"/>
                </a:solidFill>
              </a:rPr>
              <a:t>This calculation is refreshed once FOVA load count reaches to 2X,3X till defined parameter.</a:t>
            </a:r>
            <a:endParaRPr sz="900" i="0" u="none" strike="noStrike" cap="none">
              <a:solidFill>
                <a:srgbClr val="000000"/>
              </a:solidFil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457200" marR="0" lvl="0" indent="-342900" algn="l" rtl="0">
              <a:lnSpc>
                <a:spcPct val="100000"/>
              </a:lnSpc>
              <a:spcBef>
                <a:spcPts val="0"/>
              </a:spcBef>
              <a:spcAft>
                <a:spcPts val="0"/>
              </a:spcAft>
              <a:buClr>
                <a:schemeClr val="dk1"/>
              </a:buClr>
              <a:buSzPts val="1800"/>
              <a:buFont typeface="Arial"/>
              <a:buChar char="●"/>
            </a:pPr>
            <a:r>
              <a:rPr lang="en" sz="1800" b="0" i="0" u="none" strike="noStrike" cap="none">
                <a:solidFill>
                  <a:schemeClr val="dk1"/>
                </a:solidFill>
                <a:latin typeface="Arial"/>
                <a:ea typeface="Arial"/>
                <a:cs typeface="Arial"/>
                <a:sym typeface="Arial"/>
              </a:rPr>
              <a:t>FOVA_PARAMETER: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48" name="Google Shape;748;p108"/>
          <p:cNvSpPr txBox="1"/>
          <p:nvPr/>
        </p:nvSpPr>
        <p:spPr>
          <a:xfrm>
            <a:off x="266700" y="3505200"/>
            <a:ext cx="8188200" cy="1177200"/>
          </a:xfrm>
          <a:prstGeom prst="rect">
            <a:avLst/>
          </a:prstGeom>
          <a:noFill/>
          <a:ln>
            <a:noFill/>
          </a:ln>
        </p:spPr>
        <p:txBody>
          <a:bodyPr spcFirstLastPara="1" wrap="square" lIns="91425" tIns="45700" rIns="91425" bIns="45700" anchor="t" anchorCtr="0">
            <a:noAutofit/>
          </a:bodyPr>
          <a:lstStyle/>
          <a:p>
            <a:pPr marL="457200" marR="0" lvl="0" indent="-311150" algn="l" rtl="0">
              <a:lnSpc>
                <a:spcPct val="100000"/>
              </a:lnSpc>
              <a:spcBef>
                <a:spcPts val="0"/>
              </a:spcBef>
              <a:spcAft>
                <a:spcPts val="0"/>
              </a:spcAft>
              <a:buClr>
                <a:schemeClr val="dk1"/>
              </a:buClr>
              <a:buSzPts val="1300"/>
              <a:buFont typeface="Arial"/>
              <a:buChar char="●"/>
            </a:pPr>
            <a:r>
              <a:rPr lang="en" sz="1300">
                <a:solidFill>
                  <a:schemeClr val="dk1"/>
                </a:solidFill>
              </a:rPr>
              <a:t>When t</a:t>
            </a:r>
            <a:r>
              <a:rPr lang="en" sz="1300" b="0" i="0" u="none" strike="noStrike" cap="none">
                <a:solidFill>
                  <a:schemeClr val="dk1"/>
                </a:solidFill>
                <a:latin typeface="Arial"/>
                <a:ea typeface="Arial"/>
                <a:cs typeface="Arial"/>
                <a:sym typeface="Arial"/>
              </a:rPr>
              <a:t>he </a:t>
            </a:r>
            <a:r>
              <a:rPr lang="en" sz="1300">
                <a:solidFill>
                  <a:schemeClr val="dk1"/>
                </a:solidFill>
              </a:rPr>
              <a:t>user </a:t>
            </a:r>
            <a:r>
              <a:rPr lang="en" sz="1300" b="0" i="0" u="none" strike="noStrike" cap="none">
                <a:solidFill>
                  <a:schemeClr val="dk1"/>
                </a:solidFill>
                <a:latin typeface="Arial"/>
                <a:ea typeface="Arial"/>
                <a:cs typeface="Arial"/>
                <a:sym typeface="Arial"/>
              </a:rPr>
              <a:t>can see the new line with current period by IBD (means new period for which FOVA  has submitted).</a:t>
            </a:r>
            <a:endParaRPr sz="1300" b="0" i="0" u="none" strike="noStrike" cap="none">
              <a:solidFill>
                <a:srgbClr val="000000"/>
              </a:solidFill>
              <a:latin typeface="Arial"/>
              <a:ea typeface="Arial"/>
              <a:cs typeface="Arial"/>
              <a:sym typeface="Arial"/>
            </a:endParaRPr>
          </a:p>
          <a:p>
            <a:pPr marL="457200" marR="0" lvl="0" indent="0" algn="l" rtl="0">
              <a:lnSpc>
                <a:spcPct val="100000"/>
              </a:lnSpc>
              <a:spcBef>
                <a:spcPts val="0"/>
              </a:spcBef>
              <a:spcAft>
                <a:spcPts val="0"/>
              </a:spcAft>
              <a:buNone/>
            </a:pPr>
            <a:endParaRPr sz="1300" b="0" i="0" u="none" strike="noStrike" cap="none">
              <a:solidFill>
                <a:schemeClr val="dk1"/>
              </a:solidFill>
              <a:latin typeface="Arial"/>
              <a:ea typeface="Arial"/>
              <a:cs typeface="Arial"/>
              <a:sym typeface="Arial"/>
            </a:endParaRPr>
          </a:p>
          <a:p>
            <a:pPr marL="457200" marR="0" lvl="0" indent="-311150" algn="l" rtl="0">
              <a:lnSpc>
                <a:spcPct val="100000"/>
              </a:lnSpc>
              <a:spcBef>
                <a:spcPts val="0"/>
              </a:spcBef>
              <a:spcAft>
                <a:spcPts val="0"/>
              </a:spcAft>
              <a:buClr>
                <a:schemeClr val="dk1"/>
              </a:buClr>
              <a:buSzPts val="1300"/>
              <a:buFont typeface="Arial"/>
              <a:buChar char="●"/>
            </a:pPr>
            <a:r>
              <a:rPr lang="en" sz="1300" b="0" i="0" u="none" strike="noStrike" cap="none">
                <a:solidFill>
                  <a:schemeClr val="dk1"/>
                </a:solidFill>
                <a:latin typeface="Arial"/>
                <a:ea typeface="Arial"/>
                <a:cs typeface="Arial"/>
                <a:sym typeface="Arial"/>
              </a:rPr>
              <a:t>Also the </a:t>
            </a:r>
            <a:r>
              <a:rPr lang="en" sz="1300">
                <a:solidFill>
                  <a:schemeClr val="dk1"/>
                </a:solidFill>
              </a:rPr>
              <a:t>user</a:t>
            </a:r>
            <a:r>
              <a:rPr lang="en" sz="1300" b="0" i="0" u="none" strike="noStrike" cap="none">
                <a:solidFill>
                  <a:schemeClr val="dk1"/>
                </a:solidFill>
                <a:latin typeface="Arial"/>
                <a:ea typeface="Arial"/>
                <a:cs typeface="Arial"/>
                <a:sym typeface="Arial"/>
              </a:rPr>
              <a:t> can not see the LT &amp; ST calculation </a:t>
            </a:r>
            <a:r>
              <a:rPr lang="en" sz="1300">
                <a:solidFill>
                  <a:schemeClr val="dk1"/>
                </a:solidFill>
              </a:rPr>
              <a:t>when</a:t>
            </a:r>
            <a:r>
              <a:rPr lang="en" sz="1300" b="0" i="0" u="none" strike="noStrike" cap="none">
                <a:solidFill>
                  <a:schemeClr val="dk1"/>
                </a:solidFill>
                <a:latin typeface="Arial"/>
                <a:ea typeface="Arial"/>
                <a:cs typeface="Arial"/>
                <a:sym typeface="Arial"/>
              </a:rPr>
              <a:t> FOVA Parameter Process has not yet submitted for new period i.e.1929</a:t>
            </a:r>
            <a:endParaRPr sz="13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p:txBody>
      </p:sp>
      <p:sp>
        <p:nvSpPr>
          <p:cNvPr id="749" name="Google Shape;749;p108"/>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750" name="Google Shape;750;p108"/>
          <p:cNvSpPr txBox="1">
            <a:spLocks noGrp="1"/>
          </p:cNvSpPr>
          <p:nvPr>
            <p:ph type="body" idx="4294967295"/>
          </p:nvPr>
        </p:nvSpPr>
        <p:spPr>
          <a:xfrm>
            <a:off x="0" y="488950"/>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Parameters </a:t>
            </a:r>
            <a:endParaRPr sz="1800" i="0" u="none" strike="noStrike" cap="none">
              <a:solidFill>
                <a:schemeClr val="dk2"/>
              </a:solidFill>
            </a:endParaRPr>
          </a:p>
        </p:txBody>
      </p:sp>
    </p:spTree>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754"/>
        <p:cNvGrpSpPr/>
        <p:nvPr/>
      </p:nvGrpSpPr>
      <p:grpSpPr>
        <a:xfrm>
          <a:off x="0" y="0"/>
          <a:ext cx="0" cy="0"/>
          <a:chOff x="0" y="0"/>
          <a:chExt cx="0" cy="0"/>
        </a:xfrm>
      </p:grpSpPr>
      <p:pic>
        <p:nvPicPr>
          <p:cNvPr id="755" name="Google Shape;755;p109"/>
          <p:cNvPicPr preferRelativeResize="0"/>
          <p:nvPr/>
        </p:nvPicPr>
        <p:blipFill rotWithShape="1">
          <a:blip r:embed="rId4">
            <a:alphaModFix/>
          </a:blip>
          <a:srcRect/>
          <a:stretch/>
        </p:blipFill>
        <p:spPr>
          <a:xfrm>
            <a:off x="457200" y="1398509"/>
            <a:ext cx="6400799" cy="856902"/>
          </a:xfrm>
          <a:prstGeom prst="rect">
            <a:avLst/>
          </a:prstGeom>
          <a:noFill/>
          <a:ln w="9525" cap="flat" cmpd="sng">
            <a:solidFill>
              <a:schemeClr val="dk1"/>
            </a:solidFill>
            <a:prstDash val="solid"/>
            <a:miter lim="800000"/>
            <a:headEnd type="none" w="sm" len="sm"/>
            <a:tailEnd type="none" w="sm" len="sm"/>
          </a:ln>
        </p:spPr>
      </p:pic>
      <p:sp>
        <p:nvSpPr>
          <p:cNvPr id="756" name="Google Shape;756;p109"/>
          <p:cNvSpPr/>
          <p:nvPr/>
        </p:nvSpPr>
        <p:spPr>
          <a:xfrm>
            <a:off x="3583675" y="1462815"/>
            <a:ext cx="1576500" cy="893700"/>
          </a:xfrm>
          <a:prstGeom prst="ellipse">
            <a:avLst/>
          </a:prstGeom>
          <a:noFill/>
          <a:ln w="25400" cap="flat" cmpd="sng">
            <a:solidFill>
              <a:srgbClr val="3F591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757" name="Google Shape;757;p109"/>
          <p:cNvSpPr/>
          <p:nvPr/>
        </p:nvSpPr>
        <p:spPr>
          <a:xfrm>
            <a:off x="232575" y="820663"/>
            <a:ext cx="3985800" cy="438900"/>
          </a:xfrm>
          <a:prstGeom prst="rect">
            <a:avLst/>
          </a:prstGeom>
          <a:noFill/>
          <a:ln>
            <a:noFill/>
          </a:ln>
        </p:spPr>
        <p:txBody>
          <a:bodyPr spcFirstLastPara="1" wrap="square" lIns="91425" tIns="45700" rIns="91425" bIns="45700" anchor="t" anchorCtr="0">
            <a:noAutofit/>
          </a:bodyPr>
          <a:lstStyle/>
          <a:p>
            <a:pPr marL="457200" marR="0" lvl="0" indent="-342900" algn="l" rtl="0">
              <a:lnSpc>
                <a:spcPct val="100000"/>
              </a:lnSpc>
              <a:spcBef>
                <a:spcPts val="0"/>
              </a:spcBef>
              <a:spcAft>
                <a:spcPts val="0"/>
              </a:spcAft>
              <a:buClr>
                <a:schemeClr val="dk1"/>
              </a:buClr>
              <a:buSzPts val="1800"/>
              <a:buFont typeface="Arial"/>
              <a:buChar char="●"/>
            </a:pPr>
            <a:r>
              <a:rPr lang="en" sz="1800" b="0" i="0" u="none" strike="noStrike" cap="none">
                <a:solidFill>
                  <a:schemeClr val="dk1"/>
                </a:solidFill>
                <a:latin typeface="Arial"/>
                <a:ea typeface="Arial"/>
                <a:cs typeface="Arial"/>
                <a:sym typeface="Arial"/>
              </a:rPr>
              <a:t>FOVA_PARAMETER_STATUS:</a:t>
            </a:r>
            <a:endParaRPr sz="1400" b="0" i="0" u="none" strike="noStrike" cap="none">
              <a:solidFill>
                <a:srgbClr val="000000"/>
              </a:solidFill>
              <a:latin typeface="Arial"/>
              <a:ea typeface="Arial"/>
              <a:cs typeface="Arial"/>
              <a:sym typeface="Arial"/>
            </a:endParaRPr>
          </a:p>
        </p:txBody>
      </p:sp>
      <p:sp>
        <p:nvSpPr>
          <p:cNvPr id="758" name="Google Shape;758;p109"/>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759" name="Google Shape;759;p109"/>
          <p:cNvSpPr txBox="1">
            <a:spLocks noGrp="1"/>
          </p:cNvSpPr>
          <p:nvPr>
            <p:ph type="body" idx="4294967295"/>
          </p:nvPr>
        </p:nvSpPr>
        <p:spPr>
          <a:xfrm>
            <a:off x="0" y="488950"/>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Parameters </a:t>
            </a:r>
            <a:endParaRPr sz="1800" i="0" u="none" strike="noStrike" cap="none">
              <a:solidFill>
                <a:schemeClr val="dk2"/>
              </a:solidFill>
            </a:endParaRPr>
          </a:p>
        </p:txBody>
      </p:sp>
      <p:sp>
        <p:nvSpPr>
          <p:cNvPr id="760" name="Google Shape;760;p109"/>
          <p:cNvSpPr txBox="1"/>
          <p:nvPr/>
        </p:nvSpPr>
        <p:spPr>
          <a:xfrm>
            <a:off x="288925" y="2478695"/>
            <a:ext cx="8523600" cy="1362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b="0" i="0" u="none" strike="noStrike" cap="none">
                <a:solidFill>
                  <a:schemeClr val="dk1"/>
                </a:solidFill>
                <a:latin typeface="Arial"/>
                <a:ea typeface="Arial"/>
                <a:cs typeface="Arial"/>
                <a:sym typeface="Arial"/>
              </a:rPr>
              <a:t>The </a:t>
            </a:r>
            <a:r>
              <a:rPr lang="en">
                <a:solidFill>
                  <a:schemeClr val="dk1"/>
                </a:solidFill>
              </a:rPr>
              <a:t>user</a:t>
            </a:r>
            <a:r>
              <a:rPr lang="en" b="0" i="0" u="none" strike="noStrike" cap="none">
                <a:solidFill>
                  <a:schemeClr val="dk1"/>
                </a:solidFill>
                <a:latin typeface="Arial"/>
                <a:ea typeface="Arial"/>
                <a:cs typeface="Arial"/>
                <a:sym typeface="Arial"/>
              </a:rPr>
              <a:t> can see the new line by IBD with current period(means new period for which FOVA  has submitted)</a:t>
            </a:r>
            <a:endParaRPr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b="0" i="0" u="none" strike="noStrike" cap="none">
                <a:solidFill>
                  <a:schemeClr val="dk1"/>
                </a:solidFill>
                <a:latin typeface="Arial"/>
                <a:ea typeface="Arial"/>
                <a:cs typeface="Arial"/>
                <a:sym typeface="Arial"/>
              </a:rPr>
              <a:t>In this table, the operator can see different status in column NC_CT_STATUS</a:t>
            </a:r>
            <a:endParaRPr b="0" i="0" u="none" strike="noStrike" cap="none">
              <a:solidFill>
                <a:srgbClr val="000000"/>
              </a:solidFill>
              <a:latin typeface="Arial"/>
              <a:ea typeface="Arial"/>
              <a:cs typeface="Arial"/>
              <a:sym typeface="Arial"/>
            </a:endParaRPr>
          </a:p>
          <a:p>
            <a:pPr marL="0" marR="0" lvl="0" indent="0" algn="l" rtl="0">
              <a:lnSpc>
                <a:spcPct val="100000"/>
              </a:lnSpc>
              <a:spcBef>
                <a:spcPts val="1000"/>
              </a:spcBef>
              <a:spcAft>
                <a:spcPts val="0"/>
              </a:spcAft>
              <a:buClr>
                <a:srgbClr val="000000"/>
              </a:buClr>
              <a:buSzPts val="1600"/>
              <a:buFont typeface="Arial"/>
              <a:buNone/>
            </a:pPr>
            <a:r>
              <a:rPr lang="en" b="0" i="0" u="none" strike="noStrike" cap="none">
                <a:solidFill>
                  <a:schemeClr val="dk1"/>
                </a:solidFill>
                <a:latin typeface="Arial"/>
                <a:ea typeface="Arial"/>
                <a:cs typeface="Arial"/>
                <a:sym typeface="Arial"/>
              </a:rPr>
              <a:t>	0🡪Store count is less than X (i.e. MIN_IBD_STORE_COUNT)</a:t>
            </a:r>
            <a:endParaRPr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b="0" i="0" u="none" strike="noStrike" cap="none">
                <a:solidFill>
                  <a:schemeClr val="dk1"/>
                </a:solidFill>
                <a:latin typeface="Arial"/>
                <a:ea typeface="Arial"/>
                <a:cs typeface="Arial"/>
                <a:sym typeface="Arial"/>
              </a:rPr>
              <a:t>	1🡪Store count reaches to X</a:t>
            </a:r>
            <a:endParaRPr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b="0" i="0" u="none" strike="noStrike" cap="none">
                <a:solidFill>
                  <a:schemeClr val="dk1"/>
                </a:solidFill>
                <a:latin typeface="Arial"/>
                <a:ea typeface="Arial"/>
                <a:cs typeface="Arial"/>
                <a:sym typeface="Arial"/>
              </a:rPr>
              <a:t>	2🡪 Stores are reaches to parameter MAX_IBD_STORE_COUNT</a:t>
            </a:r>
            <a:endParaRPr b="0" i="0" u="none" strike="noStrike" cap="none">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764"/>
        <p:cNvGrpSpPr/>
        <p:nvPr/>
      </p:nvGrpSpPr>
      <p:grpSpPr>
        <a:xfrm>
          <a:off x="0" y="0"/>
          <a:ext cx="0" cy="0"/>
          <a:chOff x="0" y="0"/>
          <a:chExt cx="0" cy="0"/>
        </a:xfrm>
      </p:grpSpPr>
      <p:pic>
        <p:nvPicPr>
          <p:cNvPr id="765" name="Google Shape;765;p110"/>
          <p:cNvPicPr preferRelativeResize="0"/>
          <p:nvPr/>
        </p:nvPicPr>
        <p:blipFill rotWithShape="1">
          <a:blip r:embed="rId4">
            <a:alphaModFix/>
          </a:blip>
          <a:srcRect/>
          <a:stretch/>
        </p:blipFill>
        <p:spPr>
          <a:xfrm>
            <a:off x="333375" y="2507450"/>
            <a:ext cx="8614101" cy="1378900"/>
          </a:xfrm>
          <a:prstGeom prst="rect">
            <a:avLst/>
          </a:prstGeom>
          <a:noFill/>
          <a:ln w="9525" cap="flat" cmpd="sng">
            <a:solidFill>
              <a:schemeClr val="dk1"/>
            </a:solidFill>
            <a:prstDash val="solid"/>
            <a:miter lim="800000"/>
            <a:headEnd type="none" w="sm" len="sm"/>
            <a:tailEnd type="none" w="sm" len="sm"/>
          </a:ln>
        </p:spPr>
      </p:pic>
      <p:sp>
        <p:nvSpPr>
          <p:cNvPr id="766" name="Google Shape;766;p110"/>
          <p:cNvSpPr txBox="1"/>
          <p:nvPr/>
        </p:nvSpPr>
        <p:spPr>
          <a:xfrm>
            <a:off x="57150" y="763500"/>
            <a:ext cx="8927400" cy="900300"/>
          </a:xfrm>
          <a:prstGeom prst="rect">
            <a:avLst/>
          </a:prstGeom>
          <a:noFill/>
          <a:ln>
            <a:noFill/>
          </a:ln>
        </p:spPr>
        <p:txBody>
          <a:bodyPr spcFirstLastPara="1" wrap="square" lIns="91425" tIns="45700" rIns="91425" bIns="45700" anchor="t" anchorCtr="0">
            <a:noAutofit/>
          </a:bodyPr>
          <a:lstStyle/>
          <a:p>
            <a:pPr marL="457200" marR="0" lvl="0" indent="-317500" algn="l" rtl="0">
              <a:lnSpc>
                <a:spcPct val="100000"/>
              </a:lnSpc>
              <a:spcBef>
                <a:spcPts val="0"/>
              </a:spcBef>
              <a:spcAft>
                <a:spcPts val="0"/>
              </a:spcAft>
              <a:buSzPts val="1400"/>
              <a:buChar char="●"/>
            </a:pPr>
            <a:r>
              <a:rPr lang="en" u="sng">
                <a:solidFill>
                  <a:schemeClr val="dk1"/>
                </a:solidFill>
              </a:rPr>
              <a:t>TABLE 🡪 FOVA_PARAMETER_STATUS: </a:t>
            </a:r>
            <a:endParaRPr u="sng">
              <a:solidFill>
                <a:schemeClr val="dk1"/>
              </a:solidFill>
            </a:endParaRPr>
          </a:p>
          <a:p>
            <a:pPr marL="457200" marR="0" lvl="0" indent="0" algn="l" rtl="0">
              <a:lnSpc>
                <a:spcPct val="100000"/>
              </a:lnSpc>
              <a:spcBef>
                <a:spcPts val="1000"/>
              </a:spcBef>
              <a:spcAft>
                <a:spcPts val="0"/>
              </a:spcAft>
              <a:buNone/>
            </a:pPr>
            <a:r>
              <a:rPr lang="en">
                <a:solidFill>
                  <a:schemeClr val="dk1"/>
                </a:solidFill>
              </a:rPr>
              <a:t>This table updated by FOVA parameter and FOVA process for current period</a:t>
            </a:r>
            <a:endParaRPr sz="1400" b="0" i="0"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767" name="Google Shape;767;p110"/>
          <p:cNvSpPr txBox="1"/>
          <p:nvPr/>
        </p:nvSpPr>
        <p:spPr>
          <a:xfrm>
            <a:off x="333375" y="1572775"/>
            <a:ext cx="742500" cy="900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900" b="0" i="0" u="none" strike="noStrike" cap="none">
                <a:solidFill>
                  <a:schemeClr val="dk1"/>
                </a:solidFill>
                <a:latin typeface="Arial"/>
                <a:ea typeface="Arial"/>
                <a:cs typeface="Arial"/>
                <a:sym typeface="Arial"/>
              </a:rPr>
              <a:t>Indicates the periodicity where the process submitted</a:t>
            </a:r>
            <a:endParaRPr sz="900" b="0" i="0" u="none" strike="noStrike" cap="none">
              <a:solidFill>
                <a:schemeClr val="dk1"/>
              </a:solidFill>
              <a:latin typeface="Arial"/>
              <a:ea typeface="Arial"/>
              <a:cs typeface="Arial"/>
              <a:sym typeface="Arial"/>
            </a:endParaRPr>
          </a:p>
        </p:txBody>
      </p:sp>
      <p:sp>
        <p:nvSpPr>
          <p:cNvPr id="768" name="Google Shape;768;p110"/>
          <p:cNvSpPr txBox="1"/>
          <p:nvPr/>
        </p:nvSpPr>
        <p:spPr>
          <a:xfrm>
            <a:off x="1267550" y="1831675"/>
            <a:ext cx="931200" cy="6414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900" b="0" i="0" u="none" strike="noStrike" cap="none">
                <a:solidFill>
                  <a:schemeClr val="dk1"/>
                </a:solidFill>
                <a:latin typeface="Arial"/>
                <a:ea typeface="Arial"/>
                <a:cs typeface="Arial"/>
                <a:sym typeface="Arial"/>
              </a:rPr>
              <a:t>Indicates the period for which process has submitted</a:t>
            </a:r>
            <a:endParaRPr sz="12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dk1"/>
              </a:solidFill>
              <a:latin typeface="Arial"/>
              <a:ea typeface="Arial"/>
              <a:cs typeface="Arial"/>
              <a:sym typeface="Arial"/>
            </a:endParaRPr>
          </a:p>
        </p:txBody>
      </p:sp>
      <p:sp>
        <p:nvSpPr>
          <p:cNvPr id="769" name="Google Shape;769;p110"/>
          <p:cNvSpPr txBox="1"/>
          <p:nvPr/>
        </p:nvSpPr>
        <p:spPr>
          <a:xfrm>
            <a:off x="2523375" y="1953775"/>
            <a:ext cx="742500" cy="5193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900" b="0" i="0" u="none" strike="noStrike" cap="none">
                <a:solidFill>
                  <a:schemeClr val="dk1"/>
                </a:solidFill>
                <a:latin typeface="Arial"/>
                <a:ea typeface="Arial"/>
                <a:cs typeface="Arial"/>
                <a:sym typeface="Arial"/>
              </a:rPr>
              <a:t>Indicates Previous period</a:t>
            </a:r>
            <a:endParaRPr sz="900" b="0" i="0" u="none" strike="noStrike" cap="none">
              <a:solidFill>
                <a:schemeClr val="dk1"/>
              </a:solidFill>
              <a:latin typeface="Arial"/>
              <a:ea typeface="Arial"/>
              <a:cs typeface="Arial"/>
              <a:sym typeface="Arial"/>
            </a:endParaRPr>
          </a:p>
        </p:txBody>
      </p:sp>
      <p:sp>
        <p:nvSpPr>
          <p:cNvPr id="770" name="Google Shape;770;p110"/>
          <p:cNvSpPr txBox="1"/>
          <p:nvPr/>
        </p:nvSpPr>
        <p:spPr>
          <a:xfrm>
            <a:off x="4932250" y="1478100"/>
            <a:ext cx="762000" cy="9996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900" b="0" i="0" u="none" strike="noStrike" cap="none">
                <a:solidFill>
                  <a:schemeClr val="dk1"/>
                </a:solidFill>
                <a:latin typeface="Arial"/>
                <a:ea typeface="Arial"/>
                <a:cs typeface="Arial"/>
                <a:sym typeface="Arial"/>
              </a:rPr>
              <a:t>Count of the stores (FOVA OK) for current/previous period</a:t>
            </a:r>
            <a:endParaRPr sz="900" b="0" i="0" u="none" strike="noStrike" cap="none">
              <a:solidFill>
                <a:schemeClr val="dk1"/>
              </a:solidFill>
              <a:latin typeface="Arial"/>
              <a:ea typeface="Arial"/>
              <a:cs typeface="Arial"/>
              <a:sym typeface="Arial"/>
            </a:endParaRPr>
          </a:p>
        </p:txBody>
      </p:sp>
      <p:sp>
        <p:nvSpPr>
          <p:cNvPr id="771" name="Google Shape;771;p110"/>
          <p:cNvSpPr txBox="1"/>
          <p:nvPr/>
        </p:nvSpPr>
        <p:spPr>
          <a:xfrm>
            <a:off x="5813399" y="3918425"/>
            <a:ext cx="1526023" cy="736125"/>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900" b="0" i="0" u="none" strike="noStrike" cap="none">
                <a:solidFill>
                  <a:schemeClr val="dk1"/>
                </a:solidFill>
                <a:latin typeface="Arial"/>
                <a:ea typeface="Arial"/>
                <a:cs typeface="Arial"/>
                <a:sym typeface="Arial"/>
              </a:rPr>
              <a:t>Status indicates that for specific period fova_parameter is ready to use for next period</a:t>
            </a:r>
            <a:endParaRPr sz="1200" b="0" i="0" u="none" strike="noStrike" cap="none">
              <a:solidFill>
                <a:srgbClr val="000000"/>
              </a:solidFill>
              <a:latin typeface="Arial"/>
              <a:ea typeface="Arial"/>
              <a:cs typeface="Arial"/>
              <a:sym typeface="Arial"/>
            </a:endParaRPr>
          </a:p>
        </p:txBody>
      </p:sp>
      <p:sp>
        <p:nvSpPr>
          <p:cNvPr id="772" name="Google Shape;772;p11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773" name="Google Shape;773;p110"/>
          <p:cNvSpPr txBox="1">
            <a:spLocks noGrp="1"/>
          </p:cNvSpPr>
          <p:nvPr>
            <p:ph type="body" idx="4294967295"/>
          </p:nvPr>
        </p:nvSpPr>
        <p:spPr>
          <a:xfrm>
            <a:off x="0" y="488950"/>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Parameters </a:t>
            </a:r>
            <a:endParaRPr sz="1800" i="0" u="none" strike="noStrike" cap="none">
              <a:solidFill>
                <a:schemeClr val="dk2"/>
              </a:solidFill>
            </a:endParaRPr>
          </a:p>
        </p:txBody>
      </p:sp>
      <p:sp>
        <p:nvSpPr>
          <p:cNvPr id="774" name="Google Shape;774;p110"/>
          <p:cNvSpPr txBox="1"/>
          <p:nvPr/>
        </p:nvSpPr>
        <p:spPr>
          <a:xfrm>
            <a:off x="3669100" y="2094598"/>
            <a:ext cx="762000" cy="383100"/>
          </a:xfrm>
          <a:prstGeom prst="rect">
            <a:avLst/>
          </a:prstGeom>
          <a:no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000" b="0" i="0" u="none" strike="noStrike" cap="none">
                <a:solidFill>
                  <a:schemeClr val="dk1"/>
                </a:solidFill>
                <a:latin typeface="Arial"/>
                <a:ea typeface="Arial"/>
                <a:cs typeface="Arial"/>
                <a:sym typeface="Arial"/>
              </a:rPr>
              <a:t>FOVA IBD</a:t>
            </a:r>
            <a:endParaRPr sz="1000" b="0" i="0" u="none" strike="noStrike" cap="none">
              <a:solidFill>
                <a:schemeClr val="dk1"/>
              </a:solidFill>
              <a:latin typeface="Arial"/>
              <a:ea typeface="Arial"/>
              <a:cs typeface="Arial"/>
              <a:sym typeface="Arial"/>
            </a:endParaRPr>
          </a:p>
        </p:txBody>
      </p:sp>
      <p:sp>
        <p:nvSpPr>
          <p:cNvPr id="775" name="Google Shape;775;p110"/>
          <p:cNvSpPr txBox="1"/>
          <p:nvPr/>
        </p:nvSpPr>
        <p:spPr>
          <a:xfrm>
            <a:off x="7467325" y="1953900"/>
            <a:ext cx="1428300" cy="5193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900">
                <a:latin typeface="Open Sans"/>
                <a:ea typeface="Open Sans"/>
                <a:cs typeface="Open Sans"/>
                <a:sym typeface="Open Sans"/>
              </a:rPr>
              <a:t>Lower/Upper bound for the current period trend</a:t>
            </a:r>
            <a:endParaRPr sz="90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779"/>
        <p:cNvGrpSpPr/>
        <p:nvPr/>
      </p:nvGrpSpPr>
      <p:grpSpPr>
        <a:xfrm>
          <a:off x="0" y="0"/>
          <a:ext cx="0" cy="0"/>
          <a:chOff x="0" y="0"/>
          <a:chExt cx="0" cy="0"/>
        </a:xfrm>
      </p:grpSpPr>
      <p:grpSp>
        <p:nvGrpSpPr>
          <p:cNvPr id="780" name="Google Shape;780;p111"/>
          <p:cNvGrpSpPr/>
          <p:nvPr/>
        </p:nvGrpSpPr>
        <p:grpSpPr>
          <a:xfrm>
            <a:off x="292001" y="936978"/>
            <a:ext cx="8462773" cy="3594478"/>
            <a:chOff x="1312534" y="-96915"/>
            <a:chExt cx="6281283" cy="4792638"/>
          </a:xfrm>
        </p:grpSpPr>
        <p:sp>
          <p:nvSpPr>
            <p:cNvPr id="781" name="Google Shape;781;p111"/>
            <p:cNvSpPr/>
            <p:nvPr/>
          </p:nvSpPr>
          <p:spPr>
            <a:xfrm>
              <a:off x="1397912" y="3292"/>
              <a:ext cx="6195900" cy="5634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2" name="Google Shape;782;p111"/>
            <p:cNvSpPr txBox="1"/>
            <p:nvPr/>
          </p:nvSpPr>
          <p:spPr>
            <a:xfrm>
              <a:off x="1397907" y="-96915"/>
              <a:ext cx="6195900" cy="358800"/>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 Before we start new week’s loading, Fova Parameter is calculated based on History as mentioned in above slides</a:t>
              </a:r>
              <a:endParaRPr sz="1100" b="0" i="0" u="none" strike="noStrike" cap="none">
                <a:solidFill>
                  <a:schemeClr val="dk1"/>
                </a:solidFill>
                <a:latin typeface="Arial"/>
                <a:ea typeface="Arial"/>
                <a:cs typeface="Arial"/>
                <a:sym typeface="Arial"/>
              </a:endParaRPr>
            </a:p>
          </p:txBody>
        </p:sp>
        <p:sp>
          <p:nvSpPr>
            <p:cNvPr id="783" name="Google Shape;783;p111"/>
            <p:cNvSpPr/>
            <p:nvPr/>
          </p:nvSpPr>
          <p:spPr>
            <a:xfrm>
              <a:off x="1397912" y="316979"/>
              <a:ext cx="826200" cy="137700"/>
            </a:xfrm>
            <a:prstGeom prst="parallelogram">
              <a:avLst>
                <a:gd name="adj" fmla="val 140840"/>
              </a:avLst>
            </a:prstGeom>
            <a:solidFill>
              <a:srgbClr val="515355"/>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4" name="Google Shape;784;p111"/>
            <p:cNvSpPr/>
            <p:nvPr/>
          </p:nvSpPr>
          <p:spPr>
            <a:xfrm>
              <a:off x="2272205" y="316979"/>
              <a:ext cx="826200" cy="137700"/>
            </a:xfrm>
            <a:prstGeom prst="parallelogram">
              <a:avLst>
                <a:gd name="adj" fmla="val 140840"/>
              </a:avLst>
            </a:prstGeom>
            <a:solidFill>
              <a:srgbClr val="515558"/>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5" name="Google Shape;785;p111"/>
            <p:cNvSpPr/>
            <p:nvPr/>
          </p:nvSpPr>
          <p:spPr>
            <a:xfrm>
              <a:off x="3146498" y="316979"/>
              <a:ext cx="826200" cy="137700"/>
            </a:xfrm>
            <a:prstGeom prst="parallelogram">
              <a:avLst>
                <a:gd name="adj" fmla="val 140840"/>
              </a:avLst>
            </a:prstGeom>
            <a:solidFill>
              <a:srgbClr val="52585D"/>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6" name="Google Shape;786;p111"/>
            <p:cNvSpPr/>
            <p:nvPr/>
          </p:nvSpPr>
          <p:spPr>
            <a:xfrm>
              <a:off x="4020790" y="316979"/>
              <a:ext cx="826200" cy="137700"/>
            </a:xfrm>
            <a:prstGeom prst="parallelogram">
              <a:avLst>
                <a:gd name="adj" fmla="val 140840"/>
              </a:avLst>
            </a:prstGeom>
            <a:solidFill>
              <a:srgbClr val="535B61"/>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7" name="Google Shape;787;p111"/>
            <p:cNvSpPr/>
            <p:nvPr/>
          </p:nvSpPr>
          <p:spPr>
            <a:xfrm>
              <a:off x="4895083" y="316979"/>
              <a:ext cx="826200" cy="137700"/>
            </a:xfrm>
            <a:prstGeom prst="parallelogram">
              <a:avLst>
                <a:gd name="adj" fmla="val 140840"/>
              </a:avLst>
            </a:prstGeom>
            <a:solidFill>
              <a:srgbClr val="535D66"/>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8" name="Google Shape;788;p111"/>
            <p:cNvSpPr/>
            <p:nvPr/>
          </p:nvSpPr>
          <p:spPr>
            <a:xfrm>
              <a:off x="5769375" y="316979"/>
              <a:ext cx="826200" cy="137700"/>
            </a:xfrm>
            <a:prstGeom prst="parallelogram">
              <a:avLst>
                <a:gd name="adj" fmla="val 140840"/>
              </a:avLst>
            </a:prstGeom>
            <a:solidFill>
              <a:srgbClr val="53606C"/>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9" name="Google Shape;789;p111"/>
            <p:cNvSpPr/>
            <p:nvPr/>
          </p:nvSpPr>
          <p:spPr>
            <a:xfrm>
              <a:off x="6643668" y="316979"/>
              <a:ext cx="826200" cy="137700"/>
            </a:xfrm>
            <a:prstGeom prst="parallelogram">
              <a:avLst>
                <a:gd name="adj" fmla="val 140840"/>
              </a:avLst>
            </a:prstGeom>
            <a:solidFill>
              <a:srgbClr val="546970"/>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0" name="Google Shape;790;p111"/>
            <p:cNvSpPr/>
            <p:nvPr/>
          </p:nvSpPr>
          <p:spPr>
            <a:xfrm>
              <a:off x="1397912" y="787072"/>
              <a:ext cx="6195900" cy="5634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1" name="Google Shape;791;p111"/>
            <p:cNvSpPr txBox="1"/>
            <p:nvPr/>
          </p:nvSpPr>
          <p:spPr>
            <a:xfrm>
              <a:off x="1312534" y="644968"/>
              <a:ext cx="6195900" cy="270300"/>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a:t>
              </a:r>
              <a:r>
                <a:rPr lang="en" sz="1050" b="0" i="0" u="none" strike="noStrike" cap="none">
                  <a:solidFill>
                    <a:schemeClr val="dk1"/>
                  </a:solidFill>
                  <a:latin typeface="Arial"/>
                  <a:ea typeface="Arial"/>
                  <a:cs typeface="Arial"/>
                  <a:sym typeface="Arial"/>
                </a:rPr>
                <a:t>To use this dynamic calculated parameter by FOVA process, the operator has to activate the parameter called “USE_NEW_FOVA” as Y</a:t>
              </a:r>
              <a:endParaRPr sz="1050" b="0" i="0" u="none" strike="noStrike" cap="none">
                <a:solidFill>
                  <a:schemeClr val="dk1"/>
                </a:solidFill>
                <a:latin typeface="Arial"/>
                <a:ea typeface="Arial"/>
                <a:cs typeface="Arial"/>
                <a:sym typeface="Arial"/>
              </a:endParaRPr>
            </a:p>
          </p:txBody>
        </p:sp>
        <p:sp>
          <p:nvSpPr>
            <p:cNvPr id="792" name="Google Shape;792;p111"/>
            <p:cNvSpPr/>
            <p:nvPr/>
          </p:nvSpPr>
          <p:spPr>
            <a:xfrm>
              <a:off x="1397912" y="943924"/>
              <a:ext cx="826200" cy="137700"/>
            </a:xfrm>
            <a:prstGeom prst="parallelogram">
              <a:avLst>
                <a:gd name="adj" fmla="val 140840"/>
              </a:avLst>
            </a:prstGeom>
            <a:solidFill>
              <a:srgbClr val="546D75"/>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3" name="Google Shape;793;p111"/>
            <p:cNvSpPr/>
            <p:nvPr/>
          </p:nvSpPr>
          <p:spPr>
            <a:xfrm>
              <a:off x="2272205" y="943924"/>
              <a:ext cx="826200" cy="137700"/>
            </a:xfrm>
            <a:prstGeom prst="parallelogram">
              <a:avLst>
                <a:gd name="adj" fmla="val 140840"/>
              </a:avLst>
            </a:prstGeom>
            <a:solidFill>
              <a:srgbClr val="54717B"/>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4" name="Google Shape;794;p111"/>
            <p:cNvSpPr/>
            <p:nvPr/>
          </p:nvSpPr>
          <p:spPr>
            <a:xfrm>
              <a:off x="3146498" y="943924"/>
              <a:ext cx="826200" cy="137700"/>
            </a:xfrm>
            <a:prstGeom prst="parallelogram">
              <a:avLst>
                <a:gd name="adj" fmla="val 140840"/>
              </a:avLst>
            </a:prstGeom>
            <a:solidFill>
              <a:srgbClr val="557580"/>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5" name="Google Shape;795;p111"/>
            <p:cNvSpPr/>
            <p:nvPr/>
          </p:nvSpPr>
          <p:spPr>
            <a:xfrm>
              <a:off x="4020790" y="943924"/>
              <a:ext cx="826200" cy="137700"/>
            </a:xfrm>
            <a:prstGeom prst="parallelogram">
              <a:avLst>
                <a:gd name="adj" fmla="val 140840"/>
              </a:avLst>
            </a:prstGeom>
            <a:solidFill>
              <a:srgbClr val="547985"/>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6" name="Google Shape;796;p111"/>
            <p:cNvSpPr/>
            <p:nvPr/>
          </p:nvSpPr>
          <p:spPr>
            <a:xfrm>
              <a:off x="4888486" y="928207"/>
              <a:ext cx="826200" cy="137700"/>
            </a:xfrm>
            <a:prstGeom prst="parallelogram">
              <a:avLst>
                <a:gd name="adj" fmla="val 140840"/>
              </a:avLst>
            </a:prstGeom>
            <a:solidFill>
              <a:srgbClr val="548B7E"/>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7" name="Google Shape;797;p111"/>
            <p:cNvSpPr/>
            <p:nvPr/>
          </p:nvSpPr>
          <p:spPr>
            <a:xfrm>
              <a:off x="5769375" y="943924"/>
              <a:ext cx="826200" cy="137700"/>
            </a:xfrm>
            <a:prstGeom prst="parallelogram">
              <a:avLst>
                <a:gd name="adj" fmla="val 140840"/>
              </a:avLst>
            </a:prstGeom>
            <a:solidFill>
              <a:srgbClr val="549081"/>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8" name="Google Shape;798;p111"/>
            <p:cNvSpPr/>
            <p:nvPr/>
          </p:nvSpPr>
          <p:spPr>
            <a:xfrm>
              <a:off x="6643668" y="943924"/>
              <a:ext cx="826200" cy="137700"/>
            </a:xfrm>
            <a:prstGeom prst="parallelogram">
              <a:avLst>
                <a:gd name="adj" fmla="val 140840"/>
              </a:avLst>
            </a:prstGeom>
            <a:solidFill>
              <a:srgbClr val="539685"/>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99" name="Google Shape;799;p111"/>
            <p:cNvSpPr/>
            <p:nvPr/>
          </p:nvSpPr>
          <p:spPr>
            <a:xfrm>
              <a:off x="1397912" y="1570852"/>
              <a:ext cx="6195900" cy="5634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0" name="Google Shape;800;p111"/>
            <p:cNvSpPr txBox="1"/>
            <p:nvPr/>
          </p:nvSpPr>
          <p:spPr>
            <a:xfrm>
              <a:off x="1397912" y="1118585"/>
              <a:ext cx="6195900" cy="563400"/>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050" b="0" i="0" u="none" strike="noStrike" cap="none">
                  <a:solidFill>
                    <a:schemeClr val="dk1"/>
                  </a:solidFill>
                  <a:latin typeface="Arial"/>
                  <a:ea typeface="Arial"/>
                  <a:cs typeface="Arial"/>
                  <a:sym typeface="Arial"/>
                </a:rPr>
                <a:t>🡪 When the operator start FOVA loading, FOVA decision is taken </a:t>
              </a:r>
              <a:r>
                <a:rPr lang="en" sz="1050" b="0" i="0" u="none" strike="noStrike" cap="none">
                  <a:solidFill>
                    <a:srgbClr val="7030A0"/>
                  </a:solidFill>
                  <a:latin typeface="Arial"/>
                  <a:ea typeface="Arial"/>
                  <a:cs typeface="Arial"/>
                  <a:sym typeface="Arial"/>
                </a:rPr>
                <a:t>using LT parameters </a:t>
              </a:r>
              <a:r>
                <a:rPr lang="en" sz="1050" b="0" i="0" u="none" strike="noStrike" cap="none">
                  <a:solidFill>
                    <a:schemeClr val="dk1"/>
                  </a:solidFill>
                  <a:latin typeface="Arial"/>
                  <a:ea typeface="Arial"/>
                  <a:cs typeface="Arial"/>
                  <a:sym typeface="Arial"/>
                </a:rPr>
                <a:t>for first X stores (X is based on parameter “MIN_IBD_STORE_COUNT”).</a:t>
              </a:r>
              <a:endParaRPr sz="1050" b="0" i="0" u="none" strike="noStrike" cap="none">
                <a:solidFill>
                  <a:schemeClr val="dk1"/>
                </a:solidFill>
                <a:latin typeface="Arial"/>
                <a:ea typeface="Arial"/>
                <a:cs typeface="Arial"/>
                <a:sym typeface="Arial"/>
              </a:endParaRPr>
            </a:p>
          </p:txBody>
        </p:sp>
        <p:sp>
          <p:nvSpPr>
            <p:cNvPr id="801" name="Google Shape;801;p111"/>
            <p:cNvSpPr/>
            <p:nvPr/>
          </p:nvSpPr>
          <p:spPr>
            <a:xfrm>
              <a:off x="1397912" y="1727704"/>
              <a:ext cx="826200" cy="137700"/>
            </a:xfrm>
            <a:prstGeom prst="parallelogram">
              <a:avLst>
                <a:gd name="adj" fmla="val 140840"/>
              </a:avLst>
            </a:prstGeom>
            <a:solidFill>
              <a:srgbClr val="529D8A"/>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2" name="Google Shape;802;p111"/>
            <p:cNvSpPr/>
            <p:nvPr/>
          </p:nvSpPr>
          <p:spPr>
            <a:xfrm>
              <a:off x="2272205" y="1727704"/>
              <a:ext cx="826200" cy="137700"/>
            </a:xfrm>
            <a:prstGeom prst="parallelogram">
              <a:avLst>
                <a:gd name="adj" fmla="val 140840"/>
              </a:avLst>
            </a:prstGeom>
            <a:solidFill>
              <a:srgbClr val="53A28E"/>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3" name="Google Shape;803;p111"/>
            <p:cNvSpPr/>
            <p:nvPr/>
          </p:nvSpPr>
          <p:spPr>
            <a:xfrm>
              <a:off x="3146498" y="1727704"/>
              <a:ext cx="826200" cy="137700"/>
            </a:xfrm>
            <a:prstGeom prst="parallelogram">
              <a:avLst>
                <a:gd name="adj" fmla="val 140840"/>
              </a:avLst>
            </a:prstGeom>
            <a:solidFill>
              <a:srgbClr val="52A87C"/>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4" name="Google Shape;804;p111"/>
            <p:cNvSpPr/>
            <p:nvPr/>
          </p:nvSpPr>
          <p:spPr>
            <a:xfrm>
              <a:off x="4020790" y="1727704"/>
              <a:ext cx="826200" cy="137700"/>
            </a:xfrm>
            <a:prstGeom prst="parallelogram">
              <a:avLst>
                <a:gd name="adj" fmla="val 140840"/>
              </a:avLst>
            </a:prstGeom>
            <a:solidFill>
              <a:srgbClr val="51AF7F"/>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5" name="Google Shape;805;p111"/>
            <p:cNvSpPr/>
            <p:nvPr/>
          </p:nvSpPr>
          <p:spPr>
            <a:xfrm>
              <a:off x="4895083" y="1727704"/>
              <a:ext cx="826200" cy="137700"/>
            </a:xfrm>
            <a:prstGeom prst="parallelogram">
              <a:avLst>
                <a:gd name="adj" fmla="val 140840"/>
              </a:avLst>
            </a:prstGeom>
            <a:solidFill>
              <a:srgbClr val="53B282"/>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6" name="Google Shape;806;p111"/>
            <p:cNvSpPr/>
            <p:nvPr/>
          </p:nvSpPr>
          <p:spPr>
            <a:xfrm>
              <a:off x="5769375" y="1727704"/>
              <a:ext cx="826200" cy="137700"/>
            </a:xfrm>
            <a:prstGeom prst="parallelogram">
              <a:avLst>
                <a:gd name="adj" fmla="val 140840"/>
              </a:avLst>
            </a:prstGeom>
            <a:solidFill>
              <a:srgbClr val="54B684"/>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7" name="Google Shape;807;p111"/>
            <p:cNvSpPr/>
            <p:nvPr/>
          </p:nvSpPr>
          <p:spPr>
            <a:xfrm>
              <a:off x="6643668" y="1727704"/>
              <a:ext cx="826200" cy="137700"/>
            </a:xfrm>
            <a:prstGeom prst="parallelogram">
              <a:avLst>
                <a:gd name="adj" fmla="val 140840"/>
              </a:avLst>
            </a:prstGeom>
            <a:solidFill>
              <a:srgbClr val="55BB87"/>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8" name="Google Shape;808;p111"/>
            <p:cNvSpPr/>
            <p:nvPr/>
          </p:nvSpPr>
          <p:spPr>
            <a:xfrm>
              <a:off x="1397912" y="2437103"/>
              <a:ext cx="6195900" cy="5634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9" name="Google Shape;809;p111"/>
            <p:cNvSpPr txBox="1"/>
            <p:nvPr/>
          </p:nvSpPr>
          <p:spPr>
            <a:xfrm>
              <a:off x="1397912" y="2030703"/>
              <a:ext cx="6195900" cy="563400"/>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000" b="0" i="0" u="none" strike="noStrike" cap="none">
                  <a:solidFill>
                    <a:schemeClr val="dk1"/>
                  </a:solidFill>
                  <a:latin typeface="Arial"/>
                  <a:ea typeface="Arial"/>
                  <a:cs typeface="Arial"/>
                  <a:sym typeface="Arial"/>
                </a:rPr>
                <a:t>🡪 Once FOVA loading reaches to X number of stores by IBD, Process calculates Current period’s lower/upper bound, trend Lower/Upper bound  for current period, Trend Factor  and updated the table “FOVA_PARAMETER” and “FOVA_PARAMETER_STATUS” table. Here Current period means new period for which FOVA process has submitted</a:t>
              </a:r>
              <a:endParaRPr sz="1000" b="0" i="0" u="none" strike="noStrike" cap="none">
                <a:solidFill>
                  <a:schemeClr val="dk1"/>
                </a:solidFill>
                <a:latin typeface="Arial"/>
                <a:ea typeface="Arial"/>
                <a:cs typeface="Arial"/>
                <a:sym typeface="Arial"/>
              </a:endParaRPr>
            </a:p>
          </p:txBody>
        </p:sp>
        <p:sp>
          <p:nvSpPr>
            <p:cNvPr id="810" name="Google Shape;810;p111"/>
            <p:cNvSpPr/>
            <p:nvPr/>
          </p:nvSpPr>
          <p:spPr>
            <a:xfrm>
              <a:off x="1397912" y="2638447"/>
              <a:ext cx="826200" cy="137700"/>
            </a:xfrm>
            <a:prstGeom prst="parallelogram">
              <a:avLst>
                <a:gd name="adj" fmla="val 140840"/>
              </a:avLst>
            </a:prstGeom>
            <a:solidFill>
              <a:srgbClr val="57BE8A"/>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1" name="Google Shape;811;p111"/>
            <p:cNvSpPr/>
            <p:nvPr/>
          </p:nvSpPr>
          <p:spPr>
            <a:xfrm>
              <a:off x="2272205" y="2638447"/>
              <a:ext cx="826200" cy="137700"/>
            </a:xfrm>
            <a:prstGeom prst="parallelogram">
              <a:avLst>
                <a:gd name="adj" fmla="val 140840"/>
              </a:avLst>
            </a:prstGeom>
            <a:solidFill>
              <a:srgbClr val="58C272"/>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2" name="Google Shape;812;p111"/>
            <p:cNvSpPr/>
            <p:nvPr/>
          </p:nvSpPr>
          <p:spPr>
            <a:xfrm>
              <a:off x="3146498" y="2638447"/>
              <a:ext cx="826200" cy="137700"/>
            </a:xfrm>
            <a:prstGeom prst="parallelogram">
              <a:avLst>
                <a:gd name="adj" fmla="val 140840"/>
              </a:avLst>
            </a:prstGeom>
            <a:solidFill>
              <a:srgbClr val="59C674"/>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3" name="Google Shape;813;p111"/>
            <p:cNvSpPr/>
            <p:nvPr/>
          </p:nvSpPr>
          <p:spPr>
            <a:xfrm>
              <a:off x="4020790" y="2638447"/>
              <a:ext cx="826200" cy="137700"/>
            </a:xfrm>
            <a:prstGeom prst="parallelogram">
              <a:avLst>
                <a:gd name="adj" fmla="val 140840"/>
              </a:avLst>
            </a:prstGeom>
            <a:solidFill>
              <a:srgbClr val="5CC978"/>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4" name="Google Shape;814;p111"/>
            <p:cNvSpPr/>
            <p:nvPr/>
          </p:nvSpPr>
          <p:spPr>
            <a:xfrm>
              <a:off x="4895083" y="2638447"/>
              <a:ext cx="826200" cy="137700"/>
            </a:xfrm>
            <a:prstGeom prst="parallelogram">
              <a:avLst>
                <a:gd name="adj" fmla="val 140840"/>
              </a:avLst>
            </a:prstGeom>
            <a:solidFill>
              <a:srgbClr val="5ECD7A"/>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5" name="Google Shape;815;p111"/>
            <p:cNvSpPr/>
            <p:nvPr/>
          </p:nvSpPr>
          <p:spPr>
            <a:xfrm>
              <a:off x="5769375" y="2638447"/>
              <a:ext cx="826200" cy="137700"/>
            </a:xfrm>
            <a:prstGeom prst="parallelogram">
              <a:avLst>
                <a:gd name="adj" fmla="val 140840"/>
              </a:avLst>
            </a:prstGeom>
            <a:solidFill>
              <a:srgbClr val="5FD07C"/>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6" name="Google Shape;816;p111"/>
            <p:cNvSpPr/>
            <p:nvPr/>
          </p:nvSpPr>
          <p:spPr>
            <a:xfrm>
              <a:off x="6643668" y="2638447"/>
              <a:ext cx="826200" cy="137700"/>
            </a:xfrm>
            <a:prstGeom prst="parallelogram">
              <a:avLst>
                <a:gd name="adj" fmla="val 140840"/>
              </a:avLst>
            </a:prstGeom>
            <a:solidFill>
              <a:srgbClr val="7ED362"/>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7" name="Google Shape;817;p111"/>
            <p:cNvSpPr/>
            <p:nvPr/>
          </p:nvSpPr>
          <p:spPr>
            <a:xfrm>
              <a:off x="1397907" y="3247243"/>
              <a:ext cx="6195900" cy="3387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8" name="Google Shape;818;p111"/>
            <p:cNvSpPr txBox="1"/>
            <p:nvPr/>
          </p:nvSpPr>
          <p:spPr>
            <a:xfrm>
              <a:off x="1391302" y="2801043"/>
              <a:ext cx="6195900" cy="338700"/>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000" b="0" i="0" u="none" strike="noStrike" cap="none">
                  <a:solidFill>
                    <a:schemeClr val="dk1"/>
                  </a:solidFill>
                  <a:latin typeface="Arial"/>
                  <a:ea typeface="Arial"/>
                  <a:cs typeface="Arial"/>
                  <a:sym typeface="Arial"/>
                </a:rPr>
                <a:t>🡪 And these calculation is refreshed once fova load reaches to 2X,3X till store count satisfy the parameter “MAX_IBD_STORE_COUNT” by IBD</a:t>
              </a:r>
              <a:endParaRPr sz="1000" b="0" i="0" u="none" strike="noStrike" cap="none">
                <a:solidFill>
                  <a:schemeClr val="dk1"/>
                </a:solidFill>
                <a:latin typeface="Arial"/>
                <a:ea typeface="Arial"/>
                <a:cs typeface="Arial"/>
                <a:sym typeface="Arial"/>
              </a:endParaRPr>
            </a:p>
          </p:txBody>
        </p:sp>
        <p:sp>
          <p:nvSpPr>
            <p:cNvPr id="819" name="Google Shape;819;p111"/>
            <p:cNvSpPr/>
            <p:nvPr/>
          </p:nvSpPr>
          <p:spPr>
            <a:xfrm>
              <a:off x="1397912" y="3193663"/>
              <a:ext cx="826200" cy="137700"/>
            </a:xfrm>
            <a:prstGeom prst="parallelogram">
              <a:avLst>
                <a:gd name="adj" fmla="val 140840"/>
              </a:avLst>
            </a:prstGeom>
            <a:solidFill>
              <a:srgbClr val="80D664"/>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0" name="Google Shape;820;p111"/>
            <p:cNvSpPr/>
            <p:nvPr/>
          </p:nvSpPr>
          <p:spPr>
            <a:xfrm>
              <a:off x="2272205" y="3193663"/>
              <a:ext cx="826200" cy="137700"/>
            </a:xfrm>
            <a:prstGeom prst="parallelogram">
              <a:avLst>
                <a:gd name="adj" fmla="val 140840"/>
              </a:avLst>
            </a:prstGeom>
            <a:solidFill>
              <a:srgbClr val="83DA66"/>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1" name="Google Shape;821;p111"/>
            <p:cNvSpPr/>
            <p:nvPr/>
          </p:nvSpPr>
          <p:spPr>
            <a:xfrm>
              <a:off x="3146498" y="3193663"/>
              <a:ext cx="826200" cy="137700"/>
            </a:xfrm>
            <a:prstGeom prst="parallelogram">
              <a:avLst>
                <a:gd name="adj" fmla="val 140840"/>
              </a:avLst>
            </a:prstGeom>
            <a:solidFill>
              <a:srgbClr val="86DC69"/>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2" name="Google Shape;822;p111"/>
            <p:cNvSpPr/>
            <p:nvPr/>
          </p:nvSpPr>
          <p:spPr>
            <a:xfrm>
              <a:off x="4020790" y="3193663"/>
              <a:ext cx="826200" cy="137700"/>
            </a:xfrm>
            <a:prstGeom prst="parallelogram">
              <a:avLst>
                <a:gd name="adj" fmla="val 140840"/>
              </a:avLst>
            </a:prstGeom>
            <a:solidFill>
              <a:srgbClr val="89DF6B"/>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3" name="Google Shape;823;p111"/>
            <p:cNvSpPr/>
            <p:nvPr/>
          </p:nvSpPr>
          <p:spPr>
            <a:xfrm>
              <a:off x="4895083" y="3193663"/>
              <a:ext cx="826200" cy="137700"/>
            </a:xfrm>
            <a:prstGeom prst="parallelogram">
              <a:avLst>
                <a:gd name="adj" fmla="val 140840"/>
              </a:avLst>
            </a:prstGeom>
            <a:solidFill>
              <a:srgbClr val="A7E26E"/>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4" name="Google Shape;824;p111"/>
            <p:cNvSpPr/>
            <p:nvPr/>
          </p:nvSpPr>
          <p:spPr>
            <a:xfrm>
              <a:off x="5769375" y="3193663"/>
              <a:ext cx="826200" cy="137700"/>
            </a:xfrm>
            <a:prstGeom prst="parallelogram">
              <a:avLst>
                <a:gd name="adj" fmla="val 140840"/>
              </a:avLst>
            </a:prstGeom>
            <a:solidFill>
              <a:srgbClr val="AAE471"/>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5" name="Google Shape;825;p111"/>
            <p:cNvSpPr/>
            <p:nvPr/>
          </p:nvSpPr>
          <p:spPr>
            <a:xfrm>
              <a:off x="6643668" y="3193663"/>
              <a:ext cx="826200" cy="137700"/>
            </a:xfrm>
            <a:prstGeom prst="parallelogram">
              <a:avLst>
                <a:gd name="adj" fmla="val 140840"/>
              </a:avLst>
            </a:prstGeom>
            <a:solidFill>
              <a:srgbClr val="ADE774"/>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6" name="Google Shape;826;p111"/>
            <p:cNvSpPr/>
            <p:nvPr/>
          </p:nvSpPr>
          <p:spPr>
            <a:xfrm>
              <a:off x="1397912" y="3806499"/>
              <a:ext cx="6195900" cy="563400"/>
            </a:xfrm>
            <a:prstGeom prst="rect">
              <a:avLst/>
            </a:prstGeom>
            <a:noFill/>
            <a:ln w="9525" cap="flat" cmpd="sng">
              <a:solidFill>
                <a:schemeClr val="dk1">
                  <a:alpha val="0"/>
                </a:scheme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7" name="Google Shape;827;p111"/>
            <p:cNvSpPr txBox="1"/>
            <p:nvPr/>
          </p:nvSpPr>
          <p:spPr>
            <a:xfrm>
              <a:off x="1397917" y="3511763"/>
              <a:ext cx="6195900" cy="197361"/>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🡪After this, system start using dynamic parameters which is calculated as mentioned in above slides and take decision based on that</a:t>
              </a:r>
              <a:endParaRPr sz="1100" b="0" i="0" u="none" strike="noStrike" cap="none">
                <a:solidFill>
                  <a:schemeClr val="dk1"/>
                </a:solidFill>
                <a:latin typeface="Arial"/>
                <a:ea typeface="Arial"/>
                <a:cs typeface="Arial"/>
                <a:sym typeface="Arial"/>
              </a:endParaRPr>
            </a:p>
          </p:txBody>
        </p:sp>
        <p:sp>
          <p:nvSpPr>
            <p:cNvPr id="828" name="Google Shape;828;p111"/>
            <p:cNvSpPr/>
            <p:nvPr/>
          </p:nvSpPr>
          <p:spPr>
            <a:xfrm>
              <a:off x="1397912" y="3774243"/>
              <a:ext cx="826200" cy="137700"/>
            </a:xfrm>
            <a:prstGeom prst="parallelogram">
              <a:avLst>
                <a:gd name="adj" fmla="val 140840"/>
              </a:avLst>
            </a:prstGeom>
            <a:solidFill>
              <a:srgbClr val="B0EA77"/>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9" name="Google Shape;829;p111"/>
            <p:cNvSpPr/>
            <p:nvPr/>
          </p:nvSpPr>
          <p:spPr>
            <a:xfrm>
              <a:off x="2272205" y="3774243"/>
              <a:ext cx="826200" cy="137700"/>
            </a:xfrm>
            <a:prstGeom prst="parallelogram">
              <a:avLst>
                <a:gd name="adj" fmla="val 140840"/>
              </a:avLst>
            </a:prstGeom>
            <a:solidFill>
              <a:srgbClr val="B2EB7A"/>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0" name="Google Shape;830;p111"/>
            <p:cNvSpPr/>
            <p:nvPr/>
          </p:nvSpPr>
          <p:spPr>
            <a:xfrm>
              <a:off x="3146498" y="3774243"/>
              <a:ext cx="826200" cy="137700"/>
            </a:xfrm>
            <a:prstGeom prst="parallelogram">
              <a:avLst>
                <a:gd name="adj" fmla="val 140840"/>
              </a:avLst>
            </a:prstGeom>
            <a:solidFill>
              <a:srgbClr val="B5EE7D"/>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1" name="Google Shape;831;p111"/>
            <p:cNvSpPr/>
            <p:nvPr/>
          </p:nvSpPr>
          <p:spPr>
            <a:xfrm>
              <a:off x="4020790" y="3774243"/>
              <a:ext cx="826200" cy="137700"/>
            </a:xfrm>
            <a:prstGeom prst="parallelogram">
              <a:avLst>
                <a:gd name="adj" fmla="val 140840"/>
              </a:avLst>
            </a:prstGeom>
            <a:solidFill>
              <a:srgbClr val="D4EF81"/>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2" name="Google Shape;832;p111"/>
            <p:cNvSpPr/>
            <p:nvPr/>
          </p:nvSpPr>
          <p:spPr>
            <a:xfrm>
              <a:off x="4895083" y="3774243"/>
              <a:ext cx="826200" cy="137700"/>
            </a:xfrm>
            <a:prstGeom prst="parallelogram">
              <a:avLst>
                <a:gd name="adj" fmla="val 140840"/>
              </a:avLst>
            </a:prstGeom>
            <a:solidFill>
              <a:srgbClr val="D6F184"/>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3" name="Google Shape;833;p111"/>
            <p:cNvSpPr/>
            <p:nvPr/>
          </p:nvSpPr>
          <p:spPr>
            <a:xfrm>
              <a:off x="5769375" y="3774243"/>
              <a:ext cx="826200" cy="137700"/>
            </a:xfrm>
            <a:prstGeom prst="parallelogram">
              <a:avLst>
                <a:gd name="adj" fmla="val 140840"/>
              </a:avLst>
            </a:prstGeom>
            <a:solidFill>
              <a:srgbClr val="D9F388"/>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4" name="Google Shape;834;p111"/>
            <p:cNvSpPr/>
            <p:nvPr/>
          </p:nvSpPr>
          <p:spPr>
            <a:xfrm>
              <a:off x="6643668" y="3774243"/>
              <a:ext cx="826200" cy="137700"/>
            </a:xfrm>
            <a:prstGeom prst="parallelogram">
              <a:avLst>
                <a:gd name="adj" fmla="val 140840"/>
              </a:avLst>
            </a:prstGeom>
            <a:solidFill>
              <a:srgbClr val="DAF58C"/>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5" name="Google Shape;835;p111"/>
            <p:cNvSpPr txBox="1"/>
            <p:nvPr/>
          </p:nvSpPr>
          <p:spPr>
            <a:xfrm>
              <a:off x="1397912" y="3925838"/>
              <a:ext cx="6195900" cy="563400"/>
            </a:xfrm>
            <a:prstGeom prst="rect">
              <a:avLst/>
            </a:prstGeom>
            <a:noFill/>
            <a:ln>
              <a:noFill/>
            </a:ln>
          </p:spPr>
          <p:txBody>
            <a:bodyPr spcFirstLastPara="1" wrap="square" lIns="41900" tIns="41900" rIns="41900" bIns="41900" anchor="b" anchorCtr="0">
              <a:noAutofit/>
            </a:bodyPr>
            <a:lstStyle/>
            <a:p>
              <a:pPr marL="0" marR="0" lvl="0" indent="0" algn="l" rtl="0">
                <a:lnSpc>
                  <a:spcPct val="90000"/>
                </a:lnSpc>
                <a:spcBef>
                  <a:spcPts val="0"/>
                </a:spcBef>
                <a:spcAft>
                  <a:spcPts val="0"/>
                </a:spcAft>
                <a:buClr>
                  <a:srgbClr val="000000"/>
                </a:buClr>
                <a:buSzPts val="1100"/>
                <a:buFont typeface="Arial"/>
                <a:buNone/>
              </a:pPr>
              <a:r>
                <a:rPr lang="en" sz="1100" b="0" i="0" u="none" strike="noStrike" cap="none">
                  <a:solidFill>
                    <a:schemeClr val="dk1"/>
                  </a:solidFill>
                  <a:latin typeface="Arial"/>
                  <a:ea typeface="Arial"/>
                  <a:cs typeface="Arial"/>
                  <a:sym typeface="Arial"/>
                </a:rPr>
                <a:t>🡪 If the parameter “RELAUNCH_FOVA” is activated for the country then after X stores(where decision is taken with old parameters), available FOVA NOT OK stores get </a:t>
              </a:r>
              <a:r>
                <a:rPr lang="en" sz="1100">
                  <a:solidFill>
                    <a:schemeClr val="dk1"/>
                  </a:solidFill>
                </a:rPr>
                <a:t>submitted</a:t>
              </a:r>
              <a:r>
                <a:rPr lang="en" sz="1100" b="0" i="0" u="none" strike="noStrike" cap="none">
                  <a:solidFill>
                    <a:schemeClr val="dk1"/>
                  </a:solidFill>
                  <a:latin typeface="Arial"/>
                  <a:ea typeface="Arial"/>
                  <a:cs typeface="Arial"/>
                  <a:sym typeface="Arial"/>
                </a:rPr>
                <a:t> automatically and new decision will be taken using dynamic parameter. </a:t>
              </a:r>
              <a:endParaRPr sz="1100" b="0" i="0" u="none" strike="noStrike" cap="none">
                <a:solidFill>
                  <a:schemeClr val="dk1"/>
                </a:solidFill>
                <a:latin typeface="Arial"/>
                <a:ea typeface="Arial"/>
                <a:cs typeface="Arial"/>
                <a:sym typeface="Arial"/>
              </a:endParaRPr>
            </a:p>
          </p:txBody>
        </p:sp>
        <p:sp>
          <p:nvSpPr>
            <p:cNvPr id="836" name="Google Shape;836;p111"/>
            <p:cNvSpPr/>
            <p:nvPr/>
          </p:nvSpPr>
          <p:spPr>
            <a:xfrm>
              <a:off x="1397912" y="4558023"/>
              <a:ext cx="826200" cy="137700"/>
            </a:xfrm>
            <a:prstGeom prst="parallelogram">
              <a:avLst>
                <a:gd name="adj" fmla="val 140840"/>
              </a:avLst>
            </a:prstGeom>
            <a:solidFill>
              <a:srgbClr val="DDF78F"/>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400"/>
                <a:buFont typeface="Arial"/>
                <a:buNone/>
              </a:pPr>
              <a:endParaRPr/>
            </a:p>
          </p:txBody>
        </p:sp>
        <p:sp>
          <p:nvSpPr>
            <p:cNvPr id="837" name="Google Shape;837;p111"/>
            <p:cNvSpPr/>
            <p:nvPr/>
          </p:nvSpPr>
          <p:spPr>
            <a:xfrm>
              <a:off x="2272205" y="4558023"/>
              <a:ext cx="826200" cy="137700"/>
            </a:xfrm>
            <a:prstGeom prst="parallelogram">
              <a:avLst>
                <a:gd name="adj" fmla="val 140840"/>
              </a:avLst>
            </a:prstGeom>
            <a:solidFill>
              <a:srgbClr val="F8DF93"/>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8" name="Google Shape;838;p111"/>
            <p:cNvSpPr/>
            <p:nvPr/>
          </p:nvSpPr>
          <p:spPr>
            <a:xfrm>
              <a:off x="3146498" y="4558023"/>
              <a:ext cx="826200" cy="137700"/>
            </a:xfrm>
            <a:prstGeom prst="parallelogram">
              <a:avLst>
                <a:gd name="adj" fmla="val 140840"/>
              </a:avLst>
            </a:prstGeom>
            <a:solidFill>
              <a:srgbClr val="F9E197"/>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9" name="Google Shape;839;p111"/>
            <p:cNvSpPr/>
            <p:nvPr/>
          </p:nvSpPr>
          <p:spPr>
            <a:xfrm>
              <a:off x="4020790" y="4558023"/>
              <a:ext cx="826200" cy="137700"/>
            </a:xfrm>
            <a:prstGeom prst="parallelogram">
              <a:avLst>
                <a:gd name="adj" fmla="val 140840"/>
              </a:avLst>
            </a:prstGeom>
            <a:solidFill>
              <a:srgbClr val="FBE39B"/>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0" name="Google Shape;840;p111"/>
            <p:cNvSpPr/>
            <p:nvPr/>
          </p:nvSpPr>
          <p:spPr>
            <a:xfrm>
              <a:off x="4895083" y="4558023"/>
              <a:ext cx="826200" cy="137700"/>
            </a:xfrm>
            <a:prstGeom prst="parallelogram">
              <a:avLst>
                <a:gd name="adj" fmla="val 140840"/>
              </a:avLst>
            </a:prstGeom>
            <a:solidFill>
              <a:srgbClr val="FCE59F"/>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1" name="Google Shape;841;p111"/>
            <p:cNvSpPr/>
            <p:nvPr/>
          </p:nvSpPr>
          <p:spPr>
            <a:xfrm>
              <a:off x="5769375" y="4558023"/>
              <a:ext cx="826200" cy="137700"/>
            </a:xfrm>
            <a:prstGeom prst="parallelogram">
              <a:avLst>
                <a:gd name="adj" fmla="val 140840"/>
              </a:avLst>
            </a:prstGeom>
            <a:solidFill>
              <a:srgbClr val="FDE6A4"/>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2" name="Google Shape;842;p111"/>
            <p:cNvSpPr/>
            <p:nvPr/>
          </p:nvSpPr>
          <p:spPr>
            <a:xfrm>
              <a:off x="6643668" y="4558023"/>
              <a:ext cx="826200" cy="137700"/>
            </a:xfrm>
            <a:prstGeom prst="parallelogram">
              <a:avLst>
                <a:gd name="adj" fmla="val 140840"/>
              </a:avLst>
            </a:prstGeom>
            <a:solidFill>
              <a:srgbClr val="FED3A8"/>
            </a:solidFill>
            <a:ln>
              <a:noFill/>
            </a:ln>
            <a:effectLst>
              <a:outerShdw blurRad="40000" dist="23000" dir="5400000" rotWithShape="0">
                <a:srgbClr val="000000">
                  <a:alpha val="3451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843" name="Google Shape;843;p111"/>
          <p:cNvSpPr txBox="1"/>
          <p:nvPr/>
        </p:nvSpPr>
        <p:spPr>
          <a:xfrm>
            <a:off x="762000" y="4648202"/>
            <a:ext cx="7772400" cy="254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sngStrike" cap="none">
              <a:solidFill>
                <a:schemeClr val="dk1"/>
              </a:solidFill>
              <a:latin typeface="Arial"/>
              <a:ea typeface="Arial"/>
              <a:cs typeface="Arial"/>
              <a:sym typeface="Arial"/>
            </a:endParaRPr>
          </a:p>
        </p:txBody>
      </p:sp>
      <p:sp>
        <p:nvSpPr>
          <p:cNvPr id="844" name="Google Shape;844;p111"/>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845" name="Google Shape;845;p111"/>
          <p:cNvSpPr txBox="1">
            <a:spLocks noGrp="1"/>
          </p:cNvSpPr>
          <p:nvPr>
            <p:ph type="body" idx="4294967295"/>
          </p:nvPr>
        </p:nvSpPr>
        <p:spPr>
          <a:xfrm>
            <a:off x="0" y="565150"/>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Process wise - FOVA (Current Algorithm)</a:t>
            </a:r>
            <a:endParaRPr sz="1800" i="0" u="none" strike="noStrike" cap="none">
              <a:solidFill>
                <a:schemeClr val="dk2"/>
              </a:solidFill>
            </a:endParaRPr>
          </a:p>
        </p:txBody>
      </p:sp>
    </p:spTree>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849"/>
        <p:cNvGrpSpPr/>
        <p:nvPr/>
      </p:nvGrpSpPr>
      <p:grpSpPr>
        <a:xfrm>
          <a:off x="0" y="0"/>
          <a:ext cx="0" cy="0"/>
          <a:chOff x="0" y="0"/>
          <a:chExt cx="0" cy="0"/>
        </a:xfrm>
      </p:grpSpPr>
      <p:grpSp>
        <p:nvGrpSpPr>
          <p:cNvPr id="850" name="Google Shape;850;p112"/>
          <p:cNvGrpSpPr/>
          <p:nvPr/>
        </p:nvGrpSpPr>
        <p:grpSpPr>
          <a:xfrm>
            <a:off x="383943" y="1234817"/>
            <a:ext cx="8604594" cy="2788267"/>
            <a:chOff x="2943" y="732022"/>
            <a:chExt cx="8604594" cy="3717689"/>
          </a:xfrm>
        </p:grpSpPr>
        <p:sp>
          <p:nvSpPr>
            <p:cNvPr id="851" name="Google Shape;851;p112"/>
            <p:cNvSpPr/>
            <p:nvPr/>
          </p:nvSpPr>
          <p:spPr>
            <a:xfrm>
              <a:off x="5978438" y="2970443"/>
              <a:ext cx="1752900" cy="417000"/>
            </a:xfrm>
            <a:custGeom>
              <a:avLst/>
              <a:gdLst/>
              <a:ahLst/>
              <a:cxnLst/>
              <a:rect l="l" t="t" r="r" b="b"/>
              <a:pathLst>
                <a:path w="120000" h="120000" extrusionOk="0">
                  <a:moveTo>
                    <a:pt x="0" y="0"/>
                  </a:moveTo>
                  <a:lnTo>
                    <a:pt x="0" y="81777"/>
                  </a:lnTo>
                  <a:lnTo>
                    <a:pt x="120000" y="81777"/>
                  </a:lnTo>
                  <a:lnTo>
                    <a:pt x="120000" y="120000"/>
                  </a:lnTo>
                </a:path>
              </a:pathLst>
            </a:custGeom>
            <a:noFill/>
            <a:ln w="25400" cap="flat" cmpd="sng">
              <a:solidFill>
                <a:srgbClr val="B8D79B"/>
              </a:solidFill>
              <a:prstDash val="solid"/>
              <a:round/>
              <a:headEnd type="none" w="sm" len="sm"/>
              <a:tailEnd type="none" w="sm" len="sm"/>
            </a:ln>
          </p:spPr>
        </p:sp>
        <p:sp>
          <p:nvSpPr>
            <p:cNvPr id="852" name="Google Shape;852;p112"/>
            <p:cNvSpPr/>
            <p:nvPr/>
          </p:nvSpPr>
          <p:spPr>
            <a:xfrm>
              <a:off x="5932718" y="2970443"/>
              <a:ext cx="91500" cy="417000"/>
            </a:xfrm>
            <a:custGeom>
              <a:avLst/>
              <a:gdLst/>
              <a:ahLst/>
              <a:cxnLst/>
              <a:rect l="l" t="t" r="r" b="b"/>
              <a:pathLst>
                <a:path w="120000" h="120000" extrusionOk="0">
                  <a:moveTo>
                    <a:pt x="60000" y="0"/>
                  </a:moveTo>
                  <a:lnTo>
                    <a:pt x="60000" y="120000"/>
                  </a:lnTo>
                </a:path>
              </a:pathLst>
            </a:custGeom>
            <a:noFill/>
            <a:ln w="25400" cap="flat" cmpd="sng">
              <a:solidFill>
                <a:srgbClr val="B8D79B"/>
              </a:solidFill>
              <a:prstDash val="solid"/>
              <a:round/>
              <a:headEnd type="none" w="sm" len="sm"/>
              <a:tailEnd type="none" w="sm" len="sm"/>
            </a:ln>
          </p:spPr>
        </p:sp>
        <p:sp>
          <p:nvSpPr>
            <p:cNvPr id="853" name="Google Shape;853;p112"/>
            <p:cNvSpPr/>
            <p:nvPr/>
          </p:nvSpPr>
          <p:spPr>
            <a:xfrm>
              <a:off x="4225626" y="2970443"/>
              <a:ext cx="1752900" cy="417000"/>
            </a:xfrm>
            <a:custGeom>
              <a:avLst/>
              <a:gdLst/>
              <a:ahLst/>
              <a:cxnLst/>
              <a:rect l="l" t="t" r="r" b="b"/>
              <a:pathLst>
                <a:path w="120000" h="120000" extrusionOk="0">
                  <a:moveTo>
                    <a:pt x="120000" y="0"/>
                  </a:moveTo>
                  <a:lnTo>
                    <a:pt x="120000" y="81777"/>
                  </a:lnTo>
                  <a:lnTo>
                    <a:pt x="0" y="81777"/>
                  </a:lnTo>
                  <a:lnTo>
                    <a:pt x="0" y="120000"/>
                  </a:lnTo>
                </a:path>
              </a:pathLst>
            </a:custGeom>
            <a:noFill/>
            <a:ln w="25400" cap="flat" cmpd="sng">
              <a:solidFill>
                <a:srgbClr val="B8D79B"/>
              </a:solidFill>
              <a:prstDash val="solid"/>
              <a:round/>
              <a:headEnd type="none" w="sm" len="sm"/>
              <a:tailEnd type="none" w="sm" len="sm"/>
            </a:ln>
          </p:spPr>
        </p:sp>
        <p:sp>
          <p:nvSpPr>
            <p:cNvPr id="854" name="Google Shape;854;p112"/>
            <p:cNvSpPr/>
            <p:nvPr/>
          </p:nvSpPr>
          <p:spPr>
            <a:xfrm>
              <a:off x="3787423" y="1642688"/>
              <a:ext cx="2190900" cy="417000"/>
            </a:xfrm>
            <a:custGeom>
              <a:avLst/>
              <a:gdLst/>
              <a:ahLst/>
              <a:cxnLst/>
              <a:rect l="l" t="t" r="r" b="b"/>
              <a:pathLst>
                <a:path w="120000" h="120000" extrusionOk="0">
                  <a:moveTo>
                    <a:pt x="0" y="0"/>
                  </a:moveTo>
                  <a:lnTo>
                    <a:pt x="0" y="81777"/>
                  </a:lnTo>
                  <a:lnTo>
                    <a:pt x="120000" y="81777"/>
                  </a:lnTo>
                  <a:lnTo>
                    <a:pt x="120000" y="120000"/>
                  </a:lnTo>
                </a:path>
              </a:pathLst>
            </a:custGeom>
            <a:noFill/>
            <a:ln w="25400" cap="flat" cmpd="sng">
              <a:solidFill>
                <a:srgbClr val="99CD69"/>
              </a:solidFill>
              <a:prstDash val="solid"/>
              <a:round/>
              <a:headEnd type="none" w="sm" len="sm"/>
              <a:tailEnd type="none" w="sm" len="sm"/>
            </a:ln>
          </p:spPr>
        </p:sp>
        <p:sp>
          <p:nvSpPr>
            <p:cNvPr id="855" name="Google Shape;855;p112"/>
            <p:cNvSpPr/>
            <p:nvPr/>
          </p:nvSpPr>
          <p:spPr>
            <a:xfrm>
              <a:off x="1596408" y="2970443"/>
              <a:ext cx="876300" cy="417000"/>
            </a:xfrm>
            <a:custGeom>
              <a:avLst/>
              <a:gdLst/>
              <a:ahLst/>
              <a:cxnLst/>
              <a:rect l="l" t="t" r="r" b="b"/>
              <a:pathLst>
                <a:path w="120000" h="120000" extrusionOk="0">
                  <a:moveTo>
                    <a:pt x="0" y="0"/>
                  </a:moveTo>
                  <a:lnTo>
                    <a:pt x="0" y="81777"/>
                  </a:lnTo>
                  <a:lnTo>
                    <a:pt x="120000" y="81777"/>
                  </a:lnTo>
                  <a:lnTo>
                    <a:pt x="120000" y="120000"/>
                  </a:lnTo>
                </a:path>
              </a:pathLst>
            </a:custGeom>
            <a:noFill/>
            <a:ln w="25400" cap="flat" cmpd="sng">
              <a:solidFill>
                <a:srgbClr val="B8D79B"/>
              </a:solidFill>
              <a:prstDash val="solid"/>
              <a:round/>
              <a:headEnd type="none" w="sm" len="sm"/>
              <a:tailEnd type="none" w="sm" len="sm"/>
            </a:ln>
          </p:spPr>
        </p:sp>
        <p:sp>
          <p:nvSpPr>
            <p:cNvPr id="856" name="Google Shape;856;p112"/>
            <p:cNvSpPr/>
            <p:nvPr/>
          </p:nvSpPr>
          <p:spPr>
            <a:xfrm>
              <a:off x="720002" y="2970443"/>
              <a:ext cx="876300" cy="417000"/>
            </a:xfrm>
            <a:custGeom>
              <a:avLst/>
              <a:gdLst/>
              <a:ahLst/>
              <a:cxnLst/>
              <a:rect l="l" t="t" r="r" b="b"/>
              <a:pathLst>
                <a:path w="120000" h="120000" extrusionOk="0">
                  <a:moveTo>
                    <a:pt x="120000" y="0"/>
                  </a:moveTo>
                  <a:lnTo>
                    <a:pt x="120000" y="81777"/>
                  </a:lnTo>
                  <a:lnTo>
                    <a:pt x="0" y="81777"/>
                  </a:lnTo>
                  <a:lnTo>
                    <a:pt x="0" y="120000"/>
                  </a:lnTo>
                </a:path>
              </a:pathLst>
            </a:custGeom>
            <a:noFill/>
            <a:ln w="25400" cap="flat" cmpd="sng">
              <a:solidFill>
                <a:srgbClr val="B8D79B"/>
              </a:solidFill>
              <a:prstDash val="solid"/>
              <a:round/>
              <a:headEnd type="none" w="sm" len="sm"/>
              <a:tailEnd type="none" w="sm" len="sm"/>
            </a:ln>
          </p:spPr>
        </p:sp>
        <p:sp>
          <p:nvSpPr>
            <p:cNvPr id="857" name="Google Shape;857;p112"/>
            <p:cNvSpPr/>
            <p:nvPr/>
          </p:nvSpPr>
          <p:spPr>
            <a:xfrm>
              <a:off x="1596408" y="1642688"/>
              <a:ext cx="2190900" cy="417000"/>
            </a:xfrm>
            <a:custGeom>
              <a:avLst/>
              <a:gdLst/>
              <a:ahLst/>
              <a:cxnLst/>
              <a:rect l="l" t="t" r="r" b="b"/>
              <a:pathLst>
                <a:path w="120000" h="120000" extrusionOk="0">
                  <a:moveTo>
                    <a:pt x="120000" y="0"/>
                  </a:moveTo>
                  <a:lnTo>
                    <a:pt x="120000" y="81777"/>
                  </a:lnTo>
                  <a:lnTo>
                    <a:pt x="0" y="81777"/>
                  </a:lnTo>
                  <a:lnTo>
                    <a:pt x="0" y="120000"/>
                  </a:lnTo>
                </a:path>
              </a:pathLst>
            </a:custGeom>
            <a:noFill/>
            <a:ln w="25400" cap="flat" cmpd="sng">
              <a:solidFill>
                <a:srgbClr val="99CD69"/>
              </a:solidFill>
              <a:prstDash val="solid"/>
              <a:round/>
              <a:headEnd type="none" w="sm" len="sm"/>
              <a:tailEnd type="none" w="sm" len="sm"/>
            </a:ln>
          </p:spPr>
        </p:sp>
        <p:sp>
          <p:nvSpPr>
            <p:cNvPr id="858" name="Google Shape;858;p112"/>
            <p:cNvSpPr/>
            <p:nvPr/>
          </p:nvSpPr>
          <p:spPr>
            <a:xfrm>
              <a:off x="3070364" y="732022"/>
              <a:ext cx="1434000" cy="910800"/>
            </a:xfrm>
            <a:prstGeom prst="roundRect">
              <a:avLst>
                <a:gd name="adj" fmla="val 10000"/>
              </a:avLst>
            </a:prstGeom>
            <a:solidFill>
              <a:srgbClr val="8AC43E">
                <a:alpha val="8000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9" name="Google Shape;859;p112"/>
            <p:cNvSpPr/>
            <p:nvPr/>
          </p:nvSpPr>
          <p:spPr>
            <a:xfrm>
              <a:off x="3229710" y="883401"/>
              <a:ext cx="1434000" cy="910800"/>
            </a:xfrm>
            <a:prstGeom prst="roundRect">
              <a:avLst>
                <a:gd name="adj" fmla="val 10000"/>
              </a:avLst>
            </a:prstGeom>
            <a:solidFill>
              <a:schemeClr val="lt1">
                <a:alpha val="89020"/>
              </a:schemeClr>
            </a:solidFill>
            <a:ln w="25400" cap="flat" cmpd="sng">
              <a:solidFill>
                <a:srgbClr val="7CB13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0" name="Google Shape;860;p112"/>
            <p:cNvSpPr txBox="1"/>
            <p:nvPr/>
          </p:nvSpPr>
          <p:spPr>
            <a:xfrm>
              <a:off x="3256382" y="910073"/>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FOVA Report generation</a:t>
              </a:r>
              <a:endParaRPr sz="1400" b="0" i="0" u="none" strike="noStrike" cap="none">
                <a:solidFill>
                  <a:schemeClr val="dk1"/>
                </a:solidFill>
                <a:latin typeface="Arial"/>
                <a:ea typeface="Arial"/>
                <a:cs typeface="Arial"/>
                <a:sym typeface="Arial"/>
              </a:endParaRPr>
            </a:p>
          </p:txBody>
        </p:sp>
        <p:sp>
          <p:nvSpPr>
            <p:cNvPr id="861" name="Google Shape;861;p112"/>
            <p:cNvSpPr/>
            <p:nvPr/>
          </p:nvSpPr>
          <p:spPr>
            <a:xfrm>
              <a:off x="879349" y="2059777"/>
              <a:ext cx="1434000" cy="910800"/>
            </a:xfrm>
            <a:prstGeom prst="roundRect">
              <a:avLst>
                <a:gd name="adj" fmla="val 10000"/>
              </a:avLst>
            </a:prstGeom>
            <a:solidFill>
              <a:srgbClr val="8AC43E">
                <a:alpha val="6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2" name="Google Shape;862;p112"/>
            <p:cNvSpPr/>
            <p:nvPr/>
          </p:nvSpPr>
          <p:spPr>
            <a:xfrm>
              <a:off x="1038695" y="2211156"/>
              <a:ext cx="1434000" cy="910800"/>
            </a:xfrm>
            <a:prstGeom prst="roundRect">
              <a:avLst>
                <a:gd name="adj" fmla="val 10000"/>
              </a:avLst>
            </a:prstGeom>
            <a:solidFill>
              <a:schemeClr val="lt1">
                <a:alpha val="89020"/>
              </a:schemeClr>
            </a:solidFill>
            <a:ln w="25400" cap="flat" cmpd="sng">
              <a:solidFill>
                <a:srgbClr val="99CD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3" name="Google Shape;863;p112"/>
            <p:cNvSpPr txBox="1"/>
            <p:nvPr/>
          </p:nvSpPr>
          <p:spPr>
            <a:xfrm>
              <a:off x="1065367" y="2237828"/>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Acceptance of store as DATA_GOOD</a:t>
              </a:r>
              <a:endParaRPr sz="1400" b="0" i="0" u="none" strike="noStrike" cap="none">
                <a:solidFill>
                  <a:schemeClr val="dk1"/>
                </a:solidFill>
                <a:latin typeface="Arial"/>
                <a:ea typeface="Arial"/>
                <a:cs typeface="Arial"/>
                <a:sym typeface="Arial"/>
              </a:endParaRPr>
            </a:p>
          </p:txBody>
        </p:sp>
        <p:sp>
          <p:nvSpPr>
            <p:cNvPr id="864" name="Google Shape;864;p112"/>
            <p:cNvSpPr/>
            <p:nvPr/>
          </p:nvSpPr>
          <p:spPr>
            <a:xfrm>
              <a:off x="2943" y="3387532"/>
              <a:ext cx="1434000" cy="910800"/>
            </a:xfrm>
            <a:prstGeom prst="roundRect">
              <a:avLst>
                <a:gd name="adj" fmla="val 10000"/>
              </a:avLst>
            </a:prstGeom>
            <a:solidFill>
              <a:srgbClr val="8AC43E">
                <a:alpha val="4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5" name="Google Shape;865;p112"/>
            <p:cNvSpPr/>
            <p:nvPr/>
          </p:nvSpPr>
          <p:spPr>
            <a:xfrm>
              <a:off x="162289" y="3538911"/>
              <a:ext cx="1434000" cy="910800"/>
            </a:xfrm>
            <a:prstGeom prst="roundRect">
              <a:avLst>
                <a:gd name="adj" fmla="val 10000"/>
              </a:avLst>
            </a:prstGeom>
            <a:solidFill>
              <a:schemeClr val="lt1">
                <a:alpha val="89020"/>
              </a:schemeClr>
            </a:solidFill>
            <a:ln w="25400" cap="flat" cmpd="sng">
              <a:solidFill>
                <a:srgbClr val="B8D79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6" name="Google Shape;866;p112"/>
            <p:cNvSpPr txBox="1"/>
            <p:nvPr/>
          </p:nvSpPr>
          <p:spPr>
            <a:xfrm>
              <a:off x="188961" y="3565583"/>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No need to check the report</a:t>
              </a:r>
              <a:endParaRPr sz="1400" b="0" i="0" u="none" strike="noStrike" cap="none">
                <a:solidFill>
                  <a:schemeClr val="dk1"/>
                </a:solidFill>
                <a:latin typeface="Arial"/>
                <a:ea typeface="Arial"/>
                <a:cs typeface="Arial"/>
                <a:sym typeface="Arial"/>
              </a:endParaRPr>
            </a:p>
          </p:txBody>
        </p:sp>
        <p:sp>
          <p:nvSpPr>
            <p:cNvPr id="867" name="Google Shape;867;p112"/>
            <p:cNvSpPr/>
            <p:nvPr/>
          </p:nvSpPr>
          <p:spPr>
            <a:xfrm>
              <a:off x="1755755" y="3387532"/>
              <a:ext cx="1434000" cy="910800"/>
            </a:xfrm>
            <a:prstGeom prst="roundRect">
              <a:avLst>
                <a:gd name="adj" fmla="val 10000"/>
              </a:avLst>
            </a:prstGeom>
            <a:solidFill>
              <a:srgbClr val="8AC43E">
                <a:alpha val="4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8" name="Google Shape;868;p112"/>
            <p:cNvSpPr/>
            <p:nvPr/>
          </p:nvSpPr>
          <p:spPr>
            <a:xfrm>
              <a:off x="1915101" y="3538911"/>
              <a:ext cx="1434000" cy="910800"/>
            </a:xfrm>
            <a:prstGeom prst="roundRect">
              <a:avLst>
                <a:gd name="adj" fmla="val 10000"/>
              </a:avLst>
            </a:prstGeom>
            <a:solidFill>
              <a:schemeClr val="lt1">
                <a:alpha val="89020"/>
              </a:schemeClr>
            </a:solidFill>
            <a:ln w="25400" cap="flat" cmpd="sng">
              <a:solidFill>
                <a:srgbClr val="B8D79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9" name="Google Shape;869;p112"/>
            <p:cNvSpPr txBox="1"/>
            <p:nvPr/>
          </p:nvSpPr>
          <p:spPr>
            <a:xfrm>
              <a:off x="1941773" y="3565583"/>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200" b="0" i="0" u="none" strike="noStrike" cap="none">
                  <a:solidFill>
                    <a:schemeClr val="dk1"/>
                  </a:solidFill>
                  <a:latin typeface="Arial"/>
                  <a:ea typeface="Arial"/>
                  <a:cs typeface="Arial"/>
                  <a:sym typeface="Arial"/>
                </a:rPr>
                <a:t>Reports will not be available in FOVA to Do Browser</a:t>
              </a:r>
              <a:endParaRPr sz="1200" b="0" i="0" u="none" strike="noStrike" cap="none">
                <a:solidFill>
                  <a:schemeClr val="dk1"/>
                </a:solidFill>
                <a:latin typeface="Arial"/>
                <a:ea typeface="Arial"/>
                <a:cs typeface="Arial"/>
                <a:sym typeface="Arial"/>
              </a:endParaRPr>
            </a:p>
          </p:txBody>
        </p:sp>
        <p:sp>
          <p:nvSpPr>
            <p:cNvPr id="870" name="Google Shape;870;p112"/>
            <p:cNvSpPr/>
            <p:nvPr/>
          </p:nvSpPr>
          <p:spPr>
            <a:xfrm>
              <a:off x="5261379" y="2059777"/>
              <a:ext cx="1434000" cy="910800"/>
            </a:xfrm>
            <a:prstGeom prst="roundRect">
              <a:avLst>
                <a:gd name="adj" fmla="val 10000"/>
              </a:avLst>
            </a:prstGeom>
            <a:solidFill>
              <a:srgbClr val="8AC43E">
                <a:alpha val="6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1" name="Google Shape;871;p112"/>
            <p:cNvSpPr/>
            <p:nvPr/>
          </p:nvSpPr>
          <p:spPr>
            <a:xfrm>
              <a:off x="5420725" y="2211156"/>
              <a:ext cx="1434000" cy="910800"/>
            </a:xfrm>
            <a:prstGeom prst="roundRect">
              <a:avLst>
                <a:gd name="adj" fmla="val 10000"/>
              </a:avLst>
            </a:prstGeom>
            <a:solidFill>
              <a:schemeClr val="lt1">
                <a:alpha val="89020"/>
              </a:schemeClr>
            </a:solidFill>
            <a:ln w="25400" cap="flat" cmpd="sng">
              <a:solidFill>
                <a:srgbClr val="99CD6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2" name="Google Shape;872;p112"/>
            <p:cNvSpPr txBox="1"/>
            <p:nvPr/>
          </p:nvSpPr>
          <p:spPr>
            <a:xfrm>
              <a:off x="5447397" y="2237828"/>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Not acceptable store as Questionable </a:t>
              </a:r>
              <a:endParaRPr sz="1400" b="0" i="0" u="none" strike="noStrike" cap="none">
                <a:solidFill>
                  <a:schemeClr val="dk1"/>
                </a:solidFill>
                <a:latin typeface="Arial"/>
                <a:ea typeface="Arial"/>
                <a:cs typeface="Arial"/>
                <a:sym typeface="Arial"/>
              </a:endParaRPr>
            </a:p>
          </p:txBody>
        </p:sp>
        <p:sp>
          <p:nvSpPr>
            <p:cNvPr id="873" name="Google Shape;873;p112"/>
            <p:cNvSpPr/>
            <p:nvPr/>
          </p:nvSpPr>
          <p:spPr>
            <a:xfrm>
              <a:off x="3508567" y="3387532"/>
              <a:ext cx="1434000" cy="910800"/>
            </a:xfrm>
            <a:prstGeom prst="roundRect">
              <a:avLst>
                <a:gd name="adj" fmla="val 10000"/>
              </a:avLst>
            </a:prstGeom>
            <a:solidFill>
              <a:srgbClr val="8AC43E">
                <a:alpha val="4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4" name="Google Shape;874;p112"/>
            <p:cNvSpPr/>
            <p:nvPr/>
          </p:nvSpPr>
          <p:spPr>
            <a:xfrm>
              <a:off x="3667913" y="3538911"/>
              <a:ext cx="1434000" cy="910800"/>
            </a:xfrm>
            <a:prstGeom prst="roundRect">
              <a:avLst>
                <a:gd name="adj" fmla="val 10000"/>
              </a:avLst>
            </a:prstGeom>
            <a:solidFill>
              <a:schemeClr val="lt1">
                <a:alpha val="89020"/>
              </a:schemeClr>
            </a:solidFill>
            <a:ln w="25400" cap="flat" cmpd="sng">
              <a:solidFill>
                <a:srgbClr val="B8D79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5" name="Google Shape;875;p112"/>
            <p:cNvSpPr txBox="1"/>
            <p:nvPr/>
          </p:nvSpPr>
          <p:spPr>
            <a:xfrm>
              <a:off x="3694585" y="3565583"/>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200" b="0" i="0" u="none" strike="noStrike" cap="none">
                  <a:solidFill>
                    <a:schemeClr val="dk1"/>
                  </a:solidFill>
                  <a:latin typeface="Arial"/>
                  <a:ea typeface="Arial"/>
                  <a:cs typeface="Arial"/>
                  <a:sym typeface="Arial"/>
                </a:rPr>
                <a:t>Reports should be checked from FOVA to do Browser</a:t>
              </a:r>
              <a:endParaRPr sz="1200" b="0" i="0" u="none" strike="noStrike" cap="none">
                <a:solidFill>
                  <a:schemeClr val="dk1"/>
                </a:solidFill>
                <a:latin typeface="Arial"/>
                <a:ea typeface="Arial"/>
                <a:cs typeface="Arial"/>
                <a:sym typeface="Arial"/>
              </a:endParaRPr>
            </a:p>
          </p:txBody>
        </p:sp>
        <p:sp>
          <p:nvSpPr>
            <p:cNvPr id="876" name="Google Shape;876;p112"/>
            <p:cNvSpPr/>
            <p:nvPr/>
          </p:nvSpPr>
          <p:spPr>
            <a:xfrm>
              <a:off x="5261379" y="3387532"/>
              <a:ext cx="1434000" cy="910800"/>
            </a:xfrm>
            <a:prstGeom prst="roundRect">
              <a:avLst>
                <a:gd name="adj" fmla="val 10000"/>
              </a:avLst>
            </a:prstGeom>
            <a:solidFill>
              <a:srgbClr val="8AC43E">
                <a:alpha val="4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7" name="Google Shape;877;p112"/>
            <p:cNvSpPr/>
            <p:nvPr/>
          </p:nvSpPr>
          <p:spPr>
            <a:xfrm>
              <a:off x="5420725" y="3538911"/>
              <a:ext cx="1434000" cy="910800"/>
            </a:xfrm>
            <a:prstGeom prst="roundRect">
              <a:avLst>
                <a:gd name="adj" fmla="val 10000"/>
              </a:avLst>
            </a:prstGeom>
            <a:solidFill>
              <a:schemeClr val="lt1">
                <a:alpha val="89020"/>
              </a:schemeClr>
            </a:solidFill>
            <a:ln w="25400" cap="flat" cmpd="sng">
              <a:solidFill>
                <a:srgbClr val="B8D79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8" name="Google Shape;878;p112"/>
            <p:cNvSpPr txBox="1"/>
            <p:nvPr/>
          </p:nvSpPr>
          <p:spPr>
            <a:xfrm>
              <a:off x="5447397" y="3565583"/>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200" b="0" i="0" u="none" strike="noStrike" cap="none">
                  <a:solidFill>
                    <a:schemeClr val="dk1"/>
                  </a:solidFill>
                  <a:latin typeface="Arial"/>
                  <a:ea typeface="Arial"/>
                  <a:cs typeface="Arial"/>
                  <a:sym typeface="Arial"/>
                </a:rPr>
                <a:t>If data is acceptable, then set them to OK</a:t>
              </a:r>
              <a:endParaRPr sz="1200" b="0" i="0" u="none" strike="noStrike" cap="none">
                <a:solidFill>
                  <a:schemeClr val="dk1"/>
                </a:solidFill>
                <a:latin typeface="Arial"/>
                <a:ea typeface="Arial"/>
                <a:cs typeface="Arial"/>
                <a:sym typeface="Arial"/>
              </a:endParaRPr>
            </a:p>
          </p:txBody>
        </p:sp>
        <p:sp>
          <p:nvSpPr>
            <p:cNvPr id="879" name="Google Shape;879;p112"/>
            <p:cNvSpPr/>
            <p:nvPr/>
          </p:nvSpPr>
          <p:spPr>
            <a:xfrm>
              <a:off x="7014191" y="3387532"/>
              <a:ext cx="1434000" cy="910800"/>
            </a:xfrm>
            <a:prstGeom prst="roundRect">
              <a:avLst>
                <a:gd name="adj" fmla="val 10000"/>
              </a:avLst>
            </a:prstGeom>
            <a:solidFill>
              <a:srgbClr val="8AC43E">
                <a:alpha val="49020"/>
              </a:srgbClr>
            </a:solidFill>
            <a:ln w="25400"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0" name="Google Shape;880;p112"/>
            <p:cNvSpPr/>
            <p:nvPr/>
          </p:nvSpPr>
          <p:spPr>
            <a:xfrm>
              <a:off x="7173537" y="3538911"/>
              <a:ext cx="1434000" cy="910800"/>
            </a:xfrm>
            <a:prstGeom prst="roundRect">
              <a:avLst>
                <a:gd name="adj" fmla="val 10000"/>
              </a:avLst>
            </a:prstGeom>
            <a:solidFill>
              <a:schemeClr val="lt1">
                <a:alpha val="89020"/>
              </a:schemeClr>
            </a:solidFill>
            <a:ln w="25400" cap="flat" cmpd="sng">
              <a:solidFill>
                <a:srgbClr val="B8D79B"/>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1" name="Google Shape;881;p112"/>
            <p:cNvSpPr txBox="1"/>
            <p:nvPr/>
          </p:nvSpPr>
          <p:spPr>
            <a:xfrm>
              <a:off x="7200209" y="3565583"/>
              <a:ext cx="1380900" cy="857400"/>
            </a:xfrm>
            <a:prstGeom prst="rect">
              <a:avLst/>
            </a:prstGeom>
            <a:noFill/>
            <a:ln>
              <a:noFill/>
            </a:ln>
          </p:spPr>
          <p:txBody>
            <a:bodyPr spcFirstLastPara="1" wrap="square" lIns="53325" tIns="53325" rIns="53325" bIns="5332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200" b="0" i="0" u="none" strike="noStrike" cap="none">
                  <a:solidFill>
                    <a:schemeClr val="dk1"/>
                  </a:solidFill>
                  <a:latin typeface="Arial"/>
                  <a:ea typeface="Arial"/>
                  <a:cs typeface="Arial"/>
                  <a:sym typeface="Arial"/>
                </a:rPr>
                <a:t>If data is not acceptable, salvage such stores</a:t>
              </a:r>
              <a:endParaRPr sz="1200" b="0" i="0" u="none" strike="noStrike" cap="none">
                <a:solidFill>
                  <a:schemeClr val="dk1"/>
                </a:solidFill>
                <a:latin typeface="Arial"/>
                <a:ea typeface="Arial"/>
                <a:cs typeface="Arial"/>
                <a:sym typeface="Arial"/>
              </a:endParaRPr>
            </a:p>
          </p:txBody>
        </p:sp>
      </p:grpSp>
      <p:sp>
        <p:nvSpPr>
          <p:cNvPr id="882" name="Google Shape;882;p112"/>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883" name="Google Shape;883;p112"/>
          <p:cNvSpPr txBox="1">
            <a:spLocks noGrp="1"/>
          </p:cNvSpPr>
          <p:nvPr>
            <p:ph type="body" idx="4294967295"/>
          </p:nvPr>
        </p:nvSpPr>
        <p:spPr>
          <a:xfrm>
            <a:off x="0" y="565150"/>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Validation</a:t>
            </a:r>
            <a:endParaRPr sz="1800" i="0" u="none" strike="noStrike" cap="none">
              <a:solidFill>
                <a:schemeClr val="dk2"/>
              </a:solidFill>
            </a:endParaRPr>
          </a:p>
        </p:txBody>
      </p:sp>
    </p:spTree>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887"/>
        <p:cNvGrpSpPr/>
        <p:nvPr/>
      </p:nvGrpSpPr>
      <p:grpSpPr>
        <a:xfrm>
          <a:off x="0" y="0"/>
          <a:ext cx="0" cy="0"/>
          <a:chOff x="0" y="0"/>
          <a:chExt cx="0" cy="0"/>
        </a:xfrm>
      </p:grpSpPr>
      <p:sp>
        <p:nvSpPr>
          <p:cNvPr id="888" name="Google Shape;888;p113"/>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 - </a:t>
            </a:r>
            <a:r>
              <a:rPr lang="en" sz="1800">
                <a:solidFill>
                  <a:schemeClr val="accent1"/>
                </a:solidFill>
                <a:latin typeface="Open Sans"/>
                <a:ea typeface="Open Sans"/>
                <a:cs typeface="Open Sans"/>
                <a:sym typeface="Open Sans"/>
              </a:rPr>
              <a:t>FOVA Report Tables</a:t>
            </a:r>
            <a:r>
              <a:rPr lang="en">
                <a:solidFill>
                  <a:schemeClr val="dk1"/>
                </a:solidFill>
              </a:rPr>
              <a:t> </a:t>
            </a:r>
            <a:endParaRPr sz="3000" i="0" u="none" strike="noStrike" cap="none">
              <a:solidFill>
                <a:schemeClr val="dk2"/>
              </a:solidFill>
            </a:endParaRPr>
          </a:p>
        </p:txBody>
      </p:sp>
      <p:sp>
        <p:nvSpPr>
          <p:cNvPr id="889" name="Google Shape;889;p113"/>
          <p:cNvSpPr txBox="1"/>
          <p:nvPr/>
        </p:nvSpPr>
        <p:spPr>
          <a:xfrm>
            <a:off x="377425" y="525450"/>
            <a:ext cx="8681100" cy="4558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New Fova Report Consist of 14 tables which are listed below :</a:t>
            </a:r>
            <a:endParaRPr>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GENERAL NEW FOVA REPORT</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GLOBALFREQ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TRENDVALUE</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DAILYDATA</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UNITFREQ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CREFFREQ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PRICEFREQ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SUPERGROUPFREQ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UCHANGEFREQ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PRICECHANGEFREQ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OUTLIERFREQ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CREFTYPEFREQ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XCODESTATUSFREQ</a:t>
            </a:r>
            <a:endParaRPr>
              <a:latin typeface="Open Sans"/>
              <a:ea typeface="Open Sans"/>
              <a:cs typeface="Open Sans"/>
              <a:sym typeface="Open Sans"/>
            </a:endParaRPr>
          </a:p>
          <a:p>
            <a:pPr marL="457200" lvl="0" indent="-317500" algn="l" rtl="0">
              <a:spcBef>
                <a:spcPts val="0"/>
              </a:spcBef>
              <a:spcAft>
                <a:spcPts val="0"/>
              </a:spcAft>
              <a:buSzPts val="1400"/>
              <a:buFont typeface="Open Sans"/>
              <a:buAutoNum type="arabicPeriod"/>
            </a:pPr>
            <a:r>
              <a:rPr lang="en">
                <a:latin typeface="Open Sans"/>
                <a:ea typeface="Open Sans"/>
                <a:cs typeface="Open Sans"/>
                <a:sym typeface="Open Sans"/>
              </a:rPr>
              <a:t>Table PRICESYNCHFREQ</a:t>
            </a:r>
            <a:endParaRPr>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pPr marL="0" lvl="0" indent="0" algn="l" rtl="0">
              <a:spcBef>
                <a:spcPts val="0"/>
              </a:spcBef>
              <a:spcAft>
                <a:spcPts val="0"/>
              </a:spcAft>
              <a:buNone/>
            </a:pPr>
            <a:r>
              <a:rPr lang="en">
                <a:latin typeface="Open Sans"/>
                <a:ea typeface="Open Sans"/>
                <a:cs typeface="Open Sans"/>
                <a:sym typeface="Open Sans"/>
              </a:rPr>
              <a:t>Fova Tags are decided based on the outlier detected on each of these table as for each table there is unique statistical test ran by the algorithm.</a:t>
            </a:r>
            <a:endParaRPr>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893"/>
        <p:cNvGrpSpPr/>
        <p:nvPr/>
      </p:nvGrpSpPr>
      <p:grpSpPr>
        <a:xfrm>
          <a:off x="0" y="0"/>
          <a:ext cx="0" cy="0"/>
          <a:chOff x="0" y="0"/>
          <a:chExt cx="0" cy="0"/>
        </a:xfrm>
      </p:grpSpPr>
      <p:sp>
        <p:nvSpPr>
          <p:cNvPr id="894" name="Google Shape;894;p114"/>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 - </a:t>
            </a:r>
            <a:r>
              <a:rPr lang="en" sz="1800">
                <a:solidFill>
                  <a:schemeClr val="accent1"/>
                </a:solidFill>
                <a:latin typeface="Open Sans"/>
                <a:ea typeface="Open Sans"/>
                <a:cs typeface="Open Sans"/>
                <a:sym typeface="Open Sans"/>
              </a:rPr>
              <a:t>FOVA Report Tables</a:t>
            </a:r>
            <a:r>
              <a:rPr lang="en">
                <a:solidFill>
                  <a:schemeClr val="dk1"/>
                </a:solidFill>
              </a:rPr>
              <a:t> </a:t>
            </a:r>
            <a:endParaRPr sz="3000" i="0" u="none" strike="noStrike" cap="none">
              <a:solidFill>
                <a:schemeClr val="dk2"/>
              </a:solidFill>
            </a:endParaRPr>
          </a:p>
        </p:txBody>
      </p:sp>
      <p:sp>
        <p:nvSpPr>
          <p:cNvPr id="895" name="Google Shape;895;p114"/>
          <p:cNvSpPr txBox="1"/>
          <p:nvPr/>
        </p:nvSpPr>
        <p:spPr>
          <a:xfrm>
            <a:off x="222025" y="525450"/>
            <a:ext cx="8836500" cy="45588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SzPts val="1300"/>
              <a:buFont typeface="Open Sans"/>
              <a:buAutoNum type="arabicPeriod"/>
            </a:pPr>
            <a:r>
              <a:rPr lang="en" sz="1300" u="sng">
                <a:latin typeface="Open Sans"/>
                <a:ea typeface="Open Sans"/>
                <a:cs typeface="Open Sans"/>
                <a:sym typeface="Open Sans"/>
              </a:rPr>
              <a:t>Table GENERAL NEW FOVA REPORT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This table contains Store related information.</a:t>
            </a: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Period selected for Comparison and validation</a:t>
            </a: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FOVA IBD in which store belong.</a:t>
            </a: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Immediately below this table is the FOVA decision.</a:t>
            </a:r>
            <a:endParaRPr sz="1300">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a:pPr>
            <a:r>
              <a:rPr lang="en" sz="1300" u="sng">
                <a:latin typeface="Open Sans"/>
                <a:ea typeface="Open Sans"/>
                <a:cs typeface="Open Sans"/>
                <a:sym typeface="Open Sans"/>
              </a:rPr>
              <a:t>Table GLOBALFREQ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This table is the comparison on Records, Units &amp; Value of Current Period (CP) with Last Good Period (LGP) along with their percentage contribution to total for each of them.</a:t>
            </a: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This Comparison is based on 3 buckets Common, Cancelled &amp; New Items.</a:t>
            </a:r>
            <a:endParaRPr sz="1300">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a:pPr>
            <a:r>
              <a:rPr lang="en" sz="1300" u="sng">
                <a:latin typeface="Open Sans"/>
                <a:ea typeface="Open Sans"/>
                <a:cs typeface="Open Sans"/>
                <a:sym typeface="Open Sans"/>
              </a:rPr>
              <a:t>Table TRENDVALUE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Char char="●"/>
            </a:pPr>
            <a:r>
              <a:rPr lang="en" sz="1300">
                <a:latin typeface="Open Sans"/>
                <a:ea typeface="Open Sans"/>
                <a:cs typeface="Open Sans"/>
                <a:sym typeface="Open Sans"/>
              </a:rPr>
              <a:t>This table total of sales records, unit and value along with their FOVA decision for last 13 periods (parametric).</a:t>
            </a:r>
            <a:endParaRPr sz="1300">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a:pPr>
            <a:r>
              <a:rPr lang="en" sz="1300" u="sng">
                <a:latin typeface="Open Sans"/>
                <a:ea typeface="Open Sans"/>
                <a:cs typeface="Open Sans"/>
                <a:sym typeface="Open Sans"/>
              </a:rPr>
              <a:t>Table DAILYDATA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total of sales records, unit and value day wise along with its percentage contribution.</a:t>
            </a:r>
            <a:endParaRPr sz="130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899"/>
        <p:cNvGrpSpPr/>
        <p:nvPr/>
      </p:nvGrpSpPr>
      <p:grpSpPr>
        <a:xfrm>
          <a:off x="0" y="0"/>
          <a:ext cx="0" cy="0"/>
          <a:chOff x="0" y="0"/>
          <a:chExt cx="0" cy="0"/>
        </a:xfrm>
      </p:grpSpPr>
      <p:sp>
        <p:nvSpPr>
          <p:cNvPr id="900" name="Google Shape;900;p115"/>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 - </a:t>
            </a:r>
            <a:r>
              <a:rPr lang="en" sz="1800">
                <a:solidFill>
                  <a:schemeClr val="accent1"/>
                </a:solidFill>
                <a:latin typeface="Open Sans"/>
                <a:ea typeface="Open Sans"/>
                <a:cs typeface="Open Sans"/>
                <a:sym typeface="Open Sans"/>
              </a:rPr>
              <a:t>FOVA Report Tables</a:t>
            </a:r>
            <a:r>
              <a:rPr lang="en">
                <a:solidFill>
                  <a:schemeClr val="dk1"/>
                </a:solidFill>
              </a:rPr>
              <a:t> </a:t>
            </a:r>
            <a:endParaRPr sz="3000" i="0" u="none" strike="noStrike" cap="none">
              <a:solidFill>
                <a:schemeClr val="dk2"/>
              </a:solidFill>
            </a:endParaRPr>
          </a:p>
        </p:txBody>
      </p:sp>
      <p:sp>
        <p:nvSpPr>
          <p:cNvPr id="901" name="Google Shape;901;p115"/>
          <p:cNvSpPr txBox="1"/>
          <p:nvPr/>
        </p:nvSpPr>
        <p:spPr>
          <a:xfrm>
            <a:off x="288925" y="525450"/>
            <a:ext cx="8769600" cy="45588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SzPts val="1500"/>
              <a:buFont typeface="Open Sans"/>
              <a:buAutoNum type="arabicPeriod" startAt="5"/>
            </a:pPr>
            <a:r>
              <a:rPr lang="en" sz="1500" u="sng">
                <a:latin typeface="Open Sans"/>
                <a:ea typeface="Open Sans"/>
                <a:cs typeface="Open Sans"/>
                <a:sym typeface="Open Sans"/>
              </a:rPr>
              <a:t>Table UNITFREQ :</a:t>
            </a:r>
            <a:endParaRPr sz="1500" u="sng">
              <a:latin typeface="Open Sans"/>
              <a:ea typeface="Open Sans"/>
              <a:cs typeface="Open Sans"/>
              <a:sym typeface="Open Sans"/>
            </a:endParaRPr>
          </a:p>
          <a:p>
            <a:pPr marL="0" lvl="0" indent="0" algn="l" rtl="0">
              <a:spcBef>
                <a:spcPts val="0"/>
              </a:spcBef>
              <a:spcAft>
                <a:spcPts val="0"/>
              </a:spcAft>
              <a:buNone/>
            </a:pPr>
            <a:endParaRPr sz="1500">
              <a:latin typeface="Open Sans"/>
              <a:ea typeface="Open Sans"/>
              <a:cs typeface="Open Sans"/>
              <a:sym typeface="Open Sans"/>
            </a:endParaRPr>
          </a:p>
          <a:p>
            <a:pPr marL="457200" lvl="0" indent="-317500" algn="l" rtl="0">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table has buckets generated randomly on the basis of range of sales units.</a:t>
            </a:r>
            <a:endParaRPr sz="1500">
              <a:latin typeface="Open Sans"/>
              <a:ea typeface="Open Sans"/>
              <a:cs typeface="Open Sans"/>
              <a:sym typeface="Open Sans"/>
            </a:endParaRPr>
          </a:p>
          <a:p>
            <a:pPr marL="457200" lvl="0" indent="-317500" algn="l" rtl="0">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a:solidFill>
                <a:schemeClr val="dk1"/>
              </a:solidFill>
              <a:latin typeface="Open Sans"/>
              <a:ea typeface="Open Sans"/>
              <a:cs typeface="Open Sans"/>
              <a:sym typeface="Open Sans"/>
            </a:endParaRPr>
          </a:p>
          <a:p>
            <a:pPr marL="457200" lvl="0" indent="0" algn="l" rtl="0">
              <a:spcBef>
                <a:spcPts val="0"/>
              </a:spcBef>
              <a:spcAft>
                <a:spcPts val="0"/>
              </a:spcAft>
              <a:buNone/>
            </a:pPr>
            <a:endParaRPr sz="1500">
              <a:latin typeface="Open Sans"/>
              <a:ea typeface="Open Sans"/>
              <a:cs typeface="Open Sans"/>
              <a:sym typeface="Open Sans"/>
            </a:endParaRPr>
          </a:p>
          <a:p>
            <a:pPr marL="457200" lvl="0" indent="-323850" algn="l" rtl="0">
              <a:spcBef>
                <a:spcPts val="0"/>
              </a:spcBef>
              <a:spcAft>
                <a:spcPts val="0"/>
              </a:spcAft>
              <a:buSzPts val="1500"/>
              <a:buFont typeface="Open Sans"/>
              <a:buAutoNum type="arabicPeriod" startAt="5"/>
            </a:pPr>
            <a:r>
              <a:rPr lang="en" sz="1500" u="sng">
                <a:latin typeface="Open Sans"/>
                <a:ea typeface="Open Sans"/>
                <a:cs typeface="Open Sans"/>
                <a:sym typeface="Open Sans"/>
              </a:rPr>
              <a:t>Table CREFFREQ :</a:t>
            </a:r>
            <a:endParaRPr sz="1500" u="sng">
              <a:latin typeface="Open Sans"/>
              <a:ea typeface="Open Sans"/>
              <a:cs typeface="Open Sans"/>
              <a:sym typeface="Open Sans"/>
            </a:endParaRPr>
          </a:p>
          <a:p>
            <a:pPr marL="0" lvl="0" indent="0" algn="l" rtl="0">
              <a:spcBef>
                <a:spcPts val="0"/>
              </a:spcBef>
              <a:spcAft>
                <a:spcPts val="0"/>
              </a:spcAft>
              <a:buNone/>
            </a:pPr>
            <a:endParaRPr sz="1500">
              <a:latin typeface="Open Sans"/>
              <a:ea typeface="Open Sans"/>
              <a:cs typeface="Open Sans"/>
              <a:sym typeface="Open Sans"/>
            </a:endParaRPr>
          </a:p>
          <a:p>
            <a:pPr marL="457200" lvl="0" indent="-317500" algn="l" rtl="0">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table has buckets generated randomly on the basis of range of crefs.</a:t>
            </a:r>
            <a:endParaRPr sz="1500">
              <a:solidFill>
                <a:schemeClr val="dk1"/>
              </a:solidFill>
              <a:latin typeface="Open Sans"/>
              <a:ea typeface="Open Sans"/>
              <a:cs typeface="Open Sans"/>
              <a:sym typeface="Open Sans"/>
            </a:endParaRPr>
          </a:p>
          <a:p>
            <a:pPr marL="457200" lvl="0" indent="-317500" algn="l" rtl="0">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a:solidFill>
                <a:schemeClr val="dk1"/>
              </a:solidFill>
              <a:latin typeface="Open Sans"/>
              <a:ea typeface="Open Sans"/>
              <a:cs typeface="Open Sans"/>
              <a:sym typeface="Open Sans"/>
            </a:endParaRPr>
          </a:p>
          <a:p>
            <a:pPr marL="0" lvl="0" indent="0" algn="l" rtl="0">
              <a:spcBef>
                <a:spcPts val="0"/>
              </a:spcBef>
              <a:spcAft>
                <a:spcPts val="0"/>
              </a:spcAft>
              <a:buNone/>
            </a:pPr>
            <a:endParaRPr>
              <a:solidFill>
                <a:schemeClr val="dk1"/>
              </a:solidFill>
              <a:latin typeface="Open Sans"/>
              <a:ea typeface="Open Sans"/>
              <a:cs typeface="Open Sans"/>
              <a:sym typeface="Open Sans"/>
            </a:endParaRPr>
          </a:p>
          <a:p>
            <a:pPr marL="457200" lvl="0" indent="-323850" algn="l" rtl="0">
              <a:spcBef>
                <a:spcPts val="0"/>
              </a:spcBef>
              <a:spcAft>
                <a:spcPts val="0"/>
              </a:spcAft>
              <a:buSzPts val="1500"/>
              <a:buFont typeface="Open Sans"/>
              <a:buAutoNum type="arabicPeriod" startAt="5"/>
            </a:pPr>
            <a:r>
              <a:rPr lang="en" sz="1500" u="sng">
                <a:latin typeface="Open Sans"/>
                <a:ea typeface="Open Sans"/>
                <a:cs typeface="Open Sans"/>
                <a:sym typeface="Open Sans"/>
              </a:rPr>
              <a:t>Table PRICEFREQ :</a:t>
            </a:r>
            <a:endParaRPr sz="1500" u="sng">
              <a:latin typeface="Open Sans"/>
              <a:ea typeface="Open Sans"/>
              <a:cs typeface="Open Sans"/>
              <a:sym typeface="Open Sans"/>
            </a:endParaRPr>
          </a:p>
          <a:p>
            <a:pPr marL="0" lvl="0" indent="0" algn="l" rtl="0">
              <a:spcBef>
                <a:spcPts val="0"/>
              </a:spcBef>
              <a:spcAft>
                <a:spcPts val="0"/>
              </a:spcAft>
              <a:buNone/>
            </a:pPr>
            <a:endParaRPr sz="1500">
              <a:latin typeface="Open Sans"/>
              <a:ea typeface="Open Sans"/>
              <a:cs typeface="Open Sans"/>
              <a:sym typeface="Open Sans"/>
            </a:endParaRPr>
          </a:p>
          <a:p>
            <a:pPr marL="457200" lvl="0" indent="-317500" algn="l" rtl="0">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table has buckets generated randomly on the basis of range of sales price.</a:t>
            </a:r>
            <a:endParaRPr sz="1500">
              <a:solidFill>
                <a:schemeClr val="dk1"/>
              </a:solidFill>
              <a:latin typeface="Open Sans"/>
              <a:ea typeface="Open Sans"/>
              <a:cs typeface="Open Sans"/>
              <a:sym typeface="Open Sans"/>
            </a:endParaRPr>
          </a:p>
          <a:p>
            <a:pPr marL="457200" lvl="0" indent="-317500" algn="l" rtl="0">
              <a:spcBef>
                <a:spcPts val="0"/>
              </a:spcBef>
              <a:spcAft>
                <a:spcPts val="0"/>
              </a:spcAft>
              <a:buClr>
                <a:schemeClr val="dk1"/>
              </a:buClr>
              <a:buSzPts val="1400"/>
              <a:buFont typeface="Open Sans"/>
              <a:buChar char="●"/>
            </a:pPr>
            <a:r>
              <a:rPr lang="en">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50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05"/>
        <p:cNvGrpSpPr/>
        <p:nvPr/>
      </p:nvGrpSpPr>
      <p:grpSpPr>
        <a:xfrm>
          <a:off x="0" y="0"/>
          <a:ext cx="0" cy="0"/>
          <a:chOff x="0" y="0"/>
          <a:chExt cx="0" cy="0"/>
        </a:xfrm>
      </p:grpSpPr>
      <p:sp>
        <p:nvSpPr>
          <p:cNvPr id="906" name="Google Shape;906;p116"/>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 - </a:t>
            </a:r>
            <a:r>
              <a:rPr lang="en" sz="1800">
                <a:solidFill>
                  <a:schemeClr val="accent1"/>
                </a:solidFill>
                <a:latin typeface="Open Sans"/>
                <a:ea typeface="Open Sans"/>
                <a:cs typeface="Open Sans"/>
                <a:sym typeface="Open Sans"/>
              </a:rPr>
              <a:t>FOVA Report Tables</a:t>
            </a:r>
            <a:r>
              <a:rPr lang="en">
                <a:solidFill>
                  <a:schemeClr val="dk1"/>
                </a:solidFill>
              </a:rPr>
              <a:t> </a:t>
            </a:r>
            <a:endParaRPr sz="3000" i="0" u="none" strike="noStrike" cap="none">
              <a:solidFill>
                <a:schemeClr val="dk2"/>
              </a:solidFill>
            </a:endParaRPr>
          </a:p>
        </p:txBody>
      </p:sp>
      <p:sp>
        <p:nvSpPr>
          <p:cNvPr id="907" name="Google Shape;907;p116"/>
          <p:cNvSpPr txBox="1"/>
          <p:nvPr/>
        </p:nvSpPr>
        <p:spPr>
          <a:xfrm>
            <a:off x="288925" y="525450"/>
            <a:ext cx="8769600" cy="4558800"/>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SzPts val="1300"/>
              <a:buFont typeface="Open Sans"/>
              <a:buAutoNum type="arabicPeriod" startAt="8"/>
            </a:pPr>
            <a:r>
              <a:rPr lang="en" sz="1300" u="sng">
                <a:latin typeface="Open Sans"/>
                <a:ea typeface="Open Sans"/>
                <a:cs typeface="Open Sans"/>
                <a:sym typeface="Open Sans"/>
              </a:rPr>
              <a:t>Table SUPERGROUPFREQ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has buckets generated on the basis of individual Supergroups.</a:t>
            </a:r>
            <a:endParaRPr>
              <a:solidFill>
                <a:schemeClr val="dk1"/>
              </a:solidFill>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300">
              <a:solidFill>
                <a:schemeClr val="dk1"/>
              </a:solidFill>
              <a:latin typeface="Open Sans"/>
              <a:ea typeface="Open Sans"/>
              <a:cs typeface="Open Sans"/>
              <a:sym typeface="Open Sans"/>
            </a:endParaRPr>
          </a:p>
          <a:p>
            <a:pPr marL="0" lvl="0" indent="0" algn="l" rtl="0">
              <a:spcBef>
                <a:spcPts val="0"/>
              </a:spcBef>
              <a:spcAft>
                <a:spcPts val="0"/>
              </a:spcAft>
              <a:buNone/>
            </a:pPr>
            <a:endParaRPr sz="1300">
              <a:solidFill>
                <a:schemeClr val="dk1"/>
              </a:solidFill>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startAt="8"/>
            </a:pPr>
            <a:r>
              <a:rPr lang="en" sz="1300" u="sng">
                <a:latin typeface="Open Sans"/>
                <a:ea typeface="Open Sans"/>
                <a:cs typeface="Open Sans"/>
                <a:sym typeface="Open Sans"/>
              </a:rPr>
              <a:t>Table UCHANGEFREQ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has buckets generated on the basis of change Frequency - Less, Equal &amp; More of Sales Units.</a:t>
            </a:r>
            <a:endParaRPr sz="1300">
              <a:solidFill>
                <a:schemeClr val="dk1"/>
              </a:solidFill>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I.e. in comparison to LGP for how many unique records are less, same or more units sold is reported.</a:t>
            </a:r>
            <a:endParaRPr sz="1300">
              <a:solidFill>
                <a:schemeClr val="dk1"/>
              </a:solidFill>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300">
              <a:solidFill>
                <a:schemeClr val="dk1"/>
              </a:solidFill>
              <a:latin typeface="Open Sans"/>
              <a:ea typeface="Open Sans"/>
              <a:cs typeface="Open Sans"/>
              <a:sym typeface="Open Sans"/>
            </a:endParaRPr>
          </a:p>
          <a:p>
            <a:pPr marL="0" lvl="0" indent="0" algn="l" rtl="0">
              <a:spcBef>
                <a:spcPts val="0"/>
              </a:spcBef>
              <a:spcAft>
                <a:spcPts val="0"/>
              </a:spcAft>
              <a:buNone/>
            </a:pPr>
            <a:endParaRPr sz="1300">
              <a:solidFill>
                <a:schemeClr val="dk1"/>
              </a:solidFill>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startAt="8"/>
            </a:pPr>
            <a:r>
              <a:rPr lang="en" sz="1300" u="sng">
                <a:latin typeface="Open Sans"/>
                <a:ea typeface="Open Sans"/>
                <a:cs typeface="Open Sans"/>
                <a:sym typeface="Open Sans"/>
              </a:rPr>
              <a:t>Table PRICECHANGEFREQ :</a:t>
            </a:r>
            <a:endParaRPr sz="1300" u="sng">
              <a:latin typeface="Open Sans"/>
              <a:ea typeface="Open Sans"/>
              <a:cs typeface="Open Sans"/>
              <a:sym typeface="Open Sans"/>
            </a:endParaRPr>
          </a:p>
          <a:p>
            <a:pPr marL="0" lvl="0" indent="0" algn="l" rtl="0">
              <a:spcBef>
                <a:spcPts val="0"/>
              </a:spcBef>
              <a:spcAft>
                <a:spcPts val="0"/>
              </a:spcAft>
              <a:buNone/>
            </a:pPr>
            <a:endParaRPr sz="1300">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has buckets generated on the basis of change Frequency - Less, Equal &amp; More of Sales Price.</a:t>
            </a:r>
            <a:endParaRPr sz="1300">
              <a:solidFill>
                <a:schemeClr val="dk1"/>
              </a:solidFill>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I.e. in comparison to LGP for how many unique records price decrease, price increase &amp; same price is reported.</a:t>
            </a:r>
            <a:endParaRPr sz="1300">
              <a:solidFill>
                <a:schemeClr val="dk1"/>
              </a:solidFill>
              <a:latin typeface="Open Sans"/>
              <a:ea typeface="Open Sans"/>
              <a:cs typeface="Open Sans"/>
              <a:sym typeface="Open Sans"/>
            </a:endParaRPr>
          </a:p>
          <a:p>
            <a:pPr marL="457200" lvl="0" indent="-311150" algn="l" rtl="0">
              <a:spcBef>
                <a:spcPts val="0"/>
              </a:spcBef>
              <a:spcAft>
                <a:spcPts val="0"/>
              </a:spcAft>
              <a:buClr>
                <a:schemeClr val="dk1"/>
              </a:buClr>
              <a:buSzPts val="1300"/>
              <a:buFont typeface="Open Sans"/>
              <a:buChar char="●"/>
            </a:pPr>
            <a:r>
              <a:rPr lang="en" sz="130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30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11"/>
        <p:cNvGrpSpPr/>
        <p:nvPr/>
      </p:nvGrpSpPr>
      <p:grpSpPr>
        <a:xfrm>
          <a:off x="0" y="0"/>
          <a:ext cx="0" cy="0"/>
          <a:chOff x="0" y="0"/>
          <a:chExt cx="0" cy="0"/>
        </a:xfrm>
      </p:grpSpPr>
      <p:sp>
        <p:nvSpPr>
          <p:cNvPr id="912" name="Google Shape;912;p117"/>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dirty="0">
                <a:solidFill>
                  <a:schemeClr val="dk1"/>
                </a:solidFill>
              </a:rPr>
              <a:t>HOW THE PROCESS WORKS - </a:t>
            </a:r>
            <a:r>
              <a:rPr lang="en" sz="1800" dirty="0">
                <a:solidFill>
                  <a:schemeClr val="accent1"/>
                </a:solidFill>
                <a:latin typeface="Open Sans"/>
                <a:ea typeface="Open Sans"/>
                <a:cs typeface="Open Sans"/>
                <a:sym typeface="Open Sans"/>
              </a:rPr>
              <a:t>FOVA Report Tables</a:t>
            </a:r>
            <a:r>
              <a:rPr lang="en" dirty="0">
                <a:solidFill>
                  <a:schemeClr val="dk1"/>
                </a:solidFill>
              </a:rPr>
              <a:t> </a:t>
            </a:r>
            <a:endParaRPr sz="3000" i="0" u="none" strike="noStrike" cap="none" dirty="0">
              <a:solidFill>
                <a:schemeClr val="dk2"/>
              </a:solidFill>
            </a:endParaRPr>
          </a:p>
        </p:txBody>
      </p:sp>
      <p:sp>
        <p:nvSpPr>
          <p:cNvPr id="913" name="Google Shape;913;p117"/>
          <p:cNvSpPr txBox="1"/>
          <p:nvPr/>
        </p:nvSpPr>
        <p:spPr>
          <a:xfrm>
            <a:off x="288925" y="677847"/>
            <a:ext cx="8769600" cy="3914932"/>
          </a:xfrm>
          <a:prstGeom prst="rect">
            <a:avLst/>
          </a:prstGeom>
          <a:noFill/>
          <a:ln>
            <a:noFill/>
          </a:ln>
        </p:spPr>
        <p:txBody>
          <a:bodyPr spcFirstLastPara="1" wrap="square" lIns="91425" tIns="91425" rIns="91425" bIns="91425" anchor="t" anchorCtr="0">
            <a:noAutofit/>
          </a:bodyPr>
          <a:lstStyle/>
          <a:p>
            <a:pPr marL="457200" lvl="0" indent="-311150" algn="l" rtl="0">
              <a:spcBef>
                <a:spcPts val="0"/>
              </a:spcBef>
              <a:spcAft>
                <a:spcPts val="0"/>
              </a:spcAft>
              <a:buSzPts val="1300"/>
              <a:buFont typeface="Open Sans"/>
              <a:buAutoNum type="arabicPeriod" startAt="10"/>
            </a:pPr>
            <a:r>
              <a:rPr lang="en" sz="1300" u="sng" dirty="0">
                <a:latin typeface="Open Sans"/>
                <a:ea typeface="Open Sans"/>
                <a:cs typeface="Open Sans"/>
                <a:sym typeface="Open Sans"/>
              </a:rPr>
              <a:t>Table OUTLIERFREQ :</a:t>
            </a:r>
            <a:endParaRPr sz="1300" u="sng" dirty="0">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has buckets generated on the basis of - </a:t>
            </a:r>
            <a:r>
              <a:rPr lang="en" sz="1300" dirty="0">
                <a:solidFill>
                  <a:schemeClr val="dk1"/>
                </a:solidFill>
                <a:latin typeface="Open Sans"/>
                <a:ea typeface="Open Sans"/>
                <a:cs typeface="Open Sans"/>
                <a:sym typeface="Open Sans"/>
              </a:rPr>
              <a:t>HIGH_CAN, LOW, INLINE, HIGH, HIGH_NEW</a:t>
            </a:r>
            <a:endParaRPr sz="1200" dirty="0">
              <a:solidFill>
                <a:schemeClr val="dk1"/>
              </a:solidFill>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300" dirty="0">
              <a:latin typeface="Open Sans"/>
              <a:ea typeface="Open Sans"/>
              <a:cs typeface="Open Sans"/>
              <a:sym typeface="Open Sans"/>
            </a:endParaRPr>
          </a:p>
          <a:p>
            <a:pPr marL="0" lvl="0" indent="0" algn="l" rtl="0">
              <a:spcBef>
                <a:spcPts val="0"/>
              </a:spcBef>
              <a:spcAft>
                <a:spcPts val="0"/>
              </a:spcAft>
              <a:buNone/>
            </a:pPr>
            <a:endParaRPr sz="1300" dirty="0">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startAt="10"/>
            </a:pPr>
            <a:r>
              <a:rPr lang="en" sz="1300" u="sng" dirty="0">
                <a:latin typeface="Open Sans"/>
                <a:ea typeface="Open Sans"/>
                <a:cs typeface="Open Sans"/>
                <a:sym typeface="Open Sans"/>
              </a:rPr>
              <a:t>Table CREFTYPEFREQ :</a:t>
            </a:r>
            <a:endParaRPr sz="1300" u="sng" dirty="0">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has buckets generated on the basis of Cref type reported.</a:t>
            </a:r>
            <a:endParaRPr sz="1200" dirty="0">
              <a:solidFill>
                <a:schemeClr val="dk1"/>
              </a:solidFill>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p>
          <a:p>
            <a:pPr marL="0" lvl="0" indent="0" algn="l" rtl="0">
              <a:spcBef>
                <a:spcPts val="0"/>
              </a:spcBef>
              <a:spcAft>
                <a:spcPts val="0"/>
              </a:spcAft>
              <a:buNone/>
            </a:pPr>
            <a:endParaRPr sz="1200" dirty="0">
              <a:solidFill>
                <a:schemeClr val="dk1"/>
              </a:solidFill>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startAt="10"/>
            </a:pPr>
            <a:r>
              <a:rPr lang="en" sz="1300" u="sng" dirty="0">
                <a:latin typeface="Open Sans"/>
                <a:ea typeface="Open Sans"/>
                <a:cs typeface="Open Sans"/>
                <a:sym typeface="Open Sans"/>
              </a:rPr>
              <a:t>Table XCODESTATUSFREQ :</a:t>
            </a:r>
            <a:endParaRPr sz="1300" u="sng" dirty="0">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has buckets generated on the basis of Store xcodegroup level instructed in Store xcodegroup table.</a:t>
            </a:r>
            <a:endParaRPr sz="1200" dirty="0">
              <a:solidFill>
                <a:schemeClr val="dk1"/>
              </a:solidFill>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200" dirty="0">
              <a:solidFill>
                <a:schemeClr val="dk1"/>
              </a:solidFill>
              <a:latin typeface="Open Sans"/>
              <a:ea typeface="Open Sans"/>
              <a:cs typeface="Open Sans"/>
              <a:sym typeface="Open Sans"/>
            </a:endParaRPr>
          </a:p>
          <a:p>
            <a:pPr marL="0" lvl="0" indent="0" algn="l" rtl="0">
              <a:spcBef>
                <a:spcPts val="0"/>
              </a:spcBef>
              <a:spcAft>
                <a:spcPts val="0"/>
              </a:spcAft>
              <a:buNone/>
            </a:pPr>
            <a:endParaRPr sz="1200" dirty="0">
              <a:solidFill>
                <a:schemeClr val="dk1"/>
              </a:solidFill>
              <a:latin typeface="Open Sans"/>
              <a:ea typeface="Open Sans"/>
              <a:cs typeface="Open Sans"/>
              <a:sym typeface="Open Sans"/>
            </a:endParaRPr>
          </a:p>
          <a:p>
            <a:pPr marL="457200" lvl="0" indent="-311150" algn="l" rtl="0">
              <a:spcBef>
                <a:spcPts val="0"/>
              </a:spcBef>
              <a:spcAft>
                <a:spcPts val="0"/>
              </a:spcAft>
              <a:buSzPts val="1300"/>
              <a:buFont typeface="Open Sans"/>
              <a:buAutoNum type="arabicPeriod" startAt="10"/>
            </a:pPr>
            <a:r>
              <a:rPr lang="en" sz="1300" u="sng" dirty="0">
                <a:latin typeface="Open Sans"/>
                <a:ea typeface="Open Sans"/>
                <a:cs typeface="Open Sans"/>
                <a:sym typeface="Open Sans"/>
              </a:rPr>
              <a:t>Table PRICESYNCHFREQ :</a:t>
            </a:r>
            <a:endParaRPr sz="1300" u="sng" dirty="0">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has buckets generated on the basis of </a:t>
            </a:r>
            <a:r>
              <a:rPr lang="en" sz="1300" dirty="0">
                <a:solidFill>
                  <a:schemeClr val="dk1"/>
                </a:solidFill>
                <a:latin typeface="Open Sans"/>
                <a:ea typeface="Open Sans"/>
                <a:cs typeface="Open Sans"/>
                <a:sym typeface="Open Sans"/>
              </a:rPr>
              <a:t>P+U-/ P+U+/ P-U+/ P-U- / REST</a:t>
            </a:r>
            <a:r>
              <a:rPr lang="en" sz="1200" dirty="0">
                <a:solidFill>
                  <a:schemeClr val="dk1"/>
                </a:solidFill>
                <a:latin typeface="Open Sans"/>
                <a:ea typeface="Open Sans"/>
                <a:cs typeface="Open Sans"/>
                <a:sym typeface="Open Sans"/>
              </a:rPr>
              <a:t>.</a:t>
            </a:r>
            <a:endParaRPr sz="1200" dirty="0">
              <a:solidFill>
                <a:schemeClr val="dk1"/>
              </a:solidFill>
              <a:latin typeface="Open Sans"/>
              <a:ea typeface="Open Sans"/>
              <a:cs typeface="Open Sans"/>
              <a:sym typeface="Open Sans"/>
            </a:endParaRPr>
          </a:p>
          <a:p>
            <a:pPr marL="0" lvl="0" indent="0" algn="l" rtl="0">
              <a:spcBef>
                <a:spcPts val="0"/>
              </a:spcBef>
              <a:spcAft>
                <a:spcPts val="0"/>
              </a:spcAft>
              <a:buNone/>
            </a:pPr>
            <a:r>
              <a:rPr lang="en" sz="1200" dirty="0">
                <a:solidFill>
                  <a:schemeClr val="dk1"/>
                </a:solidFill>
                <a:latin typeface="Open Sans"/>
                <a:ea typeface="Open Sans"/>
                <a:cs typeface="Open Sans"/>
                <a:sym typeface="Open Sans"/>
              </a:rPr>
              <a:t>This table contains comparison on Records, Units &amp; Value of Current Period (CP) with Last Good Period (LGP) along with their percentage contribution to total for each of them.</a:t>
            </a:r>
            <a:endParaRPr sz="1300" dirty="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17"/>
        <p:cNvGrpSpPr/>
        <p:nvPr/>
      </p:nvGrpSpPr>
      <p:grpSpPr>
        <a:xfrm>
          <a:off x="0" y="0"/>
          <a:ext cx="0" cy="0"/>
          <a:chOff x="0" y="0"/>
          <a:chExt cx="0" cy="0"/>
        </a:xfrm>
      </p:grpSpPr>
      <p:pic>
        <p:nvPicPr>
          <p:cNvPr id="918" name="Google Shape;918;p118"/>
          <p:cNvPicPr preferRelativeResize="0"/>
          <p:nvPr/>
        </p:nvPicPr>
        <p:blipFill rotWithShape="1">
          <a:blip r:embed="rId4">
            <a:alphaModFix/>
          </a:blip>
          <a:srcRect/>
          <a:stretch/>
        </p:blipFill>
        <p:spPr>
          <a:xfrm>
            <a:off x="539344" y="634809"/>
            <a:ext cx="8199300" cy="4082664"/>
          </a:xfrm>
          <a:prstGeom prst="rect">
            <a:avLst/>
          </a:prstGeom>
          <a:noFill/>
          <a:ln>
            <a:noFill/>
          </a:ln>
        </p:spPr>
      </p:pic>
      <p:sp>
        <p:nvSpPr>
          <p:cNvPr id="919" name="Google Shape;919;p118"/>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20" name="Google Shape;920;p118"/>
          <p:cNvSpPr txBox="1">
            <a:spLocks noGrp="1"/>
          </p:cNvSpPr>
          <p:nvPr>
            <p:ph type="body" idx="4294967295"/>
          </p:nvPr>
        </p:nvSpPr>
        <p:spPr>
          <a:xfrm>
            <a:off x="0" y="488950"/>
            <a:ext cx="8159750" cy="268288"/>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Tree>
  </p:cSld>
  <p:clrMapOvr>
    <a:overrideClrMapping bg1="lt1" tx1="dk1" bg2="lt2" tx2="dk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24"/>
        <p:cNvGrpSpPr/>
        <p:nvPr/>
      </p:nvGrpSpPr>
      <p:grpSpPr>
        <a:xfrm>
          <a:off x="0" y="0"/>
          <a:ext cx="0" cy="0"/>
          <a:chOff x="0" y="0"/>
          <a:chExt cx="0" cy="0"/>
        </a:xfrm>
      </p:grpSpPr>
      <p:sp>
        <p:nvSpPr>
          <p:cNvPr id="925" name="Google Shape;925;p119"/>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26" name="Google Shape;926;p119"/>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27" name="Google Shape;927;p119"/>
          <p:cNvSpPr txBox="1"/>
          <p:nvPr/>
        </p:nvSpPr>
        <p:spPr>
          <a:xfrm>
            <a:off x="338250" y="764325"/>
            <a:ext cx="8160300" cy="4225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700" u="sng">
                <a:solidFill>
                  <a:schemeClr val="dk1"/>
                </a:solidFill>
              </a:rPr>
              <a:t>DATA_GOOD :</a:t>
            </a:r>
            <a:endParaRPr sz="1700" u="sng">
              <a:solidFill>
                <a:schemeClr val="dk1"/>
              </a:solidFill>
            </a:endParaRPr>
          </a:p>
          <a:p>
            <a:pPr marL="0" lvl="0" indent="0" algn="l" rtl="0">
              <a:lnSpc>
                <a:spcPct val="115000"/>
              </a:lnSpc>
              <a:spcBef>
                <a:spcPts val="0"/>
              </a:spcBef>
              <a:spcAft>
                <a:spcPts val="0"/>
              </a:spcAft>
              <a:buNone/>
            </a:pPr>
            <a:endParaRPr sz="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Only those stores which are able to pass majority of statistical test and whose trend falls within the trend are suggested as DATA GOOD by the system.</a:t>
            </a:r>
            <a:endParaRPr sz="1200">
              <a:solidFill>
                <a:schemeClr val="dk1"/>
              </a:solidFill>
            </a:endParaRPr>
          </a:p>
          <a:p>
            <a:pPr marL="457200" lvl="0" indent="0" algn="l" rtl="0">
              <a:lnSpc>
                <a:spcPct val="115000"/>
              </a:lnSpc>
              <a:spcBef>
                <a:spcPts val="0"/>
              </a:spcBef>
              <a:spcAft>
                <a:spcPts val="0"/>
              </a:spcAft>
              <a:buNone/>
            </a:pP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User is not supposed to check FOVA Report for DATA GOOD tagged stores as per SOP however as per country guidelines, if it is required to be checked user need to do so.</a:t>
            </a:r>
            <a:endParaRPr sz="1200">
              <a:solidFill>
                <a:schemeClr val="dk1"/>
              </a:solidFill>
            </a:endParaRPr>
          </a:p>
          <a:p>
            <a:pPr marL="0" lvl="0" indent="0" algn="l" rtl="0">
              <a:lnSpc>
                <a:spcPct val="115000"/>
              </a:lnSpc>
              <a:spcBef>
                <a:spcPts val="0"/>
              </a:spcBef>
              <a:spcAft>
                <a:spcPts val="0"/>
              </a:spcAft>
              <a:buNone/>
            </a:pPr>
            <a:endParaRPr sz="1700">
              <a:solidFill>
                <a:schemeClr val="dk1"/>
              </a:solidFill>
            </a:endParaRPr>
          </a:p>
          <a:p>
            <a:pPr marL="0" lvl="0" indent="0" algn="l" rtl="0">
              <a:lnSpc>
                <a:spcPct val="115000"/>
              </a:lnSpc>
              <a:spcBef>
                <a:spcPts val="0"/>
              </a:spcBef>
              <a:spcAft>
                <a:spcPts val="0"/>
              </a:spcAft>
              <a:buNone/>
            </a:pPr>
            <a:r>
              <a:rPr lang="en" sz="1700" u="sng">
                <a:solidFill>
                  <a:schemeClr val="dk1"/>
                </a:solidFill>
              </a:rPr>
              <a:t>DATA_GOOD - NO REASONS FOR ESTIMATION - PENDING RELAUNCH :</a:t>
            </a:r>
            <a:endParaRPr sz="1700" u="sng">
              <a:solidFill>
                <a:schemeClr val="dk1"/>
              </a:solidFill>
            </a:endParaRPr>
          </a:p>
          <a:p>
            <a:pPr marL="0" lvl="0" indent="0" algn="l" rtl="0">
              <a:lnSpc>
                <a:spcPct val="115000"/>
              </a:lnSpc>
              <a:spcBef>
                <a:spcPts val="0"/>
              </a:spcBef>
              <a:spcAft>
                <a:spcPts val="0"/>
              </a:spcAft>
              <a:buNone/>
            </a:pPr>
            <a:endParaRPr sz="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assigned to those stores for which minimum number of stores loaded for respective FBD is yet to be achieved.</a:t>
            </a:r>
            <a:endParaRPr sz="1200">
              <a:solidFill>
                <a:schemeClr val="dk1"/>
              </a:solidFill>
            </a:endParaRPr>
          </a:p>
          <a:p>
            <a:pPr marL="457200" lvl="0" indent="0" algn="l" rtl="0">
              <a:lnSpc>
                <a:spcPct val="115000"/>
              </a:lnSpc>
              <a:spcBef>
                <a:spcPts val="0"/>
              </a:spcBef>
              <a:spcAft>
                <a:spcPts val="0"/>
              </a:spcAft>
              <a:buNone/>
            </a:pP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For such cases, system performs limited statistical test on such stores and pass the judgement as Data Good with this tag if those tests are passed.</a:t>
            </a:r>
            <a:endParaRPr sz="1200">
              <a:solidFill>
                <a:schemeClr val="dk1"/>
              </a:solidFill>
            </a:endParaRPr>
          </a:p>
          <a:p>
            <a:pPr marL="457200" lvl="0" indent="0" algn="l" rtl="0">
              <a:lnSpc>
                <a:spcPct val="115000"/>
              </a:lnSpc>
              <a:spcBef>
                <a:spcPts val="0"/>
              </a:spcBef>
              <a:spcAft>
                <a:spcPts val="0"/>
              </a:spcAft>
              <a:buNone/>
            </a:pP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However system keeps it noted to re-launch and run FOVA process again once Minimum store loaded count of the FBD is reached.</a:t>
            </a:r>
            <a:endParaRPr sz="1200">
              <a:solidFill>
                <a:schemeClr val="dk1"/>
              </a:solidFill>
            </a:endParaRPr>
          </a:p>
          <a:p>
            <a:pPr marL="0" lvl="0" indent="0" algn="l" rtl="0">
              <a:lnSpc>
                <a:spcPct val="90000"/>
              </a:lnSpc>
              <a:spcBef>
                <a:spcPts val="0"/>
              </a:spcBef>
              <a:spcAft>
                <a:spcPts val="0"/>
              </a:spcAft>
              <a:buNone/>
            </a:pPr>
            <a:endParaRPr sz="1100">
              <a:solidFill>
                <a:schemeClr val="dk1"/>
              </a:solidFill>
            </a:endParaRPr>
          </a:p>
          <a:p>
            <a:pPr marL="0" lvl="0" indent="0" algn="l" rtl="0">
              <a:lnSpc>
                <a:spcPct val="115000"/>
              </a:lnSpc>
              <a:spcBef>
                <a:spcPts val="0"/>
              </a:spcBef>
              <a:spcAft>
                <a:spcPts val="0"/>
              </a:spcAft>
              <a:buNone/>
            </a:pPr>
            <a:endParaRPr sz="1100" u="sng">
              <a:solidFill>
                <a:schemeClr val="dk1"/>
              </a:solidFill>
            </a:endParaRPr>
          </a:p>
          <a:p>
            <a:pPr marL="0" lvl="0" indent="0" algn="l" rtl="0">
              <a:lnSpc>
                <a:spcPct val="115000"/>
              </a:lnSpc>
              <a:spcBef>
                <a:spcPts val="0"/>
              </a:spcBef>
              <a:spcAft>
                <a:spcPts val="0"/>
              </a:spcAft>
              <a:buNone/>
            </a:pPr>
            <a:endParaRPr sz="1100" u="sng">
              <a:solidFill>
                <a:schemeClr val="dk1"/>
              </a:solidFill>
            </a:endParaRPr>
          </a:p>
          <a:p>
            <a:pPr marL="0" lvl="0" indent="0" algn="l" rtl="0">
              <a:lnSpc>
                <a:spcPct val="115000"/>
              </a:lnSpc>
              <a:spcBef>
                <a:spcPts val="0"/>
              </a:spcBef>
              <a:spcAft>
                <a:spcPts val="0"/>
              </a:spcAft>
              <a:buNone/>
            </a:pPr>
            <a:endParaRPr sz="1100" u="sng">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1"/>
        <p:cNvGrpSpPr/>
        <p:nvPr/>
      </p:nvGrpSpPr>
      <p:grpSpPr>
        <a:xfrm>
          <a:off x="0" y="0"/>
          <a:ext cx="0" cy="0"/>
          <a:chOff x="0" y="0"/>
          <a:chExt cx="0" cy="0"/>
        </a:xfrm>
      </p:grpSpPr>
      <p:sp>
        <p:nvSpPr>
          <p:cNvPr id="932" name="Google Shape;932;p12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33" name="Google Shape;933;p120"/>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34" name="Google Shape;934;p120"/>
          <p:cNvSpPr txBox="1"/>
          <p:nvPr/>
        </p:nvSpPr>
        <p:spPr>
          <a:xfrm>
            <a:off x="394700" y="806681"/>
            <a:ext cx="8328300" cy="418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u="sng">
                <a:solidFill>
                  <a:schemeClr val="dk1"/>
                </a:solidFill>
              </a:rPr>
              <a:t>TRUNC-ESTIMATION PROPOSED :</a:t>
            </a:r>
            <a:endParaRPr sz="1700" u="sng">
              <a:solidFill>
                <a:schemeClr val="dk1"/>
              </a:solidFill>
            </a:endParaRPr>
          </a:p>
          <a:p>
            <a:pPr marL="0" lvl="0" indent="0" algn="l" rtl="0">
              <a:spcBef>
                <a:spcPts val="0"/>
              </a:spcBef>
              <a:spcAft>
                <a:spcPts val="0"/>
              </a:spcAft>
              <a:buNone/>
            </a:pPr>
            <a:endParaRPr sz="1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indicates the possibility of some missing data in Current Period compared to LGP. Reasons for the missing items can be complete data (for all items) is not received</a:t>
            </a:r>
            <a:endParaRPr sz="1200">
              <a:solidFill>
                <a:schemeClr val="dk1"/>
              </a:solidFill>
            </a:endParaRPr>
          </a:p>
          <a:p>
            <a:pPr marL="457200" lvl="0" indent="0" algn="l" rtl="0">
              <a:lnSpc>
                <a:spcPct val="115000"/>
              </a:lnSpc>
              <a:spcBef>
                <a:spcPts val="0"/>
              </a:spcBef>
              <a:spcAft>
                <a:spcPts val="0"/>
              </a:spcAft>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In the FOVA report, if number of records in current period is significantly lower compared to LGP in Global freq. table </a:t>
            </a:r>
            <a:endParaRPr sz="1200">
              <a:solidFill>
                <a:schemeClr val="dk1"/>
              </a:solidFill>
            </a:endParaRPr>
          </a:p>
          <a:p>
            <a:pPr marL="457200" lvl="0" indent="0" algn="l" rtl="0">
              <a:lnSpc>
                <a:spcPct val="115000"/>
              </a:lnSpc>
              <a:spcBef>
                <a:spcPts val="0"/>
              </a:spcBef>
              <a:spcAft>
                <a:spcPts val="0"/>
              </a:spcAft>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can find some missing data in Supergroup freq. table for respective super groups.</a:t>
            </a:r>
            <a:endParaRPr sz="1200">
              <a:solidFill>
                <a:schemeClr val="dk1"/>
              </a:solidFill>
            </a:endParaRPr>
          </a:p>
          <a:p>
            <a:pPr marL="457200" lvl="0" indent="0" algn="l" rtl="0">
              <a:lnSpc>
                <a:spcPct val="115000"/>
              </a:lnSpc>
              <a:spcBef>
                <a:spcPts val="0"/>
              </a:spcBef>
              <a:spcAft>
                <a:spcPts val="0"/>
              </a:spcAft>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can find very low data in number of records for respective cref frequencies in cref-freq. table in CP.</a:t>
            </a:r>
            <a:endParaRPr sz="1200">
              <a:solidFill>
                <a:schemeClr val="dk1"/>
              </a:solidFill>
            </a:endParaRPr>
          </a:p>
          <a:p>
            <a:pPr marL="457200" lvl="0" indent="0" algn="l" rtl="0">
              <a:lnSpc>
                <a:spcPct val="115000"/>
              </a:lnSpc>
              <a:spcBef>
                <a:spcPts val="0"/>
              </a:spcBef>
              <a:spcAft>
                <a:spcPts val="0"/>
              </a:spcAft>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An operator can identify problems in Unit freq., Price freq., Cref freq. and Supergroup. It may happen that Global freq. has minor changes.</a:t>
            </a:r>
            <a:endParaRPr sz="1200">
              <a:solidFill>
                <a:schemeClr val="dk1"/>
              </a:solidFill>
            </a:endParaRPr>
          </a:p>
          <a:p>
            <a:pPr marL="0" lvl="0" indent="0" algn="l" rtl="0">
              <a:spcBef>
                <a:spcPts val="0"/>
              </a:spcBef>
              <a:spcAft>
                <a:spcPts val="0"/>
              </a:spcAft>
              <a:buNone/>
            </a:pPr>
            <a:endParaRPr sz="1200" u="sng">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38"/>
        <p:cNvGrpSpPr/>
        <p:nvPr/>
      </p:nvGrpSpPr>
      <p:grpSpPr>
        <a:xfrm>
          <a:off x="0" y="0"/>
          <a:ext cx="0" cy="0"/>
          <a:chOff x="0" y="0"/>
          <a:chExt cx="0" cy="0"/>
        </a:xfrm>
      </p:grpSpPr>
      <p:sp>
        <p:nvSpPr>
          <p:cNvPr id="939" name="Google Shape;939;p121"/>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40" name="Google Shape;940;p121"/>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41" name="Google Shape;941;p121"/>
          <p:cNvSpPr txBox="1"/>
          <p:nvPr/>
        </p:nvSpPr>
        <p:spPr>
          <a:xfrm>
            <a:off x="325625" y="786675"/>
            <a:ext cx="8693400" cy="433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700" u="sng">
                <a:solidFill>
                  <a:schemeClr val="dk1"/>
                </a:solidFill>
              </a:rPr>
              <a:t>IDENTICAL VOLUMETRICS-ESTIMATION PROPOSED :</a:t>
            </a:r>
            <a:endParaRPr sz="1700" u="sng">
              <a:solidFill>
                <a:schemeClr val="dk1"/>
              </a:solidFill>
            </a:endParaRPr>
          </a:p>
          <a:p>
            <a:pPr marL="0" lvl="0" indent="0" algn="l" rtl="0">
              <a:spcBef>
                <a:spcPts val="0"/>
              </a:spcBef>
              <a:spcAft>
                <a:spcPts val="0"/>
              </a:spcAft>
              <a:buNone/>
            </a:pPr>
            <a:endParaRPr sz="1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means data of LGP and CP are exactly same.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In the real world scenario this cannot be true that we have same volume, units and value as we had in previous week.</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is possible only when data is copied over from last period.</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needs to apply salvation or need to highlight to Onshore.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An operator can identify problem from all the tables starting from Global freq.</a:t>
            </a:r>
            <a:endParaRPr sz="1200">
              <a:solidFill>
                <a:schemeClr val="dk1"/>
              </a:solidFill>
            </a:endParaRPr>
          </a:p>
          <a:p>
            <a:pPr marL="0" lvl="0" indent="0" algn="l" rtl="0">
              <a:lnSpc>
                <a:spcPct val="90000"/>
              </a:lnSpc>
              <a:spcBef>
                <a:spcPts val="0"/>
              </a:spcBef>
              <a:spcAft>
                <a:spcPts val="0"/>
              </a:spcAft>
              <a:buNone/>
            </a:pPr>
            <a:endParaRPr sz="1300">
              <a:solidFill>
                <a:schemeClr val="dk1"/>
              </a:solidFill>
            </a:endParaRPr>
          </a:p>
          <a:p>
            <a:pPr marL="0" lvl="0" indent="0" algn="l" rtl="0">
              <a:lnSpc>
                <a:spcPct val="90000"/>
              </a:lnSpc>
              <a:spcBef>
                <a:spcPts val="0"/>
              </a:spcBef>
              <a:spcAft>
                <a:spcPts val="0"/>
              </a:spcAft>
              <a:buNone/>
            </a:pPr>
            <a:r>
              <a:rPr lang="en" sz="1300">
                <a:solidFill>
                  <a:schemeClr val="dk1"/>
                </a:solidFill>
              </a:rPr>
              <a:t> </a:t>
            </a:r>
            <a:endParaRPr sz="1300">
              <a:solidFill>
                <a:schemeClr val="dk1"/>
              </a:solidFill>
            </a:endParaRPr>
          </a:p>
          <a:p>
            <a:pPr marL="0" lvl="0" indent="0" algn="l" rtl="0">
              <a:lnSpc>
                <a:spcPct val="90000"/>
              </a:lnSpc>
              <a:spcBef>
                <a:spcPts val="0"/>
              </a:spcBef>
              <a:spcAft>
                <a:spcPts val="0"/>
              </a:spcAft>
              <a:buNone/>
            </a:pPr>
            <a:r>
              <a:rPr lang="en" sz="1600" u="sng">
                <a:solidFill>
                  <a:schemeClr val="dk1"/>
                </a:solidFill>
              </a:rPr>
              <a:t>STRONG UPWARD TREND :</a:t>
            </a:r>
            <a:endParaRPr sz="1600" u="sng">
              <a:solidFill>
                <a:schemeClr val="dk1"/>
              </a:solidFill>
            </a:endParaRPr>
          </a:p>
          <a:p>
            <a:pPr marL="0" lvl="0" indent="0" algn="l" rtl="0">
              <a:lnSpc>
                <a:spcPct val="90000"/>
              </a:lnSpc>
              <a:spcBef>
                <a:spcPts val="0"/>
              </a:spcBef>
              <a:spcAft>
                <a:spcPts val="0"/>
              </a:spcAft>
              <a:buNone/>
            </a:pPr>
            <a:endParaRPr sz="16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means shop has upward data compared to previous period. It may be due to festival or seasonality impact in prevailing country / region.</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Trend of all the shops across the retailer must be checked. If majority of the shops are having same trend, such store can be set as Ok. </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If without any festival or season or any specific reason, such scenario persists then the operator needs to highlight to onshore / retailer and if required, apply salvation process on such stores.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can identify from Unit freq., Unit change freq., Price change freq., Supergroup tables.</a:t>
            </a:r>
            <a:endParaRPr sz="12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45"/>
        <p:cNvGrpSpPr/>
        <p:nvPr/>
      </p:nvGrpSpPr>
      <p:grpSpPr>
        <a:xfrm>
          <a:off x="0" y="0"/>
          <a:ext cx="0" cy="0"/>
          <a:chOff x="0" y="0"/>
          <a:chExt cx="0" cy="0"/>
        </a:xfrm>
      </p:grpSpPr>
      <p:sp>
        <p:nvSpPr>
          <p:cNvPr id="946" name="Google Shape;946;p122"/>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47" name="Google Shape;947;p122"/>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grpSp>
        <p:nvGrpSpPr>
          <p:cNvPr id="948" name="Google Shape;948;p122"/>
          <p:cNvGrpSpPr/>
          <p:nvPr/>
        </p:nvGrpSpPr>
        <p:grpSpPr>
          <a:xfrm>
            <a:off x="310838" y="2412642"/>
            <a:ext cx="1731046" cy="2563185"/>
            <a:chOff x="0" y="0"/>
            <a:chExt cx="1737300" cy="5791199"/>
          </a:xfrm>
        </p:grpSpPr>
        <p:sp>
          <p:nvSpPr>
            <p:cNvPr id="949" name="Google Shape;949;p122"/>
            <p:cNvSpPr/>
            <p:nvPr/>
          </p:nvSpPr>
          <p:spPr>
            <a:xfrm>
              <a:off x="0" y="0"/>
              <a:ext cx="1737300" cy="289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sp>
          <p:nvSpPr>
            <p:cNvPr id="950" name="Google Shape;950;p122"/>
            <p:cNvSpPr/>
            <p:nvPr/>
          </p:nvSpPr>
          <p:spPr>
            <a:xfrm>
              <a:off x="0" y="2895599"/>
              <a:ext cx="1737300" cy="2895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951" name="Google Shape;951;p122"/>
          <p:cNvSpPr txBox="1"/>
          <p:nvPr/>
        </p:nvSpPr>
        <p:spPr>
          <a:xfrm>
            <a:off x="310800" y="704388"/>
            <a:ext cx="8655600" cy="2038800"/>
          </a:xfrm>
          <a:prstGeom prst="rect">
            <a:avLst/>
          </a:prstGeom>
          <a:noFill/>
          <a:ln>
            <a:noFill/>
          </a:ln>
        </p:spPr>
        <p:txBody>
          <a:bodyPr spcFirstLastPara="1" wrap="square" lIns="76200" tIns="76200" rIns="76200" bIns="76200" anchor="t" anchorCtr="0">
            <a:noAutofit/>
          </a:bodyPr>
          <a:lstStyle/>
          <a:p>
            <a:pPr marL="0" marR="0" lvl="0" indent="0" algn="l" rtl="0">
              <a:lnSpc>
                <a:spcPct val="90000"/>
              </a:lnSpc>
              <a:spcBef>
                <a:spcPts val="0"/>
              </a:spcBef>
              <a:spcAft>
                <a:spcPts val="0"/>
              </a:spcAft>
              <a:buClr>
                <a:schemeClr val="dk1"/>
              </a:buClr>
              <a:buSzPts val="2000"/>
              <a:buFont typeface="Arial"/>
              <a:buNone/>
            </a:pPr>
            <a:r>
              <a:rPr lang="en" sz="1700" b="0" i="0" u="sng" strike="noStrike" cap="none" dirty="0">
                <a:solidFill>
                  <a:schemeClr val="dk1"/>
                </a:solidFill>
                <a:latin typeface="Arial"/>
                <a:ea typeface="Arial"/>
                <a:cs typeface="Arial"/>
                <a:sym typeface="Arial"/>
              </a:rPr>
              <a:t>NO RESET - ESTIMATION PROPOSED :</a:t>
            </a:r>
            <a:endParaRPr sz="1700" b="0" i="0" u="sng" strike="noStrike" cap="none" dirty="0">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000"/>
              <a:buFont typeface="Arial"/>
              <a:buNone/>
            </a:pPr>
            <a:endParaRPr sz="2000" u="sng"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When in data collection, dates are not reset correctly, No Reset tag is attached</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In such cases, the data received is much higher or almost double then LGP.</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The retailer may send the data for two weeks in one week itself. Since it is not expected, so if in 1 week turnover of the shop increases to double as compared to past weeks, it should be highlighted to onshore.</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An operator can identify problem in Unit freq., Supergroup tables</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An operator can observe double or more than double data in every Supergroup.</a:t>
            </a:r>
            <a:endParaRPr sz="1200" dirty="0">
              <a:solidFill>
                <a:schemeClr val="dk1"/>
              </a:solidFill>
            </a:endParaRPr>
          </a:p>
        </p:txBody>
      </p:sp>
      <p:sp>
        <p:nvSpPr>
          <p:cNvPr id="952" name="Google Shape;952;p122"/>
          <p:cNvSpPr txBox="1"/>
          <p:nvPr/>
        </p:nvSpPr>
        <p:spPr>
          <a:xfrm>
            <a:off x="310806" y="2668295"/>
            <a:ext cx="8609400" cy="1281900"/>
          </a:xfrm>
          <a:prstGeom prst="rect">
            <a:avLst/>
          </a:prstGeom>
          <a:noFill/>
          <a:ln>
            <a:noFill/>
          </a:ln>
        </p:spPr>
        <p:txBody>
          <a:bodyPr spcFirstLastPara="1" wrap="square" lIns="76200" tIns="76200" rIns="76200" bIns="76200" anchor="t" anchorCtr="0">
            <a:noAutofit/>
          </a:bodyPr>
          <a:lstStyle/>
          <a:p>
            <a:pPr marL="0" marR="0" lvl="0" indent="0" algn="l" rtl="0">
              <a:lnSpc>
                <a:spcPct val="90000"/>
              </a:lnSpc>
              <a:spcBef>
                <a:spcPts val="0"/>
              </a:spcBef>
              <a:spcAft>
                <a:spcPts val="0"/>
              </a:spcAft>
              <a:buClr>
                <a:schemeClr val="dk1"/>
              </a:buClr>
              <a:buSzPts val="2000"/>
              <a:buFont typeface="Arial"/>
              <a:buNone/>
            </a:pPr>
            <a:r>
              <a:rPr lang="en" sz="1700" b="0" i="0" u="sng" strike="noStrike" cap="none" dirty="0">
                <a:solidFill>
                  <a:schemeClr val="dk1"/>
                </a:solidFill>
                <a:latin typeface="Arial"/>
                <a:ea typeface="Arial"/>
                <a:cs typeface="Arial"/>
                <a:sym typeface="Arial"/>
              </a:rPr>
              <a:t>STRONG DOWNWARD TREND</a:t>
            </a:r>
            <a:r>
              <a:rPr lang="en" sz="1700" u="sng" dirty="0">
                <a:solidFill>
                  <a:schemeClr val="dk1"/>
                </a:solidFill>
              </a:rPr>
              <a:t> :</a:t>
            </a:r>
            <a:endParaRPr sz="1700" u="sng" dirty="0">
              <a:solidFill>
                <a:schemeClr val="dk1"/>
              </a:solidFill>
            </a:endParaRPr>
          </a:p>
          <a:p>
            <a:pPr marL="457200" marR="0" lvl="0" indent="0" algn="l" rtl="0">
              <a:lnSpc>
                <a:spcPct val="115000"/>
              </a:lnSpc>
              <a:spcBef>
                <a:spcPts val="0"/>
              </a:spcBef>
              <a:spcAft>
                <a:spcPts val="0"/>
              </a:spcAft>
              <a:buNone/>
            </a:pPr>
            <a:endParaRPr sz="2000" u="sng"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This tag is set when the shop has downward data in current week as compared to previous week. There may be a chance of festival or seasonality impact in prevailing country / region.</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The operator should check trend of all the shops across the retailer. If major of the shops having same trend we can set such store as Ok. </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If without any festival or season or any specific reason, such scenario persists than there is some problem. The operator needs to highlight to onshore and if required, apply salvation process on such stores.</a:t>
            </a:r>
            <a:endParaRPr sz="1200" dirty="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dirty="0">
                <a:solidFill>
                  <a:schemeClr val="dk1"/>
                </a:solidFill>
              </a:rPr>
              <a:t>The operator can identify problem from Unit freq., Unit change freq., Price change freq., Supergroup tables</a:t>
            </a:r>
            <a:endParaRPr sz="1200" dirty="0">
              <a:solidFill>
                <a:schemeClr val="dk1"/>
              </a:solidFill>
            </a:endParaRPr>
          </a:p>
          <a:p>
            <a:pPr marL="0" lvl="0" indent="0" algn="l" rtl="0">
              <a:lnSpc>
                <a:spcPct val="90000"/>
              </a:lnSpc>
              <a:spcBef>
                <a:spcPts val="0"/>
              </a:spcBef>
              <a:spcAft>
                <a:spcPts val="0"/>
              </a:spcAft>
              <a:buClr>
                <a:schemeClr val="dk1"/>
              </a:buClr>
              <a:buSzPts val="1100"/>
              <a:buFont typeface="Arial"/>
              <a:buNone/>
            </a:pPr>
            <a:endParaRPr sz="1200" dirty="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56"/>
        <p:cNvGrpSpPr/>
        <p:nvPr/>
      </p:nvGrpSpPr>
      <p:grpSpPr>
        <a:xfrm>
          <a:off x="0" y="0"/>
          <a:ext cx="0" cy="0"/>
          <a:chOff x="0" y="0"/>
          <a:chExt cx="0" cy="0"/>
        </a:xfrm>
      </p:grpSpPr>
      <p:sp>
        <p:nvSpPr>
          <p:cNvPr id="957" name="Google Shape;957;p123"/>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58" name="Google Shape;958;p123"/>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59" name="Google Shape;959;p123"/>
          <p:cNvSpPr txBox="1"/>
          <p:nvPr/>
        </p:nvSpPr>
        <p:spPr>
          <a:xfrm>
            <a:off x="380875" y="3253457"/>
            <a:ext cx="8610600" cy="19950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IDENTICAL PRICE</a:t>
            </a:r>
            <a:r>
              <a:rPr lang="en" sz="2300" u="sng">
                <a:solidFill>
                  <a:schemeClr val="dk1"/>
                </a:solidFill>
              </a:rPr>
              <a:t> :</a:t>
            </a:r>
            <a:endParaRPr sz="23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 most of the items are having the same price as of LGP’s price, then this tag will be affixed to FOVA report.</a:t>
            </a:r>
            <a:endParaRPr sz="1200">
              <a:solidFill>
                <a:schemeClr val="dk1"/>
              </a:solidFill>
            </a:endParaRPr>
          </a:p>
          <a:p>
            <a:pPr marL="457200" indent="-304800">
              <a:lnSpc>
                <a:spcPct val="115000"/>
              </a:lnSpc>
              <a:buClr>
                <a:schemeClr val="dk1"/>
              </a:buClr>
              <a:buSzPts val="1200"/>
              <a:buChar char="●"/>
            </a:pPr>
            <a:r>
              <a:rPr lang="en" sz="1200">
                <a:solidFill>
                  <a:schemeClr val="dk1"/>
                </a:solidFill>
              </a:rPr>
              <a:t>This may be normal for the cases, where prices are not changed frequently (e.g. Pharmacy shop). For such cases the operator can accept the data. </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 almost 90% items have same price in CP as in LGP.</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can identify problem in Unit freq., Cref freq. and Price change freq. tables.</a:t>
            </a:r>
            <a:endParaRPr sz="1200">
              <a:solidFill>
                <a:schemeClr val="dk1"/>
              </a:solidFill>
            </a:endParaRPr>
          </a:p>
        </p:txBody>
      </p:sp>
      <p:sp>
        <p:nvSpPr>
          <p:cNvPr id="960" name="Google Shape;960;p123"/>
          <p:cNvSpPr txBox="1"/>
          <p:nvPr/>
        </p:nvSpPr>
        <p:spPr>
          <a:xfrm>
            <a:off x="291775" y="806681"/>
            <a:ext cx="8699700" cy="21135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CHANGED PRICE</a:t>
            </a:r>
            <a:r>
              <a:rPr lang="en" sz="2300" u="sng">
                <a:solidFill>
                  <a:schemeClr val="dk1"/>
                </a:solidFill>
              </a:rPr>
              <a:t> :</a:t>
            </a:r>
            <a:endParaRPr sz="2300" u="sng">
              <a:solidFill>
                <a:schemeClr val="dk1"/>
              </a:solidFill>
            </a:endParaRPr>
          </a:p>
          <a:p>
            <a:pPr marL="0" marR="0" lvl="0" indent="0" algn="l" rtl="0">
              <a:lnSpc>
                <a:spcPct val="90000"/>
              </a:lnSpc>
              <a:spcBef>
                <a:spcPts val="0"/>
              </a:spcBef>
              <a:spcAft>
                <a:spcPts val="0"/>
              </a:spcAft>
              <a:buClr>
                <a:schemeClr val="dk1"/>
              </a:buClr>
              <a:buSzPts val="2300"/>
              <a:buFont typeface="Arial"/>
              <a:buNone/>
            </a:pPr>
            <a:endParaRPr sz="23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 the price for most of the items are changed as compared to LGP’s price, then this tag will be affixed to FOVA report.</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change in price can be very high or very low or when there are changes in price in CP for almost 80% to 90% items as compared to LGP. The price may be changed due to promotional offers by the retailer.</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can highlight it to onshore when the price is changed for the stores without the promotional offers. For other specific reasons, salvation processes can be applied on such stores.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An operator can identify problem at Price freq. and Price change freq. table.</a:t>
            </a:r>
            <a:endParaRPr sz="12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64"/>
        <p:cNvGrpSpPr/>
        <p:nvPr/>
      </p:nvGrpSpPr>
      <p:grpSpPr>
        <a:xfrm>
          <a:off x="0" y="0"/>
          <a:ext cx="0" cy="0"/>
          <a:chOff x="0" y="0"/>
          <a:chExt cx="0" cy="0"/>
        </a:xfrm>
      </p:grpSpPr>
      <p:pic>
        <p:nvPicPr>
          <p:cNvPr id="965" name="Google Shape;965;p124"/>
          <p:cNvPicPr preferRelativeResize="0"/>
          <p:nvPr/>
        </p:nvPicPr>
        <p:blipFill rotWithShape="1">
          <a:blip r:embed="rId4">
            <a:alphaModFix/>
          </a:blip>
          <a:srcRect/>
          <a:stretch/>
        </p:blipFill>
        <p:spPr>
          <a:xfrm>
            <a:off x="2542200" y="3660151"/>
            <a:ext cx="3054756" cy="814389"/>
          </a:xfrm>
          <a:prstGeom prst="rect">
            <a:avLst/>
          </a:prstGeom>
          <a:noFill/>
          <a:ln>
            <a:noFill/>
          </a:ln>
        </p:spPr>
      </p:pic>
      <p:sp>
        <p:nvSpPr>
          <p:cNvPr id="966" name="Google Shape;966;p124"/>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67" name="Google Shape;967;p124"/>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68" name="Google Shape;968;p124"/>
          <p:cNvSpPr txBox="1"/>
          <p:nvPr/>
        </p:nvSpPr>
        <p:spPr>
          <a:xfrm>
            <a:off x="318177" y="1027744"/>
            <a:ext cx="8691000" cy="25149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Price Sync</a:t>
            </a:r>
            <a:r>
              <a:rPr lang="en" sz="2300" u="sng">
                <a:solidFill>
                  <a:schemeClr val="dk1"/>
                </a:solidFill>
              </a:rPr>
              <a:t> :</a:t>
            </a:r>
            <a:endParaRPr sz="2300" u="sng">
              <a:solidFill>
                <a:schemeClr val="dk1"/>
              </a:solidFill>
            </a:endParaRPr>
          </a:p>
          <a:p>
            <a:pPr marL="0" lvl="0" indent="0" algn="l" rtl="0">
              <a:lnSpc>
                <a:spcPct val="90000"/>
              </a:lnSpc>
              <a:spcBef>
                <a:spcPts val="0"/>
              </a:spcBef>
              <a:spcAft>
                <a:spcPts val="0"/>
              </a:spcAft>
              <a:buClr>
                <a:schemeClr val="dk1"/>
              </a:buClr>
              <a:buSzPts val="1300"/>
              <a:buFont typeface="Arial"/>
              <a:buNone/>
            </a:pPr>
            <a:endParaRPr sz="13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According to normal market conditions, when price increases, units sold should decrease and when the price decreases, units sold should increase.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FOVA reports will fall under this tag, when the price and units are not in synchronization as per the normal market conditions, i.e., when increase in price results in increase in units sold and when decrease in price results in decrease in units sold.</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Apart from Price Sync table, the operator needs to refer other tables as well to take the FOVA decision.</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An operator can see problem in Unit freq., Price freq., Unit change freq. and Price sync freq. table.</a:t>
            </a:r>
            <a:endParaRPr sz="12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72"/>
        <p:cNvGrpSpPr/>
        <p:nvPr/>
      </p:nvGrpSpPr>
      <p:grpSpPr>
        <a:xfrm>
          <a:off x="0" y="0"/>
          <a:ext cx="0" cy="0"/>
          <a:chOff x="0" y="0"/>
          <a:chExt cx="0" cy="0"/>
        </a:xfrm>
      </p:grpSpPr>
      <p:sp>
        <p:nvSpPr>
          <p:cNvPr id="973" name="Google Shape;973;p125"/>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74" name="Google Shape;974;p125"/>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75" name="Google Shape;975;p125"/>
          <p:cNvSpPr txBox="1"/>
          <p:nvPr/>
        </p:nvSpPr>
        <p:spPr>
          <a:xfrm>
            <a:off x="291795" y="828881"/>
            <a:ext cx="8737200" cy="20718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Exceptional Positive OR Negative Trend :</a:t>
            </a:r>
            <a:endParaRPr sz="2300" b="0" i="0" u="sng"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300"/>
              <a:buFont typeface="Arial"/>
              <a:buNone/>
            </a:pPr>
            <a:endParaRPr sz="23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set when the trend variant (calculated using previous and current period information) is violated the boundaries of trend lower/upper bound.</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An acceptable range will be parameter driven which is calculated automatically by FOVA process using current and back 13 weeks.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If value do trend Variant is lower than Lower Bound (LB) then test will be tagged as “EXCEPTIONAL NEGATIVE TREND BEHAVIOUR” and If current period is higher than Upper Bound (UB) then it will be tagged as “ EXCEPTIONAL POSITIVE TREND BEHAVIOUR”.</a:t>
            </a:r>
            <a:endParaRPr sz="1200">
              <a:solidFill>
                <a:schemeClr val="dk1"/>
              </a:solidFill>
            </a:endParaRPr>
          </a:p>
          <a:p>
            <a:pPr marL="457200" lvl="0" indent="-304800" algn="l" rtl="0">
              <a:lnSpc>
                <a:spcPct val="115000"/>
              </a:lnSpc>
              <a:spcBef>
                <a:spcPts val="0"/>
              </a:spcBef>
              <a:spcAft>
                <a:spcPts val="0"/>
              </a:spcAft>
              <a:buSzPts val="1200"/>
              <a:buChar char="●"/>
            </a:pPr>
            <a:r>
              <a:rPr lang="en" sz="1200">
                <a:solidFill>
                  <a:schemeClr val="dk1"/>
                </a:solidFill>
              </a:rPr>
              <a:t>Decision can be made as per the rules mentioned in the SOP</a:t>
            </a:r>
            <a:r>
              <a:rPr lang="en" sz="1200">
                <a:solidFill>
                  <a:srgbClr val="FF0000"/>
                </a:solidFill>
              </a:rPr>
              <a:t>.</a:t>
            </a:r>
            <a:endParaRPr sz="1200">
              <a:solidFill>
                <a:schemeClr val="dk1"/>
              </a:solidFill>
            </a:endParaRPr>
          </a:p>
        </p:txBody>
      </p:sp>
      <p:sp>
        <p:nvSpPr>
          <p:cNvPr id="976" name="Google Shape;976;p125"/>
          <p:cNvSpPr txBox="1"/>
          <p:nvPr/>
        </p:nvSpPr>
        <p:spPr>
          <a:xfrm>
            <a:off x="291683" y="3243544"/>
            <a:ext cx="8737200" cy="20718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Missing Days :</a:t>
            </a:r>
            <a:endParaRPr sz="2300" b="0" i="0" u="sng"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300"/>
              <a:buFont typeface="Arial"/>
              <a:buNone/>
            </a:pPr>
            <a:endParaRPr sz="23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will be applicable for the store where daily sales information is received in the input (i.e. SIRPAIR files).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For such cases in FOVA report, Daily data table will be generated which will show day wise information.</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If any expected day is missing, then store will be flagged as “MISSING DAYS”. Expected days need to be setup in the parameter values.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Decision can be made as per the rules mentioned in the SOP.</a:t>
            </a:r>
            <a:endParaRPr sz="12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80"/>
        <p:cNvGrpSpPr/>
        <p:nvPr/>
      </p:nvGrpSpPr>
      <p:grpSpPr>
        <a:xfrm>
          <a:off x="0" y="0"/>
          <a:ext cx="0" cy="0"/>
          <a:chOff x="0" y="0"/>
          <a:chExt cx="0" cy="0"/>
        </a:xfrm>
      </p:grpSpPr>
      <p:sp>
        <p:nvSpPr>
          <p:cNvPr id="981" name="Google Shape;981;p126"/>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82" name="Google Shape;982;p126"/>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983" name="Google Shape;983;p126"/>
          <p:cNvSpPr txBox="1"/>
          <p:nvPr/>
        </p:nvSpPr>
        <p:spPr>
          <a:xfrm>
            <a:off x="291825" y="2824069"/>
            <a:ext cx="8737200" cy="1392000"/>
          </a:xfrm>
          <a:prstGeom prst="rect">
            <a:avLst/>
          </a:prstGeom>
          <a:noFill/>
          <a:ln>
            <a:noFill/>
          </a:ln>
        </p:spPr>
        <p:txBody>
          <a:bodyPr spcFirstLastPara="1" wrap="square" lIns="68575" tIns="68575" rIns="68575" bIns="68575" anchor="t" anchorCtr="0">
            <a:noAutofit/>
          </a:bodyPr>
          <a:lstStyle/>
          <a:p>
            <a:pPr marL="0" marR="0" lvl="0" indent="0" algn="l" rtl="0">
              <a:lnSpc>
                <a:spcPct val="90000"/>
              </a:lnSpc>
              <a:spcBef>
                <a:spcPts val="0"/>
              </a:spcBef>
              <a:spcAft>
                <a:spcPts val="0"/>
              </a:spcAft>
              <a:buClr>
                <a:schemeClr val="dk1"/>
              </a:buClr>
              <a:buSzPts val="1800"/>
              <a:buFont typeface="Arial"/>
              <a:buNone/>
            </a:pPr>
            <a:r>
              <a:rPr lang="en" sz="2300" b="0" i="0" u="sng" strike="noStrike" cap="none">
                <a:solidFill>
                  <a:schemeClr val="dk1"/>
                </a:solidFill>
                <a:latin typeface="Arial"/>
                <a:ea typeface="Arial"/>
                <a:cs typeface="Arial"/>
                <a:sym typeface="Arial"/>
              </a:rPr>
              <a:t>UNIDENTIFIED - NO LGW AVAILABLE</a:t>
            </a:r>
            <a:r>
              <a:rPr lang="en" sz="2300" u="sng">
                <a:solidFill>
                  <a:schemeClr val="dk1"/>
                </a:solidFill>
              </a:rPr>
              <a:t> :</a:t>
            </a:r>
            <a:endParaRPr sz="2300" u="sng">
              <a:solidFill>
                <a:schemeClr val="dk1"/>
              </a:solidFill>
            </a:endParaRPr>
          </a:p>
          <a:p>
            <a:pPr marL="0" marR="0" lvl="0" indent="0" algn="l" rtl="0">
              <a:lnSpc>
                <a:spcPct val="90000"/>
              </a:lnSpc>
              <a:spcBef>
                <a:spcPts val="0"/>
              </a:spcBef>
              <a:spcAft>
                <a:spcPts val="0"/>
              </a:spcAft>
              <a:buClr>
                <a:schemeClr val="dk1"/>
              </a:buClr>
              <a:buSzPts val="1800"/>
              <a:buFont typeface="Arial"/>
              <a:buNone/>
            </a:pPr>
            <a:endParaRPr sz="18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set when </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1. Fova stats is not available for compute WT boundaries &amp; store status is good in previous period </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(e.g. First Fova Run, No common item found)</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2. Internal fova decision is “Unidentified Estimation”</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 all statistical test is failed to decide the issue so system will through with this tag for manual intervention</a:t>
            </a:r>
            <a:endParaRPr sz="1200" u="sng">
              <a:solidFill>
                <a:schemeClr val="dk1"/>
              </a:solidFill>
            </a:endParaRPr>
          </a:p>
        </p:txBody>
      </p:sp>
      <p:sp>
        <p:nvSpPr>
          <p:cNvPr id="984" name="Google Shape;984;p126"/>
          <p:cNvSpPr txBox="1"/>
          <p:nvPr/>
        </p:nvSpPr>
        <p:spPr>
          <a:xfrm>
            <a:off x="291775" y="929381"/>
            <a:ext cx="8737200" cy="18138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HIGH </a:t>
            </a:r>
            <a:r>
              <a:rPr lang="en" sz="2300" u="sng">
                <a:solidFill>
                  <a:schemeClr val="dk1"/>
                </a:solidFill>
              </a:rPr>
              <a:t>DEVIANCE</a:t>
            </a:r>
            <a:r>
              <a:rPr lang="en" sz="2300" b="0" i="0" u="sng" strike="noStrike" cap="none">
                <a:solidFill>
                  <a:schemeClr val="dk1"/>
                </a:solidFill>
                <a:latin typeface="Arial"/>
                <a:ea typeface="Arial"/>
                <a:cs typeface="Arial"/>
                <a:sym typeface="Arial"/>
              </a:rPr>
              <a:t> :</a:t>
            </a:r>
            <a:endParaRPr sz="2300" b="0" i="0" u="sng"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300"/>
              <a:buFont typeface="Arial"/>
              <a:buNone/>
            </a:pPr>
            <a:endParaRPr sz="23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set when there is mix trend behavior of data.</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There are items which shows decreasing and increasing sale.</a:t>
            </a:r>
            <a:endParaRPr sz="1200">
              <a:solidFill>
                <a:schemeClr val="dk1"/>
              </a:solidFill>
            </a:endParaRPr>
          </a:p>
          <a:p>
            <a:pPr marL="457200" indent="-304800">
              <a:lnSpc>
                <a:spcPct val="115000"/>
              </a:lnSpc>
              <a:buClr>
                <a:schemeClr val="dk1"/>
              </a:buClr>
              <a:buSzPts val="1200"/>
              <a:buChar char="●"/>
            </a:pPr>
            <a:r>
              <a:rPr lang="en" sz="1200">
                <a:solidFill>
                  <a:schemeClr val="dk1"/>
                </a:solidFill>
              </a:rPr>
              <a:t>No common pattern is found for this tag. Mix trend can be seen in records/units or values.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can find *** in Global frequency table, Price frequency table, Supergroups, Unit frequency table.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 operator has to follow the country guideline to accept or salvaged the data.</a:t>
            </a:r>
            <a:endParaRPr sz="12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88"/>
        <p:cNvGrpSpPr/>
        <p:nvPr/>
      </p:nvGrpSpPr>
      <p:grpSpPr>
        <a:xfrm>
          <a:off x="0" y="0"/>
          <a:ext cx="0" cy="0"/>
          <a:chOff x="0" y="0"/>
          <a:chExt cx="0" cy="0"/>
        </a:xfrm>
      </p:grpSpPr>
      <p:sp>
        <p:nvSpPr>
          <p:cNvPr id="989" name="Google Shape;989;p127"/>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90" name="Google Shape;990;p127"/>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grpSp>
        <p:nvGrpSpPr>
          <p:cNvPr id="991" name="Google Shape;991;p127"/>
          <p:cNvGrpSpPr/>
          <p:nvPr/>
        </p:nvGrpSpPr>
        <p:grpSpPr>
          <a:xfrm>
            <a:off x="322782" y="987840"/>
            <a:ext cx="8706155" cy="3998366"/>
            <a:chOff x="-2803894" y="68481"/>
            <a:chExt cx="4495588" cy="5615683"/>
          </a:xfrm>
        </p:grpSpPr>
        <p:sp>
          <p:nvSpPr>
            <p:cNvPr id="992" name="Google Shape;992;p127"/>
            <p:cNvSpPr txBox="1"/>
            <p:nvPr/>
          </p:nvSpPr>
          <p:spPr>
            <a:xfrm>
              <a:off x="-2803894" y="68481"/>
              <a:ext cx="4495500" cy="28956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No Common Items found :</a:t>
              </a:r>
              <a:endParaRPr sz="2300" b="0" i="0" u="sng"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2300"/>
                <a:buFont typeface="Arial"/>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set when there are no common items in current period when compared to previous week.</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cannot be a real market condition as in real world, it cannot be expected that store is changing their whole assortments in 1 week.</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Highlight the stores having this tag to onshore.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To take FOVA decisions in this case, the operator can use the trend of previous weeks.</a:t>
              </a:r>
              <a:endParaRPr sz="1200" u="sng">
                <a:solidFill>
                  <a:schemeClr val="dk1"/>
                </a:solidFill>
              </a:endParaRPr>
            </a:p>
          </p:txBody>
        </p:sp>
        <p:sp>
          <p:nvSpPr>
            <p:cNvPr id="993" name="Google Shape;993;p127"/>
            <p:cNvSpPr txBox="1"/>
            <p:nvPr/>
          </p:nvSpPr>
          <p:spPr>
            <a:xfrm>
              <a:off x="-2803806" y="2788564"/>
              <a:ext cx="4495500" cy="28956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2300"/>
                <a:buFont typeface="Arial"/>
                <a:buNone/>
              </a:pPr>
              <a:r>
                <a:rPr lang="en" sz="2300" b="0" i="0" u="sng" strike="noStrike" cap="none">
                  <a:solidFill>
                    <a:schemeClr val="dk1"/>
                  </a:solidFill>
                  <a:latin typeface="Arial"/>
                  <a:ea typeface="Arial"/>
                  <a:cs typeface="Arial"/>
                  <a:sym typeface="Arial"/>
                </a:rPr>
                <a:t>First Fova Run- No LGP</a:t>
              </a:r>
              <a:r>
                <a:rPr lang="en" sz="2300" u="sng">
                  <a:solidFill>
                    <a:schemeClr val="dk1"/>
                  </a:solidFill>
                </a:rPr>
                <a:t> :</a:t>
              </a:r>
              <a:endParaRPr sz="2300" u="sng">
                <a:solidFill>
                  <a:schemeClr val="dk1"/>
                </a:solidFill>
              </a:endParaRPr>
            </a:p>
            <a:p>
              <a:pPr marL="0" marR="0" lvl="0" indent="0" algn="l" rtl="0">
                <a:lnSpc>
                  <a:spcPct val="90000"/>
                </a:lnSpc>
                <a:spcBef>
                  <a:spcPts val="0"/>
                </a:spcBef>
                <a:spcAft>
                  <a:spcPts val="0"/>
                </a:spcAft>
                <a:buClr>
                  <a:schemeClr val="dk1"/>
                </a:buClr>
                <a:buSzPts val="2300"/>
                <a:buFont typeface="Arial"/>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 the data for a store is received for the first time or after more than 5 weeks, then it will fall under this tag.</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For such cases, report will not be generated as data for the LGP is not available for the statistical analysis.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To take FOVA decisions, trend of the previous weeks data received is used to populate data for CP, if data is received after more than 5 weeks.</a:t>
              </a:r>
              <a:endParaRPr sz="1200">
                <a:solidFill>
                  <a:schemeClr val="dk1"/>
                </a:solidFill>
              </a:endParaRPr>
            </a:p>
          </p:txBody>
        </p:sp>
      </p:grpSp>
    </p:spTree>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997"/>
        <p:cNvGrpSpPr/>
        <p:nvPr/>
      </p:nvGrpSpPr>
      <p:grpSpPr>
        <a:xfrm>
          <a:off x="0" y="0"/>
          <a:ext cx="0" cy="0"/>
          <a:chOff x="0" y="0"/>
          <a:chExt cx="0" cy="0"/>
        </a:xfrm>
      </p:grpSpPr>
      <p:sp>
        <p:nvSpPr>
          <p:cNvPr id="998" name="Google Shape;998;p128"/>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999" name="Google Shape;999;p128"/>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1000" name="Google Shape;1000;p128"/>
          <p:cNvSpPr txBox="1"/>
          <p:nvPr/>
        </p:nvSpPr>
        <p:spPr>
          <a:xfrm>
            <a:off x="306325" y="800100"/>
            <a:ext cx="8722500" cy="1832100"/>
          </a:xfrm>
          <a:prstGeom prst="rect">
            <a:avLst/>
          </a:prstGeom>
          <a:noFill/>
          <a:ln>
            <a:noFill/>
          </a:ln>
        </p:spPr>
        <p:txBody>
          <a:bodyPr spcFirstLastPara="1" wrap="square" lIns="87625" tIns="87625" rIns="87625" bIns="87625" anchor="t" anchorCtr="0">
            <a:noAutofit/>
          </a:bodyPr>
          <a:lstStyle/>
          <a:p>
            <a:pPr marL="0" marR="0" lvl="0" indent="0" algn="l" rtl="0">
              <a:lnSpc>
                <a:spcPct val="90000"/>
              </a:lnSpc>
              <a:spcBef>
                <a:spcPts val="0"/>
              </a:spcBef>
              <a:spcAft>
                <a:spcPts val="0"/>
              </a:spcAft>
              <a:buClr>
                <a:schemeClr val="dk1"/>
              </a:buClr>
              <a:buSzPts val="1700"/>
              <a:buFont typeface="Arial"/>
              <a:buNone/>
            </a:pPr>
            <a:r>
              <a:rPr lang="en" sz="2300" b="0" i="0" u="sng" strike="noStrike" cap="none">
                <a:solidFill>
                  <a:schemeClr val="dk1"/>
                </a:solidFill>
                <a:latin typeface="Arial"/>
                <a:ea typeface="Arial"/>
                <a:cs typeface="Arial"/>
                <a:sym typeface="Arial"/>
              </a:rPr>
              <a:t>Exceptional Positive OR Negative Trend/Structure/Supergroup Issues :</a:t>
            </a:r>
            <a:endParaRPr sz="2300" b="0" i="0" u="sng" strike="noStrike" cap="none">
              <a:solidFill>
                <a:schemeClr val="dk1"/>
              </a:solidFill>
              <a:latin typeface="Arial"/>
              <a:ea typeface="Arial"/>
              <a:cs typeface="Arial"/>
              <a:sym typeface="Arial"/>
            </a:endParaRPr>
          </a:p>
          <a:p>
            <a:pPr marL="0" marR="0" lvl="0" indent="0" algn="l" rtl="0">
              <a:lnSpc>
                <a:spcPct val="90000"/>
              </a:lnSpc>
              <a:spcBef>
                <a:spcPts val="0"/>
              </a:spcBef>
              <a:spcAft>
                <a:spcPts val="0"/>
              </a:spcAft>
              <a:buClr>
                <a:schemeClr val="dk1"/>
              </a:buClr>
              <a:buSzPts val="1700"/>
              <a:buFont typeface="Arial"/>
              <a:buNone/>
            </a:pPr>
            <a:endParaRPr sz="12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set when the trend variant for any Supergroups/Structural consistency of CREF group frequency table/ CREF type frequency table  is violated the boundaries of trend lower/upper bound.</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An acceptable range for each over all trend/Supergroups/Structural consistency of CREF group frequency table/ CREF type frequency table will be parameter driven which is calculated automatically by FOVA process using current and back 13 weeks.</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If value for trend Variant is lower than Lower Bound (LB) then test will be tagged as “EXCEPTIONAL NEGATIVE” and If current period is higher than Upper Bound (UB) then it will be tagged as “ EXCEPTIONAL POSITIVE”.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Decision can be made as per the rules mentioned in the SOP.</a:t>
            </a:r>
            <a:endParaRPr sz="1200">
              <a:solidFill>
                <a:schemeClr val="dk1"/>
              </a:solidFill>
            </a:endParaRPr>
          </a:p>
          <a:p>
            <a:pPr marL="0" marR="0" lvl="0" indent="0" algn="l" rtl="0">
              <a:lnSpc>
                <a:spcPct val="90000"/>
              </a:lnSpc>
              <a:spcBef>
                <a:spcPts val="0"/>
              </a:spcBef>
              <a:spcAft>
                <a:spcPts val="0"/>
              </a:spcAft>
              <a:buClr>
                <a:schemeClr val="dk1"/>
              </a:buClr>
              <a:buSzPts val="1700"/>
              <a:buFont typeface="Arial"/>
              <a:buNone/>
            </a:pPr>
            <a:endParaRPr sz="1100" u="sng">
              <a:solidFill>
                <a:schemeClr val="dk1"/>
              </a:solidFill>
            </a:endParaRPr>
          </a:p>
        </p:txBody>
      </p:sp>
      <p:sp>
        <p:nvSpPr>
          <p:cNvPr id="1001" name="Google Shape;1001;p128"/>
          <p:cNvSpPr txBox="1"/>
          <p:nvPr/>
        </p:nvSpPr>
        <p:spPr>
          <a:xfrm>
            <a:off x="306353" y="3415744"/>
            <a:ext cx="8722500" cy="1089600"/>
          </a:xfrm>
          <a:prstGeom prst="rect">
            <a:avLst/>
          </a:prstGeom>
          <a:noFill/>
          <a:ln>
            <a:noFill/>
          </a:ln>
        </p:spPr>
        <p:txBody>
          <a:bodyPr spcFirstLastPara="1" wrap="square" lIns="87625" tIns="87625" rIns="87625" bIns="87625" anchor="t" anchorCtr="0">
            <a:noAutofit/>
          </a:bodyPr>
          <a:lstStyle/>
          <a:p>
            <a:pPr marL="0" marR="0" lvl="0" indent="0" algn="l" rtl="0">
              <a:lnSpc>
                <a:spcPct val="115000"/>
              </a:lnSpc>
              <a:spcBef>
                <a:spcPts val="0"/>
              </a:spcBef>
              <a:spcAft>
                <a:spcPts val="0"/>
              </a:spcAft>
              <a:buClr>
                <a:srgbClr val="000000"/>
              </a:buClr>
              <a:buSzPts val="1100"/>
              <a:buFont typeface="Arial"/>
              <a:buNone/>
            </a:pPr>
            <a:r>
              <a:rPr lang="en" sz="2300" b="0" i="0" u="sng" strike="noStrike" cap="none">
                <a:solidFill>
                  <a:schemeClr val="dk1"/>
                </a:solidFill>
                <a:latin typeface="Arial"/>
                <a:ea typeface="Arial"/>
                <a:cs typeface="Arial"/>
                <a:sym typeface="Arial"/>
              </a:rPr>
              <a:t>STORE STRUCTURAL DEFICIENCIES :</a:t>
            </a:r>
            <a:endParaRPr sz="2300" b="0" i="0" u="sng"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100"/>
              <a:buFont typeface="Arial"/>
              <a:buNone/>
            </a:pPr>
            <a:endParaRPr sz="1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set when ever any Supergroups are missing data or having trend inconsistency. This tag is also assigned if Structural consistency of CREF group frequency table/ CREF type frequency table has violated the boundaries of trend lower/upper bound.</a:t>
            </a:r>
            <a:endParaRPr sz="1200" b="0" i="0" u="none" strike="noStrike" cap="none">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05"/>
        <p:cNvGrpSpPr/>
        <p:nvPr/>
      </p:nvGrpSpPr>
      <p:grpSpPr>
        <a:xfrm>
          <a:off x="0" y="0"/>
          <a:ext cx="0" cy="0"/>
          <a:chOff x="0" y="0"/>
          <a:chExt cx="0" cy="0"/>
        </a:xfrm>
      </p:grpSpPr>
      <p:grpSp>
        <p:nvGrpSpPr>
          <p:cNvPr id="1006" name="Google Shape;1006;p129"/>
          <p:cNvGrpSpPr/>
          <p:nvPr/>
        </p:nvGrpSpPr>
        <p:grpSpPr>
          <a:xfrm>
            <a:off x="295900" y="861798"/>
            <a:ext cx="8743283" cy="3053290"/>
            <a:chOff x="-2895778" y="-589388"/>
            <a:chExt cx="13764615" cy="2281810"/>
          </a:xfrm>
        </p:grpSpPr>
        <p:sp>
          <p:nvSpPr>
            <p:cNvPr id="1007" name="Google Shape;1007;p129"/>
            <p:cNvSpPr txBox="1"/>
            <p:nvPr/>
          </p:nvSpPr>
          <p:spPr>
            <a:xfrm>
              <a:off x="-2895463" y="-589388"/>
              <a:ext cx="13764300" cy="1006500"/>
            </a:xfrm>
            <a:prstGeom prst="rect">
              <a:avLst/>
            </a:prstGeom>
            <a:noFill/>
            <a:ln>
              <a:noFill/>
            </a:ln>
          </p:spPr>
          <p:txBody>
            <a:bodyPr spcFirstLastPara="1" wrap="square" lIns="87625" tIns="87625" rIns="87625" bIns="876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300" b="0" i="0" u="sng" strike="noStrike" cap="none">
                  <a:solidFill>
                    <a:schemeClr val="dk1"/>
                  </a:solidFill>
                  <a:latin typeface="Arial"/>
                  <a:ea typeface="Arial"/>
                  <a:cs typeface="Arial"/>
                  <a:sym typeface="Arial"/>
                </a:rPr>
                <a:t>NO TREND IN COMMON ITEMS, BUT TREND IN ALL ITEMS :</a:t>
              </a:r>
              <a:endParaRPr sz="2300" b="0" i="0" u="sng"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Whenever store has violated the boundaries of trend lower/upper bound for Trend Common test but has passed Trend All test, this tag is assigned to that respective store.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User is supposed to check such FOVA Reports carefully and query it back to relevant counterparts for more information if required.</a:t>
              </a:r>
              <a:endParaRPr sz="1200">
                <a:solidFill>
                  <a:schemeClr val="dk1"/>
                </a:solidFill>
              </a:endParaRPr>
            </a:p>
          </p:txBody>
        </p:sp>
        <p:sp>
          <p:nvSpPr>
            <p:cNvPr id="1008" name="Google Shape;1008;p129"/>
            <p:cNvSpPr txBox="1"/>
            <p:nvPr/>
          </p:nvSpPr>
          <p:spPr>
            <a:xfrm>
              <a:off x="-2895778" y="685922"/>
              <a:ext cx="13764300" cy="1006500"/>
            </a:xfrm>
            <a:prstGeom prst="rect">
              <a:avLst/>
            </a:prstGeom>
            <a:noFill/>
            <a:ln>
              <a:noFill/>
            </a:ln>
          </p:spPr>
          <p:txBody>
            <a:bodyPr spcFirstLastPara="1" wrap="square" lIns="87625" tIns="87625" rIns="87625" bIns="876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300" b="0" i="0" u="sng" strike="noStrike" cap="none">
                  <a:solidFill>
                    <a:schemeClr val="dk1"/>
                  </a:solidFill>
                  <a:latin typeface="Arial"/>
                  <a:ea typeface="Arial"/>
                  <a:cs typeface="Arial"/>
                  <a:sym typeface="Arial"/>
                </a:rPr>
                <a:t>NO TREND IN ALL ITEMS, BUT TREND IN COMMON ITEMS :</a:t>
              </a:r>
              <a:endParaRPr sz="2300" b="0" i="0" u="sng"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Whenever store has violated the boundaries of trend lower/upper bound for Trend All test but has passed Trend Common test, this tag is assigned to that respective store.</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User is supposed to check such FOVA Reports carefully and query it back to relevant counterparts for more information if required.</a:t>
              </a:r>
              <a:endParaRPr sz="1200" u="sng">
                <a:solidFill>
                  <a:schemeClr val="dk1"/>
                </a:solidFill>
              </a:endParaRPr>
            </a:p>
          </p:txBody>
        </p:sp>
      </p:grpSp>
      <p:sp>
        <p:nvSpPr>
          <p:cNvPr id="1009" name="Google Shape;1009;p129"/>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1010" name="Google Shape;1010;p129"/>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Tree>
  </p:cSld>
  <p:clrMapOvr>
    <a:overrideClrMapping bg1="lt1" tx1="dk1" bg2="lt2" tx2="dk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HOW THE PROCESS WORKS</a:t>
            </a:r>
            <a:endParaRPr sz="3000" i="0" u="none" strike="noStrike" cap="none">
              <a:solidFill>
                <a:schemeClr val="dk2"/>
              </a:solidFill>
            </a:endParaRPr>
          </a:p>
        </p:txBody>
      </p:sp>
      <p:sp>
        <p:nvSpPr>
          <p:cNvPr id="1016" name="Google Shape;1016;p130"/>
          <p:cNvSpPr txBox="1">
            <a:spLocks noGrp="1"/>
          </p:cNvSpPr>
          <p:nvPr>
            <p:ph type="body" idx="1"/>
          </p:nvPr>
        </p:nvSpPr>
        <p:spPr>
          <a:xfrm>
            <a:off x="291775" y="488830"/>
            <a:ext cx="8160300" cy="269100"/>
          </a:xfrm>
          <a:prstGeom prst="rect">
            <a:avLst/>
          </a:prstGeom>
          <a:noFill/>
          <a:ln>
            <a:noFill/>
          </a:ln>
        </p:spPr>
        <p:txBody>
          <a:bodyPr spcFirstLastPara="1" wrap="square" lIns="91425" tIns="0" rIns="91425" bIns="0" anchor="t" anchorCtr="0">
            <a:noAutofit/>
          </a:bodyPr>
          <a:lstStyle/>
          <a:p>
            <a:pPr marL="0" marR="0" lvl="0" indent="0" algn="l" rtl="0">
              <a:spcBef>
                <a:spcPts val="0"/>
              </a:spcBef>
              <a:spcAft>
                <a:spcPts val="0"/>
              </a:spcAft>
              <a:buClr>
                <a:schemeClr val="dk2"/>
              </a:buClr>
              <a:buFont typeface="Arial"/>
              <a:buNone/>
            </a:pPr>
            <a:r>
              <a:rPr lang="en" b="1">
                <a:solidFill>
                  <a:schemeClr val="accent1"/>
                </a:solidFill>
              </a:rPr>
              <a:t>FOVA Tags</a:t>
            </a:r>
            <a:endParaRPr sz="1800" i="0" u="none" strike="noStrike" cap="none">
              <a:solidFill>
                <a:schemeClr val="dk2"/>
              </a:solidFill>
            </a:endParaRPr>
          </a:p>
        </p:txBody>
      </p:sp>
      <p:sp>
        <p:nvSpPr>
          <p:cNvPr id="1017" name="Google Shape;1017;p130"/>
          <p:cNvSpPr txBox="1"/>
          <p:nvPr/>
        </p:nvSpPr>
        <p:spPr>
          <a:xfrm>
            <a:off x="291825" y="2490855"/>
            <a:ext cx="8677800" cy="888300"/>
          </a:xfrm>
          <a:prstGeom prst="rect">
            <a:avLst/>
          </a:prstGeom>
          <a:noFill/>
          <a:ln>
            <a:noFill/>
          </a:ln>
        </p:spPr>
        <p:txBody>
          <a:bodyPr spcFirstLastPara="1" wrap="square" lIns="87625" tIns="87625" rIns="87625" bIns="876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300" b="0" i="0" u="sng" strike="noStrike" cap="none">
                <a:solidFill>
                  <a:schemeClr val="dk1"/>
                </a:solidFill>
                <a:latin typeface="Arial"/>
                <a:ea typeface="Arial"/>
                <a:cs typeface="Arial"/>
                <a:sym typeface="Arial"/>
              </a:rPr>
              <a:t>NEW_FOVA :</a:t>
            </a:r>
            <a:endParaRPr sz="2300" b="0" i="0" u="sng" strike="noStrike" cap="none">
              <a:solidFill>
                <a:schemeClr val="dk1"/>
              </a:solidFill>
              <a:latin typeface="Arial"/>
              <a:ea typeface="Arial"/>
              <a:cs typeface="Arial"/>
              <a:sym typeface="Arial"/>
            </a:endParaRPr>
          </a:p>
          <a:p>
            <a:pPr marL="457200" lvl="0" indent="-304800" algn="l" rtl="0">
              <a:lnSpc>
                <a:spcPct val="90000"/>
              </a:lnSpc>
              <a:spcBef>
                <a:spcPts val="1000"/>
              </a:spcBef>
              <a:spcAft>
                <a:spcPts val="0"/>
              </a:spcAft>
              <a:buClr>
                <a:schemeClr val="dk1"/>
              </a:buClr>
              <a:buSzPts val="1200"/>
              <a:buChar char="●"/>
            </a:pPr>
            <a:r>
              <a:rPr lang="en" sz="1200">
                <a:solidFill>
                  <a:schemeClr val="dk1"/>
                </a:solidFill>
              </a:rPr>
              <a:t>This tag is assigned to those stores which are validated by system NEW FOVA Algorithm.</a:t>
            </a:r>
            <a:endParaRPr sz="1200">
              <a:solidFill>
                <a:schemeClr val="dk1"/>
              </a:solidFill>
            </a:endParaRPr>
          </a:p>
          <a:p>
            <a:pPr marL="0" marR="0" lvl="0" indent="0" algn="l" rtl="0">
              <a:lnSpc>
                <a:spcPct val="115000"/>
              </a:lnSpc>
              <a:spcBef>
                <a:spcPts val="0"/>
              </a:spcBef>
              <a:spcAft>
                <a:spcPts val="0"/>
              </a:spcAft>
              <a:buClr>
                <a:schemeClr val="dk1"/>
              </a:buClr>
              <a:buSzPts val="1100"/>
              <a:buFont typeface="Arial"/>
              <a:buNone/>
            </a:pPr>
            <a:endParaRPr sz="1200" u="sng">
              <a:solidFill>
                <a:schemeClr val="dk1"/>
              </a:solidFill>
            </a:endParaRPr>
          </a:p>
        </p:txBody>
      </p:sp>
      <p:sp>
        <p:nvSpPr>
          <p:cNvPr id="1018" name="Google Shape;1018;p130"/>
          <p:cNvSpPr/>
          <p:nvPr/>
        </p:nvSpPr>
        <p:spPr>
          <a:xfrm>
            <a:off x="291725" y="3440152"/>
            <a:ext cx="8747100" cy="1095000"/>
          </a:xfrm>
          <a:prstGeom prst="rect">
            <a:avLst/>
          </a:prstGeom>
          <a:noFill/>
          <a:ln>
            <a:noFill/>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chemeClr val="dk1"/>
              </a:buClr>
              <a:buSzPts val="1700"/>
              <a:buFont typeface="Arial"/>
              <a:buNone/>
            </a:pPr>
            <a:r>
              <a:rPr lang="en" sz="2300" b="0" i="0" u="sng" strike="noStrike" cap="none">
                <a:solidFill>
                  <a:schemeClr val="dk1"/>
                </a:solidFill>
                <a:latin typeface="Arial"/>
                <a:ea typeface="Arial"/>
                <a:cs typeface="Arial"/>
                <a:sym typeface="Arial"/>
              </a:rPr>
              <a:t>TREND TEST NOT OK - ESTIMATION PROPOSED :</a:t>
            </a:r>
            <a:endParaRPr sz="2300" b="0" i="0" u="sng" strike="noStrike" cap="none">
              <a:solidFill>
                <a:schemeClr val="dk1"/>
              </a:solidFill>
              <a:latin typeface="Arial"/>
              <a:ea typeface="Arial"/>
              <a:cs typeface="Arial"/>
              <a:sym typeface="Arial"/>
            </a:endParaRPr>
          </a:p>
          <a:p>
            <a:pPr marL="457200" lvl="0" indent="-304800" algn="l" rtl="0">
              <a:lnSpc>
                <a:spcPct val="90000"/>
              </a:lnSpc>
              <a:spcBef>
                <a:spcPts val="1000"/>
              </a:spcBef>
              <a:spcAft>
                <a:spcPts val="0"/>
              </a:spcAft>
              <a:buClr>
                <a:schemeClr val="dk1"/>
              </a:buClr>
              <a:buSzPts val="1200"/>
              <a:buChar char="●"/>
            </a:pPr>
            <a:r>
              <a:rPr lang="en" sz="1200">
                <a:solidFill>
                  <a:schemeClr val="dk1"/>
                </a:solidFill>
              </a:rPr>
              <a:t>This tag is assigned to those store which has failed Trend Test performed by the process. </a:t>
            </a:r>
            <a:endParaRPr sz="1200">
              <a:solidFill>
                <a:schemeClr val="dk1"/>
              </a:solidFill>
            </a:endParaRPr>
          </a:p>
          <a:p>
            <a:pPr marL="0" marR="0" lvl="0" indent="0" algn="l" rtl="0">
              <a:lnSpc>
                <a:spcPct val="115000"/>
              </a:lnSpc>
              <a:spcBef>
                <a:spcPts val="0"/>
              </a:spcBef>
              <a:spcAft>
                <a:spcPts val="0"/>
              </a:spcAft>
              <a:buClr>
                <a:schemeClr val="dk1"/>
              </a:buClr>
              <a:buSzPts val="1700"/>
              <a:buFont typeface="Arial"/>
              <a:buNone/>
            </a:pPr>
            <a:endParaRPr sz="1200" u="sng">
              <a:solidFill>
                <a:schemeClr val="dk1"/>
              </a:solidFill>
            </a:endParaRPr>
          </a:p>
        </p:txBody>
      </p:sp>
      <p:sp>
        <p:nvSpPr>
          <p:cNvPr id="1019" name="Google Shape;1019;p130"/>
          <p:cNvSpPr txBox="1"/>
          <p:nvPr/>
        </p:nvSpPr>
        <p:spPr>
          <a:xfrm>
            <a:off x="291775" y="832650"/>
            <a:ext cx="8747100" cy="1617000"/>
          </a:xfrm>
          <a:prstGeom prst="rect">
            <a:avLst/>
          </a:prstGeom>
          <a:noFill/>
          <a:ln>
            <a:noFill/>
          </a:ln>
        </p:spPr>
        <p:txBody>
          <a:bodyPr spcFirstLastPara="1" wrap="square" lIns="87625" tIns="87625" rIns="87625" bIns="876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2300" b="0" i="0" u="sng" strike="noStrike" cap="none">
                <a:solidFill>
                  <a:schemeClr val="dk1"/>
                </a:solidFill>
                <a:latin typeface="Arial"/>
                <a:ea typeface="Arial"/>
                <a:cs typeface="Arial"/>
                <a:sym typeface="Arial"/>
              </a:rPr>
              <a:t>OLD_FOVA :</a:t>
            </a:r>
            <a:endParaRPr sz="2300" b="0" i="0" u="sng"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chemeClr val="dk1"/>
              </a:buClr>
              <a:buSzPts val="1100"/>
              <a:buFont typeface="Arial"/>
              <a:buNone/>
            </a:pPr>
            <a:endParaRPr sz="1700" u="sng">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This tag is assigned to store which are validated by system using OLD FOVA Algorithm. </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There are 2 possibilities for it:</a:t>
            </a:r>
            <a:br>
              <a:rPr lang="en" sz="1200">
                <a:solidFill>
                  <a:schemeClr val="dk1"/>
                </a:solidFill>
              </a:rPr>
            </a:br>
            <a:r>
              <a:rPr lang="en" sz="1200">
                <a:solidFill>
                  <a:schemeClr val="dk1"/>
                </a:solidFill>
              </a:rPr>
              <a:t>1. Minimum count of Stores for fulfilling FBD requirement is not met.</a:t>
            </a:r>
            <a:endParaRPr sz="1200">
              <a:solidFill>
                <a:schemeClr val="dk1"/>
              </a:solidFill>
            </a:endParaRPr>
          </a:p>
          <a:p>
            <a:pPr marL="457200" lvl="0" indent="-304800" algn="l" rtl="0">
              <a:lnSpc>
                <a:spcPct val="115000"/>
              </a:lnSpc>
              <a:spcBef>
                <a:spcPts val="0"/>
              </a:spcBef>
              <a:spcAft>
                <a:spcPts val="0"/>
              </a:spcAft>
              <a:buClr>
                <a:schemeClr val="dk1"/>
              </a:buClr>
              <a:buSzPts val="1200"/>
              <a:buChar char="●"/>
            </a:pPr>
            <a:r>
              <a:rPr lang="en" sz="1200">
                <a:solidFill>
                  <a:schemeClr val="dk1"/>
                </a:solidFill>
              </a:rPr>
              <a:t>2. That store/retailer are excluded from new FOVA process.</a:t>
            </a:r>
            <a:endParaRPr sz="1200">
              <a:solidFill>
                <a:schemeClr val="dk1"/>
              </a:solidFill>
            </a:endParaRPr>
          </a:p>
          <a:p>
            <a:pPr marL="0" marR="0" lvl="0" indent="0" algn="l" rtl="0">
              <a:lnSpc>
                <a:spcPct val="115000"/>
              </a:lnSpc>
              <a:spcBef>
                <a:spcPts val="0"/>
              </a:spcBef>
              <a:spcAft>
                <a:spcPts val="0"/>
              </a:spcAft>
              <a:buClr>
                <a:schemeClr val="dk1"/>
              </a:buClr>
              <a:buSzPts val="1100"/>
              <a:buFont typeface="Arial"/>
              <a:buNone/>
            </a:pPr>
            <a:endParaRPr sz="1700" u="sng">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pPr>
              <a:lnSpc>
                <a:spcPct val="114999"/>
              </a:lnSpc>
            </a:pPr>
            <a:r>
              <a:rPr lang="en" sz="1200">
                <a:solidFill>
                  <a:schemeClr val="dk1"/>
                </a:solidFill>
              </a:rPr>
              <a:t>Previously, the </a:t>
            </a:r>
            <a:r>
              <a:rPr lang="en" sz="1200" b="0" i="0" strike="noStrike" cap="none">
                <a:solidFill>
                  <a:schemeClr val="dk1"/>
                </a:solidFill>
                <a:latin typeface="Arial"/>
                <a:ea typeface="Arial"/>
                <a:cs typeface="Arial"/>
                <a:sym typeface="Arial"/>
              </a:rPr>
              <a:t>FOVA </a:t>
            </a:r>
            <a:r>
              <a:rPr lang="en" sz="1200">
                <a:solidFill>
                  <a:schemeClr val="dk1"/>
                </a:solidFill>
              </a:rPr>
              <a:t>price check algorithm splits the price change compared to previous ‘good’ period into 3 brackets (‘less’, ‘equal’ and ‘more’) for detecting price issues. This validation works well in most cases. However, when an anomaly like sending price=1 for many or some of items in one or couple of days, can be ‘missed’ due to the fact that ‘less’ and ‘more’ do not measure the magnitude of change. </a:t>
            </a:r>
          </a:p>
          <a:p>
            <a:pPr lvl="0" algn="l">
              <a:lnSpc>
                <a:spcPct val="114999"/>
              </a:lnSpc>
            </a:pPr>
            <a:endParaRPr lang="en" sz="1200">
              <a:solidFill>
                <a:schemeClr val="dk1"/>
              </a:solidFill>
            </a:endParaRPr>
          </a:p>
          <a:p>
            <a:pPr>
              <a:lnSpc>
                <a:spcPct val="114999"/>
              </a:lnSpc>
            </a:pPr>
            <a:r>
              <a:rPr lang="en" sz="1200">
                <a:solidFill>
                  <a:schemeClr val="dk1"/>
                </a:solidFill>
              </a:rPr>
              <a:t>A new algorithm is added in FOVA to detect price issues mentioned above. This new algorithm will enhance/replace the current ‘Changed Price’ </a:t>
            </a:r>
            <a:r>
              <a:rPr lang="en" sz="1200" err="1">
                <a:solidFill>
                  <a:schemeClr val="dk1"/>
                </a:solidFill>
              </a:rPr>
              <a:t>fova</a:t>
            </a:r>
            <a:r>
              <a:rPr lang="en" sz="1200">
                <a:solidFill>
                  <a:schemeClr val="dk1"/>
                </a:solidFill>
              </a:rPr>
              <a:t> tag detection. </a:t>
            </a:r>
          </a:p>
          <a:p>
            <a:pPr>
              <a:lnSpc>
                <a:spcPct val="114999"/>
              </a:lnSpc>
            </a:pPr>
            <a:endParaRPr lang="en" sz="1200">
              <a:solidFill>
                <a:schemeClr val="dk1"/>
              </a:solidFill>
            </a:endParaRPr>
          </a:p>
          <a:p>
            <a:pPr>
              <a:lnSpc>
                <a:spcPct val="114999"/>
              </a:lnSpc>
            </a:pPr>
            <a:r>
              <a:rPr lang="en" sz="1200">
                <a:solidFill>
                  <a:schemeClr val="dk1"/>
                </a:solidFill>
              </a:rPr>
              <a:t>A new step is added in FOVA PARAMETER process to calculate the % of items for which the price has significantly changed for each week. This information will later be used by FOVA, to identify whether the current period data will be considered as price outlier or not. </a:t>
            </a:r>
          </a:p>
          <a:p>
            <a:pPr marL="0" marR="0" lvl="0" indent="0" algn="l">
              <a:lnSpc>
                <a:spcPct val="114999"/>
              </a:lnSpc>
              <a:spcBef>
                <a:spcPts val="0"/>
              </a:spcBef>
              <a:spcAft>
                <a:spcPts val="0"/>
              </a:spcAft>
              <a:buFont typeface="Arial"/>
              <a:buNone/>
            </a:pPr>
            <a:endParaRPr lang="en" sz="1200">
              <a:solidFill>
                <a:schemeClr val="dk1"/>
              </a:solidFill>
            </a:endParaRPr>
          </a:p>
          <a:p>
            <a:pPr>
              <a:lnSpc>
                <a:spcPct val="114999"/>
              </a:lnSpc>
            </a:pPr>
            <a:r>
              <a:rPr lang="en" sz="1200">
                <a:solidFill>
                  <a:schemeClr val="dk1"/>
                </a:solidFill>
              </a:rPr>
              <a:t>The new logic in FOVA PARAMETER process will be driven by the below new process parameters:  </a:t>
            </a:r>
          </a:p>
          <a:p>
            <a:pPr>
              <a:lnSpc>
                <a:spcPct val="114999"/>
              </a:lnSpc>
            </a:pPr>
            <a:endParaRPr lang="en" sz="1200">
              <a:solidFill>
                <a:schemeClr val="dk1"/>
              </a:solidFill>
            </a:endParaRPr>
          </a:p>
          <a:p>
            <a:pPr marL="171450" indent="-171450">
              <a:lnSpc>
                <a:spcPct val="114999"/>
              </a:lnSpc>
              <a:buChar char="•"/>
            </a:pPr>
            <a:r>
              <a:rPr lang="en" sz="1200" b="1">
                <a:solidFill>
                  <a:schemeClr val="dk1"/>
                </a:solidFill>
              </a:rPr>
              <a:t>PRICE_CHECK_ENABLE</a:t>
            </a:r>
            <a:r>
              <a:rPr lang="en" sz="1200">
                <a:solidFill>
                  <a:schemeClr val="dk1"/>
                </a:solidFill>
              </a:rPr>
              <a:t> - Y/N - Whether to activate the calculation of price check parameters </a:t>
            </a:r>
          </a:p>
          <a:p>
            <a:pPr marL="171450" indent="-171450">
              <a:lnSpc>
                <a:spcPct val="114999"/>
              </a:lnSpc>
              <a:buChar char="•"/>
            </a:pPr>
            <a:r>
              <a:rPr lang="en" sz="1200" b="1">
                <a:solidFill>
                  <a:schemeClr val="dk1"/>
                </a:solidFill>
              </a:rPr>
              <a:t>PRICE_CHECK_CALCULATE_WEEKS</a:t>
            </a:r>
            <a:r>
              <a:rPr lang="en" sz="1200">
                <a:solidFill>
                  <a:schemeClr val="dk1"/>
                </a:solidFill>
              </a:rPr>
              <a:t> - Number of historical weeks to consider for price check parameter calculation </a:t>
            </a:r>
          </a:p>
          <a:p>
            <a:pPr marL="171450" indent="-171450">
              <a:lnSpc>
                <a:spcPct val="114999"/>
              </a:lnSpc>
              <a:buChar char="•"/>
            </a:pPr>
            <a:r>
              <a:rPr lang="en" sz="1200" b="1">
                <a:solidFill>
                  <a:schemeClr val="dk1"/>
                </a:solidFill>
              </a:rPr>
              <a:t>PRICE_CHECK_CHANGE_LIMIT</a:t>
            </a:r>
            <a:r>
              <a:rPr lang="en" sz="1200">
                <a:solidFill>
                  <a:schemeClr val="dk1"/>
                </a:solidFill>
              </a:rPr>
              <a:t> – The limit of absolute % price change vs preceding period, above which the price will be flagged as outlie</a:t>
            </a:r>
            <a:endParaRPr lang="en">
              <a:solidFill>
                <a:schemeClr val="dk1"/>
              </a:solidFill>
            </a:endParaRPr>
          </a:p>
          <a:p>
            <a:pPr>
              <a:lnSpc>
                <a:spcPct val="114999"/>
              </a:lnSpc>
            </a:pPr>
            <a:endParaRPr lang="en" sz="1200">
              <a:solidFill>
                <a:schemeClr val="dk1"/>
              </a:solidFill>
            </a:endParaRPr>
          </a:p>
          <a:p>
            <a:pPr>
              <a:lnSpc>
                <a:spcPct val="114999"/>
              </a:lnSpc>
              <a:buSzPts val="1100"/>
            </a:pPr>
            <a:endParaRPr lang="en"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2791973940"/>
      </p:ext>
    </p:extLst>
  </p:cSld>
  <p:clrMapOvr>
    <a:overrideClrMapping bg1="lt1" tx1="dk1" bg2="lt2" tx2="dk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pPr>
              <a:lnSpc>
                <a:spcPct val="114999"/>
              </a:lnSpc>
            </a:pPr>
            <a:r>
              <a:rPr lang="en" sz="1200">
                <a:solidFill>
                  <a:schemeClr val="dk1"/>
                </a:solidFill>
              </a:rPr>
              <a:t>The new process will require historical data to be used, and the number of weeks considered will be defined based on parameter PRICE_CHECK_CALCULATE_WEEKS.  </a:t>
            </a:r>
          </a:p>
          <a:p>
            <a:pPr>
              <a:lnSpc>
                <a:spcPct val="114999"/>
              </a:lnSpc>
            </a:pPr>
            <a:endParaRPr lang="en" sz="1200">
              <a:solidFill>
                <a:schemeClr val="dk1"/>
              </a:solidFill>
            </a:endParaRPr>
          </a:p>
          <a:p>
            <a:pPr lvl="0" algn="l">
              <a:lnSpc>
                <a:spcPct val="114999"/>
              </a:lnSpc>
            </a:pPr>
            <a:endParaRPr lang="en" sz="1200">
              <a:solidFill>
                <a:schemeClr val="dk1"/>
              </a:solidFill>
            </a:endParaRPr>
          </a:p>
          <a:p>
            <a:pPr>
              <a:lnSpc>
                <a:spcPct val="114999"/>
              </a:lnSpc>
            </a:pPr>
            <a:r>
              <a:rPr lang="en" sz="1200">
                <a:solidFill>
                  <a:schemeClr val="dk1"/>
                </a:solidFill>
              </a:rPr>
              <a:t>If the parameter PRICE_CHECK_ENABLE is activated, then FOVA PARAMETER will iterate over the periods in scope and will calculate for each shop: </a:t>
            </a:r>
          </a:p>
          <a:p>
            <a:pPr>
              <a:lnSpc>
                <a:spcPct val="114999"/>
              </a:lnSpc>
            </a:pPr>
            <a:endParaRPr lang="en" sz="1200">
              <a:solidFill>
                <a:schemeClr val="dk1"/>
              </a:solidFill>
            </a:endParaRPr>
          </a:p>
          <a:p>
            <a:pPr marL="171450" indent="-171450">
              <a:lnSpc>
                <a:spcPct val="114999"/>
              </a:lnSpc>
              <a:buChar char="•"/>
            </a:pPr>
            <a:r>
              <a:rPr lang="en" sz="1200">
                <a:solidFill>
                  <a:schemeClr val="dk1"/>
                </a:solidFill>
              </a:rPr>
              <a:t>Number of items.</a:t>
            </a:r>
          </a:p>
          <a:p>
            <a:pPr marL="171450" indent="-171450">
              <a:lnSpc>
                <a:spcPct val="114999"/>
              </a:lnSpc>
              <a:buChar char="•"/>
            </a:pPr>
            <a:r>
              <a:rPr lang="en" sz="1200">
                <a:solidFill>
                  <a:schemeClr val="dk1"/>
                </a:solidFill>
              </a:rPr>
              <a:t>The number of items for which their price has changed more than X % based on previous period. X% will be based on the value of the parameter PRICE_CHECK_CHANGE_LIMIT.</a:t>
            </a:r>
          </a:p>
          <a:p>
            <a:pPr>
              <a:lnSpc>
                <a:spcPct val="114999"/>
              </a:lnSpc>
            </a:pPr>
            <a:endParaRPr lang="en" sz="1200">
              <a:solidFill>
                <a:schemeClr val="dk1"/>
              </a:solidFill>
            </a:endParaRPr>
          </a:p>
          <a:p>
            <a:pPr>
              <a:lnSpc>
                <a:spcPct val="114999"/>
              </a:lnSpc>
            </a:pPr>
            <a:r>
              <a:rPr lang="en" sz="1200">
                <a:solidFill>
                  <a:schemeClr val="dk1"/>
                </a:solidFill>
              </a:rPr>
              <a:t>Only common items (I.e., found on both period T and T-1) will be considered. </a:t>
            </a:r>
          </a:p>
          <a:p>
            <a:pPr>
              <a:lnSpc>
                <a:spcPct val="114999"/>
              </a:lnSpc>
            </a:pPr>
            <a:r>
              <a:rPr lang="en" sz="1200">
                <a:solidFill>
                  <a:schemeClr val="dk1"/>
                </a:solidFill>
              </a:rPr>
              <a:t>The results will be stored in a new table named FOVA_PRICE_CHECK_LIMITS so they can be later used by FOVA process.  </a:t>
            </a:r>
          </a:p>
          <a:p>
            <a:pPr>
              <a:lnSpc>
                <a:spcPct val="114999"/>
              </a:lnSpc>
            </a:pPr>
            <a:endParaRPr lang="en" sz="1200">
              <a:solidFill>
                <a:schemeClr val="dk1"/>
              </a:solidFill>
            </a:endParaRPr>
          </a:p>
          <a:p>
            <a:pPr>
              <a:lnSpc>
                <a:spcPct val="114999"/>
              </a:lnSpc>
            </a:pPr>
            <a:endParaRPr lang="en"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1876338872"/>
      </p:ext>
    </p:extLst>
  </p:cSld>
  <p:clrMapOvr>
    <a:overrideClrMapping bg1="lt1" tx1="dk1" bg2="lt2" tx2="dk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pPr>
              <a:lnSpc>
                <a:spcPct val="114999"/>
              </a:lnSpc>
            </a:pPr>
            <a:r>
              <a:rPr lang="en" sz="1200" dirty="0">
                <a:solidFill>
                  <a:schemeClr val="dk1"/>
                </a:solidFill>
              </a:rPr>
              <a:t>The FOVA process will also be enhanced to improve the price check logic.  </a:t>
            </a:r>
          </a:p>
          <a:p>
            <a:pPr marL="171450" indent="-171450">
              <a:lnSpc>
                <a:spcPct val="150000"/>
              </a:lnSpc>
              <a:buChar char="•"/>
            </a:pPr>
            <a:r>
              <a:rPr lang="en" sz="1200" dirty="0">
                <a:solidFill>
                  <a:schemeClr val="dk1"/>
                </a:solidFill>
              </a:rPr>
              <a:t>The new logic in FOVA process will be driven by the below new process parameters:  </a:t>
            </a:r>
          </a:p>
          <a:p>
            <a:pPr marL="171450" indent="-171450">
              <a:lnSpc>
                <a:spcPct val="150000"/>
              </a:lnSpc>
              <a:buChar char="•"/>
            </a:pPr>
            <a:r>
              <a:rPr lang="en" sz="1200" dirty="0">
                <a:solidFill>
                  <a:schemeClr val="dk1"/>
                </a:solidFill>
              </a:rPr>
              <a:t>PRICE_CHECK_ENABLE - Y/N - Whether t to activate the calculation of price check parameters </a:t>
            </a:r>
          </a:p>
          <a:p>
            <a:pPr marL="171450" indent="-171450">
              <a:lnSpc>
                <a:spcPct val="150000"/>
              </a:lnSpc>
              <a:buChar char="•"/>
            </a:pPr>
            <a:r>
              <a:rPr lang="en" sz="1200" dirty="0">
                <a:solidFill>
                  <a:schemeClr val="dk1"/>
                </a:solidFill>
              </a:rPr>
              <a:t>PRICE_CHECK_BACK_WEEKS - Number - default 12 - Number of historical weeks to consider for price change limit calculation </a:t>
            </a:r>
          </a:p>
          <a:p>
            <a:pPr marL="171450" indent="-171450">
              <a:lnSpc>
                <a:spcPct val="150000"/>
              </a:lnSpc>
              <a:buChar char="•"/>
            </a:pPr>
            <a:r>
              <a:rPr lang="en" sz="1200" dirty="0">
                <a:solidFill>
                  <a:schemeClr val="dk1"/>
                </a:solidFill>
              </a:rPr>
              <a:t>PRICE_CHECK_MIN_BACK_WEEKS – Number default 4 – Minimum number of historical weeks needed to use the price check algorithm </a:t>
            </a:r>
          </a:p>
          <a:p>
            <a:pPr marL="171450" indent="-171450">
              <a:lnSpc>
                <a:spcPct val="150000"/>
              </a:lnSpc>
              <a:buChar char="•"/>
            </a:pPr>
            <a:r>
              <a:rPr lang="en" sz="1200" dirty="0">
                <a:solidFill>
                  <a:schemeClr val="dk1"/>
                </a:solidFill>
              </a:rPr>
              <a:t>PRICE_CHECK_CHANGE_LIMIT  - The limit of absolute % price change vs preceding period, above which the price will be flagged as outlier </a:t>
            </a:r>
          </a:p>
          <a:p>
            <a:pPr>
              <a:lnSpc>
                <a:spcPct val="114999"/>
              </a:lnSpc>
            </a:pPr>
            <a:endParaRPr lang="en" sz="1200">
              <a:solidFill>
                <a:schemeClr val="dk1"/>
              </a:solidFill>
            </a:endParaRPr>
          </a:p>
          <a:p>
            <a:pPr>
              <a:lnSpc>
                <a:spcPct val="114999"/>
              </a:lnSpc>
            </a:pPr>
            <a:r>
              <a:rPr lang="en" sz="1200" dirty="0">
                <a:solidFill>
                  <a:schemeClr val="dk1"/>
                </a:solidFill>
              </a:rPr>
              <a:t>If the PRICE_CHECK_ENABLE parameter is activated, then the process will perform the below validations: </a:t>
            </a:r>
            <a:endParaRPr lang="en" dirty="0">
              <a:solidFill>
                <a:schemeClr val="dk1"/>
              </a:solidFill>
            </a:endParaRPr>
          </a:p>
          <a:p>
            <a:pPr>
              <a:lnSpc>
                <a:spcPct val="114999"/>
              </a:lnSpc>
            </a:pPr>
            <a:endParaRPr lang="en" sz="1200">
              <a:solidFill>
                <a:schemeClr val="dk1"/>
              </a:solidFill>
            </a:endParaRPr>
          </a:p>
          <a:p>
            <a:pPr marL="171450" indent="-171450">
              <a:lnSpc>
                <a:spcPct val="114999"/>
              </a:lnSpc>
              <a:buChar char="•"/>
            </a:pPr>
            <a:r>
              <a:rPr lang="en" sz="1200" dirty="0">
                <a:solidFill>
                  <a:schemeClr val="dk1"/>
                </a:solidFill>
              </a:rPr>
              <a:t>The value of the parameter PRICE_CHECK_BACK_WEEKS must be &gt;= PRICE_CHECK_MIN_BACK_WEEKS. If not, then write a message in the log and the new price check logic will be disabled </a:t>
            </a:r>
          </a:p>
          <a:p>
            <a:pPr>
              <a:lnSpc>
                <a:spcPct val="114999"/>
              </a:lnSpc>
            </a:pPr>
            <a:endParaRPr lang="en"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2924506763"/>
      </p:ext>
    </p:extLst>
  </p:cSld>
  <p:clrMapOvr>
    <a:overrideClrMapping bg1="lt1" tx1="dk1" bg2="lt2" tx2="dk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pPr>
              <a:lnSpc>
                <a:spcPct val="150000"/>
              </a:lnSpc>
            </a:pPr>
            <a:r>
              <a:rPr lang="en-US" sz="1200"/>
              <a:t>After the existing price check logic is performed in FOVA, and if the PRICE_CHECK_ENABLE parameter is activated then a new procedure will be executed that will perform the below steps:  </a:t>
            </a:r>
            <a:endParaRPr lang="en" sz="1200"/>
          </a:p>
          <a:p>
            <a:pPr marL="171450" lvl="1" indent="-171450">
              <a:lnSpc>
                <a:spcPct val="150000"/>
              </a:lnSpc>
              <a:buChar char="•"/>
            </a:pPr>
            <a:r>
              <a:rPr lang="en-US" sz="1200"/>
              <a:t>Calculate for current period the percentage of items with price change over limit vs previous periods. </a:t>
            </a:r>
            <a:endParaRPr lang="en" sz="1200"/>
          </a:p>
          <a:p>
            <a:pPr marL="171450" lvl="1" indent="-171450">
              <a:lnSpc>
                <a:spcPct val="150000"/>
              </a:lnSpc>
              <a:buChar char="•"/>
            </a:pPr>
            <a:r>
              <a:rPr lang="en-US" sz="1200"/>
              <a:t>Calculate from table FOVA_PRICE_CHECK_LIMITS based on historical weeks the price change limit to use for outlier check </a:t>
            </a:r>
            <a:endParaRPr lang="en" sz="1200"/>
          </a:p>
          <a:p>
            <a:pPr marL="171450" lvl="1" indent="-171450">
              <a:lnSpc>
                <a:spcPct val="150000"/>
              </a:lnSpc>
              <a:buChar char="•"/>
            </a:pPr>
            <a:r>
              <a:rPr lang="en-US" sz="1200"/>
              <a:t>Flag the shop as price outlier based on above </a:t>
            </a:r>
            <a:endParaRPr lang="en" sz="1200"/>
          </a:p>
          <a:p>
            <a:pPr>
              <a:lnSpc>
                <a:spcPct val="150000"/>
              </a:lnSpc>
            </a:pPr>
            <a:r>
              <a:rPr lang="en-US" sz="1200"/>
              <a:t>If eventually FOVA completes with a decision of FOVA OK (monitor tag 300) considering that the shop was flagged as price outlier with the new logic, then: </a:t>
            </a:r>
          </a:p>
          <a:p>
            <a:pPr marL="171450" indent="-171450">
              <a:lnSpc>
                <a:spcPct val="150000"/>
              </a:lnSpc>
              <a:buChar char="•"/>
            </a:pPr>
            <a:r>
              <a:rPr lang="en-US" sz="1200"/>
              <a:t>The monitor tag will be overwritten to 361 </a:t>
            </a:r>
            <a:endParaRPr lang="en" sz="1200"/>
          </a:p>
          <a:p>
            <a:pPr marL="171450" indent="-171450">
              <a:lnSpc>
                <a:spcPct val="150000"/>
              </a:lnSpc>
              <a:buChar char="•"/>
            </a:pPr>
            <a:r>
              <a:rPr lang="en-US" sz="1200"/>
              <a:t>The monitor status will be modified to 1</a:t>
            </a:r>
            <a:endParaRPr lang="en" sz="1200"/>
          </a:p>
          <a:p>
            <a:pPr>
              <a:lnSpc>
                <a:spcPct val="150000"/>
              </a:lnSpc>
            </a:pPr>
            <a:endParaRPr lang="en"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3988711480"/>
      </p:ext>
    </p:extLst>
  </p:cSld>
  <p:clrMapOvr>
    <a:overrideClrMapping bg1="lt1" tx1="dk1" bg2="lt2" tx2="dk2" accent1="accent1" accent2="accent2" accent3="accent3" accent4="accent4" accent5="accent5" accent6="accent6" hlink="hlink" folHlink="folHlink"/>
  </p:clrMapOvr>
</p:sld>
</file>

<file path=ppt/slides/slide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Step by Step description:</a:t>
            </a:r>
          </a:p>
          <a:p>
            <a:endParaRPr lang="en-US" sz="1200" b="1"/>
          </a:p>
          <a:p>
            <a:r>
              <a:rPr lang="en-US" sz="1200"/>
              <a:t>In order to flag a shop as an outlier, a table calculated in period t-1 (see below table) is required</a:t>
            </a:r>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r>
              <a:rPr lang="en-US" sz="1200"/>
              <a:t>                                               Table –1 </a:t>
            </a:r>
          </a:p>
          <a:p>
            <a:endParaRPr lang="en-US" sz="1200"/>
          </a:p>
          <a:p>
            <a:r>
              <a:rPr lang="en-US" sz="1200"/>
              <a:t>Below steps has to be followed in order to obtain the above-mentioned Table 1.</a:t>
            </a:r>
            <a:endParaRPr lang="en-US"/>
          </a:p>
          <a:p>
            <a:endParaRPr lang="en-US" sz="1200"/>
          </a:p>
          <a:p>
            <a:endParaRPr lang="en-US" sz="1200"/>
          </a:p>
          <a:p>
            <a:endParaRPr lang="en-US" sz="1200"/>
          </a:p>
          <a:p>
            <a:pPr>
              <a:lnSpc>
                <a:spcPct val="150000"/>
              </a:lnSpc>
            </a:pPr>
            <a:endParaRPr lang="en-US"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3" descr="Table&#10;&#10;Description automatically generated">
            <a:extLst>
              <a:ext uri="{FF2B5EF4-FFF2-40B4-BE49-F238E27FC236}">
                <a16:creationId xmlns:a16="http://schemas.microsoft.com/office/drawing/2014/main" id="{3DEA5AED-2358-D080-22B4-0CA13FEDE3E9}"/>
              </a:ext>
            </a:extLst>
          </p:cNvPr>
          <p:cNvPicPr>
            <a:picLocks noChangeAspect="1"/>
          </p:cNvPicPr>
          <p:nvPr/>
        </p:nvPicPr>
        <p:blipFill>
          <a:blip r:embed="rId4"/>
          <a:stretch>
            <a:fillRect/>
          </a:stretch>
        </p:blipFill>
        <p:spPr>
          <a:xfrm>
            <a:off x="2011157" y="1612183"/>
            <a:ext cx="2181225" cy="2057400"/>
          </a:xfrm>
          <a:prstGeom prst="rect">
            <a:avLst/>
          </a:prstGeom>
        </p:spPr>
      </p:pic>
    </p:spTree>
    <p:extLst>
      <p:ext uri="{BB962C8B-B14F-4D97-AF65-F5344CB8AC3E}">
        <p14:creationId xmlns:p14="http://schemas.microsoft.com/office/powerpoint/2010/main" val="1150382535"/>
      </p:ext>
    </p:extLst>
  </p:cSld>
  <p:clrMapOvr>
    <a:overrideClrMapping bg1="lt1" tx1="dk1" bg2="lt2" tx2="dk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Input data preparation:</a:t>
            </a:r>
          </a:p>
          <a:p>
            <a:endParaRPr lang="en-US" sz="1200" b="1"/>
          </a:p>
          <a:p>
            <a:r>
              <a:rPr lang="en-US" sz="1200" b="1">
                <a:solidFill>
                  <a:schemeClr val="dk1"/>
                </a:solidFill>
              </a:rPr>
              <a:t>STEP 1:</a:t>
            </a:r>
          </a:p>
          <a:p>
            <a:endParaRPr lang="en-US" sz="1200">
              <a:solidFill>
                <a:schemeClr val="dk1"/>
              </a:solidFill>
            </a:endParaRPr>
          </a:p>
          <a:p>
            <a:r>
              <a:rPr lang="en-US" sz="1200">
                <a:solidFill>
                  <a:schemeClr val="dk1"/>
                </a:solidFill>
              </a:rPr>
              <a:t>Create a price table for all shops/item and last 13 periods (see below table 2):</a:t>
            </a: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r>
              <a:rPr lang="en-US" sz="1200">
                <a:solidFill>
                  <a:schemeClr val="dk1"/>
                </a:solidFill>
              </a:rPr>
              <a:t>                                   Table –2</a:t>
            </a:r>
          </a:p>
          <a:p>
            <a:endParaRPr lang="en-US" sz="1200">
              <a:solidFill>
                <a:schemeClr val="dk1"/>
              </a:solidFill>
            </a:endParaRPr>
          </a:p>
          <a:p>
            <a:r>
              <a:rPr lang="en-US" sz="1200" b="1"/>
              <a:t>Note:</a:t>
            </a:r>
            <a:r>
              <a:rPr lang="en-US" sz="1200"/>
              <a:t> ‘Item 3’ was not sold in t-10 and t-8.</a:t>
            </a:r>
          </a:p>
          <a:p>
            <a:endParaRPr lang="en-US" sz="1200" b="1">
              <a:solidFill>
                <a:schemeClr val="dk1"/>
              </a:solidFill>
            </a:endParaRPr>
          </a:p>
          <a:p>
            <a:endParaRPr lang="en-US" sz="1200" b="1">
              <a:solidFill>
                <a:schemeClr val="dk1"/>
              </a:solidFill>
            </a:endParaRPr>
          </a:p>
          <a:p>
            <a:endParaRPr lang="en-US" sz="1200" b="1">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4" name="Picture 4" descr="Graphical user interface, application, Excel&#10;&#10;Description automatically generated">
            <a:extLst>
              <a:ext uri="{FF2B5EF4-FFF2-40B4-BE49-F238E27FC236}">
                <a16:creationId xmlns:a16="http://schemas.microsoft.com/office/drawing/2014/main" id="{3BC8000F-B9FC-9501-5DBD-924EEE7A4BE8}"/>
              </a:ext>
            </a:extLst>
          </p:cNvPr>
          <p:cNvPicPr>
            <a:picLocks noChangeAspect="1"/>
          </p:cNvPicPr>
          <p:nvPr/>
        </p:nvPicPr>
        <p:blipFill>
          <a:blip r:embed="rId4"/>
          <a:stretch>
            <a:fillRect/>
          </a:stretch>
        </p:blipFill>
        <p:spPr>
          <a:xfrm>
            <a:off x="568735" y="1740089"/>
            <a:ext cx="5729748" cy="1386788"/>
          </a:xfrm>
          <a:prstGeom prst="rect">
            <a:avLst/>
          </a:prstGeom>
        </p:spPr>
      </p:pic>
    </p:spTree>
    <p:extLst>
      <p:ext uri="{BB962C8B-B14F-4D97-AF65-F5344CB8AC3E}">
        <p14:creationId xmlns:p14="http://schemas.microsoft.com/office/powerpoint/2010/main" val="1110240136"/>
      </p:ext>
    </p:extLst>
  </p:cSld>
  <p:clrMapOvr>
    <a:overrideClrMapping bg1="lt1" tx1="dk1" bg2="lt2" tx2="dk2" accent1="accent1" accent2="accent2" accent3="accent3" accent4="accent4" accent5="accent5" accent6="accent6" hlink="hlink" folHlink="folHlink"/>
  </p:clrMapOvr>
</p:sld>
</file>

<file path=ppt/slides/slide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Input data preparation:</a:t>
            </a:r>
          </a:p>
          <a:p>
            <a:endParaRPr lang="en-US" sz="1200" b="1"/>
          </a:p>
          <a:p>
            <a:r>
              <a:rPr lang="en-US" sz="1200" b="1">
                <a:solidFill>
                  <a:schemeClr val="dk1"/>
                </a:solidFill>
              </a:rPr>
              <a:t>STEP 2:</a:t>
            </a:r>
          </a:p>
          <a:p>
            <a:endParaRPr lang="en-US" sz="1200" b="1">
              <a:solidFill>
                <a:schemeClr val="dk1"/>
              </a:solidFill>
            </a:endParaRPr>
          </a:p>
          <a:p>
            <a:r>
              <a:rPr lang="en-US" sz="1200">
                <a:solidFill>
                  <a:schemeClr val="dk1"/>
                </a:solidFill>
              </a:rPr>
              <a:t>Calculate absolute % price change between 2 consecutive periods (see below table 3). For example the figure found for Store=S001, Product=item1 and Period=t-12 is calculated by: abs((pricet-12 / pricet-13) – 1)</a:t>
            </a:r>
          </a:p>
          <a:p>
            <a:endParaRPr lang="en-US" sz="1200" b="1">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r>
              <a:rPr lang="en-US" sz="1200">
                <a:solidFill>
                  <a:schemeClr val="dk1"/>
                </a:solidFill>
              </a:rPr>
              <a:t>                                                            Table –3</a:t>
            </a:r>
          </a:p>
          <a:p>
            <a:endParaRPr lang="en-US" sz="1200">
              <a:solidFill>
                <a:schemeClr val="dk1"/>
              </a:solidFill>
            </a:endParaRPr>
          </a:p>
          <a:p>
            <a:r>
              <a:rPr lang="en-US" sz="1200" b="1"/>
              <a:t>Note:</a:t>
            </a:r>
            <a:r>
              <a:rPr lang="en-US" sz="1200"/>
              <a:t> The calculations and further estimations will be based on the common items between 2 consecutive periods</a:t>
            </a:r>
          </a:p>
          <a:p>
            <a:endParaRPr lang="en-US" sz="1200" b="1">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4">
            <a:extLst>
              <a:ext uri="{FF2B5EF4-FFF2-40B4-BE49-F238E27FC236}">
                <a16:creationId xmlns:a16="http://schemas.microsoft.com/office/drawing/2014/main" id="{B7744C85-EC90-F54F-B328-32DBFB824DD8}"/>
              </a:ext>
            </a:extLst>
          </p:cNvPr>
          <p:cNvPicPr>
            <a:picLocks noChangeAspect="1"/>
          </p:cNvPicPr>
          <p:nvPr/>
        </p:nvPicPr>
        <p:blipFill>
          <a:blip r:embed="rId4"/>
          <a:stretch>
            <a:fillRect/>
          </a:stretch>
        </p:blipFill>
        <p:spPr>
          <a:xfrm>
            <a:off x="521110" y="1922501"/>
            <a:ext cx="5834216" cy="1507431"/>
          </a:xfrm>
          <a:prstGeom prst="rect">
            <a:avLst/>
          </a:prstGeom>
        </p:spPr>
      </p:pic>
    </p:spTree>
    <p:extLst>
      <p:ext uri="{BB962C8B-B14F-4D97-AF65-F5344CB8AC3E}">
        <p14:creationId xmlns:p14="http://schemas.microsoft.com/office/powerpoint/2010/main" val="311066281"/>
      </p:ext>
    </p:extLst>
  </p:cSld>
  <p:clrMapOvr>
    <a:overrideClrMapping bg1="lt1" tx1="dk1" bg2="lt2" tx2="dk2" accent1="accent1" accent2="accent2" accent3="accent3" accent4="accent4" accent5="accent5" accent6="accent6" hlink="hlink" folHlink="folHlink"/>
  </p:clrMapOvr>
</p:sld>
</file>

<file path=ppt/slides/slide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Input data preparation:</a:t>
            </a:r>
          </a:p>
          <a:p>
            <a:endParaRPr lang="en-US" sz="1200" b="1"/>
          </a:p>
          <a:p>
            <a:r>
              <a:rPr lang="en-US" sz="1200" b="1">
                <a:solidFill>
                  <a:schemeClr val="dk1"/>
                </a:solidFill>
              </a:rPr>
              <a:t>STEP 3:</a:t>
            </a:r>
          </a:p>
          <a:p>
            <a:r>
              <a:rPr lang="en-US" sz="1200">
                <a:solidFill>
                  <a:schemeClr val="dk1"/>
                </a:solidFill>
              </a:rPr>
              <a:t>Select a parameter that will be compared with absolute % price change in order to ‘flag’ the big price changes. Default Param = 15%</a:t>
            </a:r>
            <a:r>
              <a:rPr lang="en-US" sz="1200" b="1">
                <a:solidFill>
                  <a:schemeClr val="dk1"/>
                </a:solidFill>
              </a:rPr>
              <a:t>.</a:t>
            </a:r>
          </a:p>
          <a:p>
            <a:endParaRPr lang="en-US" sz="1200" b="1">
              <a:solidFill>
                <a:schemeClr val="dk1"/>
              </a:solidFill>
            </a:endParaRPr>
          </a:p>
          <a:p>
            <a:r>
              <a:rPr lang="en-US" sz="1200" b="1">
                <a:solidFill>
                  <a:schemeClr val="dk1"/>
                </a:solidFill>
              </a:rPr>
              <a:t>STEP 4:</a:t>
            </a:r>
          </a:p>
          <a:p>
            <a:r>
              <a:rPr lang="en-US" sz="1200">
                <a:solidFill>
                  <a:schemeClr val="dk1"/>
                </a:solidFill>
              </a:rPr>
              <a:t>Compare the selected parameter with the calculated in Table 3 price % changes. The expected resulting values are -1, 0 and 1, following the below logic:</a:t>
            </a:r>
          </a:p>
          <a:p>
            <a:pPr marL="171450" indent="-171450">
              <a:buChar char="•"/>
            </a:pPr>
            <a:r>
              <a:rPr lang="en-US" sz="1200">
                <a:solidFill>
                  <a:schemeClr val="dk1"/>
                </a:solidFill>
              </a:rPr>
              <a:t>If the absolute % price change &lt;= </a:t>
            </a:r>
            <a:r>
              <a:rPr lang="en-US" sz="1200"/>
              <a:t>Param, then 0.</a:t>
            </a:r>
            <a:endParaRPr lang="en-US" sz="1200">
              <a:solidFill>
                <a:schemeClr val="dk1"/>
              </a:solidFill>
            </a:endParaRPr>
          </a:p>
          <a:p>
            <a:pPr marL="171450" indent="-171450">
              <a:buChar char="•"/>
            </a:pPr>
            <a:r>
              <a:rPr lang="en-US" sz="1200"/>
              <a:t>If the absolute % price change &gt; Param, then 1.</a:t>
            </a:r>
            <a:endParaRPr lang="en-US" sz="1200">
              <a:solidFill>
                <a:schemeClr val="dk1"/>
              </a:solidFill>
            </a:endParaRPr>
          </a:p>
          <a:p>
            <a:pPr marL="171450" indent="-171450">
              <a:buChar char="•"/>
            </a:pPr>
            <a:r>
              <a:rPr lang="en-US" sz="1200"/>
              <a:t>If the absolute % price change is ‘</a:t>
            </a:r>
            <a:r>
              <a:rPr lang="en-US" sz="1200" err="1"/>
              <a:t>na</a:t>
            </a:r>
            <a:r>
              <a:rPr lang="en-US" sz="1200"/>
              <a:t>’, then -1.</a:t>
            </a:r>
          </a:p>
          <a:p>
            <a:pPr marL="171450" indent="-171450">
              <a:buChar char="•"/>
            </a:pPr>
            <a:endParaRPr lang="en-US" sz="1200">
              <a:solidFill>
                <a:schemeClr val="dk1"/>
              </a:solidFill>
            </a:endParaRPr>
          </a:p>
          <a:p>
            <a:r>
              <a:rPr lang="en-US" sz="1200"/>
              <a:t>Using the above-mentioned logic, Param=15% and the figures from Table 3, the figures in Table 4 are calculated:</a:t>
            </a:r>
            <a:endParaRPr lang="en-US"/>
          </a:p>
          <a:p>
            <a:endParaRPr lang="en-US" sz="1200"/>
          </a:p>
          <a:p>
            <a:endParaRPr lang="en-US" sz="1200"/>
          </a:p>
          <a:p>
            <a:endParaRPr lang="en-US" sz="1200"/>
          </a:p>
          <a:p>
            <a:pPr marL="285750" indent="-285750">
              <a:buChar char="•"/>
            </a:pPr>
            <a:endParaRPr lang="en-US" sz="1200"/>
          </a:p>
          <a:p>
            <a:endParaRPr lang="en-US" sz="1200"/>
          </a:p>
          <a:p>
            <a:endParaRPr lang="en-US" sz="1200"/>
          </a:p>
          <a:p>
            <a:endParaRPr lang="en-US" sz="1200"/>
          </a:p>
          <a:p>
            <a:endParaRPr lang="en-US" sz="1200"/>
          </a:p>
          <a:p>
            <a:endParaRPr lang="en-US" sz="1200"/>
          </a:p>
          <a:p>
            <a:r>
              <a:rPr lang="en-US" sz="1200"/>
              <a:t>                                                                     Table 4</a:t>
            </a:r>
            <a:endParaRPr lang="en-US"/>
          </a:p>
          <a:p>
            <a:endParaRPr lang="en-US" sz="1200">
              <a:solidFill>
                <a:schemeClr val="dk1"/>
              </a:solidFill>
            </a:endParaRPr>
          </a:p>
          <a:p>
            <a:endParaRPr lang="en-US"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5" name="Picture 5">
            <a:extLst>
              <a:ext uri="{FF2B5EF4-FFF2-40B4-BE49-F238E27FC236}">
                <a16:creationId xmlns:a16="http://schemas.microsoft.com/office/drawing/2014/main" id="{F13AA624-BDF1-C31F-C226-96ADA50BD0E9}"/>
              </a:ext>
            </a:extLst>
          </p:cNvPr>
          <p:cNvPicPr>
            <a:picLocks noChangeAspect="1"/>
          </p:cNvPicPr>
          <p:nvPr/>
        </p:nvPicPr>
        <p:blipFill>
          <a:blip r:embed="rId4"/>
          <a:stretch>
            <a:fillRect/>
          </a:stretch>
        </p:blipFill>
        <p:spPr>
          <a:xfrm>
            <a:off x="871384" y="3316499"/>
            <a:ext cx="5526957" cy="1429452"/>
          </a:xfrm>
          <a:prstGeom prst="rect">
            <a:avLst/>
          </a:prstGeom>
        </p:spPr>
      </p:pic>
    </p:spTree>
    <p:extLst>
      <p:ext uri="{BB962C8B-B14F-4D97-AF65-F5344CB8AC3E}">
        <p14:creationId xmlns:p14="http://schemas.microsoft.com/office/powerpoint/2010/main" val="1960548219"/>
      </p:ext>
    </p:extLst>
  </p:cSld>
  <p:clrMapOvr>
    <a:overrideClrMapping bg1="lt1" tx1="dk1" bg2="lt2" tx2="dk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Input data preparation:</a:t>
            </a:r>
          </a:p>
          <a:p>
            <a:endParaRPr lang="en-US" sz="1200" b="1">
              <a:solidFill>
                <a:schemeClr val="dk1"/>
              </a:solidFill>
            </a:endParaRPr>
          </a:p>
          <a:p>
            <a:r>
              <a:rPr lang="en-US" sz="1200" b="1">
                <a:solidFill>
                  <a:schemeClr val="dk1"/>
                </a:solidFill>
              </a:rPr>
              <a:t>STEP 5:</a:t>
            </a:r>
          </a:p>
          <a:p>
            <a:pPr marL="171450" indent="-171450">
              <a:buChar char="•"/>
            </a:pPr>
            <a:r>
              <a:rPr lang="en-US" sz="1200">
                <a:solidFill>
                  <a:schemeClr val="dk1"/>
                </a:solidFill>
              </a:rPr>
              <a:t>Count all ‘1’ in particular period (e.g., count the cases where the price % change is bigger than the selected parameter</a:t>
            </a:r>
          </a:p>
          <a:p>
            <a:pPr marL="171450" indent="-171450">
              <a:buChar char="•"/>
            </a:pPr>
            <a:r>
              <a:rPr lang="en-US" sz="1200">
                <a:solidFill>
                  <a:schemeClr val="dk1"/>
                </a:solidFill>
              </a:rPr>
              <a:t>Count the number of common items between </a:t>
            </a:r>
            <a:r>
              <a:rPr lang="en-US" sz="1200"/>
              <a:t>the 2 consecutive periods</a:t>
            </a:r>
          </a:p>
          <a:p>
            <a:endParaRPr lang="en-US" sz="1200" b="1">
              <a:solidFill>
                <a:schemeClr val="dk1"/>
              </a:solidFill>
            </a:endParaRPr>
          </a:p>
          <a:p>
            <a:pPr marL="171450" indent="-171450">
              <a:buChar char="•"/>
            </a:pPr>
            <a:endParaRPr lang="en-US" sz="1200"/>
          </a:p>
          <a:p>
            <a:pPr marL="171450" indent="-171450">
              <a:buChar char="•"/>
            </a:pPr>
            <a:endParaRPr lang="en-US" sz="1200">
              <a:solidFill>
                <a:schemeClr val="dk1"/>
              </a:solidFill>
            </a:endParaRPr>
          </a:p>
          <a:p>
            <a:pPr marL="171450" indent="-171450">
              <a:buChar char="•"/>
            </a:pPr>
            <a:endParaRPr lang="en-US" sz="1200"/>
          </a:p>
          <a:p>
            <a:pPr marL="171450" indent="-171450">
              <a:buChar char="•"/>
            </a:pPr>
            <a:endParaRPr lang="en-US" sz="1200"/>
          </a:p>
          <a:p>
            <a:r>
              <a:rPr lang="en-US" sz="1200"/>
              <a:t>                                                              Table 5</a:t>
            </a:r>
          </a:p>
          <a:p>
            <a:r>
              <a:rPr lang="en-US" sz="1200" b="1"/>
              <a:t>STEP 6:</a:t>
            </a:r>
            <a:endParaRPr lang="en-US" sz="1200"/>
          </a:p>
          <a:p>
            <a:endParaRPr lang="en-US" sz="1200"/>
          </a:p>
          <a:p>
            <a:r>
              <a:rPr lang="en-US" sz="1200"/>
              <a:t>Calculate the % of cases from total common products where the price % change is bigger than the Parameter.</a:t>
            </a:r>
          </a:p>
          <a:p>
            <a:endParaRPr lang="en-US" sz="1200"/>
          </a:p>
          <a:p>
            <a:endParaRPr lang="en-US" sz="1200"/>
          </a:p>
          <a:p>
            <a:endParaRPr lang="en-US" sz="1200"/>
          </a:p>
          <a:p>
            <a:endParaRPr lang="en-US" sz="1200"/>
          </a:p>
          <a:p>
            <a:pPr marL="285750" indent="-285750">
              <a:buChar char="•"/>
            </a:pPr>
            <a:endParaRPr lang="en-US" sz="1200"/>
          </a:p>
          <a:p>
            <a:endParaRPr lang="en-US" sz="1200"/>
          </a:p>
          <a:p>
            <a:r>
              <a:rPr lang="en-US" sz="1200"/>
              <a:t>                                                                     Table 6</a:t>
            </a:r>
            <a:endParaRPr lang="en-US"/>
          </a:p>
          <a:p>
            <a:endParaRPr lang="en-US" sz="1200">
              <a:solidFill>
                <a:schemeClr val="dk1"/>
              </a:solidFill>
            </a:endParaRPr>
          </a:p>
          <a:p>
            <a:endParaRPr lang="en-US"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3">
            <a:extLst>
              <a:ext uri="{FF2B5EF4-FFF2-40B4-BE49-F238E27FC236}">
                <a16:creationId xmlns:a16="http://schemas.microsoft.com/office/drawing/2014/main" id="{6805EA9C-47E5-DBB5-AE3F-0C3025DE52E5}"/>
              </a:ext>
            </a:extLst>
          </p:cNvPr>
          <p:cNvPicPr>
            <a:picLocks noChangeAspect="1"/>
          </p:cNvPicPr>
          <p:nvPr/>
        </p:nvPicPr>
        <p:blipFill>
          <a:blip r:embed="rId4"/>
          <a:stretch>
            <a:fillRect/>
          </a:stretch>
        </p:blipFill>
        <p:spPr>
          <a:xfrm>
            <a:off x="1104900" y="1666363"/>
            <a:ext cx="4125861" cy="766096"/>
          </a:xfrm>
          <a:prstGeom prst="rect">
            <a:avLst/>
          </a:prstGeom>
        </p:spPr>
      </p:pic>
      <p:pic>
        <p:nvPicPr>
          <p:cNvPr id="4" name="Picture 5" descr="Table&#10;&#10;Description automatically generated">
            <a:extLst>
              <a:ext uri="{FF2B5EF4-FFF2-40B4-BE49-F238E27FC236}">
                <a16:creationId xmlns:a16="http://schemas.microsoft.com/office/drawing/2014/main" id="{1491E861-6EA0-54D7-2F63-F0D85342BBF8}"/>
              </a:ext>
            </a:extLst>
          </p:cNvPr>
          <p:cNvPicPr>
            <a:picLocks noChangeAspect="1"/>
          </p:cNvPicPr>
          <p:nvPr/>
        </p:nvPicPr>
        <p:blipFill>
          <a:blip r:embed="rId5"/>
          <a:stretch>
            <a:fillRect/>
          </a:stretch>
        </p:blipFill>
        <p:spPr>
          <a:xfrm>
            <a:off x="1043448" y="3403658"/>
            <a:ext cx="5096796" cy="812681"/>
          </a:xfrm>
          <a:prstGeom prst="rect">
            <a:avLst/>
          </a:prstGeom>
        </p:spPr>
      </p:pic>
    </p:spTree>
    <p:extLst>
      <p:ext uri="{BB962C8B-B14F-4D97-AF65-F5344CB8AC3E}">
        <p14:creationId xmlns:p14="http://schemas.microsoft.com/office/powerpoint/2010/main" val="2439263447"/>
      </p:ext>
    </p:extLst>
  </p:cSld>
  <p:clrMapOvr>
    <a:overrideClrMapping bg1="lt1" tx1="dk1" bg2="lt2" tx2="dk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Input data preparation:</a:t>
            </a:r>
          </a:p>
          <a:p>
            <a:endParaRPr lang="en-US" sz="1200" b="1"/>
          </a:p>
          <a:p>
            <a:r>
              <a:rPr lang="en-US" sz="1200" b="1"/>
              <a:t>STEP 7:</a:t>
            </a:r>
            <a:endParaRPr lang="en-US" sz="1200"/>
          </a:p>
          <a:p>
            <a:endParaRPr lang="en-US" sz="1200"/>
          </a:p>
          <a:p>
            <a:r>
              <a:rPr lang="en-US" sz="1200"/>
              <a:t>Using the figures in Table 6 calculate the price change limit for the particular shop for period t, (i.e., the figures in Table 1), by using the below formula:</a:t>
            </a:r>
          </a:p>
          <a:p>
            <a:endParaRPr lang="en-US" sz="1200"/>
          </a:p>
          <a:p>
            <a:r>
              <a:rPr lang="en-US" sz="1200"/>
              <a:t>Shop Price change limit period t = Avg(t-12:t-1) + 3*std(t-12:t-1)</a:t>
            </a:r>
          </a:p>
          <a:p>
            <a:r>
              <a:rPr lang="en-US" sz="1200"/>
              <a:t>Using our data, we calculate ‘Shop Price change limit period t’ to be 0.8.</a:t>
            </a:r>
          </a:p>
          <a:p>
            <a:endParaRPr lang="en-US" sz="1200"/>
          </a:p>
          <a:p>
            <a:r>
              <a:rPr lang="en-US" sz="1200" b="1"/>
              <a:t>STEP 8:</a:t>
            </a:r>
            <a:endParaRPr lang="en-US" sz="1200"/>
          </a:p>
          <a:p>
            <a:endParaRPr lang="en-US" sz="1200"/>
          </a:p>
          <a:p>
            <a:r>
              <a:rPr lang="en-US" sz="1200"/>
              <a:t>When in period t one can validate if the % price change is bigger (i.e., outlier) or lower (i.e., not outlier) compared to the ‘Shop Price change limit period t’.</a:t>
            </a:r>
          </a:p>
          <a:p>
            <a:endParaRPr lang="en-US" sz="1200"/>
          </a:p>
          <a:p>
            <a:endParaRPr lang="en-US" sz="1200">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2925453938"/>
      </p:ext>
    </p:extLst>
  </p:cSld>
  <p:clrMapOvr>
    <a:overrideClrMapping bg1="lt1" tx1="dk1" bg2="lt2" tx2="dk2" accent1="accent1" accent2="accent2" accent3="accent3" accent4="accent4" accent5="accent5" accent6="accent6" hlink="hlink" folHlink="folHlink"/>
  </p:clrMapOvr>
</p:sld>
</file>

<file path=ppt/slides/slide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267100"/>
          </a:xfrm>
          <a:prstGeom prst="rect">
            <a:avLst/>
          </a:prstGeom>
          <a:noFill/>
          <a:ln>
            <a:noFill/>
          </a:ln>
        </p:spPr>
        <p:txBody>
          <a:bodyPr spcFirstLastPara="1" wrap="square" lIns="87625" tIns="87625" rIns="87625" bIns="87625" anchor="t" anchorCtr="0">
            <a:noAutofit/>
          </a:bodyPr>
          <a:lstStyle/>
          <a:p>
            <a:r>
              <a:rPr lang="en-US" sz="1200" b="1"/>
              <a:t>Input data preparation:</a:t>
            </a:r>
          </a:p>
          <a:p>
            <a:endParaRPr lang="en-US" sz="1200" b="1"/>
          </a:p>
          <a:p>
            <a:r>
              <a:rPr lang="en-US" sz="1200" b="1"/>
              <a:t>STEP 9:</a:t>
            </a:r>
            <a:endParaRPr lang="en-US" sz="1200"/>
          </a:p>
          <a:p>
            <a:endParaRPr lang="en-US" sz="1200"/>
          </a:p>
          <a:p>
            <a:pPr algn="just"/>
            <a:r>
              <a:rPr lang="en-US" sz="1200"/>
              <a:t>Create a summary table (see Table 7 below) by FBD/chain with the percent of outliers out of the total number of stores in the specific FBD/chain and if the percent is lower than an user inputted threshold (default 3%) mark the chain status as “OK” (i.e. the chain does not have an issue overall with prices and 'ignore' the stores' price flag), else mark the ‘Chain Status’ as ‘Q’ (questionable).  </a:t>
            </a:r>
          </a:p>
          <a:p>
            <a:pPr algn="just"/>
            <a:endParaRPr lang="en-US" sz="1200"/>
          </a:p>
          <a:p>
            <a:pPr marL="285750" indent="-285750" algn="just">
              <a:buFont typeface="Symbol,Sans-Serif"/>
              <a:buChar char="•"/>
            </a:pPr>
            <a:r>
              <a:rPr lang="en-US" sz="1200"/>
              <a:t>Note: Chain wise price outlier information can be get using the e-forte report. (Report id: 1001494)</a:t>
            </a:r>
          </a:p>
          <a:p>
            <a:pPr marL="285750" indent="-285750" algn="just">
              <a:buFont typeface="Symbol,Sans-Serif"/>
              <a:buChar char="•"/>
            </a:pPr>
            <a:endParaRPr lang="en-US" sz="1200"/>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marL="285750" indent="-285750" algn="just">
              <a:buFont typeface="Symbol,Sans-Serif"/>
              <a:buChar char="•"/>
            </a:pPr>
            <a:endParaRPr lang="en-US" sz="1200">
              <a:solidFill>
                <a:schemeClr val="dk1"/>
              </a:solidFill>
            </a:endParaRPr>
          </a:p>
          <a:p>
            <a:pPr algn="just"/>
            <a:r>
              <a:rPr lang="en-US" sz="1200">
                <a:solidFill>
                  <a:schemeClr val="dk1"/>
                </a:solidFill>
              </a:rPr>
              <a:t>                                                                 </a:t>
            </a:r>
            <a:r>
              <a:rPr lang="en-US" sz="1200"/>
              <a:t>Table 7</a:t>
            </a:r>
          </a:p>
          <a:p>
            <a:endParaRPr lang="en-US" sz="1200">
              <a:solidFill>
                <a:schemeClr val="dk1"/>
              </a:solidFill>
            </a:endParaRPr>
          </a:p>
          <a:p>
            <a:endParaRPr lang="en-US" sz="1200" b="1">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3" descr="Table&#10;&#10;Description automatically generated">
            <a:extLst>
              <a:ext uri="{FF2B5EF4-FFF2-40B4-BE49-F238E27FC236}">
                <a16:creationId xmlns:a16="http://schemas.microsoft.com/office/drawing/2014/main" id="{A592C5CF-DDF5-502D-C611-0D5FAEA9015E}"/>
              </a:ext>
            </a:extLst>
          </p:cNvPr>
          <p:cNvPicPr>
            <a:picLocks noChangeAspect="1"/>
          </p:cNvPicPr>
          <p:nvPr/>
        </p:nvPicPr>
        <p:blipFill>
          <a:blip r:embed="rId4"/>
          <a:stretch>
            <a:fillRect/>
          </a:stretch>
        </p:blipFill>
        <p:spPr>
          <a:xfrm>
            <a:off x="1522771" y="2663788"/>
            <a:ext cx="3548216" cy="1782375"/>
          </a:xfrm>
          <a:prstGeom prst="rect">
            <a:avLst/>
          </a:prstGeom>
        </p:spPr>
      </p:pic>
    </p:spTree>
    <p:extLst>
      <p:ext uri="{BB962C8B-B14F-4D97-AF65-F5344CB8AC3E}">
        <p14:creationId xmlns:p14="http://schemas.microsoft.com/office/powerpoint/2010/main" val="1961304228"/>
      </p:ext>
    </p:extLst>
  </p:cSld>
  <p:clrMapOvr>
    <a:overrideClrMapping bg1="lt1" tx1="dk1" bg2="lt2" tx2="dk2" accent1="accent1" accent2="accent2" accent3="accent3" accent4="accent4" accent5="accent5" accent6="accent6" hlink="hlink" folHlink="folHlink"/>
  </p:clrMapOvr>
</p:sld>
</file>

<file path=ppt/slides/slide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451454"/>
          </a:xfrm>
          <a:prstGeom prst="rect">
            <a:avLst/>
          </a:prstGeom>
          <a:noFill/>
          <a:ln>
            <a:noFill/>
          </a:ln>
        </p:spPr>
        <p:txBody>
          <a:bodyPr spcFirstLastPara="1" wrap="square" lIns="87625" tIns="87625" rIns="87625" bIns="87625" anchor="t" anchorCtr="0">
            <a:noAutofit/>
          </a:bodyPr>
          <a:lstStyle/>
          <a:p>
            <a:r>
              <a:rPr lang="en-US" sz="1200" b="1"/>
              <a:t>Parameters:</a:t>
            </a:r>
          </a:p>
          <a:p>
            <a:endParaRPr lang="en-US" sz="1200" b="1"/>
          </a:p>
          <a:p>
            <a:r>
              <a:rPr lang="en-US" sz="1200"/>
              <a:t>The following parameters</a:t>
            </a:r>
            <a:r>
              <a:rPr lang="en-US" sz="1200">
                <a:solidFill>
                  <a:schemeClr val="dk1"/>
                </a:solidFill>
              </a:rPr>
              <a:t> is introduced </a:t>
            </a:r>
            <a:r>
              <a:rPr lang="en-US" sz="1200"/>
              <a:t>in the system. </a:t>
            </a: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endParaRPr lang="en-US" sz="1200">
              <a:solidFill>
                <a:schemeClr val="dk1"/>
              </a:solidFill>
            </a:endParaRPr>
          </a:p>
          <a:p>
            <a:pPr algn="just"/>
            <a:r>
              <a:rPr lang="en-US" sz="1200"/>
              <a:t>Parameters details: </a:t>
            </a:r>
            <a:endParaRPr lang="en-US"/>
          </a:p>
          <a:p>
            <a:pPr algn="just"/>
            <a:r>
              <a:rPr lang="en-US" sz="1200"/>
              <a:t>  </a:t>
            </a:r>
            <a:endParaRPr lang="en-US"/>
          </a:p>
          <a:p>
            <a:pPr algn="just"/>
            <a:r>
              <a:rPr lang="en-US" sz="1000" b="1">
                <a:solidFill>
                  <a:srgbClr val="0070C0"/>
                </a:solidFill>
              </a:rPr>
              <a:t>PRICE_CHECK_ENABLE:</a:t>
            </a:r>
            <a:r>
              <a:rPr lang="en-US" sz="1000">
                <a:solidFill>
                  <a:srgbClr val="0070C0"/>
                </a:solidFill>
              </a:rPr>
              <a:t> </a:t>
            </a:r>
          </a:p>
          <a:p>
            <a:pPr algn="just"/>
            <a:r>
              <a:rPr lang="en-US" sz="1000" b="1"/>
              <a:t>    </a:t>
            </a:r>
            <a:r>
              <a:rPr lang="en-US" sz="1000"/>
              <a:t>  </a:t>
            </a:r>
          </a:p>
          <a:p>
            <a:pPr marL="171450" indent="-171450" algn="just">
              <a:buChar char="•"/>
            </a:pPr>
            <a:r>
              <a:rPr lang="en-US" sz="1000" b="1"/>
              <a:t>Description:</a:t>
            </a:r>
            <a:r>
              <a:rPr lang="en-US" sz="1000"/>
              <a:t> </a:t>
            </a:r>
            <a:r>
              <a:rPr lang="en-US" sz="1000" b="1">
                <a:solidFill>
                  <a:srgbClr val="0070C0"/>
                </a:solidFill>
              </a:rPr>
              <a:t>Whether to activate the calculation of price check parameters</a:t>
            </a:r>
            <a:r>
              <a:rPr lang="en-US" sz="1000"/>
              <a:t> </a:t>
            </a:r>
          </a:p>
          <a:p>
            <a:pPr marL="171450" indent="-171450" algn="just">
              <a:buChar char="•"/>
            </a:pPr>
            <a:r>
              <a:rPr lang="en-US" sz="1000" b="1"/>
              <a:t>Default value =</a:t>
            </a:r>
            <a:r>
              <a:rPr lang="en-US" sz="1000" b="1">
                <a:solidFill>
                  <a:srgbClr val="0070C0"/>
                </a:solidFill>
              </a:rPr>
              <a:t> Y </a:t>
            </a:r>
          </a:p>
          <a:p>
            <a:pPr marL="171450" indent="-171450" algn="just">
              <a:buChar char="•"/>
            </a:pPr>
            <a:r>
              <a:rPr lang="en-US" sz="1000" b="1"/>
              <a:t>Valid values are:</a:t>
            </a:r>
            <a:r>
              <a:rPr lang="en-US" sz="1000"/>
              <a:t> </a:t>
            </a:r>
            <a:r>
              <a:rPr lang="en-US" sz="1000" b="1">
                <a:solidFill>
                  <a:srgbClr val="0070C0"/>
                </a:solidFill>
              </a:rPr>
              <a:t>Y/N   </a:t>
            </a:r>
          </a:p>
          <a:p>
            <a:pPr marL="171450" indent="-171450" algn="just">
              <a:buChar char="•"/>
            </a:pPr>
            <a:r>
              <a:rPr lang="en-US" sz="1000" b="1"/>
              <a:t>Specificity:</a:t>
            </a:r>
            <a:r>
              <a:rPr lang="en-US" sz="1000"/>
              <a:t> </a:t>
            </a:r>
            <a:r>
              <a:rPr lang="en-US" sz="1000" b="1">
                <a:solidFill>
                  <a:srgbClr val="0070C0"/>
                </a:solidFill>
              </a:rPr>
              <a:t>STORE </a:t>
            </a:r>
          </a:p>
          <a:p>
            <a:pPr marL="171450" indent="-171450" algn="just">
              <a:buChar char="•"/>
            </a:pPr>
            <a:r>
              <a:rPr lang="en-US" sz="1000"/>
              <a:t>  </a:t>
            </a:r>
          </a:p>
          <a:p>
            <a:pPr algn="just"/>
            <a:r>
              <a:rPr lang="en-US" sz="1000" b="1">
                <a:solidFill>
                  <a:srgbClr val="0070C0"/>
                </a:solidFill>
              </a:rPr>
              <a:t>PRICE_CHECK_CALCULATE_WEEKS: </a:t>
            </a:r>
          </a:p>
          <a:p>
            <a:pPr algn="just"/>
            <a:r>
              <a:rPr lang="en-US" sz="1000" b="1"/>
              <a:t>  </a:t>
            </a:r>
            <a:r>
              <a:rPr lang="en-US" sz="1000"/>
              <a:t>  </a:t>
            </a:r>
          </a:p>
          <a:p>
            <a:pPr marL="285750" indent="-285750" algn="just">
              <a:buChar char="•"/>
            </a:pPr>
            <a:r>
              <a:rPr lang="en-US" sz="1000" b="1"/>
              <a:t>Description:</a:t>
            </a:r>
            <a:r>
              <a:rPr lang="en-US" sz="1000"/>
              <a:t> </a:t>
            </a:r>
            <a:r>
              <a:rPr lang="en-US" sz="1000" b="1">
                <a:solidFill>
                  <a:srgbClr val="0070C0"/>
                </a:solidFill>
              </a:rPr>
              <a:t>The number of historical weeks to consider for price check parameter calculation </a:t>
            </a:r>
          </a:p>
          <a:p>
            <a:pPr marL="285750" indent="-285750" algn="just">
              <a:buChar char="•"/>
            </a:pPr>
            <a:r>
              <a:rPr lang="en-US" sz="1000" b="1"/>
              <a:t>Default value =</a:t>
            </a:r>
            <a:r>
              <a:rPr lang="en-US" sz="1000"/>
              <a:t> </a:t>
            </a:r>
            <a:r>
              <a:rPr lang="en-US" sz="1000" b="1">
                <a:solidFill>
                  <a:srgbClr val="0070C0"/>
                </a:solidFill>
              </a:rPr>
              <a:t>1</a:t>
            </a:r>
          </a:p>
          <a:p>
            <a:pPr marL="285750" indent="-285750" algn="just">
              <a:buChar char="•"/>
            </a:pPr>
            <a:r>
              <a:rPr lang="en-US" sz="1000" b="1"/>
              <a:t>Valid values are:</a:t>
            </a:r>
            <a:r>
              <a:rPr lang="en-US" sz="1000"/>
              <a:t> </a:t>
            </a:r>
            <a:r>
              <a:rPr lang="en-US" sz="1000" b="1">
                <a:solidFill>
                  <a:srgbClr val="0070C0"/>
                </a:solidFill>
              </a:rPr>
              <a:t>Integer &gt;0  </a:t>
            </a:r>
          </a:p>
          <a:p>
            <a:pPr marL="285750" indent="-285750" algn="just">
              <a:buChar char="•"/>
            </a:pPr>
            <a:r>
              <a:rPr lang="en-US" sz="1000" b="1"/>
              <a:t>Specificity:</a:t>
            </a:r>
            <a:r>
              <a:rPr lang="en-US" sz="1000"/>
              <a:t> </a:t>
            </a:r>
            <a:r>
              <a:rPr lang="en-US" sz="1000" b="1">
                <a:solidFill>
                  <a:srgbClr val="0070C0"/>
                </a:solidFill>
              </a:rPr>
              <a:t>STORE </a:t>
            </a:r>
          </a:p>
          <a:p>
            <a:endParaRPr lang="en-US" sz="1000">
              <a:solidFill>
                <a:schemeClr val="dk1"/>
              </a:solidFill>
            </a:endParaRPr>
          </a:p>
          <a:p>
            <a:endParaRPr lang="en-US" sz="1200" b="1">
              <a:solidFill>
                <a:schemeClr val="dk1"/>
              </a:solidFill>
            </a:endParaRPr>
          </a:p>
          <a:p>
            <a:endParaRPr lang="en-US" sz="1200" b="1">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graphicFrame>
        <p:nvGraphicFramePr>
          <p:cNvPr id="9" name="Table 8">
            <a:extLst>
              <a:ext uri="{FF2B5EF4-FFF2-40B4-BE49-F238E27FC236}">
                <a16:creationId xmlns:a16="http://schemas.microsoft.com/office/drawing/2014/main" id="{DBDA70FF-CEC4-1CBC-4B1A-1E02B5F199C3}"/>
              </a:ext>
            </a:extLst>
          </p:cNvPr>
          <p:cNvGraphicFramePr>
            <a:graphicFrameLocks noGrp="1"/>
          </p:cNvGraphicFramePr>
          <p:nvPr>
            <p:extLst>
              <p:ext uri="{D42A27DB-BD31-4B8C-83A1-F6EECF244321}">
                <p14:modId xmlns:p14="http://schemas.microsoft.com/office/powerpoint/2010/main" val="2847774157"/>
              </p:ext>
            </p:extLst>
          </p:nvPr>
        </p:nvGraphicFramePr>
        <p:xfrm>
          <a:off x="523875" y="1496224"/>
          <a:ext cx="8086284" cy="685800"/>
        </p:xfrm>
        <a:graphic>
          <a:graphicData uri="http://schemas.openxmlformats.org/drawingml/2006/table">
            <a:tbl>
              <a:tblPr firstRow="1" firstCol="1" bandRow="1">
                <a:tableStyleId>{5940675A-B579-460E-94D1-54222C63F5DA}</a:tableStyleId>
              </a:tblPr>
              <a:tblGrid>
                <a:gridCol w="1507100">
                  <a:extLst>
                    <a:ext uri="{9D8B030D-6E8A-4147-A177-3AD203B41FA5}">
                      <a16:colId xmlns:a16="http://schemas.microsoft.com/office/drawing/2014/main" val="2063136041"/>
                    </a:ext>
                  </a:extLst>
                </a:gridCol>
                <a:gridCol w="2495245">
                  <a:extLst>
                    <a:ext uri="{9D8B030D-6E8A-4147-A177-3AD203B41FA5}">
                      <a16:colId xmlns:a16="http://schemas.microsoft.com/office/drawing/2014/main" val="232818216"/>
                    </a:ext>
                  </a:extLst>
                </a:gridCol>
                <a:gridCol w="4083939">
                  <a:extLst>
                    <a:ext uri="{9D8B030D-6E8A-4147-A177-3AD203B41FA5}">
                      <a16:colId xmlns:a16="http://schemas.microsoft.com/office/drawing/2014/main" val="2221586808"/>
                    </a:ext>
                  </a:extLst>
                </a:gridCol>
              </a:tblGrid>
              <a:tr h="190500">
                <a:tc>
                  <a:txBody>
                    <a:bodyPr/>
                    <a:lstStyle/>
                    <a:p>
                      <a:pPr algn="ctr" fontAlgn="base"/>
                      <a:r>
                        <a:rPr lang="en-US" sz="1000">
                          <a:effectLst/>
                        </a:rPr>
                        <a:t>Process ID</a:t>
                      </a:r>
                    </a:p>
                  </a:txBody>
                  <a:tcPr marL="0" marR="0" marT="0" marB="0">
                    <a:solidFill>
                      <a:srgbClr val="00B0F0"/>
                    </a:solidFill>
                  </a:tcPr>
                </a:tc>
                <a:tc>
                  <a:txBody>
                    <a:bodyPr/>
                    <a:lstStyle/>
                    <a:p>
                      <a:pPr algn="ctr" fontAlgn="base"/>
                      <a:r>
                        <a:rPr lang="en-US" sz="1000">
                          <a:effectLst/>
                        </a:rPr>
                        <a:t>Parameter Name</a:t>
                      </a:r>
                    </a:p>
                  </a:txBody>
                  <a:tcPr marL="0" marR="0" marT="0" marB="0">
                    <a:solidFill>
                      <a:srgbClr val="00B0F0"/>
                    </a:solidFill>
                  </a:tcPr>
                </a:tc>
                <a:tc>
                  <a:txBody>
                    <a:bodyPr/>
                    <a:lstStyle/>
                    <a:p>
                      <a:pPr algn="ctr" fontAlgn="base"/>
                      <a:r>
                        <a:rPr lang="en-US" sz="1000">
                          <a:effectLst/>
                        </a:rPr>
                        <a:t>Description</a:t>
                      </a:r>
                    </a:p>
                  </a:txBody>
                  <a:tcPr marL="0" marR="0" marT="0" marB="0">
                    <a:solidFill>
                      <a:srgbClr val="00B0F0"/>
                    </a:solidFill>
                  </a:tcPr>
                </a:tc>
                <a:extLst>
                  <a:ext uri="{0D108BD9-81ED-4DB2-BD59-A6C34878D82A}">
                    <a16:rowId xmlns:a16="http://schemas.microsoft.com/office/drawing/2014/main" val="977068257"/>
                  </a:ext>
                </a:extLst>
              </a:tr>
              <a:tr h="190500">
                <a:tc>
                  <a:txBody>
                    <a:bodyPr/>
                    <a:lstStyle/>
                    <a:p>
                      <a:pPr algn="ctr" fontAlgn="base"/>
                      <a:r>
                        <a:rPr lang="en-US" sz="1000">
                          <a:effectLst/>
                        </a:rPr>
                        <a:t>FOVA_PARAMETER</a:t>
                      </a:r>
                    </a:p>
                  </a:txBody>
                  <a:tcPr marL="0" marR="0" marT="0" marB="0"/>
                </a:tc>
                <a:tc>
                  <a:txBody>
                    <a:bodyPr/>
                    <a:lstStyle/>
                    <a:p>
                      <a:pPr algn="ctr" fontAlgn="base"/>
                      <a:r>
                        <a:rPr lang="en-US" sz="1000">
                          <a:effectLst/>
                        </a:rPr>
                        <a:t>PRICE_CHECK_ENABLE</a:t>
                      </a:r>
                    </a:p>
                  </a:txBody>
                  <a:tcPr marL="0" marR="0" marT="0" marB="0"/>
                </a:tc>
                <a:tc>
                  <a:txBody>
                    <a:bodyPr/>
                    <a:lstStyle/>
                    <a:p>
                      <a:pPr algn="ctr" fontAlgn="base"/>
                      <a:r>
                        <a:rPr lang="en-US" sz="1000">
                          <a:effectLst/>
                        </a:rPr>
                        <a:t>whether to activate the calculation of price check parameters</a:t>
                      </a:r>
                    </a:p>
                  </a:txBody>
                  <a:tcPr marL="0" marR="0" marT="0" marB="0"/>
                </a:tc>
                <a:extLst>
                  <a:ext uri="{0D108BD9-81ED-4DB2-BD59-A6C34878D82A}">
                    <a16:rowId xmlns:a16="http://schemas.microsoft.com/office/drawing/2014/main" val="59888173"/>
                  </a:ext>
                </a:extLst>
              </a:tr>
              <a:tr h="190500">
                <a:tc>
                  <a:txBody>
                    <a:bodyPr/>
                    <a:lstStyle/>
                    <a:p>
                      <a:pPr algn="ctr" fontAlgn="base"/>
                      <a:r>
                        <a:rPr lang="en-US" sz="1000">
                          <a:effectLst/>
                        </a:rPr>
                        <a:t>FOVA_PARAMETER</a:t>
                      </a:r>
                    </a:p>
                  </a:txBody>
                  <a:tcPr marL="0" marR="0" marT="0" marB="0"/>
                </a:tc>
                <a:tc>
                  <a:txBody>
                    <a:bodyPr/>
                    <a:lstStyle/>
                    <a:p>
                      <a:pPr algn="ctr" fontAlgn="base"/>
                      <a:r>
                        <a:rPr lang="en-US" sz="1000">
                          <a:effectLst/>
                        </a:rPr>
                        <a:t>PRICE_CHECK_CALCULATE_WEEKS</a:t>
                      </a:r>
                    </a:p>
                  </a:txBody>
                  <a:tcPr marL="0" marR="0" marT="0" marB="0"/>
                </a:tc>
                <a:tc>
                  <a:txBody>
                    <a:bodyPr/>
                    <a:lstStyle/>
                    <a:p>
                      <a:pPr algn="ctr" fontAlgn="base"/>
                      <a:r>
                        <a:rPr lang="en-US" sz="1000">
                          <a:effectLst/>
                        </a:rPr>
                        <a:t>the number of historical weeks to consider for price check parameter calculation</a:t>
                      </a:r>
                    </a:p>
                  </a:txBody>
                  <a:tcPr marL="0" marR="0" marT="0" marB="0"/>
                </a:tc>
                <a:extLst>
                  <a:ext uri="{0D108BD9-81ED-4DB2-BD59-A6C34878D82A}">
                    <a16:rowId xmlns:a16="http://schemas.microsoft.com/office/drawing/2014/main" val="1023731591"/>
                  </a:ext>
                </a:extLst>
              </a:tr>
            </a:tbl>
          </a:graphicData>
        </a:graphic>
      </p:graphicFrame>
    </p:spTree>
    <p:extLst>
      <p:ext uri="{BB962C8B-B14F-4D97-AF65-F5344CB8AC3E}">
        <p14:creationId xmlns:p14="http://schemas.microsoft.com/office/powerpoint/2010/main" val="285481802"/>
      </p:ext>
    </p:extLst>
  </p:cSld>
  <p:clrMapOvr>
    <a:overrideClrMapping bg1="lt1" tx1="dk1" bg2="lt2" tx2="dk2" accent1="accent1" accent2="accent2" accent3="accent3" accent4="accent4" accent5="accent5" accent6="accent6" hlink="hlink" folHlink="folHlink"/>
  </p:clrMapOvr>
</p:sld>
</file>

<file path=ppt/slides/slide4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451454"/>
          </a:xfrm>
          <a:prstGeom prst="rect">
            <a:avLst/>
          </a:prstGeom>
          <a:noFill/>
          <a:ln>
            <a:noFill/>
          </a:ln>
        </p:spPr>
        <p:txBody>
          <a:bodyPr spcFirstLastPara="1" wrap="square" lIns="87625" tIns="87625" rIns="87625" bIns="87625" anchor="t" anchorCtr="0">
            <a:noAutofit/>
          </a:bodyPr>
          <a:lstStyle/>
          <a:p>
            <a:endParaRPr lang="en-US" sz="1200"/>
          </a:p>
          <a:p>
            <a:endParaRPr lang="en-US" sz="1200"/>
          </a:p>
          <a:p>
            <a:endParaRPr lang="en-US" sz="1200"/>
          </a:p>
          <a:p>
            <a:endParaRPr lang="en-US" sz="1200"/>
          </a:p>
          <a:p>
            <a:endParaRPr lang="en-US" sz="1200"/>
          </a:p>
          <a:p>
            <a:endParaRPr lang="en-US" sz="1200"/>
          </a:p>
          <a:p>
            <a:endParaRPr lang="en-US" sz="1200"/>
          </a:p>
          <a:p>
            <a:r>
              <a:rPr lang="en-US" sz="1200"/>
              <a:t>Parameters details </a:t>
            </a:r>
          </a:p>
          <a:p>
            <a:endParaRPr lang="en-US" sz="1200">
              <a:solidFill>
                <a:srgbClr val="0070C0"/>
              </a:solidFill>
            </a:endParaRPr>
          </a:p>
          <a:p>
            <a:r>
              <a:rPr lang="en-US" sz="1000" b="1">
                <a:solidFill>
                  <a:srgbClr val="0070C0"/>
                </a:solidFill>
              </a:rPr>
              <a:t>PRICE_CHECK_ENABLE:</a:t>
            </a:r>
            <a:endParaRPr lang="en-US" sz="1000">
              <a:solidFill>
                <a:srgbClr val="0070C0"/>
              </a:solidFill>
            </a:endParaRPr>
          </a:p>
          <a:p>
            <a:r>
              <a:rPr lang="en-US" sz="1000" b="1"/>
              <a:t>    </a:t>
            </a:r>
            <a:r>
              <a:rPr lang="en-US" sz="1000"/>
              <a:t> </a:t>
            </a:r>
          </a:p>
          <a:p>
            <a:pPr marL="285750" indent="-285750">
              <a:buFont typeface="Symbol"/>
              <a:buChar char="•"/>
            </a:pPr>
            <a:r>
              <a:rPr lang="en-US" sz="1000" b="1"/>
              <a:t>Description:</a:t>
            </a:r>
            <a:r>
              <a:rPr lang="en-US" sz="1000"/>
              <a:t> </a:t>
            </a:r>
            <a:r>
              <a:rPr lang="en-US" sz="1200">
                <a:solidFill>
                  <a:srgbClr val="0070C0"/>
                </a:solidFill>
              </a:rPr>
              <a:t>Whether to activate the calculation of price check parameters </a:t>
            </a:r>
          </a:p>
          <a:p>
            <a:pPr marL="285750" indent="-285750">
              <a:buFont typeface="Symbol"/>
              <a:buChar char="•"/>
            </a:pPr>
            <a:r>
              <a:rPr lang="en-US" sz="1000" b="1"/>
              <a:t>Default value =</a:t>
            </a:r>
            <a:r>
              <a:rPr lang="en-US" sz="1000"/>
              <a:t> </a:t>
            </a:r>
            <a:r>
              <a:rPr lang="en-US" sz="1200">
                <a:solidFill>
                  <a:srgbClr val="0070C0"/>
                </a:solidFill>
              </a:rPr>
              <a:t>Y </a:t>
            </a:r>
          </a:p>
          <a:p>
            <a:pPr marL="285750" indent="-285750">
              <a:buFont typeface="Symbol"/>
              <a:buChar char="•"/>
            </a:pPr>
            <a:r>
              <a:rPr lang="en-US" sz="1000" b="1"/>
              <a:t>Valid values are:</a:t>
            </a:r>
            <a:r>
              <a:rPr lang="en-US" sz="1000"/>
              <a:t> </a:t>
            </a:r>
            <a:r>
              <a:rPr lang="en-US" sz="1200">
                <a:solidFill>
                  <a:srgbClr val="0070C0"/>
                </a:solidFill>
              </a:rPr>
              <a:t>Y/N   </a:t>
            </a:r>
          </a:p>
          <a:p>
            <a:pPr marL="285750" indent="-285750" algn="just">
              <a:buFont typeface="Symbol"/>
              <a:buChar char="•"/>
            </a:pPr>
            <a:r>
              <a:rPr lang="en-US" sz="1000" b="1"/>
              <a:t>Specificity:</a:t>
            </a:r>
            <a:r>
              <a:rPr lang="en-US" sz="1000"/>
              <a:t> </a:t>
            </a:r>
            <a:r>
              <a:rPr lang="en-US" sz="1200">
                <a:solidFill>
                  <a:srgbClr val="0070C0"/>
                </a:solidFill>
              </a:rPr>
              <a:t>STORE </a:t>
            </a:r>
          </a:p>
          <a:p>
            <a:pPr algn="just"/>
            <a:r>
              <a:rPr lang="en-US" sz="1000"/>
              <a:t> </a:t>
            </a:r>
          </a:p>
          <a:p>
            <a:r>
              <a:rPr lang="en-US" sz="1000" b="1"/>
              <a:t>PRICE_CHECK_BACK_WEEKS:</a:t>
            </a:r>
            <a:endParaRPr lang="en-US" sz="1000"/>
          </a:p>
          <a:p>
            <a:r>
              <a:rPr lang="en-US" sz="1000" b="1"/>
              <a:t> </a:t>
            </a:r>
            <a:r>
              <a:rPr lang="en-US" sz="1000"/>
              <a:t> </a:t>
            </a:r>
          </a:p>
          <a:p>
            <a:pPr marL="285750" indent="-285750">
              <a:buFont typeface="Symbol"/>
              <a:buChar char="•"/>
            </a:pPr>
            <a:r>
              <a:rPr lang="en-US" sz="1000" b="1"/>
              <a:t>Description:</a:t>
            </a:r>
            <a:r>
              <a:rPr lang="en-US" sz="1000"/>
              <a:t> </a:t>
            </a:r>
            <a:r>
              <a:rPr lang="en-US" sz="1200">
                <a:solidFill>
                  <a:srgbClr val="0070C0"/>
                </a:solidFill>
              </a:rPr>
              <a:t>The number of historical weeks to consider for price change limit calculation </a:t>
            </a:r>
          </a:p>
          <a:p>
            <a:pPr marL="285750" indent="-285750">
              <a:buFont typeface="Symbol"/>
              <a:buChar char="•"/>
            </a:pPr>
            <a:r>
              <a:rPr lang="en-US" sz="1000" b="1"/>
              <a:t>Default value =</a:t>
            </a:r>
            <a:r>
              <a:rPr lang="en-US" sz="1000"/>
              <a:t> </a:t>
            </a:r>
            <a:r>
              <a:rPr lang="en-US" sz="1200">
                <a:solidFill>
                  <a:srgbClr val="0070C0"/>
                </a:solidFill>
              </a:rPr>
              <a:t>12 </a:t>
            </a:r>
          </a:p>
          <a:p>
            <a:pPr marL="285750" indent="-285750">
              <a:buFont typeface="Symbol"/>
              <a:buChar char="•"/>
            </a:pPr>
            <a:r>
              <a:rPr lang="en-US" sz="1000" b="1"/>
              <a:t>Valid values are:</a:t>
            </a:r>
            <a:r>
              <a:rPr lang="en-US" sz="1000"/>
              <a:t> </a:t>
            </a:r>
            <a:r>
              <a:rPr lang="en-US" sz="1200">
                <a:solidFill>
                  <a:srgbClr val="0070C0"/>
                </a:solidFill>
              </a:rPr>
              <a:t>Integer &gt;0  </a:t>
            </a:r>
          </a:p>
          <a:p>
            <a:pPr marL="285750" indent="-285750" algn="just">
              <a:buFont typeface="Symbol"/>
              <a:buChar char="•"/>
            </a:pPr>
            <a:r>
              <a:rPr lang="en-US" sz="1000" b="1"/>
              <a:t>Specificity:</a:t>
            </a:r>
            <a:r>
              <a:rPr lang="en-US" sz="1000"/>
              <a:t> </a:t>
            </a:r>
            <a:r>
              <a:rPr lang="en-US" sz="1200">
                <a:solidFill>
                  <a:srgbClr val="0070C0"/>
                </a:solidFill>
              </a:rPr>
              <a:t>STORE </a:t>
            </a:r>
          </a:p>
          <a:p>
            <a:endParaRPr lang="en-US" sz="1000" b="1">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graphicFrame>
        <p:nvGraphicFramePr>
          <p:cNvPr id="4" name="Table 3">
            <a:extLst>
              <a:ext uri="{FF2B5EF4-FFF2-40B4-BE49-F238E27FC236}">
                <a16:creationId xmlns:a16="http://schemas.microsoft.com/office/drawing/2014/main" id="{03623336-25A9-8F0D-30AB-56A94F15D756}"/>
              </a:ext>
            </a:extLst>
          </p:cNvPr>
          <p:cNvGraphicFramePr>
            <a:graphicFrameLocks noGrp="1"/>
          </p:cNvGraphicFramePr>
          <p:nvPr>
            <p:extLst>
              <p:ext uri="{D42A27DB-BD31-4B8C-83A1-F6EECF244321}">
                <p14:modId xmlns:p14="http://schemas.microsoft.com/office/powerpoint/2010/main" val="3959629280"/>
              </p:ext>
            </p:extLst>
          </p:nvPr>
        </p:nvGraphicFramePr>
        <p:xfrm>
          <a:off x="404659" y="683219"/>
          <a:ext cx="7834632" cy="1129664"/>
        </p:xfrm>
        <a:graphic>
          <a:graphicData uri="http://schemas.openxmlformats.org/drawingml/2006/table">
            <a:tbl>
              <a:tblPr firstRow="1" firstCol="1" bandRow="1">
                <a:tableStyleId>{C70574C8-F969-49A7-8605-77D3504E23D5}</a:tableStyleId>
              </a:tblPr>
              <a:tblGrid>
                <a:gridCol w="906486">
                  <a:extLst>
                    <a:ext uri="{9D8B030D-6E8A-4147-A177-3AD203B41FA5}">
                      <a16:colId xmlns:a16="http://schemas.microsoft.com/office/drawing/2014/main" val="1419269752"/>
                    </a:ext>
                  </a:extLst>
                </a:gridCol>
                <a:gridCol w="2498581">
                  <a:extLst>
                    <a:ext uri="{9D8B030D-6E8A-4147-A177-3AD203B41FA5}">
                      <a16:colId xmlns:a16="http://schemas.microsoft.com/office/drawing/2014/main" val="3444049671"/>
                    </a:ext>
                  </a:extLst>
                </a:gridCol>
                <a:gridCol w="4429565">
                  <a:extLst>
                    <a:ext uri="{9D8B030D-6E8A-4147-A177-3AD203B41FA5}">
                      <a16:colId xmlns:a16="http://schemas.microsoft.com/office/drawing/2014/main" val="3333885083"/>
                    </a:ext>
                  </a:extLst>
                </a:gridCol>
              </a:tblGrid>
              <a:tr h="149086">
                <a:tc>
                  <a:txBody>
                    <a:bodyPr/>
                    <a:lstStyle/>
                    <a:p>
                      <a:pPr algn="ctr" fontAlgn="base"/>
                      <a:r>
                        <a:rPr lang="en-US" sz="1000">
                          <a:effectLst/>
                        </a:rPr>
                        <a:t> Process ID</a:t>
                      </a:r>
                    </a:p>
                  </a:txBody>
                  <a:tcPr marL="0" marR="0"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fontAlgn="base"/>
                      <a:r>
                        <a:rPr lang="en-US" sz="1000">
                          <a:effectLst/>
                        </a:rPr>
                        <a:t>Parameter Name </a:t>
                      </a:r>
                    </a:p>
                  </a:txBody>
                  <a:tcPr marL="0" marR="0"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fontAlgn="base"/>
                      <a:r>
                        <a:rPr lang="en-US" sz="1000">
                          <a:effectLst/>
                        </a:rPr>
                        <a:t>Description </a:t>
                      </a:r>
                    </a:p>
                  </a:txBody>
                  <a:tcPr marL="0" marR="0"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4214973690"/>
                  </a:ext>
                </a:extLst>
              </a:tr>
              <a:tr h="273326">
                <a:tc>
                  <a:txBody>
                    <a:bodyPr/>
                    <a:lstStyle/>
                    <a:p>
                      <a:pPr algn="ctr" fontAlgn="base"/>
                      <a:r>
                        <a:rPr lang="en-US" sz="900">
                          <a:effectLst/>
                        </a:rPr>
                        <a:t>FOVA</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PRICE_CHECK_ENABLE </a:t>
                      </a:r>
                    </a:p>
                    <a:p>
                      <a:pPr algn="ctr" fontAlgn="base"/>
                      <a:endParaRPr lang="en-US" sz="900">
                        <a:effectLst/>
                      </a:endParaRP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fontAlgn="base"/>
                      <a:r>
                        <a:rPr lang="en-US" sz="900">
                          <a:effectLst/>
                        </a:rPr>
                        <a:t>Whether to activate the calculation of price check parameters </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647275716"/>
                  </a:ext>
                </a:extLst>
              </a:tr>
              <a:tr h="214312">
                <a:tc>
                  <a:txBody>
                    <a:bodyPr/>
                    <a:lstStyle/>
                    <a:p>
                      <a:pPr algn="ctr" fontAlgn="base"/>
                      <a:r>
                        <a:rPr lang="en-US" sz="900">
                          <a:effectLst/>
                        </a:rPr>
                        <a:t>FOVA</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PRICE_CHECK_BACK_WEEKS </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fontAlgn="base"/>
                      <a:r>
                        <a:rPr lang="en-US" sz="900">
                          <a:effectLst/>
                        </a:rPr>
                        <a:t>The number of historical weeks to consider for price change limit calculation </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016741939"/>
                  </a:ext>
                </a:extLst>
              </a:tr>
              <a:tr h="214312">
                <a:tc>
                  <a:txBody>
                    <a:bodyPr/>
                    <a:lstStyle/>
                    <a:p>
                      <a:pPr algn="ctr" fontAlgn="base"/>
                      <a:r>
                        <a:rPr lang="en-US" sz="900">
                          <a:effectLst/>
                        </a:rPr>
                        <a:t>FOVA</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PRICE_CHECK_MIN_BACK_WEEKS </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fontAlgn="base"/>
                      <a:r>
                        <a:rPr lang="en-US" sz="900">
                          <a:effectLst/>
                        </a:rPr>
                        <a:t>The minimum number of historical weeks needed to use the price check algorithm </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242245274"/>
                  </a:ext>
                </a:extLst>
              </a:tr>
              <a:tr h="190500">
                <a:tc>
                  <a:txBody>
                    <a:bodyPr/>
                    <a:lstStyle/>
                    <a:p>
                      <a:pPr algn="ctr" fontAlgn="base"/>
                      <a:r>
                        <a:rPr lang="en-US" sz="900">
                          <a:effectLst/>
                        </a:rPr>
                        <a:t>FOVA</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PRICE_CHECK_CHANGE_LIMIT </a:t>
                      </a:r>
                    </a:p>
                    <a:p>
                      <a:pPr algn="ctr" fontAlgn="base"/>
                      <a:endParaRPr lang="en-US" sz="900">
                        <a:effectLst/>
                      </a:endParaRP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fontAlgn="base"/>
                      <a:r>
                        <a:rPr lang="en-US" sz="900">
                          <a:effectLst/>
                        </a:rPr>
                        <a:t>The limit of absolute % price change vs preceding period, above which the price will be flagged as outlier </a:t>
                      </a:r>
                    </a:p>
                  </a:txBody>
                  <a:tcPr marL="0" marR="0" marT="0" marB="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373219866"/>
                  </a:ext>
                </a:extLst>
              </a:tr>
            </a:tbl>
          </a:graphicData>
        </a:graphic>
      </p:graphicFrame>
    </p:spTree>
    <p:extLst>
      <p:ext uri="{BB962C8B-B14F-4D97-AF65-F5344CB8AC3E}">
        <p14:creationId xmlns:p14="http://schemas.microsoft.com/office/powerpoint/2010/main" val="2897877501"/>
      </p:ext>
    </p:extLst>
  </p:cSld>
  <p:clrMapOvr>
    <a:overrideClrMapping bg1="lt1" tx1="dk1" bg2="lt2" tx2="dk2" accent1="accent1" accent2="accent2" accent3="accent3" accent4="accent4" accent5="accent5" accent6="accent6" hlink="hlink" folHlink="folHlink"/>
  </p:clrMapOvr>
</p:sld>
</file>

<file path=ppt/slides/slide4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451454"/>
          </a:xfrm>
          <a:prstGeom prst="rect">
            <a:avLst/>
          </a:prstGeom>
          <a:noFill/>
          <a:ln>
            <a:noFill/>
          </a:ln>
        </p:spPr>
        <p:txBody>
          <a:bodyPr spcFirstLastPara="1" wrap="square" lIns="87625" tIns="87625" rIns="87625" bIns="87625" anchor="t" anchorCtr="0">
            <a:noAutofit/>
          </a:bodyPr>
          <a:lstStyle/>
          <a:p>
            <a:r>
              <a:rPr lang="en-US" sz="1000" b="1" dirty="0">
                <a:solidFill>
                  <a:srgbClr val="0070C0"/>
                </a:solidFill>
              </a:rPr>
              <a:t>PRICE_CHECK_MIN_BACK_WEEKS::</a:t>
            </a:r>
            <a:endParaRPr lang="en-US" sz="1000" dirty="0">
              <a:solidFill>
                <a:srgbClr val="0070C0"/>
              </a:solidFill>
            </a:endParaRPr>
          </a:p>
          <a:p>
            <a:r>
              <a:rPr lang="en-US" sz="1000" b="1" dirty="0"/>
              <a:t>    </a:t>
            </a:r>
            <a:r>
              <a:rPr lang="en-US" sz="1000" dirty="0"/>
              <a:t> </a:t>
            </a:r>
          </a:p>
          <a:p>
            <a:pPr marL="285750" indent="-285750">
              <a:buFont typeface="Symbol"/>
              <a:buChar char="•"/>
            </a:pPr>
            <a:r>
              <a:rPr lang="en-US" sz="1000" b="1" dirty="0"/>
              <a:t>Description:</a:t>
            </a:r>
            <a:r>
              <a:rPr lang="en-US" sz="1000" dirty="0"/>
              <a:t> </a:t>
            </a:r>
            <a:r>
              <a:rPr lang="en-US" sz="1000" b="1" dirty="0">
                <a:solidFill>
                  <a:srgbClr val="0070C0"/>
                </a:solidFill>
              </a:rPr>
              <a:t>The number of historical weeks to consider for price change limit calculation </a:t>
            </a:r>
          </a:p>
          <a:p>
            <a:pPr marL="285750" indent="-285750">
              <a:buFont typeface="Symbol"/>
              <a:buChar char="•"/>
            </a:pPr>
            <a:r>
              <a:rPr lang="en-US" sz="1000" b="1" dirty="0"/>
              <a:t>Default value =</a:t>
            </a:r>
            <a:r>
              <a:rPr lang="en-US" sz="1000" dirty="0"/>
              <a:t> </a:t>
            </a:r>
            <a:r>
              <a:rPr lang="en-US" sz="1000" b="1" dirty="0">
                <a:solidFill>
                  <a:srgbClr val="0070C0"/>
                </a:solidFill>
              </a:rPr>
              <a:t>4</a:t>
            </a:r>
          </a:p>
          <a:p>
            <a:pPr marL="285750" indent="-285750">
              <a:buFont typeface="Symbol"/>
              <a:buChar char="•"/>
            </a:pPr>
            <a:r>
              <a:rPr lang="en-US" sz="1000" b="1" dirty="0"/>
              <a:t>Valid values </a:t>
            </a:r>
            <a:r>
              <a:rPr lang="en-US" sz="1000" b="1" dirty="0" err="1"/>
              <a:t>are:</a:t>
            </a:r>
            <a:r>
              <a:rPr lang="en-US" sz="1000" b="1" dirty="0" err="1">
                <a:solidFill>
                  <a:srgbClr val="0070C0"/>
                </a:solidFill>
              </a:rPr>
              <a:t>Integer</a:t>
            </a:r>
            <a:r>
              <a:rPr lang="en-US" sz="1000" b="1" dirty="0">
                <a:solidFill>
                  <a:srgbClr val="0070C0"/>
                </a:solidFill>
              </a:rPr>
              <a:t> &gt;0   </a:t>
            </a:r>
          </a:p>
          <a:p>
            <a:pPr marL="285750" indent="-285750" algn="just">
              <a:buFont typeface="Symbol"/>
              <a:buChar char="•"/>
            </a:pPr>
            <a:r>
              <a:rPr lang="en-US" sz="1000" b="1" dirty="0"/>
              <a:t>Specificity:</a:t>
            </a:r>
            <a:r>
              <a:rPr lang="en-US" sz="1000" dirty="0"/>
              <a:t> </a:t>
            </a:r>
            <a:r>
              <a:rPr lang="en-US" sz="1000" b="1" dirty="0">
                <a:solidFill>
                  <a:srgbClr val="0070C0"/>
                </a:solidFill>
              </a:rPr>
              <a:t>STORE </a:t>
            </a:r>
          </a:p>
          <a:p>
            <a:pPr algn="just"/>
            <a:r>
              <a:rPr lang="en-US" sz="1000" dirty="0"/>
              <a:t> </a:t>
            </a:r>
            <a:endParaRPr lang="en-US" sz="1000" b="1" dirty="0">
              <a:solidFill>
                <a:srgbClr val="0070C0"/>
              </a:solidFill>
            </a:endParaRPr>
          </a:p>
          <a:p>
            <a:r>
              <a:rPr lang="en-US" sz="1000" b="1" dirty="0">
                <a:solidFill>
                  <a:srgbClr val="0070C0"/>
                </a:solidFill>
              </a:rPr>
              <a:t>PRICE_CHECK_CHANGE_LIMIT:</a:t>
            </a:r>
          </a:p>
          <a:p>
            <a:r>
              <a:rPr lang="en-US" sz="1000" b="1" dirty="0"/>
              <a:t> </a:t>
            </a:r>
            <a:r>
              <a:rPr lang="en-US" sz="1000" dirty="0"/>
              <a:t> </a:t>
            </a:r>
          </a:p>
          <a:p>
            <a:pPr marL="285750" indent="-285750">
              <a:buFont typeface="Symbol"/>
              <a:buChar char="•"/>
            </a:pPr>
            <a:r>
              <a:rPr lang="en-US" sz="1000" b="1" dirty="0"/>
              <a:t>Description:</a:t>
            </a:r>
            <a:r>
              <a:rPr lang="en-US" sz="1000" dirty="0"/>
              <a:t> </a:t>
            </a:r>
            <a:r>
              <a:rPr lang="en-US" sz="1000" b="1" dirty="0">
                <a:solidFill>
                  <a:srgbClr val="0070C0"/>
                </a:solidFill>
              </a:rPr>
              <a:t>The limit of absolute % price change vs preceding period, above which the price will be flagged as outlier    </a:t>
            </a:r>
          </a:p>
          <a:p>
            <a:pPr marL="285750" indent="-285750">
              <a:buFont typeface="Symbol"/>
              <a:buChar char="•"/>
            </a:pPr>
            <a:r>
              <a:rPr lang="en-US" sz="1000" b="1" dirty="0"/>
              <a:t>Default value =</a:t>
            </a:r>
            <a:r>
              <a:rPr lang="en-US" sz="1000" dirty="0"/>
              <a:t> </a:t>
            </a:r>
            <a:r>
              <a:rPr lang="en-US" sz="1000" b="1" dirty="0">
                <a:solidFill>
                  <a:srgbClr val="0070C0"/>
                </a:solidFill>
              </a:rPr>
              <a:t>0.15</a:t>
            </a:r>
          </a:p>
          <a:p>
            <a:pPr marL="285750" indent="-285750">
              <a:buFont typeface="Symbol"/>
              <a:buChar char="•"/>
            </a:pPr>
            <a:r>
              <a:rPr lang="en-US" sz="1000" b="1" dirty="0"/>
              <a:t>Valid values are:</a:t>
            </a:r>
            <a:r>
              <a:rPr lang="en-US" sz="1000" dirty="0"/>
              <a:t> </a:t>
            </a:r>
            <a:r>
              <a:rPr lang="en-US" sz="1000" b="1" dirty="0">
                <a:solidFill>
                  <a:srgbClr val="0070C0"/>
                </a:solidFill>
              </a:rPr>
              <a:t>number &lt; 0  </a:t>
            </a:r>
          </a:p>
          <a:p>
            <a:pPr marL="285750" indent="-285750" algn="just">
              <a:buFont typeface="Symbol"/>
              <a:buChar char="•"/>
            </a:pPr>
            <a:r>
              <a:rPr lang="en-US" sz="1000" b="1"/>
              <a:t>Specificity:</a:t>
            </a:r>
            <a:r>
              <a:rPr lang="en-US" sz="1000"/>
              <a:t> </a:t>
            </a:r>
            <a:r>
              <a:rPr lang="en-US" sz="1200">
                <a:solidFill>
                  <a:srgbClr val="0070C0"/>
                </a:solidFill>
              </a:rPr>
              <a:t>S</a:t>
            </a:r>
            <a:r>
              <a:rPr lang="en-US" sz="1000" b="1">
                <a:solidFill>
                  <a:srgbClr val="0070C0"/>
                </a:solidFill>
              </a:rPr>
              <a:t>TORE </a:t>
            </a:r>
          </a:p>
          <a:p>
            <a:endParaRPr lang="en-US" sz="1000" b="1">
              <a:solidFill>
                <a:schemeClr val="dk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3371523956"/>
      </p:ext>
    </p:extLst>
  </p:cSld>
  <p:clrMapOvr>
    <a:overrideClrMapping bg1="lt1" tx1="dk1" bg2="lt2" tx2="dk2" accent1="accent1" accent2="accent2" accent3="accent3" accent4="accent4" accent5="accent5" accent6="accent6" hlink="hlink" folHlink="folHlink"/>
  </p:clrMapOvr>
</p:sld>
</file>

<file path=ppt/slides/slide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451454"/>
          </a:xfrm>
          <a:prstGeom prst="rect">
            <a:avLst/>
          </a:prstGeom>
          <a:noFill/>
          <a:ln>
            <a:noFill/>
          </a:ln>
        </p:spPr>
        <p:txBody>
          <a:bodyPr spcFirstLastPara="1" wrap="square" lIns="87625" tIns="87625" rIns="87625" bIns="87625" anchor="t" anchorCtr="0">
            <a:noAutofit/>
          </a:bodyPr>
          <a:lstStyle/>
          <a:p>
            <a:r>
              <a:rPr lang="en-US" sz="1100" b="1">
                <a:solidFill>
                  <a:schemeClr val="tx1"/>
                </a:solidFill>
              </a:rPr>
              <a:t>Table:</a:t>
            </a: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endParaRPr lang="en-US" sz="1100" b="1">
              <a:solidFill>
                <a:schemeClr val="tx1"/>
              </a:solidFill>
            </a:endParaRPr>
          </a:p>
          <a:p>
            <a:pPr lvl="4"/>
            <a:r>
              <a:rPr lang="en-US" sz="800"/>
              <a:t>                                                              Table name                :     FOVA_PRICE_CHECK_LIMITS  </a:t>
            </a:r>
          </a:p>
          <a:p>
            <a:pPr lvl="4"/>
            <a:r>
              <a:rPr lang="en-US" sz="800"/>
              <a:t>                                                               Type of table              :     Permanent table  </a:t>
            </a:r>
          </a:p>
          <a:p>
            <a:pPr lvl="4"/>
            <a:r>
              <a:rPr lang="en-US" sz="800"/>
              <a:t>                                                               Schema                      :     VLDPROCESS_XX  </a:t>
            </a:r>
          </a:p>
          <a:p>
            <a:pPr lvl="4"/>
            <a:r>
              <a:rPr lang="en-US" sz="800"/>
              <a:t>                                                               Access Mode              :    Read/Write  </a:t>
            </a:r>
          </a:p>
          <a:p>
            <a:pPr lvl="4"/>
            <a:r>
              <a:rPr lang="en-US" sz="800"/>
              <a:t>                                                               Synonyms                   :    VLDSYS_XX. FOVA_PRICE_CHECK_LIMITS  </a:t>
            </a:r>
          </a:p>
          <a:p>
            <a:pPr lvl="4"/>
            <a:r>
              <a:rPr lang="en-US" sz="800"/>
              <a:t>                                                               Primary key                 :    NC_PERIODID AC_NSHOPID </a:t>
            </a:r>
            <a:endParaRPr lang="en-US"/>
          </a:p>
          <a:p>
            <a:pPr lvl="4"/>
            <a:endParaRPr lang="en-US" sz="800"/>
          </a:p>
          <a:p>
            <a:pPr lvl="4"/>
            <a:r>
              <a:rPr lang="en-US" sz="1200" b="1"/>
              <a:t>Tags:</a:t>
            </a:r>
            <a:r>
              <a:rPr lang="en-US" sz="1200"/>
              <a:t> </a:t>
            </a:r>
          </a:p>
          <a:p>
            <a:pPr lvl="4"/>
            <a:r>
              <a:rPr lang="en-US" sz="1200"/>
              <a:t>  </a:t>
            </a:r>
          </a:p>
          <a:p>
            <a:pPr lvl="4"/>
            <a:r>
              <a:rPr lang="en-US" sz="1200"/>
              <a:t>Added a new MONITORTAG in table MONITORTAGS:  </a:t>
            </a:r>
          </a:p>
          <a:p>
            <a:pPr marL="285750" indent="-285750">
              <a:buChar char="•"/>
            </a:pPr>
            <a:r>
              <a:rPr lang="en-US" sz="1200"/>
              <a:t>AC_MONITORTAG = '361' </a:t>
            </a:r>
          </a:p>
          <a:p>
            <a:pPr marL="285750" indent="-285750">
              <a:buChar char="•"/>
            </a:pPr>
            <a:r>
              <a:rPr lang="en-US" sz="1200"/>
              <a:t>AC_MONITORTAGDESCRIPTION = ‘Price outlier ' </a:t>
            </a:r>
          </a:p>
          <a:p>
            <a:pPr marL="285750" indent="-285750">
              <a:buChar char="•"/>
            </a:pPr>
            <a:r>
              <a:rPr lang="en-US" sz="1200"/>
              <a:t>AC_COMMENT = 'Store was marked as outlier' </a:t>
            </a:r>
          </a:p>
          <a:p>
            <a:pPr lvl="4"/>
            <a:endParaRPr lang="en-US" sz="1200"/>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graphicFrame>
        <p:nvGraphicFramePr>
          <p:cNvPr id="4" name="Table 3">
            <a:extLst>
              <a:ext uri="{FF2B5EF4-FFF2-40B4-BE49-F238E27FC236}">
                <a16:creationId xmlns:a16="http://schemas.microsoft.com/office/drawing/2014/main" id="{D8E44A79-5F79-17A1-B13D-3E8261BF4FBF}"/>
              </a:ext>
            </a:extLst>
          </p:cNvPr>
          <p:cNvGraphicFramePr>
            <a:graphicFrameLocks noGrp="1"/>
          </p:cNvGraphicFramePr>
          <p:nvPr>
            <p:extLst>
              <p:ext uri="{D42A27DB-BD31-4B8C-83A1-F6EECF244321}">
                <p14:modId xmlns:p14="http://schemas.microsoft.com/office/powerpoint/2010/main" val="391246736"/>
              </p:ext>
            </p:extLst>
          </p:nvPr>
        </p:nvGraphicFramePr>
        <p:xfrm>
          <a:off x="525411" y="1096911"/>
          <a:ext cx="7512282" cy="1750060"/>
        </p:xfrm>
        <a:graphic>
          <a:graphicData uri="http://schemas.openxmlformats.org/drawingml/2006/table">
            <a:tbl>
              <a:tblPr firstRow="1" firstCol="1" bandRow="1">
                <a:tableStyleId>{C70574C8-F969-49A7-8605-77D3504E23D5}</a:tableStyleId>
              </a:tblPr>
              <a:tblGrid>
                <a:gridCol w="2847933">
                  <a:extLst>
                    <a:ext uri="{9D8B030D-6E8A-4147-A177-3AD203B41FA5}">
                      <a16:colId xmlns:a16="http://schemas.microsoft.com/office/drawing/2014/main" val="1756995237"/>
                    </a:ext>
                  </a:extLst>
                </a:gridCol>
                <a:gridCol w="894598">
                  <a:extLst>
                    <a:ext uri="{9D8B030D-6E8A-4147-A177-3AD203B41FA5}">
                      <a16:colId xmlns:a16="http://schemas.microsoft.com/office/drawing/2014/main" val="328747697"/>
                    </a:ext>
                  </a:extLst>
                </a:gridCol>
                <a:gridCol w="3769751">
                  <a:extLst>
                    <a:ext uri="{9D8B030D-6E8A-4147-A177-3AD203B41FA5}">
                      <a16:colId xmlns:a16="http://schemas.microsoft.com/office/drawing/2014/main" val="3305897683"/>
                    </a:ext>
                  </a:extLst>
                </a:gridCol>
              </a:tblGrid>
              <a:tr h="242570">
                <a:tc>
                  <a:txBody>
                    <a:bodyPr/>
                    <a:lstStyle/>
                    <a:p>
                      <a:pPr algn="ctr" fontAlgn="base"/>
                      <a:r>
                        <a:rPr lang="en-US" sz="1000">
                          <a:effectLst/>
                        </a:rPr>
                        <a:t>Field </a:t>
                      </a:r>
                      <a:endParaRPr lang="en-US">
                        <a:effectLst/>
                      </a:endParaRPr>
                    </a:p>
                  </a:txBody>
                  <a:tcPr marL="0" marR="0"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fontAlgn="base"/>
                      <a:r>
                        <a:rPr lang="en-US" sz="1000">
                          <a:effectLst/>
                        </a:rPr>
                        <a:t>Type </a:t>
                      </a:r>
                      <a:endParaRPr lang="en-US">
                        <a:effectLst/>
                      </a:endParaRPr>
                    </a:p>
                  </a:txBody>
                  <a:tcPr marL="0" marR="0"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fontAlgn="base"/>
                      <a:r>
                        <a:rPr lang="en-US" sz="1000">
                          <a:effectLst/>
                        </a:rPr>
                        <a:t>Comment </a:t>
                      </a:r>
                      <a:endParaRPr lang="en-US">
                        <a:effectLst/>
                      </a:endParaRPr>
                    </a:p>
                  </a:txBody>
                  <a:tcPr marL="0" marR="0"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1265211064"/>
                  </a:ext>
                </a:extLst>
              </a:tr>
              <a:tr h="242570">
                <a:tc>
                  <a:txBody>
                    <a:bodyPr/>
                    <a:lstStyle/>
                    <a:p>
                      <a:pPr algn="ctr" fontAlgn="base"/>
                      <a:r>
                        <a:rPr lang="en-US" sz="900">
                          <a:effectLst/>
                        </a:rPr>
                        <a:t>NC_PERIODID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NUMBER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172636138"/>
                  </a:ext>
                </a:extLst>
              </a:tr>
              <a:tr h="157480">
                <a:tc>
                  <a:txBody>
                    <a:bodyPr/>
                    <a:lstStyle/>
                    <a:p>
                      <a:pPr algn="ctr" fontAlgn="base"/>
                      <a:r>
                        <a:rPr lang="en-US" sz="900">
                          <a:effectLst/>
                        </a:rPr>
                        <a:t>AC_NSHOPID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08456497"/>
                  </a:ext>
                </a:extLst>
              </a:tr>
              <a:tr h="157480">
                <a:tc>
                  <a:txBody>
                    <a:bodyPr/>
                    <a:lstStyle/>
                    <a:p>
                      <a:pPr algn="ctr" fontAlgn="base"/>
                      <a:r>
                        <a:rPr lang="en-US" sz="900">
                          <a:effectLst/>
                        </a:rPr>
                        <a:t>NC_NB_ITEMS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INTEGER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65481902"/>
                  </a:ext>
                </a:extLst>
              </a:tr>
              <a:tr h="157480">
                <a:tc>
                  <a:txBody>
                    <a:bodyPr/>
                    <a:lstStyle/>
                    <a:p>
                      <a:pPr algn="ctr" fontAlgn="base"/>
                      <a:r>
                        <a:rPr lang="en-US" sz="900">
                          <a:effectLst/>
                        </a:rPr>
                        <a:t>NC_NB_ITEMS_PRICE_CHANGE_OVER_LIMIT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INTEGER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370394440"/>
                  </a:ext>
                </a:extLst>
              </a:tr>
              <a:tr h="157480">
                <a:tc>
                  <a:txBody>
                    <a:bodyPr/>
                    <a:lstStyle/>
                    <a:p>
                      <a:pPr algn="ctr" fontAlgn="base"/>
                      <a:r>
                        <a:rPr lang="en-US" sz="900">
                          <a:effectLst/>
                        </a:rPr>
                        <a:t>NC_PCT_ITEMS_PRICE_CHANGE_OVER_LIMIT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NUMEBR </a:t>
                      </a:r>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fontAlgn="base"/>
                      <a:r>
                        <a:rPr lang="en-US" sz="900">
                          <a:effectLst/>
                        </a:rPr>
                        <a:t>NC_PCT_ITEMS_PRICE_CHANGE_OVER_LIMIT as round(NC_NB_ITEMS_PRICE_CHANGE_OVER_LIMIT / NC_NB_ITEMS, 2) </a:t>
                      </a:r>
                      <a:endParaRPr lang="en-US">
                        <a:effectLst/>
                      </a:endParaRPr>
                    </a:p>
                    <a:p>
                      <a:pPr algn="ctr" fontAlgn="base"/>
                      <a:endParaRPr lang="en-US">
                        <a:effectLst/>
                      </a:endParaRPr>
                    </a:p>
                  </a:txBody>
                  <a:tcPr marL="0" marR="0" marT="0" marB="0" anchor="b">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548075182"/>
                  </a:ext>
                </a:extLst>
              </a:tr>
            </a:tbl>
          </a:graphicData>
        </a:graphic>
      </p:graphicFrame>
    </p:spTree>
    <p:extLst>
      <p:ext uri="{BB962C8B-B14F-4D97-AF65-F5344CB8AC3E}">
        <p14:creationId xmlns:p14="http://schemas.microsoft.com/office/powerpoint/2010/main" val="964146676"/>
      </p:ext>
    </p:extLst>
  </p:cSld>
  <p:clrMapOvr>
    <a:overrideClrMapping bg1="lt1" tx1="dk1" bg2="lt2" tx2="dk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451454"/>
          </a:xfrm>
          <a:prstGeom prst="rect">
            <a:avLst/>
          </a:prstGeom>
          <a:noFill/>
          <a:ln>
            <a:noFill/>
          </a:ln>
        </p:spPr>
        <p:txBody>
          <a:bodyPr spcFirstLastPara="1" wrap="square" lIns="87625" tIns="87625" rIns="87625" bIns="87625" anchor="t" anchorCtr="0">
            <a:noAutofit/>
          </a:bodyPr>
          <a:lstStyle/>
          <a:p>
            <a:r>
              <a:rPr lang="en-US" sz="1100" b="1"/>
              <a:t>e-Forte Report: </a:t>
            </a:r>
            <a:r>
              <a:rPr lang="en-US" sz="1100"/>
              <a:t> </a:t>
            </a:r>
            <a:endParaRPr lang="en-US"/>
          </a:p>
          <a:p>
            <a:r>
              <a:rPr lang="en-US" sz="1100"/>
              <a:t>  </a:t>
            </a:r>
            <a:endParaRPr lang="en-US"/>
          </a:p>
          <a:p>
            <a:r>
              <a:rPr lang="en-US" sz="1100"/>
              <a:t>There is a new e-Forte report is introduced which will provide the information that retailer/chain is price outlier or not using cut off mentioned in the report extraction. </a:t>
            </a:r>
            <a:endParaRPr lang="en-US"/>
          </a:p>
          <a:p>
            <a:r>
              <a:rPr lang="en-US" sz="1100"/>
              <a:t>  </a:t>
            </a:r>
            <a:endParaRPr lang="en-US"/>
          </a:p>
          <a:p>
            <a:pPr marL="285750" indent="-285750">
              <a:buChar char="•"/>
            </a:pPr>
            <a:r>
              <a:rPr lang="en-US" sz="1100"/>
              <a:t>Title of e-forte report: FOVA price outliers chain status </a:t>
            </a:r>
            <a:endParaRPr lang="en-US"/>
          </a:p>
          <a:p>
            <a:pPr marL="285750" indent="-285750">
              <a:buChar char="•"/>
            </a:pPr>
            <a:r>
              <a:rPr lang="en-US" sz="1100"/>
              <a:t>Report id: 1001494</a:t>
            </a:r>
            <a:endParaRPr lang="en-US"/>
          </a:p>
          <a:p>
            <a:pPr marL="285750" indent="-285750">
              <a:buChar char="•"/>
            </a:pPr>
            <a:r>
              <a:rPr lang="en-US" sz="1100"/>
              <a:t>Parameters: </a:t>
            </a:r>
            <a:endParaRPr lang="en-US"/>
          </a:p>
          <a:p>
            <a:pPr marL="285750" lvl="1" indent="-285750">
              <a:buChar char="•"/>
            </a:pPr>
            <a:r>
              <a:rPr lang="en-US" sz="1100"/>
              <a:t>Country </a:t>
            </a:r>
            <a:endParaRPr lang="en-US"/>
          </a:p>
          <a:p>
            <a:pPr marL="285750" lvl="1" indent="-285750">
              <a:buChar char="•"/>
            </a:pPr>
            <a:r>
              <a:rPr lang="en-US" sz="1100"/>
              <a:t>Period </a:t>
            </a:r>
            <a:endParaRPr lang="en-US"/>
          </a:p>
          <a:p>
            <a:pPr marL="285750" lvl="1" indent="-285750">
              <a:buChar char="•"/>
            </a:pPr>
            <a:r>
              <a:rPr lang="en-US" sz="1100"/>
              <a:t>Threshold (default 3%) </a:t>
            </a:r>
            <a:endParaRPr lang="en-US"/>
          </a:p>
          <a:p>
            <a:pPr lvl="1"/>
            <a:endParaRPr lang="en-US" sz="1100">
              <a:solidFill>
                <a:schemeClr val="tx1"/>
              </a:solidFill>
            </a:endParaRPr>
          </a:p>
          <a:p>
            <a:endParaRPr lang="en-US" sz="1100" b="1">
              <a:solidFill>
                <a:schemeClr val="tx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4" descr="Graphical user interface, text, application, email&#10;&#10;Description automatically generated">
            <a:extLst>
              <a:ext uri="{FF2B5EF4-FFF2-40B4-BE49-F238E27FC236}">
                <a16:creationId xmlns:a16="http://schemas.microsoft.com/office/drawing/2014/main" id="{A2982EC3-C647-61B3-E246-E8FFF1A40943}"/>
              </a:ext>
            </a:extLst>
          </p:cNvPr>
          <p:cNvPicPr>
            <a:picLocks noChangeAspect="1"/>
          </p:cNvPicPr>
          <p:nvPr/>
        </p:nvPicPr>
        <p:blipFill>
          <a:blip r:embed="rId4"/>
          <a:stretch>
            <a:fillRect/>
          </a:stretch>
        </p:blipFill>
        <p:spPr>
          <a:xfrm>
            <a:off x="3200400" y="1920819"/>
            <a:ext cx="5351820" cy="2611648"/>
          </a:xfrm>
          <a:prstGeom prst="rect">
            <a:avLst/>
          </a:prstGeom>
        </p:spPr>
      </p:pic>
    </p:spTree>
    <p:extLst>
      <p:ext uri="{BB962C8B-B14F-4D97-AF65-F5344CB8AC3E}">
        <p14:creationId xmlns:p14="http://schemas.microsoft.com/office/powerpoint/2010/main" val="4013145022"/>
      </p:ext>
    </p:extLst>
  </p:cSld>
  <p:clrMapOvr>
    <a:overrideClrMapping bg1="lt1" tx1="dk1" bg2="lt2" tx2="dk2" accent1="accent1" accent2="accent2" accent3="accent3" accent4="accent4" accent5="accent5" accent6="accent6" hlink="hlink" folHlink="folHlink"/>
  </p:clrMapOvr>
</p:sld>
</file>

<file path=ppt/slides/slide4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24442 - FOVA Price Change Enhancement:</a:t>
            </a:r>
            <a:endParaRPr lang="en" sz="2400" i="0" u="none" strike="noStrike" cap="none">
              <a:solidFill>
                <a:schemeClr val="dk1"/>
              </a:solidFill>
            </a:endParaRPr>
          </a:p>
        </p:txBody>
      </p:sp>
      <p:sp>
        <p:nvSpPr>
          <p:cNvPr id="1019" name="Google Shape;1019;p130"/>
          <p:cNvSpPr txBox="1"/>
          <p:nvPr/>
        </p:nvSpPr>
        <p:spPr>
          <a:xfrm>
            <a:off x="291775" y="625251"/>
            <a:ext cx="8747100" cy="4451454"/>
          </a:xfrm>
          <a:prstGeom prst="rect">
            <a:avLst/>
          </a:prstGeom>
          <a:noFill/>
          <a:ln>
            <a:noFill/>
          </a:ln>
        </p:spPr>
        <p:txBody>
          <a:bodyPr spcFirstLastPara="1" wrap="square" lIns="87625" tIns="87625" rIns="87625" bIns="87625" anchor="t" anchorCtr="0">
            <a:noAutofit/>
          </a:bodyPr>
          <a:lstStyle/>
          <a:p>
            <a:r>
              <a:rPr lang="en-US" sz="1100" b="1"/>
              <a:t>e-Forte Report: </a:t>
            </a:r>
            <a:r>
              <a:rPr lang="en-US" sz="1100"/>
              <a:t> </a:t>
            </a:r>
            <a:endParaRPr lang="en-US"/>
          </a:p>
          <a:p>
            <a:r>
              <a:rPr lang="en-US" sz="1100"/>
              <a:t>  </a:t>
            </a:r>
            <a:endParaRPr lang="en-US"/>
          </a:p>
          <a:p>
            <a:r>
              <a:rPr lang="en-US" sz="1100"/>
              <a:t>Output of the report: </a:t>
            </a:r>
            <a:endParaRPr lang="en-US"/>
          </a:p>
          <a:p>
            <a:endParaRPr lang="en-US" sz="1100">
              <a:solidFill>
                <a:schemeClr val="tx1"/>
              </a:solidFill>
            </a:endParaRPr>
          </a:p>
          <a:p>
            <a:endParaRPr lang="en-US" sz="1100" b="1">
              <a:solidFill>
                <a:schemeClr val="tx1"/>
              </a:solidFill>
            </a:endParaRP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4" name="Picture 4" descr="Table&#10;&#10;Description automatically generated">
            <a:extLst>
              <a:ext uri="{FF2B5EF4-FFF2-40B4-BE49-F238E27FC236}">
                <a16:creationId xmlns:a16="http://schemas.microsoft.com/office/drawing/2014/main" id="{1184F8E1-D7A5-E3E9-5049-50D3949D890A}"/>
              </a:ext>
            </a:extLst>
          </p:cNvPr>
          <p:cNvPicPr>
            <a:picLocks noChangeAspect="1"/>
          </p:cNvPicPr>
          <p:nvPr/>
        </p:nvPicPr>
        <p:blipFill>
          <a:blip r:embed="rId4"/>
          <a:stretch>
            <a:fillRect/>
          </a:stretch>
        </p:blipFill>
        <p:spPr>
          <a:xfrm>
            <a:off x="402815" y="1398767"/>
            <a:ext cx="5278079" cy="2387444"/>
          </a:xfrm>
          <a:prstGeom prst="rect">
            <a:avLst/>
          </a:prstGeom>
        </p:spPr>
      </p:pic>
      <p:sp>
        <p:nvSpPr>
          <p:cNvPr id="5" name="TextBox 4">
            <a:extLst>
              <a:ext uri="{FF2B5EF4-FFF2-40B4-BE49-F238E27FC236}">
                <a16:creationId xmlns:a16="http://schemas.microsoft.com/office/drawing/2014/main" id="{0947F934-5ACE-FF41-AE14-1A685441A2F4}"/>
              </a:ext>
            </a:extLst>
          </p:cNvPr>
          <p:cNvSpPr txBox="1"/>
          <p:nvPr/>
        </p:nvSpPr>
        <p:spPr>
          <a:xfrm>
            <a:off x="5982315" y="1341181"/>
            <a:ext cx="2590184" cy="2246769"/>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a:t>Here,  </a:t>
            </a:r>
          </a:p>
          <a:p>
            <a:pPr marL="285750" indent="-285750">
              <a:buChar char="•"/>
            </a:pPr>
            <a:r>
              <a:rPr lang="en-US" sz="1000"/>
              <a:t>FBD = AC_IBD &amp; Chain = Store chain </a:t>
            </a:r>
          </a:p>
          <a:p>
            <a:pPr marL="285750" indent="-285750">
              <a:buChar char="•"/>
            </a:pPr>
            <a:r>
              <a:rPr lang="en-US" sz="1000"/>
              <a:t>Total Stores = </a:t>
            </a:r>
            <a:r>
              <a:rPr lang="en-US" sz="1000" err="1"/>
              <a:t>Fova</a:t>
            </a:r>
            <a:r>
              <a:rPr lang="en-US" sz="1000"/>
              <a:t> count </a:t>
            </a:r>
          </a:p>
          <a:p>
            <a:pPr marL="285750" indent="-285750">
              <a:buChar char="•"/>
            </a:pPr>
            <a:r>
              <a:rPr lang="en-US" sz="1000"/>
              <a:t>PRICE_OUTLIERS = Outlier stores count. </a:t>
            </a:r>
          </a:p>
          <a:p>
            <a:pPr marL="285750" indent="-285750">
              <a:buChar char="•"/>
            </a:pPr>
            <a:r>
              <a:rPr lang="en-US" sz="1000"/>
              <a:t>PCT_OUTLIERS = PRICE_OUTLIERS / TOTAL_STORES.</a:t>
            </a:r>
          </a:p>
          <a:p>
            <a:pPr marL="285750" indent="-285750">
              <a:buChar char="•"/>
            </a:pPr>
            <a:r>
              <a:rPr lang="en-US" sz="1000"/>
              <a:t>Chain Status = When PRICE_OUTLIERS / TOTAL_STORES &gt; “threshold” then Q else OK.</a:t>
            </a:r>
          </a:p>
          <a:p>
            <a:pPr algn="l"/>
            <a:endParaRPr lang="en-US" sz="1000"/>
          </a:p>
        </p:txBody>
      </p:sp>
    </p:spTree>
    <p:extLst>
      <p:ext uri="{BB962C8B-B14F-4D97-AF65-F5344CB8AC3E}">
        <p14:creationId xmlns:p14="http://schemas.microsoft.com/office/powerpoint/2010/main" val="3935094349"/>
      </p:ext>
    </p:extLst>
  </p:cSld>
  <p:clrMapOvr>
    <a:overrideClrMapping bg1="lt1" tx1="dk1" bg2="lt2" tx2="dk2" accent1="accent1" accent2="accent2" accent3="accent3" accent4="accent4" accent5="accent5" accent6="accent6" hlink="hlink" folHlink="folHlink"/>
  </p:clrMapOvr>
</p:sld>
</file>

<file path=ppt/slides/slide4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287166" y="689775"/>
            <a:ext cx="8747100" cy="4451454"/>
          </a:xfrm>
          <a:prstGeom prst="rect">
            <a:avLst/>
          </a:prstGeom>
          <a:noFill/>
          <a:ln>
            <a:noFill/>
          </a:ln>
        </p:spPr>
        <p:txBody>
          <a:bodyPr spcFirstLastPara="1" wrap="square" lIns="87625" tIns="87625" rIns="87625" bIns="87625" anchor="t" anchorCtr="0">
            <a:noAutofit/>
          </a:bodyPr>
          <a:lstStyle/>
          <a:p>
            <a:r>
              <a:rPr lang="en-US" sz="1100"/>
              <a:t>Currently the FOVA process is using a simple logic to identify missing days in Daily Data: </a:t>
            </a:r>
            <a:endParaRPr lang="en-US"/>
          </a:p>
          <a:p>
            <a:endParaRPr lang="en-US" sz="1100"/>
          </a:p>
          <a:p>
            <a:pPr marL="171450" indent="-171450">
              <a:buChar char="•"/>
            </a:pPr>
            <a:r>
              <a:rPr lang="en-US" sz="1100"/>
              <a:t>Checking if Daily Data is Available for the store</a:t>
            </a:r>
            <a:endParaRPr lang="en-US"/>
          </a:p>
          <a:p>
            <a:pPr marL="171450" indent="-171450">
              <a:buChar char="•"/>
            </a:pPr>
            <a:r>
              <a:rPr lang="en-US" sz="1100"/>
              <a:t>If Daily Data are available, then a day is marked as missing if:</a:t>
            </a:r>
            <a:endParaRPr lang="en-US"/>
          </a:p>
          <a:p>
            <a:pPr marL="228600" lvl="6" indent="-228600">
              <a:buAutoNum type="arabicPeriod"/>
            </a:pPr>
            <a:r>
              <a:rPr lang="en-US" sz="1100"/>
              <a:t>it has 0 sales </a:t>
            </a:r>
            <a:endParaRPr lang="en-US"/>
          </a:p>
          <a:p>
            <a:pPr marL="228600" lvl="6" indent="-228600">
              <a:buAutoNum type="arabicPeriod"/>
            </a:pPr>
            <a:r>
              <a:rPr lang="en-US" sz="1100"/>
              <a:t>and it was expected to receive data for that day (based on EXPECTED_DAYS parameter)</a:t>
            </a:r>
            <a:endParaRPr lang="en-US"/>
          </a:p>
          <a:p>
            <a:endParaRPr lang="en-US" sz="1100"/>
          </a:p>
          <a:p>
            <a:r>
              <a:rPr lang="en-US" sz="1100"/>
              <a:t>Defining the EXPECTED_DAYS parameter is not user friendly. In addition, the existing logic doesn’t consider any historical daily data as part of the decision making. Furthermore, in case we have missing daily data, then there is no system suggestion on how the data can be modified to arrive to valid situation. </a:t>
            </a:r>
            <a:endParaRPr lang="en-US"/>
          </a:p>
          <a:p>
            <a:endParaRPr lang="en-US" sz="1100"/>
          </a:p>
          <a:p>
            <a:r>
              <a:rPr lang="en-US" sz="1100"/>
              <a:t>A new algorithm is added in FOVA process to enhance the daily data validation logic with a new algorithm. This algorithm is based on the store holiday calendar already available in SIRVAL, as well as historical daily data for the store. Based on these inputs, it identifies for which days we have missing daily data and suggest a factor that can be applied on the raw data to make the shop valid. </a:t>
            </a:r>
            <a:endParaRPr lang="en-US"/>
          </a:p>
          <a:p>
            <a:r>
              <a:rPr lang="en-US" sz="1100">
                <a:solidFill>
                  <a:schemeClr val="tx1"/>
                </a:solidFill>
              </a:rPr>
              <a:t>  </a:t>
            </a:r>
            <a:endParaRPr lang="en-US"/>
          </a:p>
          <a:p>
            <a:r>
              <a:rPr lang="en-US" sz="1100">
                <a:solidFill>
                  <a:schemeClr val="tx1"/>
                </a:solidFill>
              </a:rPr>
              <a:t>A new logic is added in FOVA to enhance the current logic with a new algorithm if historical data is available for the store. </a:t>
            </a:r>
          </a:p>
          <a:p>
            <a:endParaRPr lang="en-US" sz="1100">
              <a:solidFill>
                <a:schemeClr val="tx1"/>
              </a:solidFill>
            </a:endParaRPr>
          </a:p>
          <a:p>
            <a:endParaRPr lang="en-US"/>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3220228363"/>
      </p:ext>
    </p:extLst>
  </p:cSld>
  <p:clrMapOvr>
    <a:overrideClrMapping bg1="lt1" tx1="dk1" bg2="lt2" tx2="dk2" accent1="accent1" accent2="accent2" accent3="accent3" accent4="accent4" accent5="accent5" accent6="accent6" hlink="hlink" folHlink="folHlink"/>
  </p:clrMapOvr>
</p:sld>
</file>

<file path=ppt/slides/slide5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287166" y="689775"/>
            <a:ext cx="8747100" cy="4451454"/>
          </a:xfrm>
          <a:prstGeom prst="rect">
            <a:avLst/>
          </a:prstGeom>
          <a:noFill/>
          <a:ln>
            <a:noFill/>
          </a:ln>
        </p:spPr>
        <p:txBody>
          <a:bodyPr spcFirstLastPara="1" wrap="square" lIns="87625" tIns="87625" rIns="87625" bIns="87625" anchor="t" anchorCtr="0">
            <a:noAutofit/>
          </a:bodyPr>
          <a:lstStyle/>
          <a:p>
            <a:r>
              <a:rPr lang="en" sz="1100"/>
              <a:t>The new logic is driven by the below new process parameters:</a:t>
            </a:r>
            <a:r>
              <a:rPr lang="en-US" sz="1100"/>
              <a:t> </a:t>
            </a:r>
          </a:p>
          <a:p>
            <a:pPr marL="285750" indent="-285750">
              <a:buFont typeface="Arial,Sans-Serif"/>
              <a:buChar char="•"/>
            </a:pPr>
            <a:r>
              <a:rPr lang="en" sz="1100"/>
              <a:t>DAILY_DATA_FACTOR_SUGGESTION - Y/N - Whether to run the new algorithm to identify missing days in daily data and calculate an expansion factor</a:t>
            </a:r>
            <a:endParaRPr lang="en-US" sz="1100"/>
          </a:p>
          <a:p>
            <a:pPr marL="285750" indent="-285750">
              <a:buFont typeface="Arial,Sans-Serif"/>
              <a:buChar char="•"/>
            </a:pPr>
            <a:r>
              <a:rPr lang="en" sz="1100"/>
              <a:t>DAILY_DATA_FACTOR_HISTORY_WEEKS - Number - default 52 - Number of historical weeks to consider for daily data validation</a:t>
            </a:r>
            <a:endParaRPr lang="en-US" sz="1100"/>
          </a:p>
          <a:p>
            <a:pPr marL="285750" indent="-285750">
              <a:buFont typeface="Arial,Sans-Serif"/>
              <a:buChar char="•"/>
            </a:pPr>
            <a:r>
              <a:rPr lang="en" sz="1100"/>
              <a:t>DAILY_DATA_FACTOR_MIN_AVAILABLE_WEEKS – Number default 4 – Minimum number of historical weeks with correct daily data for the new logic to run (Data good)</a:t>
            </a:r>
            <a:endParaRPr lang="en-US" sz="1100"/>
          </a:p>
          <a:p>
            <a:endParaRPr lang="en-US" sz="1100"/>
          </a:p>
          <a:p>
            <a:r>
              <a:rPr lang="en-US" sz="1100"/>
              <a:t>The new process will require historical data to be used, and the number of weeks considered will be defined based on parameter DAILY_DATA_FACTOR_HISTORY_WEEKS. A validation will be </a:t>
            </a:r>
            <a:r>
              <a:rPr lang="en-US" sz="1100">
                <a:solidFill>
                  <a:schemeClr val="tx1"/>
                </a:solidFill>
              </a:rPr>
              <a:t>added in the beginning of </a:t>
            </a:r>
            <a:r>
              <a:rPr lang="en-US" sz="1100"/>
              <a:t>the FOVA process so that: </a:t>
            </a:r>
            <a:endParaRPr lang="en-US"/>
          </a:p>
          <a:p>
            <a:endParaRPr lang="en-US" sz="1100"/>
          </a:p>
          <a:p>
            <a:pPr marL="171450" indent="-171450">
              <a:buChar char="•"/>
            </a:pPr>
            <a:r>
              <a:rPr lang="en-US" sz="1100"/>
              <a:t>If parameter DAILY_DATA = Y and</a:t>
            </a:r>
            <a:endParaRPr lang="en-US"/>
          </a:p>
          <a:p>
            <a:pPr marL="171450" indent="-171450">
              <a:buChar char="•"/>
            </a:pPr>
            <a:r>
              <a:rPr lang="en-US" sz="1100"/>
              <a:t>If parameter DAILY_DATA_FACTOR_SUGGESTION = Y and</a:t>
            </a:r>
            <a:endParaRPr lang="en-US"/>
          </a:p>
          <a:p>
            <a:pPr marL="171450" indent="-171450">
              <a:buChar char="•"/>
            </a:pPr>
            <a:r>
              <a:rPr lang="en-US" sz="1100"/>
              <a:t>If we have in table DAILYDATA_INFO for the specific shop less than DAILY_DATA_FACTOR_MIN_AVAILABLE_WEEKS periods in the last DAILY_DATA_FACTOR_HISTORY_WEEKS periods (only periods for which the store was validated as OK will be considered when reading DAILYDATA_INFO) then a log message will be written and FOVA will continue with the old way of validating the daily data (I.e., as if DAILY_DATA_FACTOR_SUGGESTION = N).</a:t>
            </a:r>
            <a:endParaRPr lang="en-US"/>
          </a:p>
          <a:p>
            <a:r>
              <a:rPr lang="en-US" sz="1100">
                <a:solidFill>
                  <a:schemeClr val="tx1"/>
                </a:solidFill>
              </a:rPr>
              <a:t>  </a:t>
            </a:r>
            <a:endParaRPr lang="en-US"/>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3690279474"/>
      </p:ext>
    </p:extLst>
  </p:cSld>
  <p:clrMapOvr>
    <a:overrideClrMapping bg1="lt1" tx1="dk1" bg2="lt2" tx2="dk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328646" y="648295"/>
            <a:ext cx="8747100" cy="4451454"/>
          </a:xfrm>
          <a:prstGeom prst="rect">
            <a:avLst/>
          </a:prstGeom>
          <a:noFill/>
          <a:ln>
            <a:noFill/>
          </a:ln>
        </p:spPr>
        <p:txBody>
          <a:bodyPr spcFirstLastPara="1" wrap="square" lIns="87625" tIns="87625" rIns="87625" bIns="87625" anchor="t" anchorCtr="0">
            <a:noAutofit/>
          </a:bodyPr>
          <a:lstStyle/>
          <a:p>
            <a:r>
              <a:rPr lang="en" sz="1100"/>
              <a:t>If we do have appropriate historical daily data available, then the system will proceed to perform the steps below based on new logic:</a:t>
            </a:r>
            <a:r>
              <a:rPr lang="en-US" sz="1100"/>
              <a:t> </a:t>
            </a:r>
            <a:endParaRPr lang="en-US"/>
          </a:p>
          <a:p>
            <a:r>
              <a:rPr lang="en" sz="1100"/>
              <a:t> </a:t>
            </a:r>
            <a:r>
              <a:rPr lang="en-US" sz="1100"/>
              <a:t> </a:t>
            </a:r>
            <a:endParaRPr lang="en-US"/>
          </a:p>
          <a:p>
            <a:pPr marL="285750" indent="-285750">
              <a:buChar char="•"/>
            </a:pPr>
            <a:r>
              <a:rPr lang="en" sz="1100"/>
              <a:t>Calculate the probability for the store to have sales on each day of the week using the historical daily data</a:t>
            </a:r>
            <a:endParaRPr lang="en-US"/>
          </a:p>
          <a:p>
            <a:pPr marL="285750" indent="-285750">
              <a:buChar char="•"/>
            </a:pPr>
            <a:r>
              <a:rPr lang="en" sz="1100"/>
              <a:t>Calculate the number of expected days for the week by summing up the probabilities of each day</a:t>
            </a:r>
            <a:endParaRPr lang="en-US"/>
          </a:p>
          <a:p>
            <a:pPr marL="285750" indent="-285750">
              <a:buChar char="•"/>
            </a:pPr>
            <a:r>
              <a:rPr lang="en" sz="1100"/>
              <a:t>Calculate the importance / share of each day in the week, based on the historical data</a:t>
            </a:r>
            <a:endParaRPr lang="en-US"/>
          </a:p>
          <a:p>
            <a:pPr marL="285750" indent="-285750">
              <a:buChar char="•"/>
            </a:pPr>
            <a:r>
              <a:rPr lang="en" sz="1100"/>
              <a:t>If number of expected days is equal to days received, then continue with the FOVA</a:t>
            </a:r>
            <a:endParaRPr lang="en-US"/>
          </a:p>
          <a:p>
            <a:pPr marL="285750" indent="-285750">
              <a:buChar char="•"/>
            </a:pPr>
            <a:r>
              <a:rPr lang="en" sz="1100"/>
              <a:t>If the number of days received is NOT equal to expected days, calculate the number of missing days</a:t>
            </a:r>
            <a:endParaRPr lang="en-US"/>
          </a:p>
          <a:p>
            <a:pPr marL="285750" indent="-285750">
              <a:buChar char="•"/>
            </a:pPr>
            <a:r>
              <a:rPr lang="en" sz="1100"/>
              <a:t>Based on number of missing days, iterate over the days for which we have not received data based on probability descending and perform the below actions:</a:t>
            </a:r>
            <a:endParaRPr lang="en-US"/>
          </a:p>
          <a:p>
            <a:pPr marL="285750" lvl="1" indent="-285750">
              <a:buChar char="•"/>
            </a:pPr>
            <a:r>
              <a:rPr lang="en" sz="1100"/>
              <a:t>Check against Holiday calendar (PUBLIC_HOLIDAYS table) if the missing day was holiday/special event. If the day is on calendar special/event, then consider that this day is not really missing </a:t>
            </a:r>
            <a:endParaRPr lang="en-US"/>
          </a:p>
          <a:p>
            <a:pPr marL="285750" lvl="1" indent="-285750">
              <a:buChar char="•"/>
            </a:pPr>
            <a:r>
              <a:rPr lang="en" sz="1100"/>
              <a:t>If the missing day is not on holiday/special event, then flag the day as really missing</a:t>
            </a:r>
            <a:endParaRPr lang="en-US"/>
          </a:p>
          <a:p>
            <a:pPr lvl="1"/>
            <a:endParaRPr lang="en" sz="1100"/>
          </a:p>
          <a:p>
            <a:r>
              <a:rPr lang="en" sz="1100"/>
              <a:t>If eventually we have any days missing that cannot be justified based on holiday calendar, then a factor is calculated that should be applied in the raw data to expand it. The factor will be calculated based on the importance / share of the days identified as missing from the logic above.</a:t>
            </a:r>
            <a:endParaRPr lang="en-US"/>
          </a:p>
          <a:p>
            <a:endParaRPr lang="en" sz="1100"/>
          </a:p>
          <a:p>
            <a:r>
              <a:rPr lang="en" sz="1100" u="sng"/>
              <a:t>Example:</a:t>
            </a: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3" descr="Table&#10;&#10;Description automatically generated">
            <a:extLst>
              <a:ext uri="{FF2B5EF4-FFF2-40B4-BE49-F238E27FC236}">
                <a16:creationId xmlns:a16="http://schemas.microsoft.com/office/drawing/2014/main" id="{061380DF-5F73-E0AF-1F64-8BDC790D8739}"/>
              </a:ext>
            </a:extLst>
          </p:cNvPr>
          <p:cNvPicPr>
            <a:picLocks noChangeAspect="1"/>
          </p:cNvPicPr>
          <p:nvPr/>
        </p:nvPicPr>
        <p:blipFill>
          <a:blip r:embed="rId4"/>
          <a:stretch>
            <a:fillRect/>
          </a:stretch>
        </p:blipFill>
        <p:spPr>
          <a:xfrm>
            <a:off x="402815" y="3792310"/>
            <a:ext cx="5310341" cy="1163017"/>
          </a:xfrm>
          <a:prstGeom prst="rect">
            <a:avLst/>
          </a:prstGeom>
        </p:spPr>
      </p:pic>
      <p:sp>
        <p:nvSpPr>
          <p:cNvPr id="4" name="TextBox 3">
            <a:extLst>
              <a:ext uri="{FF2B5EF4-FFF2-40B4-BE49-F238E27FC236}">
                <a16:creationId xmlns:a16="http://schemas.microsoft.com/office/drawing/2014/main" id="{EA92E124-C04A-0A04-0B90-C191EFBE6E19}"/>
              </a:ext>
            </a:extLst>
          </p:cNvPr>
          <p:cNvSpPr txBox="1"/>
          <p:nvPr/>
        </p:nvSpPr>
        <p:spPr>
          <a:xfrm>
            <a:off x="5986924" y="3749316"/>
            <a:ext cx="2910501" cy="769441"/>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1100"/>
              <a:t>Here, factor is calculated as below:</a:t>
            </a:r>
            <a:r>
              <a:rPr lang="en-US" sz="1100"/>
              <a:t> </a:t>
            </a:r>
          </a:p>
          <a:p>
            <a:r>
              <a:rPr lang="en" sz="1100"/>
              <a:t>Factor = 1+ (1- total shares of received data)/ total shares of received data</a:t>
            </a:r>
            <a:r>
              <a:rPr lang="en-US" sz="1100"/>
              <a:t> </a:t>
            </a:r>
          </a:p>
          <a:p>
            <a:r>
              <a:rPr lang="en" sz="1100"/>
              <a:t>            = 1+(1-0.728/0.728)</a:t>
            </a:r>
            <a:r>
              <a:rPr lang="en-US" sz="1100"/>
              <a:t> </a:t>
            </a:r>
            <a:r>
              <a:rPr lang="en" sz="1100"/>
              <a:t>            = 1.374</a:t>
            </a:r>
            <a:endParaRPr lang="en-US" sz="1100"/>
          </a:p>
        </p:txBody>
      </p:sp>
    </p:spTree>
    <p:extLst>
      <p:ext uri="{BB962C8B-B14F-4D97-AF65-F5344CB8AC3E}">
        <p14:creationId xmlns:p14="http://schemas.microsoft.com/office/powerpoint/2010/main" val="2722613140"/>
      </p:ext>
    </p:extLst>
  </p:cSld>
  <p:clrMapOvr>
    <a:overrideClrMapping bg1="lt1" tx1="dk1" bg2="lt2" tx2="dk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328646" y="648295"/>
            <a:ext cx="8747100" cy="4451454"/>
          </a:xfrm>
          <a:prstGeom prst="rect">
            <a:avLst/>
          </a:prstGeom>
          <a:noFill/>
          <a:ln>
            <a:noFill/>
          </a:ln>
        </p:spPr>
        <p:txBody>
          <a:bodyPr spcFirstLastPara="1" wrap="square" lIns="87625" tIns="87625" rIns="87625" bIns="87625" anchor="t" anchorCtr="0">
            <a:noAutofit/>
          </a:bodyPr>
          <a:lstStyle/>
          <a:p>
            <a:r>
              <a:rPr lang="en" sz="1100"/>
              <a:t>As part of the above logic/mentioned steps, in case we have any days with missing daily data, and a factor has been calculated, then in all subsequent steps that FOVA is reading raw data, the SLOT1 and SLOT2 columns will be multiplied with this factor. This will allow the FOVA process to continue assuming that the daily data received did not have any gaps. </a:t>
            </a:r>
            <a:endParaRPr lang="en-US"/>
          </a:p>
          <a:p>
            <a:r>
              <a:rPr lang="en" sz="1100"/>
              <a:t> </a:t>
            </a:r>
            <a:r>
              <a:rPr lang="en-US" sz="1100"/>
              <a:t> </a:t>
            </a:r>
            <a:endParaRPr lang="en-US"/>
          </a:p>
          <a:p>
            <a:r>
              <a:rPr lang="en" sz="1100"/>
              <a:t>If eventually FOVA completes with a decision of FOVA OK (monitor tag 300) considering that a daily data factor had been applied, then:</a:t>
            </a:r>
            <a:r>
              <a:rPr lang="en-US" sz="1100"/>
              <a:t> </a:t>
            </a:r>
            <a:endParaRPr lang="en-US"/>
          </a:p>
          <a:p>
            <a:pPr marL="285750" indent="-285750">
              <a:buChar char="•"/>
            </a:pPr>
            <a:r>
              <a:rPr lang="en" sz="1100"/>
              <a:t>The monitor tag will be overwritten to 358</a:t>
            </a:r>
            <a:endParaRPr lang="en-US"/>
          </a:p>
          <a:p>
            <a:pPr marL="285750" indent="-285750">
              <a:buChar char="•"/>
            </a:pPr>
            <a:r>
              <a:rPr lang="en" sz="1100"/>
              <a:t>The monitor status will be modified to include the value of the factor</a:t>
            </a:r>
            <a:endParaRPr lang="en-US"/>
          </a:p>
          <a:p>
            <a:r>
              <a:rPr lang="en" sz="1100"/>
              <a:t> </a:t>
            </a:r>
            <a:r>
              <a:rPr lang="en-US" sz="1100"/>
              <a:t> </a:t>
            </a:r>
            <a:endParaRPr lang="en-US"/>
          </a:p>
          <a:p>
            <a:r>
              <a:rPr lang="en" sz="1100"/>
              <a:t>This will allow the user to apply a correction to the store data to apply the factor and thus to arrive in a valid store situation for the period.</a:t>
            </a:r>
            <a:r>
              <a:rPr lang="en-US" sz="1100"/>
              <a:t> </a:t>
            </a:r>
            <a:endParaRPr lang="en-US"/>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Tree>
    <p:extLst>
      <p:ext uri="{BB962C8B-B14F-4D97-AF65-F5344CB8AC3E}">
        <p14:creationId xmlns:p14="http://schemas.microsoft.com/office/powerpoint/2010/main" val="3162877905"/>
      </p:ext>
    </p:extLst>
  </p:cSld>
  <p:clrMapOvr>
    <a:overrideClrMapping bg1="lt1" tx1="dk1" bg2="lt2" tx2="dk2" accent1="accent1" accent2="accent2" accent3="accent3" accent4="accent4" accent5="accent5" accent6="accent6" hlink="hlink" folHlink="folHlink"/>
  </p:clrMapOvr>
</p:sld>
</file>

<file path=ppt/slides/slide5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328646" y="648295"/>
            <a:ext cx="8747100" cy="4451454"/>
          </a:xfrm>
          <a:prstGeom prst="rect">
            <a:avLst/>
          </a:prstGeom>
          <a:noFill/>
          <a:ln>
            <a:noFill/>
          </a:ln>
        </p:spPr>
        <p:txBody>
          <a:bodyPr spcFirstLastPara="1" wrap="square" lIns="87625" tIns="87625" rIns="87625" bIns="87625" anchor="t" anchorCtr="0">
            <a:noAutofit/>
          </a:bodyPr>
          <a:lstStyle/>
          <a:p>
            <a:r>
              <a:rPr lang="en" sz="1100" b="1" dirty="0"/>
              <a:t>Basic Process flow:</a:t>
            </a:r>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3" descr="Diagram&#10;&#10;Description automatically generated">
            <a:extLst>
              <a:ext uri="{FF2B5EF4-FFF2-40B4-BE49-F238E27FC236}">
                <a16:creationId xmlns:a16="http://schemas.microsoft.com/office/drawing/2014/main" id="{C5F53FB6-35F4-13E4-916D-C4554FFB108E}"/>
              </a:ext>
            </a:extLst>
          </p:cNvPr>
          <p:cNvPicPr>
            <a:picLocks noChangeAspect="1"/>
          </p:cNvPicPr>
          <p:nvPr/>
        </p:nvPicPr>
        <p:blipFill>
          <a:blip r:embed="rId4"/>
          <a:stretch>
            <a:fillRect/>
          </a:stretch>
        </p:blipFill>
        <p:spPr>
          <a:xfrm>
            <a:off x="1615960" y="932896"/>
            <a:ext cx="4548865" cy="4089769"/>
          </a:xfrm>
          <a:prstGeom prst="rect">
            <a:avLst/>
          </a:prstGeom>
        </p:spPr>
      </p:pic>
    </p:spTree>
    <p:extLst>
      <p:ext uri="{BB962C8B-B14F-4D97-AF65-F5344CB8AC3E}">
        <p14:creationId xmlns:p14="http://schemas.microsoft.com/office/powerpoint/2010/main" val="3530391357"/>
      </p:ext>
    </p:extLst>
  </p:cSld>
  <p:clrMapOvr>
    <a:overrideClrMapping bg1="lt1" tx1="dk1" bg2="lt2" tx2="dk2" accent1="accent1" accent2="accent2" accent3="accent3" accent4="accent4" accent5="accent5" accent6="accent6" hlink="hlink" folHlink="folHlink"/>
  </p:clrMapOvr>
</p:sld>
</file>

<file path=ppt/slides/slide5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dirty="0">
                <a:solidFill>
                  <a:schemeClr val="dk1"/>
                </a:solidFill>
              </a:rPr>
              <a:t>DM 26031 - FOVA Missing days Enhancement phase 2:</a:t>
            </a:r>
            <a:endParaRPr lang="en-US" dirty="0"/>
          </a:p>
        </p:txBody>
      </p:sp>
      <p:sp>
        <p:nvSpPr>
          <p:cNvPr id="1019" name="Google Shape;1019;p130"/>
          <p:cNvSpPr txBox="1"/>
          <p:nvPr/>
        </p:nvSpPr>
        <p:spPr>
          <a:xfrm>
            <a:off x="328646" y="648295"/>
            <a:ext cx="8747100" cy="4451454"/>
          </a:xfrm>
          <a:prstGeom prst="rect">
            <a:avLst/>
          </a:prstGeom>
          <a:noFill/>
          <a:ln>
            <a:noFill/>
          </a:ln>
        </p:spPr>
        <p:txBody>
          <a:bodyPr spcFirstLastPara="1" wrap="square" lIns="87625" tIns="87625" rIns="87625" bIns="87625" anchor="t" anchorCtr="0">
            <a:noAutofit/>
          </a:bodyPr>
          <a:lstStyle/>
          <a:p>
            <a:r>
              <a:rPr lang="en" sz="1100" dirty="0"/>
              <a:t>For Existing </a:t>
            </a:r>
            <a:r>
              <a:rPr lang="en" sz="1100" dirty="0" err="1"/>
              <a:t>Fova</a:t>
            </a:r>
            <a:r>
              <a:rPr lang="en" sz="1100" dirty="0"/>
              <a:t> missing days calculation on Daily data algorithm some adjustments are required.</a:t>
            </a:r>
            <a:endParaRPr lang="en-US" dirty="0"/>
          </a:p>
          <a:p>
            <a:endParaRPr lang="en"/>
          </a:p>
          <a:p>
            <a:r>
              <a:rPr lang="en" sz="1100" dirty="0"/>
              <a:t>In the existing process, part of FOVA, that identifies and flags Missing days on daily data there is a need to enhance the process so that under specific scenarios some additional days are flagged. The current process is flagging Missing Days in case # of days received is less than expected days.</a:t>
            </a:r>
          </a:p>
          <a:p>
            <a:endParaRPr lang="en" sz="1100" dirty="0"/>
          </a:p>
          <a:p>
            <a:r>
              <a:rPr lang="en" sz="1100" dirty="0"/>
              <a:t>Based on the new requirements if the probability value of a specific day is greater than a threshold (default 0.9) and no data has been received for the day, in case it is not defined as a holiday, it should then be flagged as a missing day even if the expected days criteria is met.</a:t>
            </a:r>
            <a:endParaRPr lang="en"/>
          </a:p>
          <a:p>
            <a:endParaRPr lang="en"/>
          </a:p>
          <a:p>
            <a:r>
              <a:rPr lang="en" sz="1100" dirty="0"/>
              <a:t>Below 2 criteria is considered for it:</a:t>
            </a:r>
            <a:endParaRPr lang="en"/>
          </a:p>
          <a:p>
            <a:endParaRPr lang="en"/>
          </a:p>
          <a:p>
            <a:r>
              <a:rPr lang="en" sz="1100" b="1" dirty="0"/>
              <a:t>Scenario 1: </a:t>
            </a:r>
            <a:endParaRPr lang="en" b="1"/>
          </a:p>
          <a:p>
            <a:pPr marL="171450" indent="-171450">
              <a:buChar char="•"/>
            </a:pPr>
            <a:endParaRPr lang="en" sz="1100" dirty="0"/>
          </a:p>
          <a:p>
            <a:pPr marL="171450" lvl="1" indent="-171450">
              <a:buChar char="•"/>
            </a:pPr>
            <a:r>
              <a:rPr lang="en" sz="1100" dirty="0"/>
              <a:t>In case Days Received are more or equal to the expected days, but there are days with Probability &gt; 0.9 not received and it is not a Holiday, then it should be considered and flagged as a missing day. </a:t>
            </a:r>
            <a:endParaRPr lang="en"/>
          </a:p>
          <a:p>
            <a:pPr marL="285750" indent="-285750">
              <a:buChar char="•"/>
            </a:pPr>
            <a:endParaRPr lang="en"/>
          </a:p>
          <a:p>
            <a:r>
              <a:rPr lang="en" sz="1100" b="1" dirty="0"/>
              <a:t>Scenario 2:</a:t>
            </a:r>
            <a:endParaRPr lang="en" b="1"/>
          </a:p>
          <a:p>
            <a:pPr marL="171450" indent="-171450">
              <a:buChar char="•"/>
            </a:pPr>
            <a:r>
              <a:rPr lang="en" sz="1100" dirty="0"/>
              <a:t>In case Days Received are less than the expected days, but there are days with Probability &gt; 0.9 not received and it is not a Holiday, then it should be considered and flagged as a missing day. </a:t>
            </a:r>
            <a:endParaRPr lang="en" dirty="0"/>
          </a:p>
          <a:p>
            <a:endParaRPr lang="en" sz="1100" dirty="0"/>
          </a:p>
          <a:p>
            <a:endParaRPr lang="en" sz="1100" dirty="0"/>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Jul’23 CR</a:t>
            </a:r>
            <a:endParaRPr lang="en-US" sz="1200" dirty="0"/>
          </a:p>
        </p:txBody>
      </p:sp>
    </p:spTree>
    <p:extLst>
      <p:ext uri="{BB962C8B-B14F-4D97-AF65-F5344CB8AC3E}">
        <p14:creationId xmlns:p14="http://schemas.microsoft.com/office/powerpoint/2010/main" val="4272486039"/>
      </p:ext>
    </p:extLst>
  </p:cSld>
  <p:clrMapOvr>
    <a:overrideClrMapping bg1="lt1" tx1="dk1" bg2="lt2" tx2="dk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dirty="0">
                <a:solidFill>
                  <a:schemeClr val="dk1"/>
                </a:solidFill>
              </a:rPr>
              <a:t>DM 26031 - FOVA Missing days Enhancement phase 2:</a:t>
            </a:r>
            <a:endParaRPr lang="en-US" dirty="0"/>
          </a:p>
        </p:txBody>
      </p:sp>
      <p:sp>
        <p:nvSpPr>
          <p:cNvPr id="1019" name="Google Shape;1019;p130"/>
          <p:cNvSpPr txBox="1"/>
          <p:nvPr/>
        </p:nvSpPr>
        <p:spPr>
          <a:xfrm>
            <a:off x="328646" y="648295"/>
            <a:ext cx="8747100" cy="4451454"/>
          </a:xfrm>
          <a:prstGeom prst="rect">
            <a:avLst/>
          </a:prstGeom>
          <a:noFill/>
          <a:ln>
            <a:noFill/>
          </a:ln>
        </p:spPr>
        <p:txBody>
          <a:bodyPr spcFirstLastPara="1" wrap="square" lIns="87625" tIns="87625" rIns="87625" bIns="87625" anchor="t" anchorCtr="0">
            <a:noAutofit/>
          </a:bodyPr>
          <a:lstStyle/>
          <a:p>
            <a:r>
              <a:rPr lang="en" sz="1100" dirty="0"/>
              <a:t>New flow to flag the day as missing day is as follow:</a:t>
            </a:r>
            <a:endParaRPr lang="en-US" dirty="0"/>
          </a:p>
          <a:p>
            <a:endParaRPr lang="en" sz="1100" dirty="0"/>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dirty="0"/>
              <a:t>Jul’23 CR</a:t>
            </a:r>
            <a:endParaRPr lang="en-US" sz="1200" dirty="0"/>
          </a:p>
        </p:txBody>
      </p:sp>
      <p:pic>
        <p:nvPicPr>
          <p:cNvPr id="2" name="Picture 3" descr="A diagram of a flowchart&#10;&#10;Description automatically generated">
            <a:extLst>
              <a:ext uri="{FF2B5EF4-FFF2-40B4-BE49-F238E27FC236}">
                <a16:creationId xmlns:a16="http://schemas.microsoft.com/office/drawing/2014/main" id="{225A5431-B0BF-E963-CC8D-7CED2B1FBED7}"/>
              </a:ext>
            </a:extLst>
          </p:cNvPr>
          <p:cNvPicPr>
            <a:picLocks noChangeAspect="1"/>
          </p:cNvPicPr>
          <p:nvPr/>
        </p:nvPicPr>
        <p:blipFill>
          <a:blip r:embed="rId4"/>
          <a:stretch>
            <a:fillRect/>
          </a:stretch>
        </p:blipFill>
        <p:spPr>
          <a:xfrm>
            <a:off x="551985" y="1113506"/>
            <a:ext cx="6460273" cy="3515866"/>
          </a:xfrm>
          <a:prstGeom prst="rect">
            <a:avLst/>
          </a:prstGeom>
        </p:spPr>
      </p:pic>
    </p:spTree>
    <p:extLst>
      <p:ext uri="{BB962C8B-B14F-4D97-AF65-F5344CB8AC3E}">
        <p14:creationId xmlns:p14="http://schemas.microsoft.com/office/powerpoint/2010/main" val="1022624420"/>
      </p:ext>
    </p:extLst>
  </p:cSld>
  <p:clrMapOvr>
    <a:overrideClrMapping bg1="lt1" tx1="dk1" bg2="lt2" tx2="dk2" accent1="accent1" accent2="accent2" accent3="accent3" accent4="accent4" accent5="accent5" accent6="accent6" hlink="hlink" folHlink="folHlink"/>
  </p:clrMapOvr>
</p:sld>
</file>

<file path=ppt/slides/slide5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287166" y="643686"/>
            <a:ext cx="8747100" cy="4451454"/>
          </a:xfrm>
          <a:prstGeom prst="rect">
            <a:avLst/>
          </a:prstGeom>
          <a:noFill/>
          <a:ln>
            <a:noFill/>
          </a:ln>
        </p:spPr>
        <p:txBody>
          <a:bodyPr spcFirstLastPara="1" wrap="square" lIns="87625" tIns="87625" rIns="87625" bIns="87625" anchor="t" anchorCtr="0">
            <a:noAutofit/>
          </a:bodyPr>
          <a:lstStyle/>
          <a:p>
            <a:r>
              <a:rPr lang="en" sz="1100" b="1"/>
              <a:t>Examples of missing days detection: </a:t>
            </a:r>
            <a:endParaRPr lang="en-US"/>
          </a:p>
          <a:p>
            <a:r>
              <a:rPr lang="en" sz="1100" b="1"/>
              <a:t>  </a:t>
            </a:r>
            <a:endParaRPr lang="en"/>
          </a:p>
          <a:p>
            <a:r>
              <a:rPr lang="en" sz="1100"/>
              <a:t>These examples are presented for a calendar week Mon –Sun, but any span of 7 days could be validated in the same way. </a:t>
            </a:r>
            <a:endParaRPr lang="en"/>
          </a:p>
          <a:p>
            <a:r>
              <a:rPr lang="en" sz="1100" b="1"/>
              <a:t>  </a:t>
            </a:r>
            <a:endParaRPr lang="en"/>
          </a:p>
          <a:p>
            <a:r>
              <a:rPr lang="en" sz="1100" b="1"/>
              <a:t>Example 1: </a:t>
            </a:r>
            <a:endParaRPr lang="en"/>
          </a:p>
          <a:p>
            <a:r>
              <a:rPr lang="en" sz="1100"/>
              <a:t>Expected number of days for the store sum(</a:t>
            </a:r>
            <a:r>
              <a:rPr lang="en" sz="1100" err="1"/>
              <a:t>weekday_proba</a:t>
            </a:r>
            <a:r>
              <a:rPr lang="en" sz="1100"/>
              <a:t>) =5.18 =&gt; 5 (number should be truncated) </a:t>
            </a:r>
            <a:endParaRPr lang="en"/>
          </a:p>
          <a:p>
            <a:r>
              <a:rPr lang="en" sz="1100"/>
              <a:t>Received number of days: 4 </a:t>
            </a:r>
            <a:endParaRPr lang="en"/>
          </a:p>
          <a:p>
            <a:r>
              <a:rPr lang="en" sz="1100"/>
              <a:t>Validation with holiday calendar =&gt; </a:t>
            </a:r>
            <a:r>
              <a:rPr lang="en" sz="1100" err="1"/>
              <a:t>nok</a:t>
            </a:r>
            <a:r>
              <a:rPr lang="en" sz="1100"/>
              <a:t> </a:t>
            </a:r>
            <a:endParaRPr lang="en"/>
          </a:p>
          <a:p>
            <a:r>
              <a:rPr lang="en" sz="1100"/>
              <a:t>Result: missing day with the biggest probability: Tuesday should be flagged </a:t>
            </a:r>
            <a:endParaRPr lang="en"/>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4" name="Picture 4" descr="Table&#10;&#10;Description automatically generated">
            <a:extLst>
              <a:ext uri="{FF2B5EF4-FFF2-40B4-BE49-F238E27FC236}">
                <a16:creationId xmlns:a16="http://schemas.microsoft.com/office/drawing/2014/main" id="{C150E0F0-0C45-88E7-07D6-9B1953AFC7CD}"/>
              </a:ext>
            </a:extLst>
          </p:cNvPr>
          <p:cNvPicPr>
            <a:picLocks noChangeAspect="1"/>
          </p:cNvPicPr>
          <p:nvPr/>
        </p:nvPicPr>
        <p:blipFill>
          <a:blip r:embed="rId4"/>
          <a:stretch>
            <a:fillRect/>
          </a:stretch>
        </p:blipFill>
        <p:spPr>
          <a:xfrm>
            <a:off x="458122" y="2479013"/>
            <a:ext cx="3397660" cy="1821621"/>
          </a:xfrm>
          <a:prstGeom prst="rect">
            <a:avLst/>
          </a:prstGeom>
        </p:spPr>
      </p:pic>
    </p:spTree>
    <p:extLst>
      <p:ext uri="{BB962C8B-B14F-4D97-AF65-F5344CB8AC3E}">
        <p14:creationId xmlns:p14="http://schemas.microsoft.com/office/powerpoint/2010/main" val="1634067217"/>
      </p:ext>
    </p:extLst>
  </p:cSld>
  <p:clrMapOvr>
    <a:overrideClrMapping bg1="lt1" tx1="dk1" bg2="lt2" tx2="dk2" accent1="accent1" accent2="accent2" accent3="accent3" accent4="accent4" accent5="accent5" accent6="accent6" hlink="hlink" folHlink="folHlink"/>
  </p:clrMapOvr>
</p:sld>
</file>

<file path=ppt/slides/slide5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1019" name="Google Shape;1019;p130"/>
          <p:cNvSpPr txBox="1"/>
          <p:nvPr/>
        </p:nvSpPr>
        <p:spPr>
          <a:xfrm>
            <a:off x="287166" y="565336"/>
            <a:ext cx="4013790" cy="3506635"/>
          </a:xfrm>
          <a:prstGeom prst="rect">
            <a:avLst/>
          </a:prstGeom>
          <a:noFill/>
          <a:ln>
            <a:solidFill>
              <a:schemeClr val="tx1"/>
            </a:solidFill>
          </a:ln>
        </p:spPr>
        <p:txBody>
          <a:bodyPr spcFirstLastPara="1" wrap="square" lIns="87625" tIns="87625" rIns="87625" bIns="87625" anchor="t" anchorCtr="0">
            <a:noAutofit/>
          </a:bodyPr>
          <a:lstStyle/>
          <a:p>
            <a:endParaRPr lang="en" sz="1100" b="1"/>
          </a:p>
          <a:p>
            <a:r>
              <a:rPr lang="en" sz="1100" b="1"/>
              <a:t>Example 2:</a:t>
            </a:r>
            <a:r>
              <a:rPr lang="en" sz="1100"/>
              <a:t> </a:t>
            </a:r>
            <a:endParaRPr lang="en"/>
          </a:p>
          <a:p>
            <a:r>
              <a:rPr lang="en" sz="1100"/>
              <a:t>Expected number of days for the store sum(</a:t>
            </a:r>
            <a:r>
              <a:rPr lang="en" sz="1100" err="1"/>
              <a:t>weekday_proba</a:t>
            </a:r>
            <a:r>
              <a:rPr lang="en" sz="1100"/>
              <a:t>) =5.18 =&gt; 5 </a:t>
            </a:r>
            <a:endParaRPr lang="en"/>
          </a:p>
          <a:p>
            <a:r>
              <a:rPr lang="en" sz="1100"/>
              <a:t>Received number of days: 4 </a:t>
            </a:r>
            <a:endParaRPr lang="en"/>
          </a:p>
          <a:p>
            <a:r>
              <a:rPr lang="en" sz="1100"/>
              <a:t>Validation with holiday calendar =&gt; ok </a:t>
            </a:r>
            <a:endParaRPr lang="en"/>
          </a:p>
          <a:p>
            <a:r>
              <a:rPr lang="en" sz="1100"/>
              <a:t>Result: no flag </a:t>
            </a:r>
          </a:p>
          <a:p>
            <a:endParaRPr lang="en" sz="1100"/>
          </a:p>
          <a:p>
            <a:endParaRPr lang="en" sz="1100"/>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pic>
        <p:nvPicPr>
          <p:cNvPr id="2" name="Picture 4" descr="Table&#10;&#10;Description automatically generated">
            <a:extLst>
              <a:ext uri="{FF2B5EF4-FFF2-40B4-BE49-F238E27FC236}">
                <a16:creationId xmlns:a16="http://schemas.microsoft.com/office/drawing/2014/main" id="{258C09AC-C4F7-4A99-C91E-DEE8B450E9F3}"/>
              </a:ext>
            </a:extLst>
          </p:cNvPr>
          <p:cNvPicPr>
            <a:picLocks noChangeAspect="1"/>
          </p:cNvPicPr>
          <p:nvPr/>
        </p:nvPicPr>
        <p:blipFill>
          <a:blip r:embed="rId4"/>
          <a:stretch>
            <a:fillRect/>
          </a:stretch>
        </p:blipFill>
        <p:spPr>
          <a:xfrm>
            <a:off x="536473" y="2176743"/>
            <a:ext cx="3305482" cy="1587348"/>
          </a:xfrm>
          <a:prstGeom prst="rect">
            <a:avLst/>
          </a:prstGeom>
        </p:spPr>
      </p:pic>
      <p:sp>
        <p:nvSpPr>
          <p:cNvPr id="7" name="Google Shape;1019;p130">
            <a:extLst>
              <a:ext uri="{FF2B5EF4-FFF2-40B4-BE49-F238E27FC236}">
                <a16:creationId xmlns:a16="http://schemas.microsoft.com/office/drawing/2014/main" id="{F87613A6-4A44-BB81-1517-A6D79146F062}"/>
              </a:ext>
            </a:extLst>
          </p:cNvPr>
          <p:cNvSpPr txBox="1"/>
          <p:nvPr/>
        </p:nvSpPr>
        <p:spPr>
          <a:xfrm>
            <a:off x="4688636" y="588377"/>
            <a:ext cx="4105967" cy="3478983"/>
          </a:xfrm>
          <a:prstGeom prst="rect">
            <a:avLst/>
          </a:prstGeom>
          <a:noFill/>
          <a:ln>
            <a:solidFill>
              <a:schemeClr val="tx1"/>
            </a:solidFill>
          </a:ln>
        </p:spPr>
        <p:txBody>
          <a:bodyPr spcFirstLastPara="1" wrap="square" lIns="87625" tIns="87625" rIns="87625" bIns="87625" anchor="t" anchorCtr="0">
            <a:noAutofit/>
          </a:bodyPr>
          <a:lstStyle/>
          <a:p>
            <a:endParaRPr lang="en" sz="1100" b="1"/>
          </a:p>
          <a:p>
            <a:r>
              <a:rPr lang="en" sz="1100" b="1"/>
              <a:t>Example 3:</a:t>
            </a:r>
            <a:r>
              <a:rPr lang="en" sz="1100"/>
              <a:t> </a:t>
            </a:r>
            <a:endParaRPr lang="en"/>
          </a:p>
          <a:p>
            <a:r>
              <a:rPr lang="en" sz="1100"/>
              <a:t>Expected number of days for the store sum(</a:t>
            </a:r>
            <a:r>
              <a:rPr lang="en" sz="1100" err="1"/>
              <a:t>weekday_proba</a:t>
            </a:r>
            <a:r>
              <a:rPr lang="en" sz="1100"/>
              <a:t>) =5.18 =&gt; 5 </a:t>
            </a:r>
            <a:endParaRPr lang="en"/>
          </a:p>
          <a:p>
            <a:r>
              <a:rPr lang="en" sz="1100"/>
              <a:t>Received number of days: 4 </a:t>
            </a:r>
            <a:endParaRPr lang="en"/>
          </a:p>
          <a:p>
            <a:r>
              <a:rPr lang="en" sz="1100"/>
              <a:t>Validation with holiday calendar =&gt; sales received on bank holiday, but still one day missing </a:t>
            </a:r>
            <a:endParaRPr lang="en"/>
          </a:p>
          <a:p>
            <a:r>
              <a:rPr lang="en" sz="1100"/>
              <a:t>Result: Fri flagged as missing </a:t>
            </a:r>
            <a:endParaRPr lang="en"/>
          </a:p>
        </p:txBody>
      </p:sp>
      <p:pic>
        <p:nvPicPr>
          <p:cNvPr id="8" name="Picture 8" descr="Table&#10;&#10;Description automatically generated">
            <a:extLst>
              <a:ext uri="{FF2B5EF4-FFF2-40B4-BE49-F238E27FC236}">
                <a16:creationId xmlns:a16="http://schemas.microsoft.com/office/drawing/2014/main" id="{524770BA-821A-3663-62F4-2DA353E77B31}"/>
              </a:ext>
            </a:extLst>
          </p:cNvPr>
          <p:cNvPicPr>
            <a:picLocks noChangeAspect="1"/>
          </p:cNvPicPr>
          <p:nvPr/>
        </p:nvPicPr>
        <p:blipFill>
          <a:blip r:embed="rId5"/>
          <a:stretch>
            <a:fillRect/>
          </a:stretch>
        </p:blipFill>
        <p:spPr>
          <a:xfrm>
            <a:off x="4762807" y="2135988"/>
            <a:ext cx="3425312" cy="1664249"/>
          </a:xfrm>
          <a:prstGeom prst="rect">
            <a:avLst/>
          </a:prstGeom>
        </p:spPr>
      </p:pic>
      <p:sp>
        <p:nvSpPr>
          <p:cNvPr id="9" name="TextBox 8">
            <a:extLst>
              <a:ext uri="{FF2B5EF4-FFF2-40B4-BE49-F238E27FC236}">
                <a16:creationId xmlns:a16="http://schemas.microsoft.com/office/drawing/2014/main" id="{BBD59FC5-B01B-F17B-B46C-D9F4CF822F69}"/>
              </a:ext>
            </a:extLst>
          </p:cNvPr>
          <p:cNvSpPr txBox="1"/>
          <p:nvPr/>
        </p:nvSpPr>
        <p:spPr>
          <a:xfrm>
            <a:off x="288054" y="4327729"/>
            <a:ext cx="850797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a:latin typeface="Calibri"/>
              </a:rPr>
              <a:t>If there is a choice between two days with equal probabilities and one of those days must be flagged as missing a random choice has to be used to select the day to flag.</a:t>
            </a:r>
            <a:endParaRPr lang="en-US" sz="1200"/>
          </a:p>
        </p:txBody>
      </p:sp>
    </p:spTree>
    <p:extLst>
      <p:ext uri="{BB962C8B-B14F-4D97-AF65-F5344CB8AC3E}">
        <p14:creationId xmlns:p14="http://schemas.microsoft.com/office/powerpoint/2010/main" val="3078858913"/>
      </p:ext>
    </p:extLst>
  </p:cSld>
  <p:clrMapOvr>
    <a:overrideClrMapping bg1="lt1" tx1="dk1" bg2="lt2" tx2="dk2" accent1="accent1" accent2="accent2" accent3="accent3" accent4="accent4" accent5="accent5" accent6="accent6" hlink="hlink" folHlink="folHlink"/>
  </p:clrMapOvr>
</p:sld>
</file>

<file path=ppt/slides/slide5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
        <p:nvSpPr>
          <p:cNvPr id="9" name="TextBox 8">
            <a:extLst>
              <a:ext uri="{FF2B5EF4-FFF2-40B4-BE49-F238E27FC236}">
                <a16:creationId xmlns:a16="http://schemas.microsoft.com/office/drawing/2014/main" id="{BBD59FC5-B01B-F17B-B46C-D9F4CF822F69}"/>
              </a:ext>
            </a:extLst>
          </p:cNvPr>
          <p:cNvSpPr txBox="1"/>
          <p:nvPr/>
        </p:nvSpPr>
        <p:spPr>
          <a:xfrm>
            <a:off x="320316" y="594544"/>
            <a:ext cx="8507974" cy="437042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1200" b="1"/>
              <a:t>Parameters:</a:t>
            </a:r>
            <a:r>
              <a:rPr lang="en-US" sz="1200"/>
              <a:t> </a:t>
            </a:r>
            <a:endParaRPr lang="en-US"/>
          </a:p>
          <a:p>
            <a:r>
              <a:rPr lang="en" sz="1200" b="1"/>
              <a:t> </a:t>
            </a:r>
            <a:r>
              <a:rPr lang="en-US" sz="1200"/>
              <a:t> </a:t>
            </a:r>
            <a:endParaRPr lang="en-US"/>
          </a:p>
          <a:p>
            <a:r>
              <a:rPr lang="en" sz="1200"/>
              <a:t>The following parameters should be introduced in the system.</a:t>
            </a:r>
            <a:endParaRPr lang="en-US"/>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endParaRPr lang="en-US" sz="1200"/>
          </a:p>
          <a:p>
            <a:r>
              <a:rPr lang="en" sz="1200" b="1"/>
              <a:t>Parameters details:</a:t>
            </a:r>
          </a:p>
          <a:p>
            <a:endParaRPr lang="en-US"/>
          </a:p>
          <a:p>
            <a:r>
              <a:rPr lang="en" sz="1000" b="1">
                <a:solidFill>
                  <a:srgbClr val="00B0F0"/>
                </a:solidFill>
              </a:rPr>
              <a:t>DAILY_DATA_FACTOR_SUGGESTION:</a:t>
            </a:r>
            <a:endParaRPr lang="en-US" sz="1000">
              <a:solidFill>
                <a:srgbClr val="00B0F0"/>
              </a:solidFill>
            </a:endParaRPr>
          </a:p>
          <a:p>
            <a:r>
              <a:rPr lang="en" sz="1000" b="1">
                <a:solidFill>
                  <a:srgbClr val="00B0F0"/>
                </a:solidFill>
              </a:rPr>
              <a:t>  </a:t>
            </a:r>
            <a:endParaRPr lang="en-US" sz="1000">
              <a:solidFill>
                <a:srgbClr val="00B0F0"/>
              </a:solidFill>
            </a:endParaRPr>
          </a:p>
          <a:p>
            <a:pPr marL="171450" indent="-171450">
              <a:buChar char="•"/>
            </a:pPr>
            <a:r>
              <a:rPr lang="en" sz="1000" b="1"/>
              <a:t>Description</a:t>
            </a:r>
            <a:r>
              <a:rPr lang="en" sz="1000"/>
              <a:t>: </a:t>
            </a:r>
            <a:r>
              <a:rPr lang="en" sz="1000" b="1">
                <a:solidFill>
                  <a:srgbClr val="00B0F0"/>
                </a:solidFill>
              </a:rPr>
              <a:t>Whether to run the algorithm to identify missing days in daily data and calculate an expansion factor</a:t>
            </a:r>
            <a:endParaRPr lang="en-US" sz="1000" b="1">
              <a:solidFill>
                <a:srgbClr val="00B0F0"/>
              </a:solidFill>
            </a:endParaRPr>
          </a:p>
          <a:p>
            <a:pPr marL="171450" indent="-171450">
              <a:buChar char="•"/>
            </a:pPr>
            <a:r>
              <a:rPr lang="en" sz="1000" b="1"/>
              <a:t>Default value</a:t>
            </a:r>
            <a:r>
              <a:rPr lang="en" sz="1000"/>
              <a:t> =</a:t>
            </a:r>
            <a:r>
              <a:rPr lang="en" sz="1000">
                <a:solidFill>
                  <a:srgbClr val="00B0F0"/>
                </a:solidFill>
              </a:rPr>
              <a:t> </a:t>
            </a:r>
            <a:r>
              <a:rPr lang="en" sz="1000" b="1">
                <a:solidFill>
                  <a:srgbClr val="00B0F0"/>
                </a:solidFill>
              </a:rPr>
              <a:t>Y</a:t>
            </a:r>
            <a:endParaRPr lang="en-US" sz="1000" b="1">
              <a:solidFill>
                <a:srgbClr val="00B0F0"/>
              </a:solidFill>
            </a:endParaRPr>
          </a:p>
          <a:p>
            <a:pPr marL="171450" indent="-171450">
              <a:buChar char="•"/>
            </a:pPr>
            <a:r>
              <a:rPr lang="en" sz="1000" b="1"/>
              <a:t>Valid values are</a:t>
            </a:r>
            <a:r>
              <a:rPr lang="en" sz="1000"/>
              <a:t>: </a:t>
            </a:r>
            <a:r>
              <a:rPr lang="en" sz="1000" b="1">
                <a:solidFill>
                  <a:srgbClr val="00B0F0"/>
                </a:solidFill>
              </a:rPr>
              <a:t>Y/N  </a:t>
            </a:r>
            <a:endParaRPr lang="en-US" sz="1000" b="1">
              <a:solidFill>
                <a:srgbClr val="00B0F0"/>
              </a:solidFill>
            </a:endParaRPr>
          </a:p>
          <a:p>
            <a:pPr marL="171450" indent="-171450">
              <a:buChar char="•"/>
            </a:pPr>
            <a:r>
              <a:rPr lang="en" sz="1000" b="1"/>
              <a:t>Specificity:</a:t>
            </a:r>
            <a:r>
              <a:rPr lang="en" sz="1000"/>
              <a:t> </a:t>
            </a:r>
            <a:r>
              <a:rPr lang="en" sz="1000" b="1">
                <a:solidFill>
                  <a:srgbClr val="00B0F0"/>
                </a:solidFill>
              </a:rPr>
              <a:t>STORE</a:t>
            </a:r>
            <a:endParaRPr lang="en-US" sz="1000" b="1">
              <a:solidFill>
                <a:srgbClr val="00B0F0"/>
              </a:solidFill>
            </a:endParaRPr>
          </a:p>
          <a:p>
            <a:pPr marL="171450" indent="-171450">
              <a:buChar char="•"/>
            </a:pPr>
            <a:r>
              <a:rPr lang="en" sz="1000" b="1"/>
              <a:t>Maintenance Role:</a:t>
            </a:r>
            <a:r>
              <a:rPr lang="en" sz="1000"/>
              <a:t> </a:t>
            </a:r>
            <a:r>
              <a:rPr lang="en" sz="1000" b="1">
                <a:solidFill>
                  <a:srgbClr val="00B0F0"/>
                </a:solidFill>
              </a:rPr>
              <a:t>OPERATOR</a:t>
            </a:r>
            <a:endParaRPr lang="en-US" sz="1000" b="1">
              <a:solidFill>
                <a:srgbClr val="00B0F0"/>
              </a:solidFill>
            </a:endParaRPr>
          </a:p>
          <a:p>
            <a:endParaRPr lang="en-US"/>
          </a:p>
          <a:p>
            <a:endParaRPr lang="en-US" sz="1200"/>
          </a:p>
          <a:p>
            <a:endParaRPr lang="en-US" sz="1200"/>
          </a:p>
        </p:txBody>
      </p:sp>
      <p:graphicFrame>
        <p:nvGraphicFramePr>
          <p:cNvPr id="5" name="Table 4">
            <a:extLst>
              <a:ext uri="{FF2B5EF4-FFF2-40B4-BE49-F238E27FC236}">
                <a16:creationId xmlns:a16="http://schemas.microsoft.com/office/drawing/2014/main" id="{3A7EF417-45F5-E7A3-71C8-B5FEAC119436}"/>
              </a:ext>
            </a:extLst>
          </p:cNvPr>
          <p:cNvGraphicFramePr>
            <a:graphicFrameLocks noGrp="1"/>
          </p:cNvGraphicFramePr>
          <p:nvPr>
            <p:extLst>
              <p:ext uri="{D42A27DB-BD31-4B8C-83A1-F6EECF244321}">
                <p14:modId xmlns:p14="http://schemas.microsoft.com/office/powerpoint/2010/main" val="1970439011"/>
              </p:ext>
            </p:extLst>
          </p:nvPr>
        </p:nvGraphicFramePr>
        <p:xfrm>
          <a:off x="364100" y="1295093"/>
          <a:ext cx="8061390" cy="1208342"/>
        </p:xfrm>
        <a:graphic>
          <a:graphicData uri="http://schemas.openxmlformats.org/drawingml/2006/table">
            <a:tbl>
              <a:tblPr firstRow="1" bandRow="1">
                <a:tableStyleId>{C70574C8-F969-49A7-8605-77D3504E23D5}</a:tableStyleId>
              </a:tblPr>
              <a:tblGrid>
                <a:gridCol w="918162">
                  <a:extLst>
                    <a:ext uri="{9D8B030D-6E8A-4147-A177-3AD203B41FA5}">
                      <a16:colId xmlns:a16="http://schemas.microsoft.com/office/drawing/2014/main" val="2962360959"/>
                    </a:ext>
                  </a:extLst>
                </a:gridCol>
                <a:gridCol w="3034941">
                  <a:extLst>
                    <a:ext uri="{9D8B030D-6E8A-4147-A177-3AD203B41FA5}">
                      <a16:colId xmlns:a16="http://schemas.microsoft.com/office/drawing/2014/main" val="1884500493"/>
                    </a:ext>
                  </a:extLst>
                </a:gridCol>
                <a:gridCol w="4108287">
                  <a:extLst>
                    <a:ext uri="{9D8B030D-6E8A-4147-A177-3AD203B41FA5}">
                      <a16:colId xmlns:a16="http://schemas.microsoft.com/office/drawing/2014/main" val="3168345522"/>
                    </a:ext>
                  </a:extLst>
                </a:gridCol>
              </a:tblGrid>
              <a:tr h="0">
                <a:tc>
                  <a:txBody>
                    <a:bodyPr/>
                    <a:lstStyle/>
                    <a:p>
                      <a:pPr algn="ctr"/>
                      <a:r>
                        <a:rPr lang="en-US" sz="1000">
                          <a:effectLst/>
                        </a:rPr>
                        <a:t>Process ID</a:t>
                      </a:r>
                    </a:p>
                  </a:txBody>
                  <a:tcPr marL="73025" marR="73025" marT="0" marB="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sz="1000">
                          <a:effectLst/>
                        </a:rPr>
                        <a:t>Parameter Name</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sz="1000">
                          <a:effectLst/>
                        </a:rPr>
                        <a:t>Description</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531992680"/>
                  </a:ext>
                </a:extLst>
              </a:tr>
              <a:tr h="0">
                <a:tc>
                  <a:txBody>
                    <a:bodyPr/>
                    <a:lstStyle/>
                    <a:p>
                      <a:r>
                        <a:rPr lang="en-US" sz="1000">
                          <a:effectLst/>
                        </a:rPr>
                        <a:t>FOVA</a:t>
                      </a:r>
                    </a:p>
                  </a:txBody>
                  <a:tcPr marL="73025" marR="73025"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000">
                          <a:effectLst/>
                        </a:rPr>
                        <a:t>DAILY_DATA_FACTOR_SUGGESTION</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000">
                          <a:effectLst/>
                        </a:rPr>
                        <a:t>Whether to run the algorithm to identify missing days in daily data and calculate an expansion factor</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90202449"/>
                  </a:ext>
                </a:extLst>
              </a:tr>
              <a:tr h="0">
                <a:tc>
                  <a:txBody>
                    <a:bodyPr/>
                    <a:lstStyle/>
                    <a:p>
                      <a:r>
                        <a:rPr lang="en-US" sz="1000">
                          <a:effectLst/>
                        </a:rPr>
                        <a:t>FOVA</a:t>
                      </a:r>
                    </a:p>
                  </a:txBody>
                  <a:tcPr marL="73025" marR="73025"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000">
                          <a:effectLst/>
                        </a:rPr>
                        <a:t>DAILY_DATA_FACTOR_HISTORY_WEEKS</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000">
                          <a:effectLst/>
                        </a:rPr>
                        <a:t>Number of historical weeks to review</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172591958"/>
                  </a:ext>
                </a:extLst>
              </a:tr>
              <a:tr h="0">
                <a:tc>
                  <a:txBody>
                    <a:bodyPr/>
                    <a:lstStyle/>
                    <a:p>
                      <a:r>
                        <a:rPr lang="en-US" sz="1000">
                          <a:effectLst/>
                        </a:rPr>
                        <a:t>FOVA</a:t>
                      </a:r>
                    </a:p>
                  </a:txBody>
                  <a:tcPr marL="73025" marR="73025" marT="0" marB="0">
                    <a:lnL w="12700">
                      <a:solidFill>
                        <a:schemeClr val="tx1"/>
                      </a:solidFill>
                    </a:lnL>
                    <a:lnR w="12700">
                      <a:solidFill>
                        <a:schemeClr val="tx1"/>
                      </a:solidFill>
                    </a:lnR>
                    <a:lnT w="12700">
                      <a:solidFill>
                        <a:schemeClr val="tx1"/>
                      </a:solidFill>
                    </a:lnT>
                    <a:lnB w="12700">
                      <a:solidFill>
                        <a:schemeClr val="tx1"/>
                      </a:solidFill>
                    </a:lnB>
                  </a:tcPr>
                </a:tc>
                <a:tc>
                  <a:txBody>
                    <a:bodyPr/>
                    <a:lstStyle/>
                    <a:p>
                      <a:r>
                        <a:rPr lang="en-US" sz="1000">
                          <a:effectLst/>
                        </a:rPr>
                        <a:t>DAILY_DATA_FACTOR_MIN_AVAILABLE_WEEKS</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tcPr>
                </a:tc>
                <a:tc>
                  <a:txBody>
                    <a:bodyPr/>
                    <a:lstStyle/>
                    <a:p>
                      <a:pPr>
                        <a:lnSpc>
                          <a:spcPct val="107000"/>
                        </a:lnSpc>
                      </a:pPr>
                      <a:r>
                        <a:rPr lang="en-US" sz="1000">
                          <a:effectLst/>
                        </a:rPr>
                        <a:t>Minimum number of historical weeks with correct daily data in order for the new logic to run</a:t>
                      </a:r>
                    </a:p>
                  </a:txBody>
                  <a:tcPr marL="35560" marR="35560" marT="35560" marB="35560">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187045269"/>
                  </a:ext>
                </a:extLst>
              </a:tr>
            </a:tbl>
          </a:graphicData>
        </a:graphic>
      </p:graphicFrame>
    </p:spTree>
    <p:extLst>
      <p:ext uri="{BB962C8B-B14F-4D97-AF65-F5344CB8AC3E}">
        <p14:creationId xmlns:p14="http://schemas.microsoft.com/office/powerpoint/2010/main" val="1433485740"/>
      </p:ext>
    </p:extLst>
  </p:cSld>
  <p:clrMapOvr>
    <a:overrideClrMapping bg1="lt1" tx1="dk1" bg2="lt2" tx2="dk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14"/>
        <p:cNvGrpSpPr/>
        <p:nvPr/>
      </p:nvGrpSpPr>
      <p:grpSpPr>
        <a:xfrm>
          <a:off x="0" y="0"/>
          <a:ext cx="0" cy="0"/>
          <a:chOff x="0" y="0"/>
          <a:chExt cx="0" cy="0"/>
        </a:xfrm>
      </p:grpSpPr>
      <p:sp>
        <p:nvSpPr>
          <p:cNvPr id="1015" name="Google Shape;1015;p130"/>
          <p:cNvSpPr txBox="1">
            <a:spLocks noGrp="1"/>
          </p:cNvSpPr>
          <p:nvPr>
            <p:ph type="title"/>
          </p:nvPr>
        </p:nvSpPr>
        <p:spPr>
          <a:xfrm>
            <a:off x="288925" y="151805"/>
            <a:ext cx="8166000" cy="321600"/>
          </a:xfrm>
          <a:prstGeom prst="rect">
            <a:avLst/>
          </a:prstGeom>
          <a:noFill/>
          <a:ln>
            <a:noFill/>
          </a:ln>
        </p:spPr>
        <p:txBody>
          <a:bodyPr spcFirstLastPara="1" wrap="square" lIns="91425" tIns="0" rIns="91425" bIns="0" anchor="b" anchorCtr="0">
            <a:noAutofit/>
          </a:bodyPr>
          <a:lstStyle/>
          <a:p>
            <a:r>
              <a:rPr lang="en" sz="2400">
                <a:solidFill>
                  <a:schemeClr val="dk1"/>
                </a:solidFill>
              </a:rPr>
              <a:t>DM 25211 FOVA Missing Days Enhancement: </a:t>
            </a:r>
            <a:endParaRPr lang="en-US"/>
          </a:p>
        </p:txBody>
      </p:sp>
      <p:sp>
        <p:nvSpPr>
          <p:cNvPr id="3" name="Google Shape;1388;p209">
            <a:extLst>
              <a:ext uri="{FF2B5EF4-FFF2-40B4-BE49-F238E27FC236}">
                <a16:creationId xmlns:a16="http://schemas.microsoft.com/office/drawing/2014/main" id="{8A841AC7-7856-96E1-7D6E-B32299C92E2D}"/>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r>
              <a:rPr lang="en" sz="1200"/>
              <a:t>Dec’22 CR</a:t>
            </a:r>
            <a:endParaRPr lang="en-US" sz="1200"/>
          </a:p>
        </p:txBody>
      </p:sp>
      <p:sp>
        <p:nvSpPr>
          <p:cNvPr id="9" name="TextBox 8">
            <a:extLst>
              <a:ext uri="{FF2B5EF4-FFF2-40B4-BE49-F238E27FC236}">
                <a16:creationId xmlns:a16="http://schemas.microsoft.com/office/drawing/2014/main" id="{BBD59FC5-B01B-F17B-B46C-D9F4CF822F69}"/>
              </a:ext>
            </a:extLst>
          </p:cNvPr>
          <p:cNvSpPr txBox="1"/>
          <p:nvPr/>
        </p:nvSpPr>
        <p:spPr>
          <a:xfrm>
            <a:off x="320316" y="594544"/>
            <a:ext cx="8507974" cy="35086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 sz="1000" b="1">
                <a:solidFill>
                  <a:srgbClr val="00B0F0"/>
                </a:solidFill>
              </a:rPr>
              <a:t>DAILY_DATA_FACTOR_HISTORY_WEEKS:  </a:t>
            </a:r>
            <a:endParaRPr lang="en-US"/>
          </a:p>
          <a:p>
            <a:r>
              <a:rPr lang="en" sz="1000" b="1">
                <a:solidFill>
                  <a:srgbClr val="00B0F0"/>
                </a:solidFill>
              </a:rPr>
              <a:t>  </a:t>
            </a:r>
            <a:endParaRPr lang="en-US" sz="1000">
              <a:solidFill>
                <a:srgbClr val="00B0F0"/>
              </a:solidFill>
            </a:endParaRPr>
          </a:p>
          <a:p>
            <a:pPr marL="171450" indent="-171450">
              <a:buChar char="•"/>
            </a:pPr>
            <a:r>
              <a:rPr lang="en" sz="1000" b="1"/>
              <a:t>Description</a:t>
            </a:r>
            <a:r>
              <a:rPr lang="en" sz="1000"/>
              <a:t>: </a:t>
            </a:r>
            <a:r>
              <a:rPr lang="en" sz="1000" b="1">
                <a:solidFill>
                  <a:srgbClr val="00B0F0"/>
                </a:solidFill>
              </a:rPr>
              <a:t>Number of historical weeks to review</a:t>
            </a:r>
            <a:endParaRPr lang="en-US" sz="1000" b="1">
              <a:solidFill>
                <a:srgbClr val="00B0F0"/>
              </a:solidFill>
            </a:endParaRPr>
          </a:p>
          <a:p>
            <a:pPr marL="171450" indent="-171450">
              <a:buChar char="•"/>
            </a:pPr>
            <a:r>
              <a:rPr lang="en" sz="1000" b="1"/>
              <a:t>Default value</a:t>
            </a:r>
            <a:r>
              <a:rPr lang="en" sz="1000"/>
              <a:t> = </a:t>
            </a:r>
            <a:r>
              <a:rPr lang="en" sz="1000" b="1">
                <a:solidFill>
                  <a:srgbClr val="00B0F0"/>
                </a:solidFill>
              </a:rPr>
              <a:t>52</a:t>
            </a:r>
            <a:endParaRPr lang="en-US" sz="1000" b="1">
              <a:solidFill>
                <a:srgbClr val="00B0F0"/>
              </a:solidFill>
            </a:endParaRPr>
          </a:p>
          <a:p>
            <a:pPr marL="171450" indent="-171450">
              <a:buChar char="•"/>
            </a:pPr>
            <a:r>
              <a:rPr lang="en" sz="1000" b="1"/>
              <a:t>Valid values are</a:t>
            </a:r>
            <a:r>
              <a:rPr lang="en" sz="1000"/>
              <a:t>: </a:t>
            </a:r>
            <a:r>
              <a:rPr lang="en" sz="1000" b="1">
                <a:solidFill>
                  <a:srgbClr val="00B0F0"/>
                </a:solidFill>
              </a:rPr>
              <a:t>NUMBER &gt;3  </a:t>
            </a:r>
            <a:endParaRPr lang="en-US" sz="1000" b="1">
              <a:solidFill>
                <a:srgbClr val="00B0F0"/>
              </a:solidFill>
            </a:endParaRPr>
          </a:p>
          <a:p>
            <a:pPr marL="171450" indent="-171450">
              <a:buChar char="•"/>
            </a:pPr>
            <a:r>
              <a:rPr lang="en" sz="1000" b="1"/>
              <a:t>Specificity</a:t>
            </a:r>
            <a:r>
              <a:rPr lang="en" sz="1000"/>
              <a:t>: </a:t>
            </a:r>
            <a:r>
              <a:rPr lang="en" sz="1000" b="1">
                <a:solidFill>
                  <a:srgbClr val="00B0F0"/>
                </a:solidFill>
              </a:rPr>
              <a:t>STORE</a:t>
            </a:r>
            <a:endParaRPr lang="en-US" sz="1000" b="1">
              <a:solidFill>
                <a:srgbClr val="00B0F0"/>
              </a:solidFill>
            </a:endParaRPr>
          </a:p>
          <a:p>
            <a:pPr marL="171450" indent="-171450">
              <a:buChar char="•"/>
            </a:pPr>
            <a:r>
              <a:rPr lang="en" sz="1000" b="1"/>
              <a:t>Maintenance Role</a:t>
            </a:r>
            <a:r>
              <a:rPr lang="en" sz="1000"/>
              <a:t>: </a:t>
            </a:r>
            <a:r>
              <a:rPr lang="en" sz="1000" b="1">
                <a:solidFill>
                  <a:srgbClr val="00B0F0"/>
                </a:solidFill>
              </a:rPr>
              <a:t>OPERATOR</a:t>
            </a:r>
          </a:p>
          <a:p>
            <a:endParaRPr lang="en" sz="1000" b="1">
              <a:solidFill>
                <a:srgbClr val="00B0F0"/>
              </a:solidFill>
            </a:endParaRPr>
          </a:p>
          <a:p>
            <a:endParaRPr lang="en" sz="1000" b="1">
              <a:solidFill>
                <a:srgbClr val="00B0F0"/>
              </a:solidFill>
            </a:endParaRPr>
          </a:p>
          <a:p>
            <a:r>
              <a:rPr lang="en" sz="1000" b="1">
                <a:solidFill>
                  <a:srgbClr val="00B0F0"/>
                </a:solidFill>
              </a:rPr>
              <a:t>DAILY_DATA_FACTOR_MIN_AVAILABLE_WEEKS   </a:t>
            </a:r>
            <a:endParaRPr lang="en"/>
          </a:p>
          <a:p>
            <a:endParaRPr lang="en"/>
          </a:p>
          <a:p>
            <a:pPr marL="285750" indent="-285750">
              <a:buChar char="•"/>
            </a:pPr>
            <a:r>
              <a:rPr lang="en" sz="1000" b="1"/>
              <a:t>Description</a:t>
            </a:r>
            <a:r>
              <a:rPr lang="en" sz="1000"/>
              <a:t>: </a:t>
            </a:r>
            <a:r>
              <a:rPr lang="en" sz="1000" b="1">
                <a:solidFill>
                  <a:srgbClr val="00B0F0"/>
                </a:solidFill>
              </a:rPr>
              <a:t>Minimum number of historical weeks with correct daily data in order for the new logic to run</a:t>
            </a:r>
          </a:p>
          <a:p>
            <a:pPr marL="285750" indent="-285750">
              <a:buChar char="•"/>
            </a:pPr>
            <a:r>
              <a:rPr lang="en" sz="1000" b="1"/>
              <a:t>Default value</a:t>
            </a:r>
            <a:r>
              <a:rPr lang="en" sz="1000"/>
              <a:t> = </a:t>
            </a:r>
            <a:r>
              <a:rPr lang="en" sz="1000" b="1">
                <a:solidFill>
                  <a:srgbClr val="00B0F0"/>
                </a:solidFill>
              </a:rPr>
              <a:t>4</a:t>
            </a:r>
          </a:p>
          <a:p>
            <a:pPr marL="285750" indent="-285750">
              <a:buChar char="•"/>
            </a:pPr>
            <a:r>
              <a:rPr lang="en" sz="1000" b="1"/>
              <a:t>Valid values are:</a:t>
            </a:r>
            <a:r>
              <a:rPr lang="en" sz="1000"/>
              <a:t> </a:t>
            </a:r>
            <a:r>
              <a:rPr lang="en" sz="1000" b="1">
                <a:solidFill>
                  <a:srgbClr val="00B0F0"/>
                </a:solidFill>
              </a:rPr>
              <a:t>NUMBER &gt;=4  </a:t>
            </a:r>
          </a:p>
          <a:p>
            <a:pPr marL="285750" indent="-285750">
              <a:buChar char="•"/>
            </a:pPr>
            <a:r>
              <a:rPr lang="en" sz="1000" b="1"/>
              <a:t>Specificity</a:t>
            </a:r>
            <a:r>
              <a:rPr lang="en" sz="1000"/>
              <a:t>: </a:t>
            </a:r>
            <a:r>
              <a:rPr lang="en" sz="1000" b="1">
                <a:solidFill>
                  <a:srgbClr val="00B0F0"/>
                </a:solidFill>
              </a:rPr>
              <a:t>STORE</a:t>
            </a:r>
          </a:p>
          <a:p>
            <a:pPr marL="285750" indent="-285750">
              <a:buChar char="•"/>
            </a:pPr>
            <a:r>
              <a:rPr lang="en" sz="1000" b="1"/>
              <a:t>Maintenance Role</a:t>
            </a:r>
            <a:r>
              <a:rPr lang="en" sz="1000"/>
              <a:t>: </a:t>
            </a:r>
            <a:r>
              <a:rPr lang="en" sz="1000" b="1">
                <a:solidFill>
                  <a:srgbClr val="00B0F0"/>
                </a:solidFill>
              </a:rPr>
              <a:t>OPERATOR</a:t>
            </a:r>
          </a:p>
          <a:p>
            <a:endParaRPr lang="en" sz="1000" b="1">
              <a:solidFill>
                <a:srgbClr val="00B0F0"/>
              </a:solidFill>
            </a:endParaRPr>
          </a:p>
          <a:p>
            <a:pPr marL="171450" indent="-171450">
              <a:buChar char="•"/>
            </a:pPr>
            <a:endParaRPr lang="en" sz="1000" b="1">
              <a:solidFill>
                <a:srgbClr val="00B0F0"/>
              </a:solidFill>
            </a:endParaRPr>
          </a:p>
          <a:p>
            <a:endParaRPr lang="en-US"/>
          </a:p>
          <a:p>
            <a:endParaRPr lang="en-US" sz="1200"/>
          </a:p>
          <a:p>
            <a:endParaRPr lang="en-US" sz="1200"/>
          </a:p>
        </p:txBody>
      </p:sp>
    </p:spTree>
    <p:extLst>
      <p:ext uri="{BB962C8B-B14F-4D97-AF65-F5344CB8AC3E}">
        <p14:creationId xmlns:p14="http://schemas.microsoft.com/office/powerpoint/2010/main" val="1149148221"/>
      </p:ext>
    </p:extLst>
  </p:cSld>
  <p:clrMapOvr>
    <a:overrideClrMapping bg1="lt1" tx1="dk1" bg2="lt2" tx2="dk2" accent1="accent1" accent2="accent2" accent3="accent3" accent4="accent4" accent5="accent5" accent6="accent6" hlink="hlink" folHlink="folHlink"/>
  </p:clrMapOvr>
</p:sld>
</file>

<file path=ppt/slides/slide6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23"/>
        <p:cNvGrpSpPr/>
        <p:nvPr/>
      </p:nvGrpSpPr>
      <p:grpSpPr>
        <a:xfrm>
          <a:off x="0" y="0"/>
          <a:ext cx="0" cy="0"/>
          <a:chOff x="0" y="0"/>
          <a:chExt cx="0" cy="0"/>
        </a:xfrm>
      </p:grpSpPr>
      <p:sp>
        <p:nvSpPr>
          <p:cNvPr id="1024" name="Google Shape;1024;p131"/>
          <p:cNvSpPr txBox="1">
            <a:spLocks noGrp="1"/>
          </p:cNvSpPr>
          <p:nvPr>
            <p:ph type="title"/>
          </p:nvPr>
        </p:nvSpPr>
        <p:spPr>
          <a:xfrm>
            <a:off x="361950" y="129778"/>
            <a:ext cx="7918500" cy="451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a:t>NEW STATUS “EXPECTED”</a:t>
            </a:r>
            <a:endParaRPr/>
          </a:p>
        </p:txBody>
      </p:sp>
      <p:sp>
        <p:nvSpPr>
          <p:cNvPr id="1025" name="Google Shape;1025;p131"/>
          <p:cNvSpPr txBox="1">
            <a:spLocks noGrp="1"/>
          </p:cNvSpPr>
          <p:nvPr>
            <p:ph type="body" idx="1"/>
          </p:nvPr>
        </p:nvSpPr>
        <p:spPr>
          <a:xfrm>
            <a:off x="361950" y="691750"/>
            <a:ext cx="8412300" cy="4277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sz="1500">
              <a:latin typeface="Arial"/>
              <a:ea typeface="Arial"/>
              <a:cs typeface="Arial"/>
              <a:sym typeface="Arial"/>
            </a:endParaRPr>
          </a:p>
          <a:p>
            <a:pPr marL="0" lvl="0" indent="0" algn="l" rtl="0">
              <a:spcBef>
                <a:spcPts val="1000"/>
              </a:spcBef>
              <a:spcAft>
                <a:spcPts val="0"/>
              </a:spcAft>
              <a:buNone/>
            </a:pPr>
            <a:r>
              <a:rPr lang="en" sz="1500">
                <a:latin typeface="Arial"/>
                <a:ea typeface="Arial"/>
                <a:cs typeface="Arial"/>
                <a:sym typeface="Arial"/>
              </a:rPr>
              <a:t>There is a new store status introduced that is “EXPECTED” which is useful for the E-COM stores specifically.</a:t>
            </a:r>
            <a:endParaRPr sz="1500">
              <a:latin typeface="Arial"/>
              <a:ea typeface="Arial"/>
              <a:cs typeface="Arial"/>
              <a:sym typeface="Arial"/>
            </a:endParaRPr>
          </a:p>
          <a:p>
            <a:pPr marL="0" lvl="0" indent="0" algn="l" rtl="0">
              <a:spcBef>
                <a:spcPts val="1000"/>
              </a:spcBef>
              <a:spcAft>
                <a:spcPts val="0"/>
              </a:spcAft>
              <a:buNone/>
            </a:pPr>
            <a:r>
              <a:rPr lang="en" sz="1500">
                <a:latin typeface="Arial"/>
                <a:ea typeface="Arial"/>
                <a:cs typeface="Arial"/>
                <a:sym typeface="Arial"/>
              </a:rPr>
              <a:t>Earlier we have only Optional &amp; Required status for stores but with this, there is a chance that </a:t>
            </a:r>
            <a:r>
              <a:rPr lang="en" sz="1500" err="1">
                <a:latin typeface="Arial"/>
                <a:ea typeface="Arial"/>
                <a:cs typeface="Arial"/>
                <a:sym typeface="Arial"/>
              </a:rPr>
              <a:t>Rawdata</a:t>
            </a:r>
            <a:r>
              <a:rPr lang="en" sz="1500">
                <a:latin typeface="Arial"/>
                <a:ea typeface="Arial"/>
                <a:cs typeface="Arial"/>
                <a:sym typeface="Arial"/>
              </a:rPr>
              <a:t> completeness process will pick the stores and salvage them. </a:t>
            </a:r>
            <a:endParaRPr sz="1500">
              <a:latin typeface="Arial"/>
              <a:ea typeface="Arial"/>
              <a:cs typeface="Arial"/>
              <a:sym typeface="Arial"/>
            </a:endParaRPr>
          </a:p>
          <a:p>
            <a:pPr marL="0" lvl="0" indent="0" algn="l" rtl="0">
              <a:spcBef>
                <a:spcPts val="1000"/>
              </a:spcBef>
              <a:spcAft>
                <a:spcPts val="0"/>
              </a:spcAft>
              <a:buNone/>
            </a:pPr>
            <a:r>
              <a:rPr lang="en" sz="1500">
                <a:latin typeface="Arial"/>
                <a:ea typeface="Arial"/>
                <a:cs typeface="Arial"/>
                <a:sym typeface="Arial"/>
              </a:rPr>
              <a:t>For E-COM store, we put the store status as “EXPECTED”. </a:t>
            </a:r>
            <a:endParaRPr sz="1500">
              <a:latin typeface="Arial"/>
              <a:ea typeface="Arial"/>
              <a:cs typeface="Arial"/>
              <a:sym typeface="Arial"/>
            </a:endParaRPr>
          </a:p>
          <a:p>
            <a:pPr marL="0" lvl="0" indent="0" algn="l" rtl="0">
              <a:spcBef>
                <a:spcPts val="1000"/>
              </a:spcBef>
              <a:spcAft>
                <a:spcPts val="1000"/>
              </a:spcAft>
              <a:buNone/>
            </a:pPr>
            <a:r>
              <a:rPr lang="en" sz="1500">
                <a:latin typeface="Arial"/>
                <a:ea typeface="Arial"/>
                <a:cs typeface="Arial"/>
                <a:sym typeface="Arial"/>
              </a:rPr>
              <a:t>Reason behind this status is, we do not salvage E-COM stores, Hence E-COM store will not be picked by </a:t>
            </a:r>
            <a:r>
              <a:rPr lang="en" sz="1500" err="1">
                <a:latin typeface="Arial"/>
                <a:ea typeface="Arial"/>
                <a:cs typeface="Arial"/>
                <a:sym typeface="Arial"/>
              </a:rPr>
              <a:t>Rawdata</a:t>
            </a:r>
            <a:r>
              <a:rPr lang="en" sz="1500">
                <a:latin typeface="Arial"/>
                <a:ea typeface="Arial"/>
                <a:cs typeface="Arial"/>
                <a:sym typeface="Arial"/>
              </a:rPr>
              <a:t> completeness process and will not salvage.</a:t>
            </a:r>
            <a:endParaRPr sz="1500">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6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30"/>
        <p:cNvGrpSpPr/>
        <p:nvPr/>
      </p:nvGrpSpPr>
      <p:grpSpPr>
        <a:xfrm>
          <a:off x="0" y="0"/>
          <a:ext cx="0" cy="0"/>
          <a:chOff x="0" y="0"/>
          <a:chExt cx="0" cy="0"/>
        </a:xfrm>
      </p:grpSpPr>
      <p:sp>
        <p:nvSpPr>
          <p:cNvPr id="1032" name="Google Shape;1032;p132"/>
          <p:cNvSpPr txBox="1">
            <a:spLocks noGrp="1"/>
          </p:cNvSpPr>
          <p:nvPr>
            <p:ph type="title"/>
          </p:nvPr>
        </p:nvSpPr>
        <p:spPr>
          <a:xfrm>
            <a:off x="2889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FOVA HANDLING - </a:t>
            </a:r>
            <a:r>
              <a:rPr lang="en">
                <a:solidFill>
                  <a:schemeClr val="accent1"/>
                </a:solidFill>
              </a:rPr>
              <a:t>YAFA</a:t>
            </a:r>
            <a:endParaRPr sz="3000" i="0" u="none" strike="noStrike" cap="none">
              <a:solidFill>
                <a:schemeClr val="accent1"/>
              </a:solidFill>
            </a:endParaRPr>
          </a:p>
        </p:txBody>
      </p:sp>
      <p:sp>
        <p:nvSpPr>
          <p:cNvPr id="1031" name="Google Shape;1031;p132"/>
          <p:cNvSpPr txBox="1">
            <a:spLocks noGrp="1"/>
          </p:cNvSpPr>
          <p:nvPr>
            <p:ph type="body" idx="1"/>
          </p:nvPr>
        </p:nvSpPr>
        <p:spPr>
          <a:xfrm>
            <a:off x="162825" y="643908"/>
            <a:ext cx="8843700" cy="4428900"/>
          </a:xfrm>
          <a:prstGeom prst="rect">
            <a:avLst/>
          </a:prstGeom>
          <a:noFill/>
          <a:ln>
            <a:noFill/>
          </a:ln>
        </p:spPr>
        <p:txBody>
          <a:bodyPr spcFirstLastPara="1" wrap="square" lIns="91425" tIns="45700" rIns="91425" bIns="45700" anchor="t" anchorCtr="0">
            <a:noAutofit/>
          </a:bodyPr>
          <a:lstStyle/>
          <a:p>
            <a:pPr marL="457200" lvl="0" indent="-311150" algn="l" rtl="0">
              <a:lnSpc>
                <a:spcPct val="115000"/>
              </a:lnSpc>
              <a:spcBef>
                <a:spcPts val="0"/>
              </a:spcBef>
              <a:spcAft>
                <a:spcPts val="0"/>
              </a:spcAft>
              <a:buSzPts val="1300"/>
              <a:buChar char="•"/>
            </a:pPr>
            <a:r>
              <a:rPr lang="en" sz="1300"/>
              <a:t>Stores which do not pass the Statistical tests are considered as Questionable stores by the system and are thrown in YAFA (Yet Another Formal Validation application).</a:t>
            </a:r>
            <a:endParaRPr sz="1300"/>
          </a:p>
          <a:p>
            <a:pPr marL="457200" lvl="0" indent="0" algn="l" rtl="0">
              <a:lnSpc>
                <a:spcPct val="115000"/>
              </a:lnSpc>
              <a:spcBef>
                <a:spcPts val="0"/>
              </a:spcBef>
              <a:spcAft>
                <a:spcPts val="0"/>
              </a:spcAft>
              <a:buNone/>
            </a:pPr>
            <a:endParaRPr sz="600"/>
          </a:p>
          <a:p>
            <a:pPr marL="457200" lvl="0" indent="-311150" algn="l" rtl="0">
              <a:lnSpc>
                <a:spcPct val="100000"/>
              </a:lnSpc>
              <a:spcBef>
                <a:spcPts val="0"/>
              </a:spcBef>
              <a:spcAft>
                <a:spcPts val="0"/>
              </a:spcAft>
              <a:buSzPts val="1300"/>
              <a:buChar char="•"/>
            </a:pPr>
            <a:r>
              <a:rPr lang="en" sz="1300"/>
              <a:t>There are 3 options available in YAFA</a:t>
            </a:r>
            <a:endParaRPr sz="1300"/>
          </a:p>
          <a:p>
            <a:pPr marL="457200" lvl="0" indent="0" algn="l" rtl="0">
              <a:lnSpc>
                <a:spcPct val="100000"/>
              </a:lnSpc>
              <a:spcBef>
                <a:spcPts val="0"/>
              </a:spcBef>
              <a:spcAft>
                <a:spcPts val="0"/>
              </a:spcAft>
              <a:buNone/>
            </a:pPr>
            <a:endParaRPr sz="1300"/>
          </a:p>
          <a:p>
            <a:pPr marL="457200" lvl="0" indent="-311150" algn="l" rtl="0">
              <a:spcBef>
                <a:spcPts val="0"/>
              </a:spcBef>
              <a:spcAft>
                <a:spcPts val="0"/>
              </a:spcAft>
              <a:buClr>
                <a:schemeClr val="dk1"/>
              </a:buClr>
              <a:buSzPts val="1300"/>
              <a:buChar char="•"/>
            </a:pPr>
            <a:r>
              <a:rPr lang="en" sz="1300" u="sng">
                <a:solidFill>
                  <a:schemeClr val="dk1"/>
                </a:solidFill>
              </a:rPr>
              <a:t>Enhanced Loading Stats :</a:t>
            </a:r>
            <a:r>
              <a:rPr lang="en" sz="1300">
                <a:solidFill>
                  <a:schemeClr val="dk1"/>
                </a:solidFill>
              </a:rPr>
              <a:t> </a:t>
            </a:r>
            <a:r>
              <a:rPr lang="en" sz="1300">
                <a:solidFill>
                  <a:schemeClr val="dk1"/>
                </a:solidFill>
                <a:highlight>
                  <a:srgbClr val="A7E26E"/>
                </a:highlight>
              </a:rPr>
              <a:t>(Aug’20 CR)</a:t>
            </a:r>
            <a:endParaRPr sz="1300">
              <a:solidFill>
                <a:schemeClr val="dk1"/>
              </a:solidFill>
              <a:highlight>
                <a:srgbClr val="A7E26E"/>
              </a:highlight>
            </a:endParaRPr>
          </a:p>
          <a:p>
            <a:pPr marL="0" lvl="0" indent="0" algn="l" rtl="0">
              <a:spcBef>
                <a:spcPts val="0"/>
              </a:spcBef>
              <a:spcAft>
                <a:spcPts val="0"/>
              </a:spcAft>
              <a:buNone/>
            </a:pPr>
            <a:endParaRPr sz="7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Enhanced Loading Stats</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Retailer Info</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Reception Details</a:t>
            </a:r>
            <a:endParaRPr sz="1100">
              <a:solidFill>
                <a:schemeClr val="dk1"/>
              </a:solidFill>
            </a:endParaRPr>
          </a:p>
          <a:p>
            <a:pPr marL="457200" lvl="0" indent="-298450" algn="l" rtl="0">
              <a:spcBef>
                <a:spcPts val="0"/>
              </a:spcBef>
              <a:spcAft>
                <a:spcPts val="0"/>
              </a:spcAft>
              <a:buClr>
                <a:schemeClr val="dk1"/>
              </a:buClr>
              <a:buSzPts val="1100"/>
              <a:buAutoNum type="arabicPeriod"/>
            </a:pPr>
            <a:r>
              <a:rPr lang="en" sz="1100">
                <a:solidFill>
                  <a:schemeClr val="dk1"/>
                </a:solidFill>
              </a:rPr>
              <a:t>FOVA Graphs</a:t>
            </a:r>
            <a:endParaRPr sz="1100">
              <a:solidFill>
                <a:schemeClr val="dk1"/>
              </a:solidFill>
            </a:endParaRPr>
          </a:p>
          <a:p>
            <a:pPr marL="914400" lvl="0" indent="0" algn="l" rtl="0">
              <a:spcBef>
                <a:spcPts val="0"/>
              </a:spcBef>
              <a:spcAft>
                <a:spcPts val="0"/>
              </a:spcAft>
              <a:buNone/>
            </a:pPr>
            <a:endParaRPr sz="1100">
              <a:solidFill>
                <a:schemeClr val="dk1"/>
              </a:solidFill>
            </a:endParaRPr>
          </a:p>
          <a:p>
            <a:pPr marL="457200" lvl="0" indent="-311150" algn="l" rtl="0">
              <a:lnSpc>
                <a:spcPct val="100000"/>
              </a:lnSpc>
              <a:spcBef>
                <a:spcPts val="0"/>
              </a:spcBef>
              <a:spcAft>
                <a:spcPts val="0"/>
              </a:spcAft>
              <a:buSzPts val="1300"/>
              <a:buChar char="•"/>
            </a:pPr>
            <a:r>
              <a:rPr lang="en" sz="1300" u="sng"/>
              <a:t>Loading Status :</a:t>
            </a:r>
            <a:endParaRPr sz="1300" u="sng"/>
          </a:p>
          <a:p>
            <a:pPr marL="0" lvl="0" indent="0" algn="l" rtl="0">
              <a:lnSpc>
                <a:spcPct val="100000"/>
              </a:lnSpc>
              <a:spcBef>
                <a:spcPts val="0"/>
              </a:spcBef>
              <a:spcAft>
                <a:spcPts val="0"/>
              </a:spcAft>
              <a:buNone/>
            </a:pPr>
            <a:endParaRPr sz="700"/>
          </a:p>
          <a:p>
            <a:pPr marL="457200" lvl="0" indent="-298450" algn="l" rtl="0">
              <a:lnSpc>
                <a:spcPct val="100000"/>
              </a:lnSpc>
              <a:spcBef>
                <a:spcPts val="0"/>
              </a:spcBef>
              <a:spcAft>
                <a:spcPts val="0"/>
              </a:spcAft>
              <a:buSzPts val="1100"/>
              <a:buAutoNum type="arabicPeriod"/>
            </a:pPr>
            <a:r>
              <a:rPr lang="en" sz="1100"/>
              <a:t>Loading Stats</a:t>
            </a:r>
            <a:endParaRPr sz="1100"/>
          </a:p>
          <a:p>
            <a:pPr marL="457200" lvl="0" indent="-298450" algn="l" rtl="0">
              <a:lnSpc>
                <a:spcPct val="100000"/>
              </a:lnSpc>
              <a:spcBef>
                <a:spcPts val="0"/>
              </a:spcBef>
              <a:spcAft>
                <a:spcPts val="0"/>
              </a:spcAft>
              <a:buSzPts val="1100"/>
              <a:buAutoNum type="arabicPeriod"/>
            </a:pPr>
            <a:r>
              <a:rPr lang="en" sz="1100"/>
              <a:t>General Overview</a:t>
            </a:r>
            <a:endParaRPr sz="1100"/>
          </a:p>
          <a:p>
            <a:pPr marL="457200" lvl="0" indent="-298450" algn="l" rtl="0">
              <a:lnSpc>
                <a:spcPct val="100000"/>
              </a:lnSpc>
              <a:spcBef>
                <a:spcPts val="0"/>
              </a:spcBef>
              <a:spcAft>
                <a:spcPts val="0"/>
              </a:spcAft>
              <a:buSzPts val="1100"/>
              <a:buAutoNum type="arabicPeriod"/>
            </a:pPr>
            <a:r>
              <a:rPr lang="en" sz="1100"/>
              <a:t>Retailer Info</a:t>
            </a:r>
            <a:endParaRPr sz="1100"/>
          </a:p>
          <a:p>
            <a:pPr marL="457200" lvl="0" indent="-298450" algn="l" rtl="0">
              <a:lnSpc>
                <a:spcPct val="100000"/>
              </a:lnSpc>
              <a:spcBef>
                <a:spcPts val="0"/>
              </a:spcBef>
              <a:spcAft>
                <a:spcPts val="0"/>
              </a:spcAft>
              <a:buSzPts val="1100"/>
              <a:buAutoNum type="arabicPeriod"/>
            </a:pPr>
            <a:r>
              <a:rPr lang="en" sz="1100"/>
              <a:t>FOVA to do Browser</a:t>
            </a:r>
            <a:endParaRPr sz="1100"/>
          </a:p>
          <a:p>
            <a:pPr marL="457200" lvl="0" indent="0" algn="l" rtl="0">
              <a:lnSpc>
                <a:spcPct val="100000"/>
              </a:lnSpc>
              <a:spcBef>
                <a:spcPts val="0"/>
              </a:spcBef>
              <a:spcAft>
                <a:spcPts val="0"/>
              </a:spcAft>
              <a:buNone/>
            </a:pPr>
            <a:endParaRPr sz="1100"/>
          </a:p>
          <a:p>
            <a:pPr marL="457200" lvl="0" indent="-311150" algn="l" rtl="0">
              <a:lnSpc>
                <a:spcPct val="100000"/>
              </a:lnSpc>
              <a:spcBef>
                <a:spcPts val="0"/>
              </a:spcBef>
              <a:spcAft>
                <a:spcPts val="0"/>
              </a:spcAft>
              <a:buSzPts val="1300"/>
              <a:buChar char="•"/>
            </a:pPr>
            <a:r>
              <a:rPr lang="en" sz="1300" u="sng"/>
              <a:t>Other Options :</a:t>
            </a:r>
            <a:endParaRPr sz="1300" u="sng"/>
          </a:p>
          <a:p>
            <a:pPr marL="0" lvl="0" indent="0" algn="l" rtl="0">
              <a:lnSpc>
                <a:spcPct val="100000"/>
              </a:lnSpc>
              <a:spcBef>
                <a:spcPts val="0"/>
              </a:spcBef>
              <a:spcAft>
                <a:spcPts val="0"/>
              </a:spcAft>
              <a:buNone/>
            </a:pPr>
            <a:endParaRPr sz="700"/>
          </a:p>
          <a:p>
            <a:pPr marL="457200" lvl="0" indent="-298450" algn="l" rtl="0">
              <a:lnSpc>
                <a:spcPct val="100000"/>
              </a:lnSpc>
              <a:spcBef>
                <a:spcPts val="0"/>
              </a:spcBef>
              <a:spcAft>
                <a:spcPts val="0"/>
              </a:spcAft>
              <a:buSzPts val="1100"/>
              <a:buAutoNum type="arabicPeriod"/>
            </a:pPr>
            <a:r>
              <a:rPr lang="en" sz="1100"/>
              <a:t>FOVA Report browser</a:t>
            </a:r>
            <a:endParaRPr sz="1100"/>
          </a:p>
          <a:p>
            <a:pPr marL="457200" lvl="0" indent="-298450" algn="l" rtl="0">
              <a:lnSpc>
                <a:spcPct val="100000"/>
              </a:lnSpc>
              <a:spcBef>
                <a:spcPts val="0"/>
              </a:spcBef>
              <a:spcAft>
                <a:spcPts val="0"/>
              </a:spcAft>
              <a:buSzPts val="1100"/>
              <a:buAutoNum type="arabicPeriod"/>
            </a:pPr>
            <a:r>
              <a:rPr lang="en" sz="1100"/>
              <a:t>FOVA Statistic browser</a:t>
            </a:r>
            <a:endParaRPr sz="1100"/>
          </a:p>
          <a:p>
            <a:pPr marL="455612" lvl="1" indent="-44450" algn="l" rtl="0">
              <a:lnSpc>
                <a:spcPct val="100000"/>
              </a:lnSpc>
              <a:spcBef>
                <a:spcPts val="0"/>
              </a:spcBef>
              <a:spcAft>
                <a:spcPts val="0"/>
              </a:spcAft>
              <a:buSzPts val="2000"/>
              <a:buNone/>
            </a:pPr>
            <a:endParaRPr/>
          </a:p>
        </p:txBody>
      </p:sp>
    </p:spTree>
  </p:cSld>
  <p:clrMapOvr>
    <a:overrideClrMapping bg1="lt1" tx1="dk1" bg2="lt2" tx2="dk2" accent1="accent1" accent2="accent2" accent3="accent3" accent4="accent4" accent5="accent5" accent6="accent6" hlink="hlink" folHlink="folHlink"/>
  </p:clrMapOvr>
</p:sld>
</file>

<file path=ppt/slides/slide6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36"/>
        <p:cNvGrpSpPr/>
        <p:nvPr/>
      </p:nvGrpSpPr>
      <p:grpSpPr>
        <a:xfrm>
          <a:off x="0" y="0"/>
          <a:ext cx="0" cy="0"/>
          <a:chOff x="0" y="0"/>
          <a:chExt cx="0" cy="0"/>
        </a:xfrm>
      </p:grpSpPr>
      <p:sp>
        <p:nvSpPr>
          <p:cNvPr id="1037" name="Google Shape;1037;p133"/>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Enhanced Loading Stats</a:t>
            </a:r>
            <a:endParaRPr/>
          </a:p>
        </p:txBody>
      </p:sp>
      <p:pic>
        <p:nvPicPr>
          <p:cNvPr id="1038" name="Google Shape;1038;p133"/>
          <p:cNvPicPr preferRelativeResize="0"/>
          <p:nvPr/>
        </p:nvPicPr>
        <p:blipFill>
          <a:blip r:embed="rId4">
            <a:alphaModFix/>
          </a:blip>
          <a:stretch>
            <a:fillRect/>
          </a:stretch>
        </p:blipFill>
        <p:spPr>
          <a:xfrm>
            <a:off x="418850" y="3463000"/>
            <a:ext cx="4153149" cy="1584072"/>
          </a:xfrm>
          <a:prstGeom prst="rect">
            <a:avLst/>
          </a:prstGeom>
          <a:noFill/>
          <a:ln>
            <a:noFill/>
          </a:ln>
        </p:spPr>
      </p:pic>
      <p:sp>
        <p:nvSpPr>
          <p:cNvPr id="1039" name="Google Shape;1039;p133"/>
          <p:cNvSpPr txBox="1"/>
          <p:nvPr/>
        </p:nvSpPr>
        <p:spPr>
          <a:xfrm>
            <a:off x="364000" y="564650"/>
            <a:ext cx="45648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a:t>
            </a:r>
            <a:r>
              <a:rPr lang="en" sz="1300">
                <a:solidFill>
                  <a:schemeClr val="dk1"/>
                </a:solidFill>
              </a:rPr>
              <a:t>tab under YAFA is used for ECOM stores(Mostly).</a:t>
            </a:r>
            <a:endParaRPr sz="1300" b="0" i="0" u="none" strike="noStrike" cap="none">
              <a:solidFill>
                <a:schemeClr val="dk1"/>
              </a:solidFill>
              <a:latin typeface="Arial"/>
              <a:ea typeface="Arial"/>
              <a:cs typeface="Arial"/>
              <a:sym typeface="Arial"/>
            </a:endParaRPr>
          </a:p>
        </p:txBody>
      </p:sp>
      <p:pic>
        <p:nvPicPr>
          <p:cNvPr id="1040" name="Google Shape;1040;p133"/>
          <p:cNvPicPr preferRelativeResize="0"/>
          <p:nvPr/>
        </p:nvPicPr>
        <p:blipFill>
          <a:blip r:embed="rId5">
            <a:alphaModFix/>
          </a:blip>
          <a:stretch>
            <a:fillRect/>
          </a:stretch>
        </p:blipFill>
        <p:spPr>
          <a:xfrm>
            <a:off x="381000" y="827150"/>
            <a:ext cx="7596125" cy="26358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44"/>
        <p:cNvGrpSpPr/>
        <p:nvPr/>
      </p:nvGrpSpPr>
      <p:grpSpPr>
        <a:xfrm>
          <a:off x="0" y="0"/>
          <a:ext cx="0" cy="0"/>
          <a:chOff x="0" y="0"/>
          <a:chExt cx="0" cy="0"/>
        </a:xfrm>
      </p:grpSpPr>
      <p:sp>
        <p:nvSpPr>
          <p:cNvPr id="1045" name="Google Shape;1045;p134"/>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Enhanced Loading Stats</a:t>
            </a:r>
            <a:endParaRPr/>
          </a:p>
        </p:txBody>
      </p:sp>
      <p:sp>
        <p:nvSpPr>
          <p:cNvPr id="1046" name="Google Shape;1046;p134"/>
          <p:cNvSpPr txBox="1"/>
          <p:nvPr/>
        </p:nvSpPr>
        <p:spPr>
          <a:xfrm>
            <a:off x="364000" y="711775"/>
            <a:ext cx="8351700" cy="41499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300" b="1">
                <a:solidFill>
                  <a:schemeClr val="dk1"/>
                </a:solidFill>
              </a:rPr>
              <a:t>Below condition used for the color coding in loading stats :</a:t>
            </a:r>
            <a:endParaRPr sz="1300" b="1">
              <a:solidFill>
                <a:schemeClr val="dk1"/>
              </a:solidFill>
            </a:endParaRPr>
          </a:p>
          <a:p>
            <a:pPr marL="457200" marR="0" lvl="0" indent="-311150" algn="l" rtl="0">
              <a:lnSpc>
                <a:spcPct val="115000"/>
              </a:lnSpc>
              <a:spcBef>
                <a:spcPts val="1000"/>
              </a:spcBef>
              <a:spcAft>
                <a:spcPts val="0"/>
              </a:spcAft>
              <a:buClr>
                <a:schemeClr val="dk1"/>
              </a:buClr>
              <a:buSzPts val="1300"/>
              <a:buChar char="●"/>
            </a:pPr>
            <a:r>
              <a:rPr lang="en" sz="1300">
                <a:solidFill>
                  <a:schemeClr val="dk1"/>
                </a:solidFill>
              </a:rPr>
              <a:t>If MAX_LOADED_STORE_PERC &lt; 95% =&gt; Warning (Orange)</a:t>
            </a:r>
            <a:endParaRPr sz="1300">
              <a:solidFill>
                <a:schemeClr val="dk1"/>
              </a:solidFill>
            </a:endParaRPr>
          </a:p>
          <a:p>
            <a:pPr marL="457200" marR="0" lvl="0" indent="-311150" algn="l" rtl="0">
              <a:lnSpc>
                <a:spcPct val="115000"/>
              </a:lnSpc>
              <a:spcBef>
                <a:spcPts val="0"/>
              </a:spcBef>
              <a:spcAft>
                <a:spcPts val="0"/>
              </a:spcAft>
              <a:buClr>
                <a:schemeClr val="dk1"/>
              </a:buClr>
              <a:buSzPts val="1300"/>
              <a:buChar char="●"/>
            </a:pPr>
            <a:r>
              <a:rPr lang="en" sz="1300">
                <a:solidFill>
                  <a:schemeClr val="dk1"/>
                </a:solidFill>
              </a:rPr>
              <a:t>If MAX_LOADED_STORE_PERC &gt;= 95% and MAX_STORE_NOTOK_PERC  &gt; 3% =&gt; Critical (Red)</a:t>
            </a:r>
            <a:endParaRPr sz="1300">
              <a:solidFill>
                <a:schemeClr val="dk1"/>
              </a:solidFill>
            </a:endParaRPr>
          </a:p>
          <a:p>
            <a:pPr marL="457200" marR="0" lvl="0" indent="-311150" algn="l" rtl="0">
              <a:lnSpc>
                <a:spcPct val="115000"/>
              </a:lnSpc>
              <a:spcBef>
                <a:spcPts val="0"/>
              </a:spcBef>
              <a:spcAft>
                <a:spcPts val="0"/>
              </a:spcAft>
              <a:buClr>
                <a:schemeClr val="dk1"/>
              </a:buClr>
              <a:buSzPts val="1300"/>
              <a:buChar char="●"/>
            </a:pPr>
            <a:r>
              <a:rPr lang="en" sz="1300">
                <a:solidFill>
                  <a:schemeClr val="dk1"/>
                </a:solidFill>
              </a:rPr>
              <a:t>If MAX_LOADED_STORE_PERC &gt;= 95% and MAX_STORE_NOTOK_PERC  &lt;= 3% =&gt; OK (Green)</a:t>
            </a: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300">
                <a:solidFill>
                  <a:schemeClr val="dk1"/>
                </a:solidFill>
              </a:rPr>
              <a:t>There is one more column “Status” added which will provide the status of the retailer as per above criteria.</a:t>
            </a: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50"/>
        <p:cNvGrpSpPr/>
        <p:nvPr/>
      </p:nvGrpSpPr>
      <p:grpSpPr>
        <a:xfrm>
          <a:off x="0" y="0"/>
          <a:ext cx="0" cy="0"/>
          <a:chOff x="0" y="0"/>
          <a:chExt cx="0" cy="0"/>
        </a:xfrm>
      </p:grpSpPr>
      <p:sp>
        <p:nvSpPr>
          <p:cNvPr id="1051" name="Google Shape;1051;p135"/>
          <p:cNvSpPr txBox="1">
            <a:spLocks noGrp="1"/>
          </p:cNvSpPr>
          <p:nvPr>
            <p:ph type="title"/>
          </p:nvPr>
        </p:nvSpPr>
        <p:spPr>
          <a:xfrm>
            <a:off x="209550" y="20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Retailer Info</a:t>
            </a:r>
            <a:endParaRPr/>
          </a:p>
        </p:txBody>
      </p:sp>
      <p:pic>
        <p:nvPicPr>
          <p:cNvPr id="1052" name="Google Shape;1052;p135"/>
          <p:cNvPicPr preferRelativeResize="0"/>
          <p:nvPr/>
        </p:nvPicPr>
        <p:blipFill>
          <a:blip r:embed="rId4">
            <a:alphaModFix/>
          </a:blip>
          <a:stretch>
            <a:fillRect/>
          </a:stretch>
        </p:blipFill>
        <p:spPr>
          <a:xfrm>
            <a:off x="381000" y="3138800"/>
            <a:ext cx="4644676" cy="1928500"/>
          </a:xfrm>
          <a:prstGeom prst="rect">
            <a:avLst/>
          </a:prstGeom>
          <a:noFill/>
          <a:ln>
            <a:noFill/>
          </a:ln>
        </p:spPr>
      </p:pic>
      <p:sp>
        <p:nvSpPr>
          <p:cNvPr id="1053" name="Google Shape;1053;p135"/>
          <p:cNvSpPr txBox="1"/>
          <p:nvPr/>
        </p:nvSpPr>
        <p:spPr>
          <a:xfrm>
            <a:off x="287800" y="488450"/>
            <a:ext cx="45648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a:t>
            </a:r>
            <a:r>
              <a:rPr lang="en" sz="1300">
                <a:solidFill>
                  <a:schemeClr val="dk1"/>
                </a:solidFill>
              </a:rPr>
              <a:t>tab under YAFA is used for ECOM stores(Mostly).</a:t>
            </a:r>
            <a:endParaRPr sz="1300" b="0" i="0" u="none" strike="noStrike" cap="none">
              <a:solidFill>
                <a:schemeClr val="dk1"/>
              </a:solidFill>
              <a:latin typeface="Arial"/>
              <a:ea typeface="Arial"/>
              <a:cs typeface="Arial"/>
              <a:sym typeface="Arial"/>
            </a:endParaRPr>
          </a:p>
        </p:txBody>
      </p:sp>
      <p:pic>
        <p:nvPicPr>
          <p:cNvPr id="1054" name="Google Shape;1054;p135"/>
          <p:cNvPicPr preferRelativeResize="0"/>
          <p:nvPr/>
        </p:nvPicPr>
        <p:blipFill>
          <a:blip r:embed="rId5">
            <a:alphaModFix/>
          </a:blip>
          <a:stretch>
            <a:fillRect/>
          </a:stretch>
        </p:blipFill>
        <p:spPr>
          <a:xfrm>
            <a:off x="304800" y="768675"/>
            <a:ext cx="7833475" cy="2293925"/>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58"/>
        <p:cNvGrpSpPr/>
        <p:nvPr/>
      </p:nvGrpSpPr>
      <p:grpSpPr>
        <a:xfrm>
          <a:off x="0" y="0"/>
          <a:ext cx="0" cy="0"/>
          <a:chOff x="0" y="0"/>
          <a:chExt cx="0" cy="0"/>
        </a:xfrm>
      </p:grpSpPr>
      <p:sp>
        <p:nvSpPr>
          <p:cNvPr id="1059" name="Google Shape;1059;p136"/>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Reception Details</a:t>
            </a:r>
            <a:endParaRPr/>
          </a:p>
        </p:txBody>
      </p:sp>
      <p:sp>
        <p:nvSpPr>
          <p:cNvPr id="1060" name="Google Shape;1060;p136"/>
          <p:cNvSpPr txBox="1"/>
          <p:nvPr/>
        </p:nvSpPr>
        <p:spPr>
          <a:xfrm>
            <a:off x="364000" y="564650"/>
            <a:ext cx="84459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a:t>
            </a:r>
            <a:r>
              <a:rPr lang="en" sz="1300">
                <a:solidFill>
                  <a:schemeClr val="dk1"/>
                </a:solidFill>
              </a:rPr>
              <a:t>tab under YAFA is used for ECOM stores(Mostly). When click on reception details it open below screen.</a:t>
            </a:r>
            <a:endParaRPr sz="1300" b="0" i="0" u="none" strike="noStrike" cap="none">
              <a:solidFill>
                <a:schemeClr val="dk1"/>
              </a:solidFill>
              <a:latin typeface="Arial"/>
              <a:ea typeface="Arial"/>
              <a:cs typeface="Arial"/>
              <a:sym typeface="Arial"/>
            </a:endParaRPr>
          </a:p>
        </p:txBody>
      </p:sp>
      <p:pic>
        <p:nvPicPr>
          <p:cNvPr id="1061" name="Google Shape;1061;p136"/>
          <p:cNvPicPr preferRelativeResize="0"/>
          <p:nvPr/>
        </p:nvPicPr>
        <p:blipFill>
          <a:blip r:embed="rId4">
            <a:alphaModFix/>
          </a:blip>
          <a:stretch>
            <a:fillRect/>
          </a:stretch>
        </p:blipFill>
        <p:spPr>
          <a:xfrm>
            <a:off x="457200" y="1512950"/>
            <a:ext cx="8303501" cy="2038325"/>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65"/>
        <p:cNvGrpSpPr/>
        <p:nvPr/>
      </p:nvGrpSpPr>
      <p:grpSpPr>
        <a:xfrm>
          <a:off x="0" y="0"/>
          <a:ext cx="0" cy="0"/>
          <a:chOff x="0" y="0"/>
          <a:chExt cx="0" cy="0"/>
        </a:xfrm>
      </p:grpSpPr>
      <p:sp>
        <p:nvSpPr>
          <p:cNvPr id="1066" name="Google Shape;1066;p137"/>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Reception Details</a:t>
            </a:r>
            <a:endParaRPr/>
          </a:p>
        </p:txBody>
      </p:sp>
      <p:sp>
        <p:nvSpPr>
          <p:cNvPr id="1067" name="Google Shape;1067;p137"/>
          <p:cNvSpPr txBox="1"/>
          <p:nvPr/>
        </p:nvSpPr>
        <p:spPr>
          <a:xfrm>
            <a:off x="364000" y="564650"/>
            <a:ext cx="84456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a:t>
            </a:r>
            <a:r>
              <a:rPr lang="en" sz="1300">
                <a:solidFill>
                  <a:schemeClr val="dk1"/>
                </a:solidFill>
              </a:rPr>
              <a:t>tab under YAFA is used for ECOM stores(Mostly). It will populate below screen when select Level 1.</a:t>
            </a:r>
            <a:endParaRPr sz="1300" b="0" i="0" u="none" strike="noStrike" cap="none">
              <a:solidFill>
                <a:schemeClr val="dk1"/>
              </a:solidFill>
              <a:latin typeface="Arial"/>
              <a:ea typeface="Arial"/>
              <a:cs typeface="Arial"/>
              <a:sym typeface="Arial"/>
            </a:endParaRPr>
          </a:p>
        </p:txBody>
      </p:sp>
      <p:pic>
        <p:nvPicPr>
          <p:cNvPr id="1068" name="Google Shape;1068;p137"/>
          <p:cNvPicPr preferRelativeResize="0"/>
          <p:nvPr/>
        </p:nvPicPr>
        <p:blipFill>
          <a:blip r:embed="rId4">
            <a:alphaModFix/>
          </a:blip>
          <a:stretch>
            <a:fillRect/>
          </a:stretch>
        </p:blipFill>
        <p:spPr>
          <a:xfrm>
            <a:off x="457200" y="979550"/>
            <a:ext cx="8136275" cy="39353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72"/>
        <p:cNvGrpSpPr/>
        <p:nvPr/>
      </p:nvGrpSpPr>
      <p:grpSpPr>
        <a:xfrm>
          <a:off x="0" y="0"/>
          <a:ext cx="0" cy="0"/>
          <a:chOff x="0" y="0"/>
          <a:chExt cx="0" cy="0"/>
        </a:xfrm>
      </p:grpSpPr>
      <p:sp>
        <p:nvSpPr>
          <p:cNvPr id="1073" name="Google Shape;1073;p138"/>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Reception Details</a:t>
            </a:r>
            <a:endParaRPr/>
          </a:p>
        </p:txBody>
      </p:sp>
      <p:sp>
        <p:nvSpPr>
          <p:cNvPr id="1074" name="Google Shape;1074;p138"/>
          <p:cNvSpPr txBox="1"/>
          <p:nvPr/>
        </p:nvSpPr>
        <p:spPr>
          <a:xfrm>
            <a:off x="364000" y="564650"/>
            <a:ext cx="8578200" cy="338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300">
                <a:solidFill>
                  <a:schemeClr val="dk1"/>
                </a:solidFill>
              </a:rPr>
              <a:t>This tab under YAFA is used for ECOM stores(Mostly). It will populate below screen when select Level 2.</a:t>
            </a: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p:txBody>
      </p:sp>
      <p:pic>
        <p:nvPicPr>
          <p:cNvPr id="1075" name="Google Shape;1075;p138"/>
          <p:cNvPicPr preferRelativeResize="0"/>
          <p:nvPr/>
        </p:nvPicPr>
        <p:blipFill>
          <a:blip r:embed="rId4">
            <a:alphaModFix/>
          </a:blip>
          <a:stretch>
            <a:fillRect/>
          </a:stretch>
        </p:blipFill>
        <p:spPr>
          <a:xfrm>
            <a:off x="457200" y="979550"/>
            <a:ext cx="8484887" cy="39353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79"/>
        <p:cNvGrpSpPr/>
        <p:nvPr/>
      </p:nvGrpSpPr>
      <p:grpSpPr>
        <a:xfrm>
          <a:off x="0" y="0"/>
          <a:ext cx="0" cy="0"/>
          <a:chOff x="0" y="0"/>
          <a:chExt cx="0" cy="0"/>
        </a:xfrm>
      </p:grpSpPr>
      <p:sp>
        <p:nvSpPr>
          <p:cNvPr id="1080" name="Google Shape;1080;p139"/>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Reception Details</a:t>
            </a:r>
            <a:endParaRPr/>
          </a:p>
        </p:txBody>
      </p:sp>
      <p:sp>
        <p:nvSpPr>
          <p:cNvPr id="1081" name="Google Shape;1081;p139"/>
          <p:cNvSpPr txBox="1"/>
          <p:nvPr/>
        </p:nvSpPr>
        <p:spPr>
          <a:xfrm>
            <a:off x="364000" y="564650"/>
            <a:ext cx="8633700" cy="3387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800"/>
              <a:buFont typeface="Arial"/>
              <a:buNone/>
            </a:pPr>
            <a:r>
              <a:rPr lang="en" sz="1300">
                <a:solidFill>
                  <a:schemeClr val="dk1"/>
                </a:solidFill>
              </a:rPr>
              <a:t>This tab under YAFA is used for ECOM stores(Mostly). It will populate below screen when select Level 1 &amp; Level 2.</a:t>
            </a: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p:txBody>
      </p:sp>
      <p:pic>
        <p:nvPicPr>
          <p:cNvPr id="1082" name="Google Shape;1082;p139"/>
          <p:cNvPicPr preferRelativeResize="0"/>
          <p:nvPr/>
        </p:nvPicPr>
        <p:blipFill>
          <a:blip r:embed="rId4">
            <a:alphaModFix/>
          </a:blip>
          <a:stretch>
            <a:fillRect/>
          </a:stretch>
        </p:blipFill>
        <p:spPr>
          <a:xfrm>
            <a:off x="457200" y="1131950"/>
            <a:ext cx="6299391" cy="39353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6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86"/>
        <p:cNvGrpSpPr/>
        <p:nvPr/>
      </p:nvGrpSpPr>
      <p:grpSpPr>
        <a:xfrm>
          <a:off x="0" y="0"/>
          <a:ext cx="0" cy="0"/>
          <a:chOff x="0" y="0"/>
          <a:chExt cx="0" cy="0"/>
        </a:xfrm>
      </p:grpSpPr>
      <p:sp>
        <p:nvSpPr>
          <p:cNvPr id="1087" name="Google Shape;1087;p140"/>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Reception Details</a:t>
            </a:r>
            <a:endParaRPr/>
          </a:p>
        </p:txBody>
      </p:sp>
      <p:sp>
        <p:nvSpPr>
          <p:cNvPr id="1088" name="Google Shape;1088;p140"/>
          <p:cNvSpPr txBox="1"/>
          <p:nvPr/>
        </p:nvSpPr>
        <p:spPr>
          <a:xfrm>
            <a:off x="364000" y="640850"/>
            <a:ext cx="8633700" cy="41625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500">
                <a:solidFill>
                  <a:schemeClr val="dk1"/>
                </a:solidFill>
              </a:rPr>
              <a:t>This screen data is populated for Stat ops team to do analysis at their end. So data populated by this screen (Reception details) should be shared to the stat ops team as per their requirement.</a:t>
            </a:r>
            <a:endParaRPr sz="15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500">
                <a:solidFill>
                  <a:schemeClr val="dk1"/>
                </a:solidFill>
              </a:rPr>
              <a:t>Country can decide which filter to be used in Level 1 and Level 2 so that it can be more useful for stat ops team analysis.</a:t>
            </a:r>
            <a:endParaRPr sz="15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500">
                <a:solidFill>
                  <a:schemeClr val="dk1"/>
                </a:solidFill>
              </a:rPr>
              <a:t>As per the requirement IV user need to extract the data and in case if required user can extract data at store level (by clicking on “Store Level” tab) and share it to stat ops team.</a:t>
            </a:r>
            <a:endParaRPr sz="150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92"/>
        <p:cNvGrpSpPr/>
        <p:nvPr/>
      </p:nvGrpSpPr>
      <p:grpSpPr>
        <a:xfrm>
          <a:off x="0" y="0"/>
          <a:ext cx="0" cy="0"/>
          <a:chOff x="0" y="0"/>
          <a:chExt cx="0" cy="0"/>
        </a:xfrm>
      </p:grpSpPr>
      <p:sp>
        <p:nvSpPr>
          <p:cNvPr id="1093" name="Google Shape;1093;p141"/>
          <p:cNvSpPr txBox="1">
            <a:spLocks noGrp="1"/>
          </p:cNvSpPr>
          <p:nvPr>
            <p:ph type="title"/>
          </p:nvPr>
        </p:nvSpPr>
        <p:spPr>
          <a:xfrm>
            <a:off x="209550" y="20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FOVA Graphs</a:t>
            </a:r>
            <a:endParaRPr/>
          </a:p>
        </p:txBody>
      </p:sp>
      <p:pic>
        <p:nvPicPr>
          <p:cNvPr id="1094" name="Google Shape;1094;p141"/>
          <p:cNvPicPr preferRelativeResize="0"/>
          <p:nvPr/>
        </p:nvPicPr>
        <p:blipFill rotWithShape="1">
          <a:blip r:embed="rId4">
            <a:alphaModFix/>
          </a:blip>
          <a:srcRect b="13239"/>
          <a:stretch/>
        </p:blipFill>
        <p:spPr>
          <a:xfrm>
            <a:off x="287800" y="782750"/>
            <a:ext cx="7571400" cy="3622126"/>
          </a:xfrm>
          <a:prstGeom prst="rect">
            <a:avLst/>
          </a:prstGeom>
          <a:noFill/>
          <a:ln>
            <a:noFill/>
          </a:ln>
        </p:spPr>
      </p:pic>
      <p:sp>
        <p:nvSpPr>
          <p:cNvPr id="1095" name="Google Shape;1095;p141"/>
          <p:cNvSpPr txBox="1"/>
          <p:nvPr/>
        </p:nvSpPr>
        <p:spPr>
          <a:xfrm>
            <a:off x="287800" y="488450"/>
            <a:ext cx="4564800" cy="3387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a:t>
            </a:r>
            <a:r>
              <a:rPr lang="en" sz="1300">
                <a:solidFill>
                  <a:schemeClr val="dk1"/>
                </a:solidFill>
              </a:rPr>
              <a:t>tab under YAFA is used for ECOM stores(Mostly).</a:t>
            </a: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1300" b="1">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7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099"/>
        <p:cNvGrpSpPr/>
        <p:nvPr/>
      </p:nvGrpSpPr>
      <p:grpSpPr>
        <a:xfrm>
          <a:off x="0" y="0"/>
          <a:ext cx="0" cy="0"/>
          <a:chOff x="0" y="0"/>
          <a:chExt cx="0" cy="0"/>
        </a:xfrm>
      </p:grpSpPr>
      <p:sp>
        <p:nvSpPr>
          <p:cNvPr id="1100" name="Google Shape;1100;p142"/>
          <p:cNvSpPr txBox="1">
            <a:spLocks noGrp="1"/>
          </p:cNvSpPr>
          <p:nvPr>
            <p:ph type="title"/>
          </p:nvPr>
        </p:nvSpPr>
        <p:spPr>
          <a:xfrm>
            <a:off x="285750" y="78275"/>
            <a:ext cx="51390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 </a:t>
            </a:r>
            <a:r>
              <a:rPr lang="en" sz="1800">
                <a:solidFill>
                  <a:schemeClr val="dk1"/>
                </a:solidFill>
                <a:latin typeface="Arial"/>
                <a:ea typeface="Arial"/>
                <a:cs typeface="Arial"/>
                <a:sym typeface="Arial"/>
              </a:rPr>
              <a:t>FOVA Graphs (Cont..)</a:t>
            </a:r>
            <a:endParaRPr/>
          </a:p>
        </p:txBody>
      </p:sp>
      <p:sp>
        <p:nvSpPr>
          <p:cNvPr id="1101" name="Google Shape;1101;p142"/>
          <p:cNvSpPr txBox="1"/>
          <p:nvPr/>
        </p:nvSpPr>
        <p:spPr>
          <a:xfrm>
            <a:off x="364000" y="564650"/>
            <a:ext cx="8694600" cy="4497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Two sets of graphics are shown:</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A. Trend (Increment or decrement over the previous period)</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B. Contribution (percentage on the total of the period)</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In all the graphics the ‘X’ axis represents a percentage while the ‘Y’ axis contains the periods.</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Trend case Records loaded two lines will be shown :</a:t>
            </a:r>
            <a:endParaRPr sz="950">
              <a:solidFill>
                <a:schemeClr val="dk1"/>
              </a:solidFill>
            </a:endParaRPr>
          </a:p>
          <a:p>
            <a:pPr marL="0" marR="0" lvl="0" indent="0" algn="l" rtl="0">
              <a:lnSpc>
                <a:spcPct val="115000"/>
              </a:lnSpc>
              <a:spcBef>
                <a:spcPts val="1000"/>
              </a:spcBef>
              <a:spcAft>
                <a:spcPts val="0"/>
              </a:spcAft>
              <a:buClr>
                <a:srgbClr val="000000"/>
              </a:buClr>
              <a:buSzPts val="1800"/>
              <a:buFont typeface="Arial"/>
              <a:buNone/>
            </a:pPr>
            <a:r>
              <a:rPr lang="en" sz="950">
                <a:solidFill>
                  <a:schemeClr val="dk1"/>
                </a:solidFill>
              </a:rPr>
              <a:t>a. Percentage of the records loaded in the store calculated as a ratio on the previous period </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b. Percentage calculated on the average of the records loaded (ratio on previous period) in the stores received (STORES OK) calculated on the user defined base (Retailer or Level 1 or Level 2)</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u="sng">
                <a:solidFill>
                  <a:schemeClr val="dk1"/>
                </a:solidFill>
              </a:rPr>
              <a:t>Sales Units</a:t>
            </a:r>
            <a:endParaRPr sz="950" u="sng">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u="sng">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c. Percentage of the Total sales Units loaded in the store calculated as a ratio on the previous period d. Percentage calculated on the average of the Total sales Units loaded(ratio on previous period) in the stores received(STORES OK) calculated on the user defined base (Retailer or Level 1 or Level 2)</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u="sng">
                <a:solidFill>
                  <a:schemeClr val="dk1"/>
                </a:solidFill>
              </a:rPr>
              <a:t>Sales Value</a:t>
            </a:r>
            <a:endParaRPr sz="950" u="sng">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u="sng">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e. Percentage of the Total sales Value loaded in the store calculated as a ratio on the previous period f. Percentage calculated on the average of the Total Value Units loaded(ratio on previous period) in the stores received(STORES OK) calculated on the user defined base (Retailer or Level 1 or Level 2)</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a:lnSpc>
                <a:spcPct val="115000"/>
              </a:lnSpc>
              <a:buSzPts val="1800"/>
            </a:pPr>
            <a:r>
              <a:rPr lang="en" sz="950" u="sng">
                <a:solidFill>
                  <a:schemeClr val="dk1"/>
                </a:solidFill>
              </a:rPr>
              <a:t>Trend / contribution</a:t>
            </a:r>
            <a:r>
              <a:rPr lang="en" sz="950">
                <a:solidFill>
                  <a:schemeClr val="dk1"/>
                </a:solidFill>
              </a:rPr>
              <a:t> </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5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Two lines will be displayed here:</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One in blue is the representation of the selected store trend</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950">
                <a:solidFill>
                  <a:schemeClr val="dk1"/>
                </a:solidFill>
              </a:rPr>
              <a:t>The second is the trend of the average of the stores within the group.</a:t>
            </a: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95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750">
                <a:solidFill>
                  <a:schemeClr val="dk1"/>
                </a:solidFill>
              </a:rPr>
              <a:t>(Note : Input tables used to select data for that screen are: STORES &amp; STORESTATS &amp; STOREMONITOR (to filter stores by FOVA status))</a:t>
            </a:r>
            <a:endParaRPr sz="750">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750">
              <a:solidFill>
                <a:schemeClr val="dk1"/>
              </a:solidFill>
            </a:endParaRPr>
          </a:p>
          <a:p>
            <a:pPr marL="0" lvl="0" indent="0" algn="l" rtl="0">
              <a:lnSpc>
                <a:spcPct val="115000"/>
              </a:lnSpc>
              <a:spcBef>
                <a:spcPts val="0"/>
              </a:spcBef>
              <a:spcAft>
                <a:spcPts val="0"/>
              </a:spcAft>
              <a:buClr>
                <a:schemeClr val="dk1"/>
              </a:buClr>
              <a:buSzPts val="1800"/>
              <a:buFont typeface="Arial"/>
              <a:buNone/>
            </a:pPr>
            <a:r>
              <a:rPr lang="en" sz="1300" b="1">
                <a:solidFill>
                  <a:schemeClr val="dk1"/>
                </a:solidFill>
              </a:rPr>
              <a:t>Parameter setup for YAFA is </a:t>
            </a:r>
            <a:r>
              <a:rPr lang="en" sz="1300" b="1" u="sng">
                <a:solidFill>
                  <a:schemeClr val="accent2"/>
                </a:solidFill>
                <a:hlinkClick r:id="rId4">
                  <a:extLst>
                    <a:ext uri="{A12FA001-AC4F-418D-AE19-62706E023703}">
                      <ahyp:hlinkClr xmlns:ahyp="http://schemas.microsoft.com/office/drawing/2018/hyperlinkcolor" val="tx"/>
                    </a:ext>
                  </a:extLst>
                </a:hlinkClick>
              </a:rPr>
              <a:t>here</a:t>
            </a:r>
            <a:r>
              <a:rPr lang="en" sz="1300" b="1">
                <a:solidFill>
                  <a:schemeClr val="dk1"/>
                </a:solidFill>
              </a:rPr>
              <a:t>.</a:t>
            </a:r>
            <a:endParaRPr sz="1300" b="1">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750">
              <a:solidFill>
                <a:schemeClr val="dk1"/>
              </a:solidFill>
            </a:endParaRPr>
          </a:p>
        </p:txBody>
      </p:sp>
    </p:spTree>
  </p:cSld>
  <p:clrMapOvr>
    <a:overrideClrMapping bg1="lt1" tx1="dk1" bg2="lt2" tx2="dk2" accent1="accent1" accent2="accent2" accent3="accent3" accent4="accent4" accent5="accent5" accent6="accent6" hlink="hlink" folHlink="folHlink"/>
  </p:clrMapOvr>
</p:sld>
</file>

<file path=ppt/slides/slide7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05"/>
        <p:cNvGrpSpPr/>
        <p:nvPr/>
      </p:nvGrpSpPr>
      <p:grpSpPr>
        <a:xfrm>
          <a:off x="0" y="0"/>
          <a:ext cx="0" cy="0"/>
          <a:chOff x="0" y="0"/>
          <a:chExt cx="0" cy="0"/>
        </a:xfrm>
      </p:grpSpPr>
      <p:sp>
        <p:nvSpPr>
          <p:cNvPr id="1106" name="Google Shape;1106;p143"/>
          <p:cNvSpPr txBox="1">
            <a:spLocks noGrp="1"/>
          </p:cNvSpPr>
          <p:nvPr>
            <p:ph type="title"/>
          </p:nvPr>
        </p:nvSpPr>
        <p:spPr>
          <a:xfrm>
            <a:off x="285750" y="78275"/>
            <a:ext cx="37602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General Overview</a:t>
            </a:r>
            <a:endParaRPr/>
          </a:p>
        </p:txBody>
      </p:sp>
      <p:sp>
        <p:nvSpPr>
          <p:cNvPr id="1107" name="Google Shape;1107;p143"/>
          <p:cNvSpPr txBox="1"/>
          <p:nvPr/>
        </p:nvSpPr>
        <p:spPr>
          <a:xfrm>
            <a:off x="304800" y="742950"/>
            <a:ext cx="8610600" cy="1828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sng" strike="noStrike" cap="none">
                <a:solidFill>
                  <a:schemeClr val="dk1"/>
                </a:solidFill>
                <a:latin typeface="Arial"/>
                <a:ea typeface="Arial"/>
                <a:cs typeface="Arial"/>
                <a:sym typeface="Arial"/>
              </a:rPr>
              <a:t>General Overview :</a:t>
            </a:r>
            <a:r>
              <a:rPr lang="en" sz="1800" b="1" i="0" u="none" strike="noStrike" cap="none">
                <a:solidFill>
                  <a:schemeClr val="dk1"/>
                </a:solidFill>
                <a:latin typeface="Arial"/>
                <a:ea typeface="Arial"/>
                <a:cs typeface="Arial"/>
                <a:sym typeface="Arial"/>
              </a:rPr>
              <a:t> </a:t>
            </a:r>
            <a:endParaRPr sz="18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000" b="1">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gives an overview of various FOVA Tag as compared to last 10 periods. </a:t>
            </a:r>
            <a:endParaRPr sz="13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is used as a retailer / channel / country level check. </a:t>
            </a:r>
            <a:endParaRPr sz="13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Based on the comparison if the operator observe any issue it should be raised immediately to Onshore / Retailer.</a:t>
            </a:r>
            <a:endParaRPr sz="9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If there is issue with overall retailer, we can raise it immediately to onshore / retailer and get the correct data on time. </a:t>
            </a:r>
            <a:endParaRPr sz="1300" b="0" i="0" u="none" strike="noStrike" cap="none">
              <a:solidFill>
                <a:schemeClr val="dk1"/>
              </a:solidFill>
              <a:latin typeface="Arial"/>
              <a:ea typeface="Arial"/>
              <a:cs typeface="Arial"/>
              <a:sym typeface="Arial"/>
            </a:endParaRPr>
          </a:p>
        </p:txBody>
      </p:sp>
      <p:pic>
        <p:nvPicPr>
          <p:cNvPr id="1108" name="Google Shape;1108;p143"/>
          <p:cNvPicPr preferRelativeResize="0"/>
          <p:nvPr/>
        </p:nvPicPr>
        <p:blipFill rotWithShape="1">
          <a:blip r:embed="rId4">
            <a:alphaModFix/>
          </a:blip>
          <a:srcRect t="33346" r="20691" b="30196"/>
          <a:stretch/>
        </p:blipFill>
        <p:spPr>
          <a:xfrm>
            <a:off x="325763" y="2646450"/>
            <a:ext cx="8721073" cy="2394399"/>
          </a:xfrm>
          <a:prstGeom prst="rect">
            <a:avLst/>
          </a:prstGeom>
          <a:noFill/>
          <a:ln w="9525" cap="flat" cmpd="sng">
            <a:solidFill>
              <a:schemeClr val="dk1"/>
            </a:solidFill>
            <a:prstDash val="solid"/>
            <a:round/>
            <a:headEnd type="none" w="sm" len="sm"/>
            <a:tailEnd type="none" w="sm" len="sm"/>
          </a:ln>
        </p:spPr>
      </p:pic>
    </p:spTree>
  </p:cSld>
  <p:clrMapOvr>
    <a:overrideClrMapping bg1="lt1" tx1="dk1" bg2="lt2" tx2="dk2" accent1="accent1" accent2="accent2" accent3="accent3" accent4="accent4" accent5="accent5" accent6="accent6" hlink="hlink" folHlink="folHlink"/>
  </p:clrMapOvr>
</p:sld>
</file>

<file path=ppt/slides/slide7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12"/>
        <p:cNvGrpSpPr/>
        <p:nvPr/>
      </p:nvGrpSpPr>
      <p:grpSpPr>
        <a:xfrm>
          <a:off x="0" y="0"/>
          <a:ext cx="0" cy="0"/>
          <a:chOff x="0" y="0"/>
          <a:chExt cx="0" cy="0"/>
        </a:xfrm>
      </p:grpSpPr>
      <p:sp>
        <p:nvSpPr>
          <p:cNvPr id="1116" name="Google Shape;1116;p144"/>
          <p:cNvSpPr txBox="1">
            <a:spLocks noGrp="1"/>
          </p:cNvSpPr>
          <p:nvPr>
            <p:ph type="title"/>
          </p:nvPr>
        </p:nvSpPr>
        <p:spPr>
          <a:xfrm>
            <a:off x="285750" y="78275"/>
            <a:ext cx="37602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General Overview</a:t>
            </a:r>
            <a:endParaRPr/>
          </a:p>
        </p:txBody>
      </p:sp>
      <p:sp>
        <p:nvSpPr>
          <p:cNvPr id="1113" name="Google Shape;1113;p144"/>
          <p:cNvSpPr txBox="1">
            <a:spLocks noGrp="1"/>
          </p:cNvSpPr>
          <p:nvPr>
            <p:ph type="body" idx="1"/>
          </p:nvPr>
        </p:nvSpPr>
        <p:spPr>
          <a:xfrm>
            <a:off x="380988" y="597951"/>
            <a:ext cx="8191500" cy="3320700"/>
          </a:xfrm>
          <a:prstGeom prst="rect">
            <a:avLst/>
          </a:prstGeom>
          <a:noFill/>
          <a:ln>
            <a:noFill/>
          </a:ln>
        </p:spPr>
        <p:txBody>
          <a:bodyPr spcFirstLastPara="1" wrap="square" lIns="91425" tIns="45700" rIns="91425" bIns="45700" anchor="t" anchorCtr="0">
            <a:noAutofit/>
          </a:bodyPr>
          <a:lstStyle/>
          <a:p>
            <a:pPr marL="169862" lvl="0" indent="-138112" algn="l" rtl="0">
              <a:lnSpc>
                <a:spcPct val="115000"/>
              </a:lnSpc>
              <a:spcBef>
                <a:spcPts val="0"/>
              </a:spcBef>
              <a:spcAft>
                <a:spcPts val="0"/>
              </a:spcAft>
              <a:buSzPts val="1300"/>
              <a:buFont typeface="Noto Sans Symbols"/>
              <a:buChar char="⮚"/>
            </a:pPr>
            <a:r>
              <a:rPr lang="en" sz="1300"/>
              <a:t>In FOVA Overview, it can be observed that number of stores thrown in UNIDENTIFED –ESTIMATION PROPOSED FOVA tag for the current week is very high when compared to other past weeks</a:t>
            </a:r>
            <a:endParaRPr sz="1300"/>
          </a:p>
          <a:p>
            <a:pPr marL="169862" lvl="0" indent="-138112" algn="l" rtl="0">
              <a:lnSpc>
                <a:spcPct val="115000"/>
              </a:lnSpc>
              <a:spcBef>
                <a:spcPts val="1200"/>
              </a:spcBef>
              <a:spcAft>
                <a:spcPts val="0"/>
              </a:spcAft>
              <a:buSzPts val="1300"/>
              <a:buFont typeface="Noto Sans Symbols"/>
              <a:buChar char="⮚"/>
            </a:pPr>
            <a:r>
              <a:rPr lang="en" sz="1300"/>
              <a:t>In such cases, the operator needs to investigate further why more number of stores are thrown in YAFA by reviewing FOVA supporting files, Holiday Lists, Seasonality etc.</a:t>
            </a:r>
            <a:endParaRPr sz="1300"/>
          </a:p>
          <a:p>
            <a:pPr marL="169862" lvl="0" indent="-138112" algn="l" rtl="0">
              <a:lnSpc>
                <a:spcPct val="115000"/>
              </a:lnSpc>
              <a:spcBef>
                <a:spcPts val="1200"/>
              </a:spcBef>
              <a:spcAft>
                <a:spcPts val="0"/>
              </a:spcAft>
              <a:buSzPts val="1300"/>
              <a:buFont typeface="Noto Sans Symbols"/>
              <a:buChar char="⮚"/>
            </a:pPr>
            <a:r>
              <a:rPr lang="en" sz="1300"/>
              <a:t>If the operator couldn’t find anything related to this retailer, then highlight it to onshore and act according to the onshore’ s feedback</a:t>
            </a:r>
            <a:endParaRPr sz="1300"/>
          </a:p>
        </p:txBody>
      </p:sp>
      <p:pic>
        <p:nvPicPr>
          <p:cNvPr id="1114" name="Google Shape;1114;p144"/>
          <p:cNvPicPr preferRelativeResize="0"/>
          <p:nvPr/>
        </p:nvPicPr>
        <p:blipFill rotWithShape="1">
          <a:blip r:embed="rId4">
            <a:alphaModFix/>
          </a:blip>
          <a:srcRect/>
          <a:stretch/>
        </p:blipFill>
        <p:spPr>
          <a:xfrm>
            <a:off x="1295400" y="2494050"/>
            <a:ext cx="6572249" cy="2458951"/>
          </a:xfrm>
          <a:prstGeom prst="rect">
            <a:avLst/>
          </a:prstGeom>
          <a:noFill/>
          <a:ln>
            <a:noFill/>
          </a:ln>
        </p:spPr>
      </p:pic>
      <p:sp>
        <p:nvSpPr>
          <p:cNvPr id="1115" name="Google Shape;1115;p144"/>
          <p:cNvSpPr/>
          <p:nvPr/>
        </p:nvSpPr>
        <p:spPr>
          <a:xfrm>
            <a:off x="5950175" y="3963950"/>
            <a:ext cx="1842900" cy="558000"/>
          </a:xfrm>
          <a:prstGeom prst="roundRect">
            <a:avLst>
              <a:gd name="adj" fmla="val 16667"/>
            </a:avLst>
          </a:prstGeom>
          <a:noFill/>
          <a:ln w="38100" cap="flat" cmpd="sng">
            <a:solidFill>
              <a:srgbClr val="007FC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7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20"/>
        <p:cNvGrpSpPr/>
        <p:nvPr/>
      </p:nvGrpSpPr>
      <p:grpSpPr>
        <a:xfrm>
          <a:off x="0" y="0"/>
          <a:ext cx="0" cy="0"/>
          <a:chOff x="0" y="0"/>
          <a:chExt cx="0" cy="0"/>
        </a:xfrm>
      </p:grpSpPr>
      <p:sp>
        <p:nvSpPr>
          <p:cNvPr id="1122" name="Google Shape;1122;p145"/>
          <p:cNvSpPr txBox="1">
            <a:spLocks noGrp="1"/>
          </p:cNvSpPr>
          <p:nvPr>
            <p:ph type="title"/>
          </p:nvPr>
        </p:nvSpPr>
        <p:spPr>
          <a:xfrm>
            <a:off x="285750" y="78275"/>
            <a:ext cx="37602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Retailer Info</a:t>
            </a:r>
            <a:endParaRPr/>
          </a:p>
        </p:txBody>
      </p:sp>
      <p:sp>
        <p:nvSpPr>
          <p:cNvPr id="1121" name="Google Shape;1121;p145"/>
          <p:cNvSpPr txBox="1">
            <a:spLocks noGrp="1"/>
          </p:cNvSpPr>
          <p:nvPr>
            <p:ph type="body" idx="1"/>
          </p:nvPr>
        </p:nvSpPr>
        <p:spPr>
          <a:xfrm>
            <a:off x="354025" y="709326"/>
            <a:ext cx="8191500" cy="3894000"/>
          </a:xfrm>
          <a:prstGeom prst="rect">
            <a:avLst/>
          </a:prstGeom>
          <a:noFill/>
          <a:ln>
            <a:noFill/>
          </a:ln>
        </p:spPr>
        <p:txBody>
          <a:bodyPr spcFirstLastPara="1" wrap="square" lIns="91425" tIns="45700" rIns="91425" bIns="45700" anchor="t" anchorCtr="0">
            <a:noAutofit/>
          </a:bodyPr>
          <a:lstStyle/>
          <a:p>
            <a:pPr marL="0" indent="0">
              <a:lnSpc>
                <a:spcPct val="115000"/>
              </a:lnSpc>
              <a:buNone/>
            </a:pPr>
            <a:r>
              <a:rPr lang="en" sz="1500" b="1">
                <a:latin typeface="Arial"/>
                <a:ea typeface="Arial"/>
                <a:cs typeface="Arial"/>
                <a:sym typeface="Arial"/>
              </a:rPr>
              <a:t>PURPOSE: </a:t>
            </a:r>
            <a:endParaRPr sz="1500" b="1">
              <a:latin typeface="Arial"/>
              <a:ea typeface="Arial"/>
              <a:cs typeface="Arial"/>
              <a:sym typeface="Arial"/>
            </a:endParaRPr>
          </a:p>
          <a:p>
            <a:pPr marL="169545" lvl="0" indent="-150495" algn="l" rtl="0">
              <a:lnSpc>
                <a:spcPct val="115000"/>
              </a:lnSpc>
              <a:spcBef>
                <a:spcPts val="1200"/>
              </a:spcBef>
              <a:spcAft>
                <a:spcPts val="0"/>
              </a:spcAft>
              <a:buSzPts val="1300"/>
              <a:buFont typeface="Noto Sans Symbols"/>
              <a:buChar char="⮚"/>
            </a:pPr>
            <a:r>
              <a:rPr lang="en" sz="1300"/>
              <a:t>It is an initial check to identify variation at the total retailer level &amp; highlight to relevant department to avoid any quality issue</a:t>
            </a:r>
            <a:endParaRPr sz="1500" b="1"/>
          </a:p>
          <a:p>
            <a:pPr marL="0" lvl="0" indent="0" algn="l" rtl="0">
              <a:lnSpc>
                <a:spcPct val="115000"/>
              </a:lnSpc>
              <a:spcBef>
                <a:spcPts val="1200"/>
              </a:spcBef>
              <a:spcAft>
                <a:spcPts val="0"/>
              </a:spcAft>
              <a:buSzPts val="1800"/>
              <a:buNone/>
            </a:pPr>
            <a:r>
              <a:rPr lang="en" sz="1500" b="1">
                <a:latin typeface="Arial"/>
                <a:ea typeface="Arial"/>
                <a:cs typeface="Arial"/>
                <a:sym typeface="Arial"/>
              </a:rPr>
              <a:t>HOW TO DO:</a:t>
            </a:r>
            <a:endParaRPr sz="1500" b="1">
              <a:latin typeface="Arial"/>
              <a:ea typeface="Arial"/>
              <a:cs typeface="Arial"/>
              <a:sym typeface="Arial"/>
            </a:endParaRPr>
          </a:p>
          <a:p>
            <a:pPr marL="169545" lvl="0" indent="-150495" algn="l" rtl="0">
              <a:lnSpc>
                <a:spcPct val="115000"/>
              </a:lnSpc>
              <a:spcBef>
                <a:spcPts val="1200"/>
              </a:spcBef>
              <a:spcAft>
                <a:spcPts val="0"/>
              </a:spcAft>
              <a:buSzPts val="1300"/>
              <a:buFont typeface="Noto Sans Symbols"/>
              <a:buChar char="⮚"/>
            </a:pPr>
            <a:r>
              <a:rPr lang="en" sz="1300"/>
              <a:t>Initially we only check +/-10% variation at the total retailer level to identify variation &amp; highlight to relevant department to avoid any quality issue</a:t>
            </a:r>
            <a:endParaRPr sz="1500"/>
          </a:p>
          <a:p>
            <a:pPr marL="169545" lvl="0" indent="-150495" algn="l" rtl="0">
              <a:lnSpc>
                <a:spcPct val="115000"/>
              </a:lnSpc>
              <a:spcBef>
                <a:spcPts val="1200"/>
              </a:spcBef>
              <a:spcAft>
                <a:spcPts val="0"/>
              </a:spcAft>
              <a:buSzPts val="1300"/>
              <a:buFont typeface="Noto Sans Symbols"/>
              <a:buChar char="⮚"/>
            </a:pPr>
            <a:r>
              <a:rPr lang="en" sz="1300"/>
              <a:t>Now below 4 points will be considered to identify the issue &amp; highlight to onshore for further analysis </a:t>
            </a:r>
            <a:endParaRPr sz="1500"/>
          </a:p>
          <a:p>
            <a:pPr marL="461645" lvl="2" indent="-150495" algn="l" rtl="0">
              <a:lnSpc>
                <a:spcPct val="115000"/>
              </a:lnSpc>
              <a:spcBef>
                <a:spcPts val="1200"/>
              </a:spcBef>
              <a:spcAft>
                <a:spcPts val="0"/>
              </a:spcAft>
              <a:buSzPts val="1200"/>
              <a:buFont typeface="Noto Sans Symbols"/>
              <a:buChar char="⮚"/>
            </a:pPr>
            <a:r>
              <a:rPr lang="en" sz="1200"/>
              <a:t>Atypical sales for retailer and its behavior is different from other similar kind of retailers</a:t>
            </a:r>
            <a:endParaRPr sz="1100"/>
          </a:p>
          <a:p>
            <a:pPr marL="461645" lvl="2" indent="-150495" algn="l" rtl="0">
              <a:lnSpc>
                <a:spcPct val="115000"/>
              </a:lnSpc>
              <a:spcBef>
                <a:spcPts val="1200"/>
              </a:spcBef>
              <a:spcAft>
                <a:spcPts val="0"/>
              </a:spcAft>
              <a:buSzPts val="1200"/>
              <a:buFont typeface="Noto Sans Symbols"/>
              <a:buChar char="⮚"/>
            </a:pPr>
            <a:r>
              <a:rPr lang="en" sz="1200"/>
              <a:t>Having some problem in FOVA OVERVIEW</a:t>
            </a:r>
            <a:endParaRPr sz="1100"/>
          </a:p>
          <a:p>
            <a:pPr marL="461645" lvl="2" indent="-150495" algn="l" rtl="0">
              <a:lnSpc>
                <a:spcPct val="115000"/>
              </a:lnSpc>
              <a:spcBef>
                <a:spcPts val="1200"/>
              </a:spcBef>
              <a:spcAft>
                <a:spcPts val="0"/>
              </a:spcAft>
              <a:buSzPts val="1200"/>
              <a:buFont typeface="Noto Sans Symbols"/>
              <a:buChar char="⮚"/>
            </a:pPr>
            <a:r>
              <a:rPr lang="en" sz="1200"/>
              <a:t>No additional information is available to justify the variation</a:t>
            </a:r>
            <a:endParaRPr sz="1100"/>
          </a:p>
          <a:p>
            <a:pPr marL="461645" lvl="2" indent="-150495" algn="l" rtl="0">
              <a:lnSpc>
                <a:spcPct val="115000"/>
              </a:lnSpc>
              <a:spcBef>
                <a:spcPts val="1200"/>
              </a:spcBef>
              <a:spcAft>
                <a:spcPts val="0"/>
              </a:spcAft>
              <a:buSzPts val="1200"/>
              <a:buFont typeface="Noto Sans Symbols"/>
              <a:buChar char="⮚"/>
            </a:pPr>
            <a:r>
              <a:rPr lang="en" sz="1200"/>
              <a:t>Retailer trend is more than +/-10%</a:t>
            </a:r>
            <a:endParaRPr sz="1200"/>
          </a:p>
        </p:txBody>
      </p:sp>
    </p:spTree>
  </p:cSld>
  <p:clrMapOvr>
    <a:overrideClrMapping bg1="lt1" tx1="dk1" bg2="lt2" tx2="dk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26"/>
        <p:cNvGrpSpPr/>
        <p:nvPr/>
      </p:nvGrpSpPr>
      <p:grpSpPr>
        <a:xfrm>
          <a:off x="0" y="0"/>
          <a:ext cx="0" cy="0"/>
          <a:chOff x="0" y="0"/>
          <a:chExt cx="0" cy="0"/>
        </a:xfrm>
      </p:grpSpPr>
      <p:sp>
        <p:nvSpPr>
          <p:cNvPr id="1127" name="Google Shape;1127;p146"/>
          <p:cNvSpPr txBox="1"/>
          <p:nvPr/>
        </p:nvSpPr>
        <p:spPr>
          <a:xfrm>
            <a:off x="381000" y="609602"/>
            <a:ext cx="8610600" cy="2008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1" i="0" u="none" strike="noStrike" cap="none">
                <a:latin typeface="Arial"/>
                <a:ea typeface="Arial"/>
                <a:cs typeface="Arial"/>
                <a:sym typeface="Arial"/>
              </a:rPr>
              <a:t>Example of Retailer level check</a:t>
            </a:r>
            <a:endParaRPr b="0" i="0" u="none" strike="noStrike" cap="none">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endParaRPr sz="800" b="1" i="0" u="none" strike="noStrike" cap="none">
              <a:latin typeface="Arial"/>
              <a:ea typeface="Arial"/>
              <a:cs typeface="Arial"/>
              <a:sym typeface="Arial"/>
            </a:endParaRPr>
          </a:p>
          <a:p>
            <a:pPr marL="285750" marR="0" lvl="0" indent="-260350" algn="l" rtl="0">
              <a:lnSpc>
                <a:spcPct val="100000"/>
              </a:lnSpc>
              <a:spcBef>
                <a:spcPts val="0"/>
              </a:spcBef>
              <a:spcAft>
                <a:spcPts val="0"/>
              </a:spcAft>
              <a:buSzPts val="1200"/>
              <a:buFont typeface="Noto Sans Symbols"/>
              <a:buChar char="⮚"/>
            </a:pPr>
            <a:r>
              <a:rPr lang="en" sz="1200" b="0" i="0" u="none" strike="noStrike" cap="none">
                <a:latin typeface="Arial"/>
                <a:ea typeface="Arial"/>
                <a:cs typeface="Arial"/>
                <a:sym typeface="Arial"/>
              </a:rPr>
              <a:t>The operator needs to check Retailer level trend by comparing current period data to the data from past periods. If for a retailer, the current period retailer data is within -/+10% to previous period data, data can be accepted</a:t>
            </a:r>
            <a:endParaRPr sz="1200" b="0" i="0" u="none" strike="noStrike" cap="none">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Noto Sans Symbols"/>
              <a:buNone/>
            </a:pPr>
            <a:endParaRPr sz="1200" b="0" i="0" u="none" strike="noStrike" cap="none">
              <a:latin typeface="Arial"/>
              <a:ea typeface="Arial"/>
              <a:cs typeface="Arial"/>
              <a:sym typeface="Arial"/>
            </a:endParaRPr>
          </a:p>
          <a:p>
            <a:pPr marL="285750" marR="0" lvl="0" indent="-260350" algn="l" rtl="0">
              <a:lnSpc>
                <a:spcPct val="100000"/>
              </a:lnSpc>
              <a:spcBef>
                <a:spcPts val="0"/>
              </a:spcBef>
              <a:spcAft>
                <a:spcPts val="0"/>
              </a:spcAft>
              <a:buSzPts val="1200"/>
              <a:buFont typeface="Noto Sans Symbols"/>
              <a:buChar char="⮚"/>
            </a:pPr>
            <a:r>
              <a:rPr lang="en" sz="1200" b="0" i="0" u="none" strike="noStrike" cap="none">
                <a:latin typeface="Arial"/>
                <a:ea typeface="Arial"/>
                <a:cs typeface="Arial"/>
                <a:sym typeface="Arial"/>
              </a:rPr>
              <a:t>For the retailer Majestic Wine GB081, it can be observed that Total Units &amp; Total Values are high when compared to previous period</a:t>
            </a:r>
            <a:endParaRPr sz="1200" b="0" i="0" u="none" strike="noStrike" cap="none">
              <a:latin typeface="Arial"/>
              <a:ea typeface="Arial"/>
              <a:cs typeface="Arial"/>
              <a:sym typeface="Arial"/>
            </a:endParaRPr>
          </a:p>
          <a:p>
            <a:pPr marL="285750" marR="0" lvl="0" indent="-184150" algn="l" rtl="0">
              <a:lnSpc>
                <a:spcPct val="100000"/>
              </a:lnSpc>
              <a:spcBef>
                <a:spcPts val="0"/>
              </a:spcBef>
              <a:spcAft>
                <a:spcPts val="0"/>
              </a:spcAft>
              <a:buClr>
                <a:schemeClr val="dk1"/>
              </a:buClr>
              <a:buSzPts val="1600"/>
              <a:buFont typeface="Noto Sans Symbols"/>
              <a:buNone/>
            </a:pPr>
            <a:endParaRPr sz="1200" b="0" i="0" u="none" strike="noStrike" cap="none">
              <a:latin typeface="Arial"/>
              <a:ea typeface="Arial"/>
              <a:cs typeface="Arial"/>
              <a:sym typeface="Arial"/>
            </a:endParaRPr>
          </a:p>
          <a:p>
            <a:pPr marL="285750" marR="0" lvl="0" indent="-260350" algn="l" rtl="0">
              <a:lnSpc>
                <a:spcPct val="100000"/>
              </a:lnSpc>
              <a:spcBef>
                <a:spcPts val="0"/>
              </a:spcBef>
              <a:spcAft>
                <a:spcPts val="0"/>
              </a:spcAft>
              <a:buSzPts val="1200"/>
              <a:buFont typeface="Noto Sans Symbols"/>
              <a:buChar char="⮚"/>
            </a:pPr>
            <a:r>
              <a:rPr lang="en" sz="1200" b="0" i="0" u="none" strike="noStrike" cap="none">
                <a:latin typeface="Arial"/>
                <a:ea typeface="Arial"/>
                <a:cs typeface="Arial"/>
                <a:sym typeface="Arial"/>
              </a:rPr>
              <a:t>In this case, the operator needs to check FOVA OVERVIEW from YAFA browser for the retailer behavior for the current week</a:t>
            </a:r>
            <a:endParaRPr sz="1000" b="0" i="0" u="none" strike="noStrike" cap="none">
              <a:latin typeface="Arial"/>
              <a:ea typeface="Arial"/>
              <a:cs typeface="Arial"/>
              <a:sym typeface="Arial"/>
            </a:endParaRPr>
          </a:p>
        </p:txBody>
      </p:sp>
      <p:graphicFrame>
        <p:nvGraphicFramePr>
          <p:cNvPr id="1128" name="Google Shape;1128;p146"/>
          <p:cNvGraphicFramePr/>
          <p:nvPr/>
        </p:nvGraphicFramePr>
        <p:xfrm>
          <a:off x="838200" y="2530213"/>
          <a:ext cx="7696150" cy="2440200"/>
        </p:xfrm>
        <a:graphic>
          <a:graphicData uri="http://schemas.openxmlformats.org/drawingml/2006/table">
            <a:tbl>
              <a:tblPr>
                <a:noFill/>
                <a:tableStyleId>{C70574C8-F969-49A7-8605-77D3504E23D5}</a:tableStyleId>
              </a:tblPr>
              <a:tblGrid>
                <a:gridCol w="724975">
                  <a:extLst>
                    <a:ext uri="{9D8B030D-6E8A-4147-A177-3AD203B41FA5}">
                      <a16:colId xmlns:a16="http://schemas.microsoft.com/office/drawing/2014/main" val="20000"/>
                    </a:ext>
                  </a:extLst>
                </a:gridCol>
                <a:gridCol w="724975">
                  <a:extLst>
                    <a:ext uri="{9D8B030D-6E8A-4147-A177-3AD203B41FA5}">
                      <a16:colId xmlns:a16="http://schemas.microsoft.com/office/drawing/2014/main" val="20001"/>
                    </a:ext>
                  </a:extLst>
                </a:gridCol>
                <a:gridCol w="898125">
                  <a:extLst>
                    <a:ext uri="{9D8B030D-6E8A-4147-A177-3AD203B41FA5}">
                      <a16:colId xmlns:a16="http://schemas.microsoft.com/office/drawing/2014/main" val="20002"/>
                    </a:ext>
                  </a:extLst>
                </a:gridCol>
                <a:gridCol w="984675">
                  <a:extLst>
                    <a:ext uri="{9D8B030D-6E8A-4147-A177-3AD203B41FA5}">
                      <a16:colId xmlns:a16="http://schemas.microsoft.com/office/drawing/2014/main" val="20003"/>
                    </a:ext>
                  </a:extLst>
                </a:gridCol>
                <a:gridCol w="476100">
                  <a:extLst>
                    <a:ext uri="{9D8B030D-6E8A-4147-A177-3AD203B41FA5}">
                      <a16:colId xmlns:a16="http://schemas.microsoft.com/office/drawing/2014/main" val="20004"/>
                    </a:ext>
                  </a:extLst>
                </a:gridCol>
                <a:gridCol w="724975">
                  <a:extLst>
                    <a:ext uri="{9D8B030D-6E8A-4147-A177-3AD203B41FA5}">
                      <a16:colId xmlns:a16="http://schemas.microsoft.com/office/drawing/2014/main" val="20005"/>
                    </a:ext>
                  </a:extLst>
                </a:gridCol>
                <a:gridCol w="476100">
                  <a:extLst>
                    <a:ext uri="{9D8B030D-6E8A-4147-A177-3AD203B41FA5}">
                      <a16:colId xmlns:a16="http://schemas.microsoft.com/office/drawing/2014/main" val="20006"/>
                    </a:ext>
                  </a:extLst>
                </a:gridCol>
                <a:gridCol w="811550">
                  <a:extLst>
                    <a:ext uri="{9D8B030D-6E8A-4147-A177-3AD203B41FA5}">
                      <a16:colId xmlns:a16="http://schemas.microsoft.com/office/drawing/2014/main" val="20007"/>
                    </a:ext>
                  </a:extLst>
                </a:gridCol>
                <a:gridCol w="1063125">
                  <a:extLst>
                    <a:ext uri="{9D8B030D-6E8A-4147-A177-3AD203B41FA5}">
                      <a16:colId xmlns:a16="http://schemas.microsoft.com/office/drawing/2014/main" val="20008"/>
                    </a:ext>
                  </a:extLst>
                </a:gridCol>
                <a:gridCol w="811550">
                  <a:extLst>
                    <a:ext uri="{9D8B030D-6E8A-4147-A177-3AD203B41FA5}">
                      <a16:colId xmlns:a16="http://schemas.microsoft.com/office/drawing/2014/main" val="20009"/>
                    </a:ext>
                  </a:extLst>
                </a:gridCol>
              </a:tblGrid>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PERIODID</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RETAILER</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CHANNEL ID</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SHOP LOADED</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ITEMS</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a:t>QUANTITY</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VALUE</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ITEMS PER</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a:t>QUANTITY</a:t>
                      </a:r>
                      <a:r>
                        <a:rPr lang="en" sz="800" b="0" i="0" u="none" strike="noStrike" cap="none">
                          <a:latin typeface="Arial"/>
                          <a:ea typeface="Arial"/>
                          <a:cs typeface="Arial"/>
                          <a:sym typeface="Arial"/>
                        </a:rPr>
                        <a:t> PER</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VALUE PER</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3D3D3"/>
                    </a:solidFill>
                  </a:tcPr>
                </a:tc>
                <a:extLst>
                  <a:ext uri="{0D108BD9-81ED-4DB2-BD59-A6C34878D82A}">
                    <a16:rowId xmlns:a16="http://schemas.microsoft.com/office/drawing/2014/main" val="10000"/>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1807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77220</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848149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5093769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 </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 </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 </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1808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76957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916818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5489594</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-.34%</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7.77%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1809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77278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779643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5128995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-14.96%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-6.57%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1810</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73622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759225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4898439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-4.73%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-2.62%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75287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751965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4978318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2.26%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-.96%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1.63%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76872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770705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5322690</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2.49%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6.92%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78200</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799883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5222177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1.73%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3.79%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1814</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76688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747943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4974322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-1.93%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-6.49%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-4.75%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77362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713438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4953099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.88%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-4.61%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1816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217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78689</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750716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4936536</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1.72%</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5.23%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latin typeface="Arial"/>
                          <a:ea typeface="Arial"/>
                          <a:cs typeface="Arial"/>
                          <a:sym typeface="Arial"/>
                        </a:rPr>
                        <a:t>-.33%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203350">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1817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GB081</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MOFF</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217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85045</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922887</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6335723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8.08%</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22.93%</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latin typeface="Arial"/>
                          <a:ea typeface="Arial"/>
                          <a:cs typeface="Arial"/>
                          <a:sym typeface="Arial"/>
                        </a:rPr>
                        <a:t>28.34%</a:t>
                      </a:r>
                      <a:endParaRPr sz="1100" u="none" strike="noStrike" cap="none"/>
                    </a:p>
                  </a:txBody>
                  <a:tcPr marL="8650" marR="8650" marT="650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9DC8A"/>
                    </a:solidFill>
                  </a:tcPr>
                </a:tc>
                <a:extLst>
                  <a:ext uri="{0D108BD9-81ED-4DB2-BD59-A6C34878D82A}">
                    <a16:rowId xmlns:a16="http://schemas.microsoft.com/office/drawing/2014/main" val="10011"/>
                  </a:ext>
                </a:extLst>
              </a:tr>
            </a:tbl>
          </a:graphicData>
        </a:graphic>
      </p:graphicFrame>
      <p:sp>
        <p:nvSpPr>
          <p:cNvPr id="1129" name="Google Shape;1129;p146"/>
          <p:cNvSpPr txBox="1">
            <a:spLocks noGrp="1"/>
          </p:cNvSpPr>
          <p:nvPr>
            <p:ph type="title"/>
          </p:nvPr>
        </p:nvSpPr>
        <p:spPr>
          <a:xfrm>
            <a:off x="285750" y="78275"/>
            <a:ext cx="37602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Retailer Info</a:t>
            </a:r>
            <a:endParaRPr/>
          </a:p>
        </p:txBody>
      </p:sp>
    </p:spTree>
  </p:cSld>
  <p:clrMapOvr>
    <a:overrideClrMapping bg1="lt1" tx1="dk1" bg2="lt2" tx2="dk2" accent1="accent1" accent2="accent2" accent3="accent3" accent4="accent4" accent5="accent5" accent6="accent6" hlink="hlink" folHlink="folHlink"/>
  </p:clrMapOvr>
</p:sld>
</file>

<file path=ppt/slides/slide7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26"/>
        <p:cNvGrpSpPr/>
        <p:nvPr/>
      </p:nvGrpSpPr>
      <p:grpSpPr>
        <a:xfrm>
          <a:off x="0" y="0"/>
          <a:ext cx="0" cy="0"/>
          <a:chOff x="0" y="0"/>
          <a:chExt cx="0" cy="0"/>
        </a:xfrm>
      </p:grpSpPr>
      <p:sp>
        <p:nvSpPr>
          <p:cNvPr id="1127" name="Google Shape;1127;p146"/>
          <p:cNvSpPr txBox="1"/>
          <p:nvPr/>
        </p:nvSpPr>
        <p:spPr>
          <a:xfrm>
            <a:off x="381000" y="609602"/>
            <a:ext cx="8610600" cy="2008200"/>
          </a:xfrm>
          <a:prstGeom prst="rect">
            <a:avLst/>
          </a:prstGeom>
          <a:noFill/>
          <a:ln>
            <a:noFill/>
          </a:ln>
        </p:spPr>
        <p:txBody>
          <a:bodyPr spcFirstLastPara="1" wrap="square" lIns="91425" tIns="45700" rIns="91425" bIns="45700" anchor="t" anchorCtr="0">
            <a:noAutofit/>
          </a:bodyPr>
          <a:lstStyle/>
          <a:p>
            <a:r>
              <a:rPr lang="en-US" sz="1200" b="1" u="sng" dirty="0"/>
              <a:t>DM 25982 - </a:t>
            </a:r>
            <a:r>
              <a:rPr lang="en-US" sz="1200" b="1" i="0" u="sng" strike="noStrike" cap="none" dirty="0">
                <a:latin typeface="Arial"/>
                <a:ea typeface="Arial"/>
                <a:cs typeface="Arial"/>
                <a:sym typeface="Arial"/>
              </a:rPr>
              <a:t>Retailer </a:t>
            </a:r>
            <a:r>
              <a:rPr lang="en-US" sz="1200" b="1" u="sng" dirty="0"/>
              <a:t>Info to populate for Daily Data retailer:</a:t>
            </a:r>
            <a:endParaRPr lang="en-US" sz="1200" b="1" i="0" u="sng" strike="noStrike" cap="none" dirty="0">
              <a:latin typeface="Arial"/>
              <a:ea typeface="Arial"/>
              <a:cs typeface="Arial"/>
            </a:endParaRPr>
          </a:p>
          <a:p>
            <a:pPr marL="0" marR="0" lvl="0" indent="0" algn="l" rtl="0">
              <a:lnSpc>
                <a:spcPct val="100000"/>
              </a:lnSpc>
              <a:spcBef>
                <a:spcPts val="0"/>
              </a:spcBef>
              <a:spcAft>
                <a:spcPts val="0"/>
              </a:spcAft>
              <a:buClr>
                <a:srgbClr val="000000"/>
              </a:buClr>
              <a:buSzPts val="1200"/>
              <a:buFont typeface="Arial"/>
              <a:buNone/>
            </a:pPr>
            <a:endParaRPr lang="en-US" sz="800" b="1" i="0" u="none" strike="noStrike" cap="none">
              <a:latin typeface="Arial"/>
              <a:ea typeface="Arial"/>
              <a:cs typeface="Arial"/>
              <a:sym typeface="Arial"/>
            </a:endParaRPr>
          </a:p>
          <a:p>
            <a:pPr marL="285750" indent="-260350">
              <a:buSzPts val="1200"/>
              <a:buFont typeface="Noto Sans Symbols"/>
              <a:buChar char="⮚"/>
            </a:pPr>
            <a:r>
              <a:rPr lang="en-US" sz="1200" dirty="0"/>
              <a:t>Apart from the normal weekly retailer, system can also provide the retailer information for the Daily data periodicity retailer as well. This retailers are aggregated from the DD periodicity to WKLY periodicity. To populate this data, it will use below tags:</a:t>
            </a:r>
          </a:p>
          <a:p>
            <a:pPr marL="285750" indent="-260350">
              <a:buSzPts val="1200"/>
              <a:buFont typeface="Noto Sans Symbols"/>
              <a:buChar char="⮚"/>
            </a:pPr>
            <a:endParaRPr lang="en-US" sz="1200" dirty="0"/>
          </a:p>
          <a:p>
            <a:pPr marL="171450" indent="-171450">
              <a:buSzPts val="1200"/>
              <a:buChar char="•"/>
            </a:pPr>
            <a:r>
              <a:rPr lang="en-US" sz="1100" dirty="0"/>
              <a:t>Process ID: DAILYDATA_MANAGEMENT </a:t>
            </a:r>
          </a:p>
          <a:p>
            <a:pPr marL="171450" indent="-171450">
              <a:buSzPts val="1200"/>
              <a:buChar char="•"/>
            </a:pPr>
            <a:r>
              <a:rPr lang="en-US" sz="1100" dirty="0"/>
              <a:t>AC_STATTAG:  </a:t>
            </a:r>
          </a:p>
          <a:p>
            <a:pPr marL="171450" indent="-171450">
              <a:buSzPts val="1200"/>
              <a:buChar char="•"/>
            </a:pPr>
            <a:r>
              <a:rPr lang="en-US" sz="1100" dirty="0"/>
              <a:t>NREC_AGGREGATED --&gt; As Items. </a:t>
            </a:r>
            <a:endParaRPr lang="en-US" sz="1100"/>
          </a:p>
          <a:p>
            <a:pPr marL="171450" indent="-171450">
              <a:buSzPts val="1200"/>
              <a:buChar char="•"/>
            </a:pPr>
            <a:r>
              <a:rPr lang="en-US" sz="1100" dirty="0"/>
              <a:t>SUM_SLOT1 --&gt; As Quantity. </a:t>
            </a:r>
            <a:endParaRPr lang="en-US" sz="1100"/>
          </a:p>
          <a:p>
            <a:pPr marL="171450" indent="-171450">
              <a:buSzPts val="1200"/>
              <a:buChar char="•"/>
            </a:pPr>
            <a:r>
              <a:rPr lang="en-US" sz="1100" dirty="0"/>
              <a:t>SUM_SLOT2 --&gt; As Value. </a:t>
            </a:r>
          </a:p>
          <a:p>
            <a:pPr marL="285750" indent="-260350">
              <a:buSzPts val="1200"/>
              <a:buFont typeface="Noto Sans Symbols"/>
              <a:buChar char="⮚"/>
            </a:pPr>
            <a:endParaRPr lang="en-US" sz="1200" dirty="0"/>
          </a:p>
        </p:txBody>
      </p:sp>
      <p:sp>
        <p:nvSpPr>
          <p:cNvPr id="1129" name="Google Shape;1129;p146"/>
          <p:cNvSpPr txBox="1">
            <a:spLocks noGrp="1"/>
          </p:cNvSpPr>
          <p:nvPr>
            <p:ph type="title"/>
          </p:nvPr>
        </p:nvSpPr>
        <p:spPr>
          <a:xfrm>
            <a:off x="285750" y="78275"/>
            <a:ext cx="37602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Retailer Info</a:t>
            </a:r>
            <a:endParaRPr/>
          </a:p>
        </p:txBody>
      </p:sp>
      <p:sp>
        <p:nvSpPr>
          <p:cNvPr id="3" name="Google Shape;1388;p209">
            <a:extLst>
              <a:ext uri="{FF2B5EF4-FFF2-40B4-BE49-F238E27FC236}">
                <a16:creationId xmlns:a16="http://schemas.microsoft.com/office/drawing/2014/main" id="{7B47EB6B-90E0-3E70-1F76-3945E3B10A91}"/>
              </a:ext>
            </a:extLst>
          </p:cNvPr>
          <p:cNvSpPr/>
          <p:nvPr/>
        </p:nvSpPr>
        <p:spPr>
          <a:xfrm>
            <a:off x="7590503" y="65891"/>
            <a:ext cx="963477" cy="298557"/>
          </a:xfrm>
          <a:prstGeom prst="roundRect">
            <a:avLst>
              <a:gd name="adj" fmla="val 16667"/>
            </a:avLst>
          </a:prstGeom>
          <a:solidFill>
            <a:srgbClr val="93C47D"/>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1100"/>
              <a:t>June’23 </a:t>
            </a:r>
            <a:r>
              <a:rPr lang="en" sz="1100" dirty="0"/>
              <a:t>CR</a:t>
            </a:r>
            <a:endParaRPr lang="en-US" sz="1100"/>
          </a:p>
        </p:txBody>
      </p:sp>
      <p:pic>
        <p:nvPicPr>
          <p:cNvPr id="4" name="Picture 4" descr="Graphical user interface, table&#10;&#10;Description automatically generated">
            <a:extLst>
              <a:ext uri="{FF2B5EF4-FFF2-40B4-BE49-F238E27FC236}">
                <a16:creationId xmlns:a16="http://schemas.microsoft.com/office/drawing/2014/main" id="{9C167EB2-15C6-7160-9435-AB51CC5D7175}"/>
              </a:ext>
            </a:extLst>
          </p:cNvPr>
          <p:cNvPicPr>
            <a:picLocks noChangeAspect="1"/>
          </p:cNvPicPr>
          <p:nvPr/>
        </p:nvPicPr>
        <p:blipFill>
          <a:blip r:embed="rId4"/>
          <a:stretch>
            <a:fillRect/>
          </a:stretch>
        </p:blipFill>
        <p:spPr>
          <a:xfrm>
            <a:off x="468351" y="2615785"/>
            <a:ext cx="8500016" cy="1877331"/>
          </a:xfrm>
          <a:prstGeom prst="rect">
            <a:avLst/>
          </a:prstGeom>
        </p:spPr>
      </p:pic>
    </p:spTree>
    <p:extLst>
      <p:ext uri="{BB962C8B-B14F-4D97-AF65-F5344CB8AC3E}">
        <p14:creationId xmlns:p14="http://schemas.microsoft.com/office/powerpoint/2010/main" val="3774068855"/>
      </p:ext>
    </p:extLst>
  </p:cSld>
  <p:clrMapOvr>
    <a:overrideClrMapping bg1="lt1" tx1="dk1" bg2="lt2" tx2="dk2" accent1="accent1" accent2="accent2" accent3="accent3" accent4="accent4" accent5="accent5" accent6="accent6" hlink="hlink" folHlink="folHlink"/>
  </p:clrMapOvr>
</p:sld>
</file>

<file path=ppt/slides/slide7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33"/>
        <p:cNvGrpSpPr/>
        <p:nvPr/>
      </p:nvGrpSpPr>
      <p:grpSpPr>
        <a:xfrm>
          <a:off x="0" y="0"/>
          <a:ext cx="0" cy="0"/>
          <a:chOff x="0" y="0"/>
          <a:chExt cx="0" cy="0"/>
        </a:xfrm>
      </p:grpSpPr>
      <p:sp>
        <p:nvSpPr>
          <p:cNvPr id="1134" name="Google Shape;1134;p147"/>
          <p:cNvSpPr txBox="1">
            <a:spLocks noGrp="1"/>
          </p:cNvSpPr>
          <p:nvPr>
            <p:ph type="title"/>
          </p:nvPr>
        </p:nvSpPr>
        <p:spPr>
          <a:xfrm>
            <a:off x="2857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FOVA To Do Browser</a:t>
            </a:r>
            <a:endParaRPr/>
          </a:p>
        </p:txBody>
      </p:sp>
      <p:pic>
        <p:nvPicPr>
          <p:cNvPr id="1135" name="Google Shape;1135;p147"/>
          <p:cNvPicPr preferRelativeResize="0"/>
          <p:nvPr/>
        </p:nvPicPr>
        <p:blipFill rotWithShape="1">
          <a:blip r:embed="rId4">
            <a:alphaModFix/>
          </a:blip>
          <a:srcRect t="26506" r="50000" b="18749"/>
          <a:stretch/>
        </p:blipFill>
        <p:spPr>
          <a:xfrm>
            <a:off x="1981200" y="2042600"/>
            <a:ext cx="5069226" cy="3018876"/>
          </a:xfrm>
          <a:prstGeom prst="rect">
            <a:avLst/>
          </a:prstGeom>
          <a:noFill/>
          <a:ln w="9525" cap="flat" cmpd="sng">
            <a:solidFill>
              <a:srgbClr val="000000"/>
            </a:solidFill>
            <a:prstDash val="solid"/>
            <a:round/>
            <a:headEnd type="none" w="sm" len="sm"/>
            <a:tailEnd type="none" w="sm" len="sm"/>
          </a:ln>
        </p:spPr>
      </p:pic>
      <p:sp>
        <p:nvSpPr>
          <p:cNvPr id="1136" name="Google Shape;1136;p147"/>
          <p:cNvSpPr txBox="1"/>
          <p:nvPr/>
        </p:nvSpPr>
        <p:spPr>
          <a:xfrm>
            <a:off x="294017" y="704850"/>
            <a:ext cx="8697583" cy="119920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chemeClr val="dk1"/>
                </a:solidFill>
                <a:latin typeface="Arial"/>
                <a:ea typeface="Arial"/>
                <a:cs typeface="Arial"/>
                <a:sym typeface="Arial"/>
              </a:rPr>
              <a:t>FOVA to do Browser : </a:t>
            </a:r>
            <a:endParaRPr sz="16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600" b="1">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browser will show all the outstanding FOVA reports for a particular selection (retailer / channel / country). </a:t>
            </a:r>
            <a:endParaRPr sz="13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In BAU, this is used for FOVA checking and before starting data salvation all FOVA reports should be cleared from this browser. </a:t>
            </a:r>
            <a:endParaRPr sz="900" b="0" i="0" u="none" strike="noStrike" cap="none">
              <a:solidFill>
                <a:srgbClr val="000000"/>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7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40"/>
        <p:cNvGrpSpPr/>
        <p:nvPr/>
      </p:nvGrpSpPr>
      <p:grpSpPr>
        <a:xfrm>
          <a:off x="0" y="0"/>
          <a:ext cx="0" cy="0"/>
          <a:chOff x="0" y="0"/>
          <a:chExt cx="0" cy="0"/>
        </a:xfrm>
      </p:grpSpPr>
      <p:sp>
        <p:nvSpPr>
          <p:cNvPr id="1141" name="Google Shape;1141;p148"/>
          <p:cNvSpPr txBox="1">
            <a:spLocks noGrp="1"/>
          </p:cNvSpPr>
          <p:nvPr>
            <p:ph type="title"/>
          </p:nvPr>
        </p:nvSpPr>
        <p:spPr>
          <a:xfrm>
            <a:off x="2857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FOVA Report Browser</a:t>
            </a:r>
            <a:endParaRPr/>
          </a:p>
        </p:txBody>
      </p:sp>
      <p:pic>
        <p:nvPicPr>
          <p:cNvPr id="1142" name="Google Shape;1142;p148"/>
          <p:cNvPicPr preferRelativeResize="0"/>
          <p:nvPr/>
        </p:nvPicPr>
        <p:blipFill rotWithShape="1">
          <a:blip r:embed="rId4">
            <a:alphaModFix/>
          </a:blip>
          <a:srcRect t="16161" r="21358" b="6253"/>
          <a:stretch/>
        </p:blipFill>
        <p:spPr>
          <a:xfrm>
            <a:off x="1739176" y="1739575"/>
            <a:ext cx="5979774" cy="3314700"/>
          </a:xfrm>
          <a:prstGeom prst="rect">
            <a:avLst/>
          </a:prstGeom>
          <a:noFill/>
          <a:ln w="9525" cap="flat" cmpd="sng">
            <a:solidFill>
              <a:srgbClr val="000000"/>
            </a:solidFill>
            <a:prstDash val="solid"/>
            <a:round/>
            <a:headEnd type="none" w="sm" len="sm"/>
            <a:tailEnd type="none" w="sm" len="sm"/>
          </a:ln>
        </p:spPr>
      </p:pic>
      <p:sp>
        <p:nvSpPr>
          <p:cNvPr id="1143" name="Google Shape;1143;p148"/>
          <p:cNvSpPr txBox="1"/>
          <p:nvPr/>
        </p:nvSpPr>
        <p:spPr>
          <a:xfrm>
            <a:off x="304800" y="628650"/>
            <a:ext cx="8686800" cy="6924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b="1" i="0" u="none" strike="noStrike" cap="none">
                <a:solidFill>
                  <a:schemeClr val="dk1"/>
                </a:solidFill>
                <a:latin typeface="Arial"/>
                <a:ea typeface="Arial"/>
                <a:cs typeface="Arial"/>
                <a:sym typeface="Arial"/>
              </a:rPr>
              <a:t>FOVA Reports Browser : </a:t>
            </a:r>
            <a:endParaRPr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endParaRPr sz="400">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300" b="0" i="0" u="none" strike="noStrike" cap="none">
                <a:solidFill>
                  <a:schemeClr val="dk1"/>
                </a:solidFill>
                <a:latin typeface="Arial"/>
                <a:ea typeface="Arial"/>
                <a:cs typeface="Arial"/>
                <a:sym typeface="Arial"/>
              </a:rPr>
              <a:t>This browser will be used to see report for a particular store for a particular period. It will show all the reports for the store regardless of its status (FOVA Not Ok or FOVA Ok).</a:t>
            </a:r>
            <a:endParaRPr sz="1300" b="0" i="0" u="none" strike="noStrike" cap="none">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7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47"/>
        <p:cNvGrpSpPr/>
        <p:nvPr/>
      </p:nvGrpSpPr>
      <p:grpSpPr>
        <a:xfrm>
          <a:off x="0" y="0"/>
          <a:ext cx="0" cy="0"/>
          <a:chOff x="0" y="0"/>
          <a:chExt cx="0" cy="0"/>
        </a:xfrm>
      </p:grpSpPr>
      <p:sp>
        <p:nvSpPr>
          <p:cNvPr id="1148" name="Google Shape;1148;p149"/>
          <p:cNvSpPr txBox="1">
            <a:spLocks noGrp="1"/>
          </p:cNvSpPr>
          <p:nvPr>
            <p:ph type="title"/>
          </p:nvPr>
        </p:nvSpPr>
        <p:spPr>
          <a:xfrm>
            <a:off x="2857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YAFA FOVA Statistic Browser</a:t>
            </a:r>
            <a:endParaRPr/>
          </a:p>
        </p:txBody>
      </p:sp>
      <p:pic>
        <p:nvPicPr>
          <p:cNvPr id="1149" name="Google Shape;1149;p149" descr="image003"/>
          <p:cNvPicPr preferRelativeResize="0"/>
          <p:nvPr/>
        </p:nvPicPr>
        <p:blipFill rotWithShape="1">
          <a:blip r:embed="rId4">
            <a:alphaModFix/>
          </a:blip>
          <a:srcRect/>
          <a:stretch/>
        </p:blipFill>
        <p:spPr>
          <a:xfrm>
            <a:off x="4673357" y="533401"/>
            <a:ext cx="4318242" cy="2426108"/>
          </a:xfrm>
          <a:prstGeom prst="rect">
            <a:avLst/>
          </a:prstGeom>
          <a:noFill/>
          <a:ln w="9525" cap="flat" cmpd="sng">
            <a:solidFill>
              <a:srgbClr val="000000"/>
            </a:solidFill>
            <a:prstDash val="solid"/>
            <a:round/>
            <a:headEnd type="none" w="sm" len="sm"/>
            <a:tailEnd type="none" w="sm" len="sm"/>
          </a:ln>
        </p:spPr>
      </p:pic>
      <p:pic>
        <p:nvPicPr>
          <p:cNvPr id="1150" name="Google Shape;1150;p149" descr="image005"/>
          <p:cNvPicPr preferRelativeResize="0"/>
          <p:nvPr/>
        </p:nvPicPr>
        <p:blipFill rotWithShape="1">
          <a:blip r:embed="rId5">
            <a:alphaModFix/>
          </a:blip>
          <a:srcRect/>
          <a:stretch/>
        </p:blipFill>
        <p:spPr>
          <a:xfrm>
            <a:off x="370025" y="3019500"/>
            <a:ext cx="8636650" cy="2050425"/>
          </a:xfrm>
          <a:prstGeom prst="rect">
            <a:avLst/>
          </a:prstGeom>
          <a:noFill/>
          <a:ln w="9525" cap="flat" cmpd="sng">
            <a:solidFill>
              <a:srgbClr val="000000"/>
            </a:solidFill>
            <a:prstDash val="solid"/>
            <a:round/>
            <a:headEnd type="none" w="sm" len="sm"/>
            <a:tailEnd type="none" w="sm" len="sm"/>
          </a:ln>
        </p:spPr>
      </p:pic>
      <p:sp>
        <p:nvSpPr>
          <p:cNvPr id="1151" name="Google Shape;1151;p149"/>
          <p:cNvSpPr txBox="1"/>
          <p:nvPr/>
        </p:nvSpPr>
        <p:spPr>
          <a:xfrm>
            <a:off x="304800" y="701750"/>
            <a:ext cx="4122900" cy="11079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FOVA statistic browser :</a:t>
            </a:r>
            <a:endParaRPr sz="1800" b="1">
              <a:solidFill>
                <a:schemeClr val="dk1"/>
              </a:solidFill>
            </a:endParaRPr>
          </a:p>
          <a:p>
            <a:pPr marL="0" marR="0" lvl="0" indent="0" algn="l" rtl="0">
              <a:lnSpc>
                <a:spcPct val="115000"/>
              </a:lnSpc>
              <a:spcBef>
                <a:spcPts val="0"/>
              </a:spcBef>
              <a:spcAft>
                <a:spcPts val="0"/>
              </a:spcAft>
              <a:buClr>
                <a:srgbClr val="000000"/>
              </a:buClr>
              <a:buSzPts val="1800"/>
              <a:buFont typeface="Arial"/>
              <a:buNone/>
            </a:pPr>
            <a:endParaRPr sz="600" b="1">
              <a:solidFill>
                <a:schemeClr val="dk1"/>
              </a:solidFill>
            </a:endParaRPr>
          </a:p>
          <a:p>
            <a:pPr marL="0" marR="0" lvl="0" indent="0" algn="l" rtl="0">
              <a:lnSpc>
                <a:spcPct val="115000"/>
              </a:lnSpc>
              <a:spcBef>
                <a:spcPts val="0"/>
              </a:spcBef>
              <a:spcAft>
                <a:spcPts val="0"/>
              </a:spcAft>
              <a:buClr>
                <a:srgbClr val="000000"/>
              </a:buClr>
              <a:buSzPts val="1800"/>
              <a:buFont typeface="Arial"/>
              <a:buNone/>
            </a:pPr>
            <a:r>
              <a:rPr lang="en" sz="1500" b="0" i="0" u="none" strike="noStrike" cap="none">
                <a:solidFill>
                  <a:schemeClr val="dk1"/>
                </a:solidFill>
                <a:latin typeface="Arial"/>
                <a:ea typeface="Arial"/>
                <a:cs typeface="Arial"/>
                <a:sym typeface="Arial"/>
              </a:rPr>
              <a:t>This browser is used to check results of a particular statistical test over a period of time (10 / 20 / 52 weeks). </a:t>
            </a:r>
            <a:endParaRPr sz="15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r>
              <a:rPr lang="en" sz="1500" b="0" i="0" u="none" strike="noStrike" cap="none">
                <a:solidFill>
                  <a:schemeClr val="dk1"/>
                </a:solidFill>
                <a:latin typeface="Arial"/>
                <a:ea typeface="Arial"/>
                <a:cs typeface="Arial"/>
                <a:sym typeface="Arial"/>
              </a:rPr>
              <a:t>This will show results in tabular format as well as in Graph format. </a:t>
            </a:r>
            <a:endParaRPr sz="1500" b="0" i="0" u="none" strike="noStrike" cap="none">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8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55"/>
        <p:cNvGrpSpPr/>
        <p:nvPr/>
      </p:nvGrpSpPr>
      <p:grpSpPr>
        <a:xfrm>
          <a:off x="0" y="0"/>
          <a:ext cx="0" cy="0"/>
          <a:chOff x="0" y="0"/>
          <a:chExt cx="0" cy="0"/>
        </a:xfrm>
      </p:grpSpPr>
      <p:sp>
        <p:nvSpPr>
          <p:cNvPr id="1156" name="Google Shape;1156;p150"/>
          <p:cNvSpPr txBox="1">
            <a:spLocks noGrp="1"/>
          </p:cNvSpPr>
          <p:nvPr>
            <p:ph type="title"/>
          </p:nvPr>
        </p:nvSpPr>
        <p:spPr>
          <a:xfrm>
            <a:off x="285750" y="53575"/>
            <a:ext cx="58146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Basic checks for Questionable stores</a:t>
            </a:r>
            <a:endParaRPr/>
          </a:p>
        </p:txBody>
      </p:sp>
      <p:sp>
        <p:nvSpPr>
          <p:cNvPr id="1157" name="Google Shape;1157;p150"/>
          <p:cNvSpPr txBox="1">
            <a:spLocks noGrp="1"/>
          </p:cNvSpPr>
          <p:nvPr>
            <p:ph type="body" idx="1"/>
          </p:nvPr>
        </p:nvSpPr>
        <p:spPr>
          <a:xfrm>
            <a:off x="354800" y="562927"/>
            <a:ext cx="8256600" cy="332400"/>
          </a:xfrm>
          <a:prstGeom prst="rect">
            <a:avLst/>
          </a:prstGeom>
          <a:noFill/>
          <a:ln>
            <a:noFill/>
          </a:ln>
        </p:spPr>
        <p:txBody>
          <a:bodyPr spcFirstLastPara="1" wrap="square" lIns="91425" tIns="45700" rIns="91425" bIns="45700" anchor="t" anchorCtr="0">
            <a:noAutofit/>
          </a:bodyPr>
          <a:lstStyle/>
          <a:p>
            <a:pPr marL="169862" lvl="0" indent="-144462" algn="l" rtl="0">
              <a:lnSpc>
                <a:spcPct val="100000"/>
              </a:lnSpc>
              <a:spcBef>
                <a:spcPts val="0"/>
              </a:spcBef>
              <a:spcAft>
                <a:spcPts val="0"/>
              </a:spcAft>
              <a:buSzPts val="1600"/>
              <a:buFont typeface="Noto Sans Symbols"/>
              <a:buChar char="⮚"/>
            </a:pPr>
            <a:r>
              <a:rPr lang="en" sz="1600"/>
              <a:t>Following are the checks which the operator needs to perform while doing FOVA.</a:t>
            </a:r>
            <a:endParaRPr sz="1600"/>
          </a:p>
        </p:txBody>
      </p:sp>
      <p:graphicFrame>
        <p:nvGraphicFramePr>
          <p:cNvPr id="1158" name="Google Shape;1158;p150"/>
          <p:cNvGraphicFramePr/>
          <p:nvPr/>
        </p:nvGraphicFramePr>
        <p:xfrm>
          <a:off x="381000" y="953281"/>
          <a:ext cx="8051800" cy="4029970"/>
        </p:xfrm>
        <a:graphic>
          <a:graphicData uri="http://schemas.openxmlformats.org/drawingml/2006/table">
            <a:tbl>
              <a:tblPr firstRow="1" bandRow="1">
                <a:noFill/>
                <a:tableStyleId>{A269C69B-ADA4-4E08-A26F-B0D481E544DB}</a:tableStyleId>
              </a:tblPr>
              <a:tblGrid>
                <a:gridCol w="8051800">
                  <a:extLst>
                    <a:ext uri="{9D8B030D-6E8A-4147-A177-3AD203B41FA5}">
                      <a16:colId xmlns:a16="http://schemas.microsoft.com/office/drawing/2014/main" val="20000"/>
                    </a:ext>
                  </a:extLst>
                </a:gridCol>
              </a:tblGrid>
              <a:tr h="199350">
                <a:tc>
                  <a:txBody>
                    <a:bodyPr/>
                    <a:lstStyle/>
                    <a:p>
                      <a:pPr marL="0" marR="0" lvl="0" indent="0" algn="l" rtl="0">
                        <a:lnSpc>
                          <a:spcPct val="100000"/>
                        </a:lnSpc>
                        <a:spcBef>
                          <a:spcPts val="0"/>
                        </a:spcBef>
                        <a:spcAft>
                          <a:spcPts val="0"/>
                        </a:spcAft>
                        <a:buClr>
                          <a:srgbClr val="000000"/>
                        </a:buClr>
                        <a:buSzPts val="1100"/>
                        <a:buFont typeface="Arial"/>
                        <a:buNone/>
                      </a:pPr>
                      <a:r>
                        <a:rPr lang="en" sz="1300" u="none" strike="noStrike" cap="none"/>
                        <a:t>FOVA Handling Checklist</a:t>
                      </a:r>
                      <a:endParaRPr sz="1300" b="1"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0"/>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 of loading for retailer.</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1"/>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country specific information</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2"/>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retailer specific information (the operator should also make note of census / sample Retailer)</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3"/>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General overview</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4"/>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Is there any increase or decrease in questionable stores as per FOVA tag?</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5"/>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retailer level trend</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6"/>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Is there any variation?</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7"/>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Copy FOVA Not Ok stores from YAFA and extract it in excel sheet.</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8"/>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retailer wise questionable stores (FOVA to do Browser) (Make note of census / sample store)</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09"/>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global frequency table</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0"/>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all the test and related table with ***</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1"/>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super group tables</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2"/>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daily data information (if any). Compare with previous week to identify variation.</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3"/>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Check country specific or additional information (Seasonality, holiday etc.) or sales sheet</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4"/>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Follow country guidelines as per FOVA tag / retailer / sample / census etc.</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5"/>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Based on complete analysis, is decision taken by the operator?</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6"/>
                  </a:ext>
                </a:extLst>
              </a:tr>
              <a:tr h="289700">
                <a:tc>
                  <a:txBody>
                    <a:bodyPr/>
                    <a:lstStyle/>
                    <a:p>
                      <a:pPr marL="457200" marR="0" lvl="0" indent="-292100" algn="l" rtl="0">
                        <a:lnSpc>
                          <a:spcPct val="100000"/>
                        </a:lnSpc>
                        <a:spcBef>
                          <a:spcPts val="0"/>
                        </a:spcBef>
                        <a:spcAft>
                          <a:spcPts val="0"/>
                        </a:spcAft>
                        <a:buSzPts val="1000"/>
                        <a:buChar char="●"/>
                      </a:pPr>
                      <a:r>
                        <a:rPr lang="en" sz="1000" u="none" strike="noStrike" cap="none"/>
                        <a:t>Keep performing the above steps for all FOVA Not Ok stores until the operator is able to find a pattern or identify the issue with the Retailers / shops.</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7"/>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Once the operator has identified the issue, the operator can take decision for remaining stores based upon the guidelines.</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8"/>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Update the decision in excel with the comment </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19"/>
                  </a:ext>
                </a:extLst>
              </a:tr>
              <a:tr h="185100">
                <a:tc>
                  <a:txBody>
                    <a:bodyPr/>
                    <a:lstStyle/>
                    <a:p>
                      <a:pPr marL="457200" marR="0" lvl="0" indent="-292100" algn="l" rtl="0">
                        <a:lnSpc>
                          <a:spcPct val="100000"/>
                        </a:lnSpc>
                        <a:spcBef>
                          <a:spcPts val="0"/>
                        </a:spcBef>
                        <a:spcAft>
                          <a:spcPts val="0"/>
                        </a:spcAft>
                        <a:buSzPts val="1000"/>
                        <a:buChar char="●"/>
                      </a:pPr>
                      <a:r>
                        <a:rPr lang="en" sz="1000" u="none" strike="noStrike" cap="none"/>
                        <a:t>Decision is applied on store through YAFA</a:t>
                      </a:r>
                      <a:endParaRPr sz="1000" b="0" i="0" u="none" strike="noStrike" cap="none">
                        <a:latin typeface="Arial"/>
                        <a:ea typeface="Arial"/>
                        <a:cs typeface="Arial"/>
                        <a:sym typeface="Arial"/>
                      </a:endParaRPr>
                    </a:p>
                  </a:txBody>
                  <a:tcPr marL="6750" marR="6750" marT="5075" marB="0" anchor="ctr"/>
                </a:tc>
                <a:extLst>
                  <a:ext uri="{0D108BD9-81ED-4DB2-BD59-A6C34878D82A}">
                    <a16:rowId xmlns:a16="http://schemas.microsoft.com/office/drawing/2014/main" val="10020"/>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8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162"/>
        <p:cNvGrpSpPr/>
        <p:nvPr/>
      </p:nvGrpSpPr>
      <p:grpSpPr>
        <a:xfrm>
          <a:off x="0" y="0"/>
          <a:ext cx="0" cy="0"/>
          <a:chOff x="0" y="0"/>
          <a:chExt cx="0" cy="0"/>
        </a:xfrm>
      </p:grpSpPr>
      <p:sp>
        <p:nvSpPr>
          <p:cNvPr id="1163" name="Google Shape;1163;p151"/>
          <p:cNvSpPr txBox="1">
            <a:spLocks noGrp="1"/>
          </p:cNvSpPr>
          <p:nvPr>
            <p:ph type="title"/>
          </p:nvPr>
        </p:nvSpPr>
        <p:spPr>
          <a:xfrm>
            <a:off x="304800" y="36175"/>
            <a:ext cx="3135600" cy="5322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Fova process Flow</a:t>
            </a:r>
            <a:endParaRPr/>
          </a:p>
        </p:txBody>
      </p:sp>
      <p:grpSp>
        <p:nvGrpSpPr>
          <p:cNvPr id="1164" name="Google Shape;1164;p151"/>
          <p:cNvGrpSpPr/>
          <p:nvPr/>
        </p:nvGrpSpPr>
        <p:grpSpPr>
          <a:xfrm>
            <a:off x="377424" y="61319"/>
            <a:ext cx="8532362" cy="5015241"/>
            <a:chOff x="-296069" y="-243386"/>
            <a:chExt cx="9205267" cy="7011381"/>
          </a:xfrm>
        </p:grpSpPr>
        <p:sp>
          <p:nvSpPr>
            <p:cNvPr id="1165" name="Google Shape;1165;p151"/>
            <p:cNvSpPr/>
            <p:nvPr/>
          </p:nvSpPr>
          <p:spPr>
            <a:xfrm>
              <a:off x="3480526" y="381288"/>
              <a:ext cx="2770187" cy="379412"/>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9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1400"/>
                <a:buFont typeface="Arial"/>
                <a:buNone/>
              </a:pPr>
              <a:r>
                <a:rPr lang="en" sz="900" b="0" i="0" u="none" strike="noStrike" cap="none">
                  <a:solidFill>
                    <a:srgbClr val="000000"/>
                  </a:solidFill>
                  <a:latin typeface="Calibri"/>
                  <a:ea typeface="Calibri"/>
                  <a:cs typeface="Calibri"/>
                  <a:sym typeface="Calibri"/>
                </a:rPr>
                <a:t>Check %  of loading for Retailer</a:t>
              </a:r>
              <a:endParaRPr sz="900" b="0" i="0" u="none" strike="noStrike" cap="none">
                <a:solidFill>
                  <a:srgbClr val="000000"/>
                </a:solidFill>
                <a:latin typeface="Calibri"/>
                <a:ea typeface="Calibri"/>
                <a:cs typeface="Calibri"/>
                <a:sym typeface="Calibri"/>
              </a:endParaRPr>
            </a:p>
            <a:p>
              <a:pPr marL="0" marR="0" lvl="0" indent="0" algn="ctr" rtl="0">
                <a:lnSpc>
                  <a:spcPct val="100000"/>
                </a:lnSpc>
                <a:spcBef>
                  <a:spcPts val="0"/>
                </a:spcBef>
                <a:spcAft>
                  <a:spcPts val="0"/>
                </a:spcAft>
                <a:buClr>
                  <a:schemeClr val="dk1"/>
                </a:buClr>
                <a:buSzPts val="1400"/>
                <a:buFont typeface="Arial"/>
                <a:buNone/>
              </a:pPr>
              <a:endParaRPr sz="900" b="0" i="0" u="none" strike="noStrike" cap="none">
                <a:solidFill>
                  <a:srgbClr val="000000"/>
                </a:solidFill>
                <a:latin typeface="Calibri"/>
                <a:ea typeface="Calibri"/>
                <a:cs typeface="Calibri"/>
                <a:sym typeface="Calibri"/>
              </a:endParaRPr>
            </a:p>
          </p:txBody>
        </p:sp>
        <p:sp>
          <p:nvSpPr>
            <p:cNvPr id="1166" name="Google Shape;1166;p151"/>
            <p:cNvSpPr/>
            <p:nvPr/>
          </p:nvSpPr>
          <p:spPr>
            <a:xfrm>
              <a:off x="2717734" y="1080567"/>
              <a:ext cx="4295775" cy="488950"/>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900" b="0" i="0" u="none" strike="noStrike" cap="none">
                  <a:solidFill>
                    <a:srgbClr val="000000"/>
                  </a:solidFill>
                  <a:latin typeface="Calibri"/>
                  <a:ea typeface="Calibri"/>
                  <a:cs typeface="Calibri"/>
                  <a:sym typeface="Calibri"/>
                </a:rPr>
                <a:t>Check Retailer specific information , general overview &amp; additional information regarding retailer/period</a:t>
              </a:r>
              <a:endParaRPr sz="900" b="0" i="0" u="none" strike="noStrike" cap="none">
                <a:solidFill>
                  <a:srgbClr val="000000"/>
                </a:solidFill>
                <a:latin typeface="Calibri"/>
                <a:ea typeface="Calibri"/>
                <a:cs typeface="Calibri"/>
                <a:sym typeface="Calibri"/>
              </a:endParaRPr>
            </a:p>
          </p:txBody>
        </p:sp>
        <p:sp>
          <p:nvSpPr>
            <p:cNvPr id="1167" name="Google Shape;1167;p151"/>
            <p:cNvSpPr/>
            <p:nvPr/>
          </p:nvSpPr>
          <p:spPr>
            <a:xfrm>
              <a:off x="3053952" y="5207085"/>
              <a:ext cx="3622674" cy="1030288"/>
            </a:xfrm>
            <a:prstGeom prst="flowChartDecision">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900" b="0" i="0" u="none" strike="noStrike" cap="none">
                  <a:solidFill>
                    <a:srgbClr val="000000"/>
                  </a:solidFill>
                  <a:latin typeface="Calibri"/>
                  <a:ea typeface="Calibri"/>
                  <a:cs typeface="Calibri"/>
                  <a:sym typeface="Calibri"/>
                </a:rPr>
                <a:t>Based on complete analysis, is decision taken by operator?</a:t>
              </a:r>
              <a:endParaRPr sz="900" b="0" i="0" u="none" strike="noStrike" cap="none">
                <a:solidFill>
                  <a:srgbClr val="000000"/>
                </a:solidFill>
                <a:latin typeface="Calibri"/>
                <a:ea typeface="Calibri"/>
                <a:cs typeface="Calibri"/>
                <a:sym typeface="Calibri"/>
              </a:endParaRPr>
            </a:p>
          </p:txBody>
        </p:sp>
        <p:sp>
          <p:nvSpPr>
            <p:cNvPr id="1168" name="Google Shape;1168;p151"/>
            <p:cNvSpPr/>
            <p:nvPr/>
          </p:nvSpPr>
          <p:spPr>
            <a:xfrm>
              <a:off x="755650" y="4722813"/>
              <a:ext cx="2060575" cy="488950"/>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Raise a Query to onshore with details</a:t>
              </a:r>
              <a:endParaRPr sz="900" b="0" i="0" u="none" strike="noStrike" cap="none">
                <a:solidFill>
                  <a:srgbClr val="000000"/>
                </a:solidFill>
                <a:latin typeface="Calibri"/>
                <a:ea typeface="Calibri"/>
                <a:cs typeface="Calibri"/>
                <a:sym typeface="Calibri"/>
              </a:endParaRPr>
            </a:p>
          </p:txBody>
        </p:sp>
        <p:sp>
          <p:nvSpPr>
            <p:cNvPr id="1169" name="Google Shape;1169;p151"/>
            <p:cNvSpPr/>
            <p:nvPr/>
          </p:nvSpPr>
          <p:spPr>
            <a:xfrm>
              <a:off x="577850" y="2413000"/>
              <a:ext cx="2409825" cy="1046163"/>
            </a:xfrm>
            <a:prstGeom prst="flowChartDecision">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Is retailer input correct? </a:t>
              </a:r>
              <a:endParaRPr sz="900" b="0" i="0" u="none" strike="noStrike" cap="none">
                <a:solidFill>
                  <a:srgbClr val="000000"/>
                </a:solidFill>
                <a:latin typeface="Calibri"/>
                <a:ea typeface="Calibri"/>
                <a:cs typeface="Calibri"/>
                <a:sym typeface="Calibri"/>
              </a:endParaRPr>
            </a:p>
          </p:txBody>
        </p:sp>
        <p:sp>
          <p:nvSpPr>
            <p:cNvPr id="1170" name="Google Shape;1170;p151"/>
            <p:cNvSpPr/>
            <p:nvPr/>
          </p:nvSpPr>
          <p:spPr>
            <a:xfrm>
              <a:off x="906463" y="533400"/>
              <a:ext cx="1752600" cy="488950"/>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Nullify and reload the data (P12)</a:t>
              </a:r>
              <a:endParaRPr sz="900" b="0" i="0" u="none" strike="noStrike" cap="none">
                <a:solidFill>
                  <a:srgbClr val="000000"/>
                </a:solidFill>
                <a:latin typeface="Calibri"/>
                <a:ea typeface="Calibri"/>
                <a:cs typeface="Calibri"/>
                <a:sym typeface="Calibri"/>
              </a:endParaRPr>
            </a:p>
          </p:txBody>
        </p:sp>
        <p:sp>
          <p:nvSpPr>
            <p:cNvPr id="1171" name="Google Shape;1171;p151"/>
            <p:cNvSpPr/>
            <p:nvPr/>
          </p:nvSpPr>
          <p:spPr>
            <a:xfrm>
              <a:off x="6731000" y="2814638"/>
              <a:ext cx="2070100" cy="752475"/>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Check the FOVA report using daily  information available</a:t>
              </a:r>
              <a:endParaRPr sz="900" b="0" i="0" u="none" strike="noStrike" cap="none">
                <a:solidFill>
                  <a:srgbClr val="000000"/>
                </a:solidFill>
                <a:latin typeface="Calibri"/>
                <a:ea typeface="Calibri"/>
                <a:cs typeface="Calibri"/>
                <a:sym typeface="Calibri"/>
              </a:endParaRPr>
            </a:p>
          </p:txBody>
        </p:sp>
        <p:sp>
          <p:nvSpPr>
            <p:cNvPr id="1172" name="Google Shape;1172;p151"/>
            <p:cNvSpPr/>
            <p:nvPr/>
          </p:nvSpPr>
          <p:spPr>
            <a:xfrm>
              <a:off x="3120230" y="3077609"/>
              <a:ext cx="3478213" cy="400051"/>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Check the Global freq., Super group freq. and all tables with *** in FOVA report</a:t>
              </a:r>
              <a:endParaRPr sz="900" b="0" i="0" u="none" strike="noStrike" cap="none">
                <a:solidFill>
                  <a:srgbClr val="000000"/>
                </a:solidFill>
                <a:latin typeface="Calibri"/>
                <a:ea typeface="Calibri"/>
                <a:cs typeface="Calibri"/>
                <a:sym typeface="Calibri"/>
              </a:endParaRPr>
            </a:p>
          </p:txBody>
        </p:sp>
        <p:sp>
          <p:nvSpPr>
            <p:cNvPr id="1173" name="Google Shape;1173;p151"/>
            <p:cNvSpPr/>
            <p:nvPr/>
          </p:nvSpPr>
          <p:spPr>
            <a:xfrm>
              <a:off x="3621095" y="1894747"/>
              <a:ext cx="2476500" cy="954088"/>
            </a:xfrm>
            <a:prstGeom prst="flowChartDecision">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Is daily data info available? </a:t>
              </a:r>
              <a:endParaRPr sz="900" b="0" i="0" u="none" strike="noStrike" cap="none">
                <a:solidFill>
                  <a:srgbClr val="000000"/>
                </a:solidFill>
                <a:latin typeface="Calibri"/>
                <a:ea typeface="Calibri"/>
                <a:cs typeface="Calibri"/>
                <a:sym typeface="Calibri"/>
              </a:endParaRPr>
            </a:p>
          </p:txBody>
        </p:sp>
        <p:sp>
          <p:nvSpPr>
            <p:cNvPr id="1174" name="Google Shape;1174;p151"/>
            <p:cNvSpPr/>
            <p:nvPr/>
          </p:nvSpPr>
          <p:spPr>
            <a:xfrm>
              <a:off x="3132137" y="4492347"/>
              <a:ext cx="3466307" cy="488950"/>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900" b="0" i="0" u="none" strike="noStrike" cap="none">
                  <a:solidFill>
                    <a:srgbClr val="000000"/>
                  </a:solidFill>
                  <a:latin typeface="Calibri"/>
                  <a:ea typeface="Calibri"/>
                  <a:cs typeface="Calibri"/>
                  <a:sym typeface="Calibri"/>
                </a:rPr>
                <a:t>Follow country Guidelines as per FOVA tag/ Retailer/ Sample / Census </a:t>
              </a:r>
              <a:endParaRPr sz="900" b="0" i="0" u="none" strike="noStrike" cap="none">
                <a:solidFill>
                  <a:srgbClr val="000000"/>
                </a:solidFill>
                <a:latin typeface="Calibri"/>
                <a:ea typeface="Calibri"/>
                <a:cs typeface="Calibri"/>
                <a:sym typeface="Calibri"/>
              </a:endParaRPr>
            </a:p>
          </p:txBody>
        </p:sp>
        <p:cxnSp>
          <p:nvCxnSpPr>
            <p:cNvPr id="1175" name="Google Shape;1175;p151"/>
            <p:cNvCxnSpPr>
              <a:stCxn id="1176" idx="2"/>
              <a:endCxn id="1165" idx="0"/>
            </p:cNvCxnSpPr>
            <p:nvPr/>
          </p:nvCxnSpPr>
          <p:spPr>
            <a:xfrm>
              <a:off x="4862615" y="61414"/>
              <a:ext cx="3000" cy="319800"/>
            </a:xfrm>
            <a:prstGeom prst="straightConnector1">
              <a:avLst/>
            </a:prstGeom>
            <a:noFill/>
            <a:ln w="25400" cap="flat" cmpd="tri">
              <a:solidFill>
                <a:srgbClr val="000000"/>
              </a:solidFill>
              <a:prstDash val="solid"/>
              <a:round/>
              <a:headEnd type="none" w="sm" len="sm"/>
              <a:tailEnd type="stealth" w="med" len="med"/>
            </a:ln>
          </p:spPr>
        </p:cxnSp>
        <p:cxnSp>
          <p:nvCxnSpPr>
            <p:cNvPr id="1177" name="Google Shape;1177;p151"/>
            <p:cNvCxnSpPr>
              <a:stCxn id="1165" idx="2"/>
              <a:endCxn id="1166" idx="0"/>
            </p:cNvCxnSpPr>
            <p:nvPr/>
          </p:nvCxnSpPr>
          <p:spPr>
            <a:xfrm>
              <a:off x="4865619" y="760700"/>
              <a:ext cx="0" cy="319800"/>
            </a:xfrm>
            <a:prstGeom prst="straightConnector1">
              <a:avLst/>
            </a:prstGeom>
            <a:noFill/>
            <a:ln w="25400" cap="flat" cmpd="tri">
              <a:solidFill>
                <a:srgbClr val="000000"/>
              </a:solidFill>
              <a:prstDash val="solid"/>
              <a:round/>
              <a:headEnd type="none" w="sm" len="sm"/>
              <a:tailEnd type="stealth" w="med" len="med"/>
            </a:ln>
          </p:spPr>
        </p:cxnSp>
        <p:cxnSp>
          <p:nvCxnSpPr>
            <p:cNvPr id="1178" name="Google Shape;1178;p151"/>
            <p:cNvCxnSpPr>
              <a:stCxn id="1166" idx="2"/>
              <a:endCxn id="1173" idx="0"/>
            </p:cNvCxnSpPr>
            <p:nvPr/>
          </p:nvCxnSpPr>
          <p:spPr>
            <a:xfrm flipH="1">
              <a:off x="4859321" y="1569517"/>
              <a:ext cx="6300" cy="325200"/>
            </a:xfrm>
            <a:prstGeom prst="straightConnector1">
              <a:avLst/>
            </a:prstGeom>
            <a:noFill/>
            <a:ln w="25400" cap="flat" cmpd="tri">
              <a:solidFill>
                <a:srgbClr val="000000"/>
              </a:solidFill>
              <a:prstDash val="solid"/>
              <a:round/>
              <a:headEnd type="none" w="sm" len="sm"/>
              <a:tailEnd type="stealth" w="med" len="med"/>
            </a:ln>
          </p:spPr>
        </p:cxnSp>
        <p:cxnSp>
          <p:nvCxnSpPr>
            <p:cNvPr id="1179" name="Google Shape;1179;p151"/>
            <p:cNvCxnSpPr>
              <a:stCxn id="1168" idx="0"/>
              <a:endCxn id="1169" idx="2"/>
            </p:cNvCxnSpPr>
            <p:nvPr/>
          </p:nvCxnSpPr>
          <p:spPr>
            <a:xfrm rot="10800000">
              <a:off x="1782638" y="3459213"/>
              <a:ext cx="3300" cy="1263600"/>
            </a:xfrm>
            <a:prstGeom prst="straightConnector1">
              <a:avLst/>
            </a:prstGeom>
            <a:noFill/>
            <a:ln w="25400" cap="flat" cmpd="tri">
              <a:solidFill>
                <a:srgbClr val="000000"/>
              </a:solidFill>
              <a:prstDash val="solid"/>
              <a:round/>
              <a:headEnd type="none" w="sm" len="sm"/>
              <a:tailEnd type="stealth" w="med" len="med"/>
            </a:ln>
          </p:spPr>
        </p:cxnSp>
        <p:cxnSp>
          <p:nvCxnSpPr>
            <p:cNvPr id="1180" name="Google Shape;1180;p151"/>
            <p:cNvCxnSpPr>
              <a:stCxn id="1169" idx="0"/>
              <a:endCxn id="1170" idx="2"/>
            </p:cNvCxnSpPr>
            <p:nvPr/>
          </p:nvCxnSpPr>
          <p:spPr>
            <a:xfrm rot="10800000">
              <a:off x="1782763" y="1022200"/>
              <a:ext cx="0" cy="1390800"/>
            </a:xfrm>
            <a:prstGeom prst="straightConnector1">
              <a:avLst/>
            </a:prstGeom>
            <a:noFill/>
            <a:ln w="25400" cap="flat" cmpd="tri">
              <a:solidFill>
                <a:srgbClr val="000000"/>
              </a:solidFill>
              <a:prstDash val="solid"/>
              <a:round/>
              <a:headEnd type="none" w="sm" len="sm"/>
              <a:tailEnd type="stealth" w="med" len="med"/>
            </a:ln>
          </p:spPr>
        </p:cxnSp>
        <p:sp>
          <p:nvSpPr>
            <p:cNvPr id="1181" name="Google Shape;1181;p151"/>
            <p:cNvSpPr/>
            <p:nvPr/>
          </p:nvSpPr>
          <p:spPr>
            <a:xfrm>
              <a:off x="4416367" y="6463195"/>
              <a:ext cx="898500" cy="304800"/>
            </a:xfrm>
            <a:prstGeom prst="flowChartAlternate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End</a:t>
              </a:r>
              <a:endParaRPr sz="900" b="0" i="0" u="none" strike="noStrike" cap="none">
                <a:solidFill>
                  <a:srgbClr val="000000"/>
                </a:solidFill>
                <a:latin typeface="Arial"/>
                <a:ea typeface="Arial"/>
                <a:cs typeface="Arial"/>
                <a:sym typeface="Arial"/>
              </a:endParaRPr>
            </a:p>
          </p:txBody>
        </p:sp>
        <p:sp>
          <p:nvSpPr>
            <p:cNvPr id="1176" name="Google Shape;1176;p151"/>
            <p:cNvSpPr/>
            <p:nvPr/>
          </p:nvSpPr>
          <p:spPr>
            <a:xfrm>
              <a:off x="4413365" y="-243386"/>
              <a:ext cx="898500" cy="304800"/>
            </a:xfrm>
            <a:prstGeom prst="flowChartAlternate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Start</a:t>
              </a:r>
              <a:endParaRPr sz="900" b="0" i="0" u="none" strike="noStrike" cap="none">
                <a:solidFill>
                  <a:srgbClr val="000000"/>
                </a:solidFill>
                <a:latin typeface="Arial"/>
                <a:ea typeface="Arial"/>
                <a:cs typeface="Arial"/>
                <a:sym typeface="Arial"/>
              </a:endParaRPr>
            </a:p>
          </p:txBody>
        </p:sp>
        <p:cxnSp>
          <p:nvCxnSpPr>
            <p:cNvPr id="1182" name="Google Shape;1182;p151"/>
            <p:cNvCxnSpPr>
              <a:stCxn id="1170" idx="3"/>
              <a:endCxn id="1165" idx="1"/>
            </p:cNvCxnSpPr>
            <p:nvPr/>
          </p:nvCxnSpPr>
          <p:spPr>
            <a:xfrm rot="10800000" flipH="1">
              <a:off x="2659063" y="570875"/>
              <a:ext cx="821400" cy="207000"/>
            </a:xfrm>
            <a:prstGeom prst="straightConnector1">
              <a:avLst/>
            </a:prstGeom>
            <a:noFill/>
            <a:ln w="25400" cap="flat" cmpd="tri">
              <a:solidFill>
                <a:srgbClr val="000000"/>
              </a:solidFill>
              <a:prstDash val="solid"/>
              <a:round/>
              <a:headEnd type="none" w="sm" len="sm"/>
              <a:tailEnd type="stealth" w="med" len="med"/>
            </a:ln>
          </p:spPr>
        </p:cxnSp>
        <p:cxnSp>
          <p:nvCxnSpPr>
            <p:cNvPr id="1183" name="Google Shape;1183;p151"/>
            <p:cNvCxnSpPr>
              <a:stCxn id="1171" idx="2"/>
              <a:endCxn id="1184" idx="3"/>
            </p:cNvCxnSpPr>
            <p:nvPr/>
          </p:nvCxnSpPr>
          <p:spPr>
            <a:xfrm rot="5400000">
              <a:off x="6967600" y="3185963"/>
              <a:ext cx="417300" cy="1179600"/>
            </a:xfrm>
            <a:prstGeom prst="bentConnector2">
              <a:avLst/>
            </a:prstGeom>
            <a:noFill/>
            <a:ln w="25400" cap="flat" cmpd="sng">
              <a:solidFill>
                <a:srgbClr val="000000"/>
              </a:solidFill>
              <a:prstDash val="solid"/>
              <a:round/>
              <a:headEnd type="none" w="sm" len="sm"/>
              <a:tailEnd type="stealth" w="med" len="med"/>
            </a:ln>
          </p:spPr>
        </p:cxnSp>
        <p:sp>
          <p:nvSpPr>
            <p:cNvPr id="1185" name="Google Shape;1185;p151"/>
            <p:cNvSpPr/>
            <p:nvPr/>
          </p:nvSpPr>
          <p:spPr>
            <a:xfrm>
              <a:off x="-296069" y="6053156"/>
              <a:ext cx="2405063" cy="488950"/>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Calibri"/>
                <a:buNone/>
              </a:pPr>
              <a:r>
                <a:rPr lang="en" sz="900" b="0" i="0" u="none" strike="noStrike" cap="none">
                  <a:solidFill>
                    <a:srgbClr val="000000"/>
                  </a:solidFill>
                  <a:latin typeface="Calibri"/>
                  <a:ea typeface="Calibri"/>
                  <a:cs typeface="Calibri"/>
                  <a:sym typeface="Calibri"/>
                </a:rPr>
                <a:t>Take decision as per onshore feedback</a:t>
              </a:r>
              <a:endParaRPr sz="900" b="0" i="0" u="none" strike="noStrike" cap="none">
                <a:solidFill>
                  <a:srgbClr val="000000"/>
                </a:solidFill>
                <a:latin typeface="Calibri"/>
                <a:ea typeface="Calibri"/>
                <a:cs typeface="Calibri"/>
                <a:sym typeface="Calibri"/>
              </a:endParaRPr>
            </a:p>
          </p:txBody>
        </p:sp>
        <p:cxnSp>
          <p:nvCxnSpPr>
            <p:cNvPr id="1186" name="Google Shape;1186;p151"/>
            <p:cNvCxnSpPr>
              <a:stCxn id="1169" idx="1"/>
              <a:endCxn id="1185" idx="0"/>
            </p:cNvCxnSpPr>
            <p:nvPr/>
          </p:nvCxnSpPr>
          <p:spPr>
            <a:xfrm>
              <a:off x="577850" y="2936081"/>
              <a:ext cx="328500" cy="3117000"/>
            </a:xfrm>
            <a:prstGeom prst="bentConnector4">
              <a:avLst>
                <a:gd name="adj1" fmla="val -78205"/>
                <a:gd name="adj2" fmla="val 77145"/>
              </a:avLst>
            </a:prstGeom>
            <a:noFill/>
            <a:ln w="25400" cap="flat" cmpd="sng">
              <a:solidFill>
                <a:srgbClr val="000000"/>
              </a:solidFill>
              <a:prstDash val="solid"/>
              <a:round/>
              <a:headEnd type="none" w="sm" len="sm"/>
              <a:tailEnd type="stealth" w="med" len="med"/>
            </a:ln>
          </p:spPr>
        </p:cxnSp>
        <p:cxnSp>
          <p:nvCxnSpPr>
            <p:cNvPr id="1187" name="Google Shape;1187;p151"/>
            <p:cNvCxnSpPr>
              <a:stCxn id="1185" idx="2"/>
              <a:endCxn id="1181" idx="1"/>
            </p:cNvCxnSpPr>
            <p:nvPr/>
          </p:nvCxnSpPr>
          <p:spPr>
            <a:xfrm rot="-5400000" flipH="1">
              <a:off x="2624713" y="4823856"/>
              <a:ext cx="73500" cy="3510000"/>
            </a:xfrm>
            <a:prstGeom prst="bentConnector2">
              <a:avLst/>
            </a:prstGeom>
            <a:noFill/>
            <a:ln w="25400" cap="flat" cmpd="sng">
              <a:solidFill>
                <a:srgbClr val="000000"/>
              </a:solidFill>
              <a:prstDash val="solid"/>
              <a:round/>
              <a:headEnd type="none" w="sm" len="sm"/>
              <a:tailEnd type="stealth" w="med" len="med"/>
            </a:ln>
          </p:spPr>
        </p:cxnSp>
        <p:sp>
          <p:nvSpPr>
            <p:cNvPr id="1188" name="Google Shape;1188;p151"/>
            <p:cNvSpPr txBox="1"/>
            <p:nvPr/>
          </p:nvSpPr>
          <p:spPr>
            <a:xfrm>
              <a:off x="4981574" y="2801385"/>
              <a:ext cx="565200" cy="29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900" b="1" i="0" u="none" strike="noStrike" cap="none">
                  <a:solidFill>
                    <a:srgbClr val="FF00FF"/>
                  </a:solidFill>
                  <a:latin typeface="Arial"/>
                  <a:ea typeface="Arial"/>
                  <a:cs typeface="Arial"/>
                  <a:sym typeface="Arial"/>
                </a:rPr>
                <a:t>No</a:t>
              </a:r>
              <a:endParaRPr sz="900" b="1" i="0" u="none" strike="noStrike" cap="none">
                <a:solidFill>
                  <a:srgbClr val="FF00FF"/>
                </a:solidFill>
                <a:latin typeface="Arial"/>
                <a:ea typeface="Arial"/>
                <a:cs typeface="Arial"/>
                <a:sym typeface="Arial"/>
              </a:endParaRPr>
            </a:p>
          </p:txBody>
        </p:sp>
        <p:sp>
          <p:nvSpPr>
            <p:cNvPr id="1189" name="Google Shape;1189;p151"/>
            <p:cNvSpPr txBox="1"/>
            <p:nvPr/>
          </p:nvSpPr>
          <p:spPr>
            <a:xfrm>
              <a:off x="4940311" y="6194454"/>
              <a:ext cx="565200" cy="29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900" b="1" i="0" u="none" strike="noStrike" cap="none">
                  <a:solidFill>
                    <a:srgbClr val="FF00FF"/>
                  </a:solidFill>
                  <a:latin typeface="Arial"/>
                  <a:ea typeface="Arial"/>
                  <a:cs typeface="Arial"/>
                  <a:sym typeface="Arial"/>
                </a:rPr>
                <a:t>Yes</a:t>
              </a:r>
              <a:endParaRPr sz="900" b="1" i="0" u="none" strike="noStrike" cap="none">
                <a:solidFill>
                  <a:srgbClr val="FF00FF"/>
                </a:solidFill>
                <a:latin typeface="Arial"/>
                <a:ea typeface="Arial"/>
                <a:cs typeface="Arial"/>
                <a:sym typeface="Arial"/>
              </a:endParaRPr>
            </a:p>
          </p:txBody>
        </p:sp>
        <p:sp>
          <p:nvSpPr>
            <p:cNvPr id="1190" name="Google Shape;1190;p151"/>
            <p:cNvSpPr txBox="1"/>
            <p:nvPr/>
          </p:nvSpPr>
          <p:spPr>
            <a:xfrm>
              <a:off x="1922463" y="5446006"/>
              <a:ext cx="565200" cy="29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900" b="1" i="0" u="none" strike="noStrike" cap="none">
                  <a:solidFill>
                    <a:srgbClr val="FF00FF"/>
                  </a:solidFill>
                  <a:latin typeface="Arial"/>
                  <a:ea typeface="Arial"/>
                  <a:cs typeface="Arial"/>
                  <a:sym typeface="Arial"/>
                </a:rPr>
                <a:t>No</a:t>
              </a:r>
              <a:endParaRPr sz="900" b="1" i="0" u="none" strike="noStrike" cap="none">
                <a:solidFill>
                  <a:srgbClr val="FF00FF"/>
                </a:solidFill>
                <a:latin typeface="Arial"/>
                <a:ea typeface="Arial"/>
                <a:cs typeface="Arial"/>
                <a:sym typeface="Arial"/>
              </a:endParaRPr>
            </a:p>
          </p:txBody>
        </p:sp>
        <p:sp>
          <p:nvSpPr>
            <p:cNvPr id="1191" name="Google Shape;1191;p151"/>
            <p:cNvSpPr txBox="1"/>
            <p:nvPr/>
          </p:nvSpPr>
          <p:spPr>
            <a:xfrm>
              <a:off x="341313" y="2603500"/>
              <a:ext cx="565200" cy="29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900" b="1" i="0" u="none" strike="noStrike" cap="none">
                  <a:solidFill>
                    <a:srgbClr val="FF00FF"/>
                  </a:solidFill>
                  <a:latin typeface="Arial"/>
                  <a:ea typeface="Arial"/>
                  <a:cs typeface="Arial"/>
                  <a:sym typeface="Arial"/>
                </a:rPr>
                <a:t>Yes</a:t>
              </a:r>
              <a:endParaRPr sz="900" b="1" i="0" u="none" strike="noStrike" cap="none">
                <a:solidFill>
                  <a:srgbClr val="FF00FF"/>
                </a:solidFill>
                <a:latin typeface="Arial"/>
                <a:ea typeface="Arial"/>
                <a:cs typeface="Arial"/>
                <a:sym typeface="Arial"/>
              </a:endParaRPr>
            </a:p>
          </p:txBody>
        </p:sp>
        <p:sp>
          <p:nvSpPr>
            <p:cNvPr id="1192" name="Google Shape;1192;p151"/>
            <p:cNvSpPr txBox="1"/>
            <p:nvPr/>
          </p:nvSpPr>
          <p:spPr>
            <a:xfrm>
              <a:off x="1357313" y="2136776"/>
              <a:ext cx="565200" cy="29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900" b="1" i="0" u="none" strike="noStrike" cap="none">
                  <a:solidFill>
                    <a:srgbClr val="FF00FF"/>
                  </a:solidFill>
                  <a:latin typeface="Arial"/>
                  <a:ea typeface="Arial"/>
                  <a:cs typeface="Arial"/>
                  <a:sym typeface="Arial"/>
                </a:rPr>
                <a:t>No</a:t>
              </a:r>
              <a:endParaRPr sz="900" b="1" i="0" u="none" strike="noStrike" cap="none">
                <a:solidFill>
                  <a:srgbClr val="FF00FF"/>
                </a:solidFill>
                <a:latin typeface="Arial"/>
                <a:ea typeface="Arial"/>
                <a:cs typeface="Arial"/>
                <a:sym typeface="Arial"/>
              </a:endParaRPr>
            </a:p>
          </p:txBody>
        </p:sp>
        <p:cxnSp>
          <p:nvCxnSpPr>
            <p:cNvPr id="1193" name="Google Shape;1193;p151"/>
            <p:cNvCxnSpPr>
              <a:stCxn id="1173" idx="3"/>
              <a:endCxn id="1171" idx="0"/>
            </p:cNvCxnSpPr>
            <p:nvPr/>
          </p:nvCxnSpPr>
          <p:spPr>
            <a:xfrm>
              <a:off x="6097595" y="2371791"/>
              <a:ext cx="1668600" cy="442800"/>
            </a:xfrm>
            <a:prstGeom prst="bentConnector2">
              <a:avLst/>
            </a:prstGeom>
            <a:noFill/>
            <a:ln w="25400" cap="flat" cmpd="sng">
              <a:solidFill>
                <a:srgbClr val="000000"/>
              </a:solidFill>
              <a:prstDash val="solid"/>
              <a:round/>
              <a:headEnd type="none" w="sm" len="sm"/>
              <a:tailEnd type="stealth" w="med" len="med"/>
            </a:ln>
          </p:spPr>
        </p:cxnSp>
        <p:sp>
          <p:nvSpPr>
            <p:cNvPr id="1184" name="Google Shape;1184;p151"/>
            <p:cNvSpPr/>
            <p:nvPr/>
          </p:nvSpPr>
          <p:spPr>
            <a:xfrm>
              <a:off x="3120230" y="3679825"/>
              <a:ext cx="3466307" cy="609045"/>
            </a:xfrm>
            <a:prstGeom prst="flowChartProcess">
              <a:avLst/>
            </a:prstGeom>
            <a:solidFill>
              <a:srgbClr val="AFC9C3"/>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sz="900" b="0" i="0" u="none" strike="noStrike" cap="none">
                  <a:solidFill>
                    <a:srgbClr val="000000"/>
                  </a:solidFill>
                  <a:latin typeface="Calibri"/>
                  <a:ea typeface="Calibri"/>
                  <a:cs typeface="Calibri"/>
                  <a:sym typeface="Calibri"/>
                </a:rPr>
                <a:t>Check country specific or additional information (Seasonality, holiday etc.) or sales sheet</a:t>
              </a:r>
              <a:endParaRPr sz="900" b="0" i="0" u="none" strike="noStrike" cap="none">
                <a:solidFill>
                  <a:srgbClr val="000000"/>
                </a:solidFill>
                <a:latin typeface="Arial"/>
                <a:ea typeface="Arial"/>
                <a:cs typeface="Arial"/>
                <a:sym typeface="Arial"/>
              </a:endParaRPr>
            </a:p>
          </p:txBody>
        </p:sp>
        <p:sp>
          <p:nvSpPr>
            <p:cNvPr id="1194" name="Google Shape;1194;p151"/>
            <p:cNvSpPr txBox="1"/>
            <p:nvPr/>
          </p:nvSpPr>
          <p:spPr>
            <a:xfrm>
              <a:off x="6021388" y="2092325"/>
              <a:ext cx="565200" cy="29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900" b="1" i="0" u="none" strike="noStrike" cap="none">
                  <a:solidFill>
                    <a:srgbClr val="FF00FF"/>
                  </a:solidFill>
                  <a:latin typeface="Arial"/>
                  <a:ea typeface="Arial"/>
                  <a:cs typeface="Arial"/>
                  <a:sym typeface="Arial"/>
                </a:rPr>
                <a:t>Yes</a:t>
              </a:r>
              <a:endParaRPr sz="900" b="1" i="0" u="none" strike="noStrike" cap="none">
                <a:solidFill>
                  <a:srgbClr val="FF00FF"/>
                </a:solidFill>
                <a:latin typeface="Arial"/>
                <a:ea typeface="Arial"/>
                <a:cs typeface="Arial"/>
                <a:sym typeface="Arial"/>
              </a:endParaRPr>
            </a:p>
          </p:txBody>
        </p:sp>
        <p:sp>
          <p:nvSpPr>
            <p:cNvPr id="1195" name="Google Shape;1195;p151"/>
            <p:cNvSpPr/>
            <p:nvPr/>
          </p:nvSpPr>
          <p:spPr>
            <a:xfrm>
              <a:off x="6550598" y="-222582"/>
              <a:ext cx="2358600" cy="1077900"/>
            </a:xfrm>
            <a:prstGeom prst="horizontalScroll">
              <a:avLst>
                <a:gd name="adj" fmla="val 8210"/>
              </a:avLst>
            </a:prstGeom>
            <a:solidFill>
              <a:srgbClr val="E4ECEB"/>
            </a:solidFill>
            <a:ln w="9525" cap="flat" cmpd="sng">
              <a:solidFill>
                <a:srgbClr val="0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900" b="1" i="0" u="none" strike="noStrike" cap="none">
                  <a:solidFill>
                    <a:srgbClr val="000000"/>
                  </a:solidFill>
                  <a:latin typeface="Calibri"/>
                  <a:ea typeface="Calibri"/>
                  <a:cs typeface="Calibri"/>
                  <a:sym typeface="Calibri"/>
                </a:rPr>
                <a:t>Check Country specific information &amp; guideline  before to start handling FOVA</a:t>
              </a:r>
              <a:endParaRPr sz="900" b="1" i="0" u="none" strike="noStrike" cap="none">
                <a:solidFill>
                  <a:srgbClr val="000000"/>
                </a:solidFill>
                <a:latin typeface="Calibri"/>
                <a:ea typeface="Calibri"/>
                <a:cs typeface="Calibri"/>
                <a:sym typeface="Calibri"/>
              </a:endParaRPr>
            </a:p>
          </p:txBody>
        </p:sp>
      </p:grpSp>
      <p:cxnSp>
        <p:nvCxnSpPr>
          <p:cNvPr id="1196" name="Google Shape;1196;p151"/>
          <p:cNvCxnSpPr>
            <a:stCxn id="1173" idx="2"/>
            <a:endCxn id="1172" idx="0"/>
          </p:cNvCxnSpPr>
          <p:nvPr/>
        </p:nvCxnSpPr>
        <p:spPr>
          <a:xfrm rot="-5400000" flipH="1">
            <a:off x="5074527" y="2354634"/>
            <a:ext cx="163500" cy="600"/>
          </a:xfrm>
          <a:prstGeom prst="bentConnector3">
            <a:avLst>
              <a:gd name="adj1" fmla="val 50044"/>
            </a:avLst>
          </a:prstGeom>
          <a:noFill/>
          <a:ln w="9525" cap="flat" cmpd="sng">
            <a:solidFill>
              <a:srgbClr val="3D3E3F"/>
            </a:solidFill>
            <a:prstDash val="solid"/>
            <a:round/>
            <a:headEnd type="none" w="sm" len="sm"/>
            <a:tailEnd type="triangle" w="med" len="med"/>
          </a:ln>
        </p:spPr>
      </p:cxnSp>
      <p:cxnSp>
        <p:nvCxnSpPr>
          <p:cNvPr id="1197" name="Google Shape;1197;p151"/>
          <p:cNvCxnSpPr>
            <a:stCxn id="1172" idx="2"/>
            <a:endCxn id="1184" idx="0"/>
          </p:cNvCxnSpPr>
          <p:nvPr/>
        </p:nvCxnSpPr>
        <p:spPr>
          <a:xfrm rot="5400000">
            <a:off x="5080970" y="2792583"/>
            <a:ext cx="144600" cy="5400"/>
          </a:xfrm>
          <a:prstGeom prst="bentConnector3">
            <a:avLst>
              <a:gd name="adj1" fmla="val 50003"/>
            </a:avLst>
          </a:prstGeom>
          <a:noFill/>
          <a:ln w="9525" cap="flat" cmpd="sng">
            <a:solidFill>
              <a:srgbClr val="303132"/>
            </a:solidFill>
            <a:prstDash val="solid"/>
            <a:round/>
            <a:headEnd type="none" w="sm" len="sm"/>
            <a:tailEnd type="triangle" w="med" len="med"/>
          </a:ln>
        </p:spPr>
      </p:cxnSp>
      <p:cxnSp>
        <p:nvCxnSpPr>
          <p:cNvPr id="1198" name="Google Shape;1198;p151"/>
          <p:cNvCxnSpPr>
            <a:stCxn id="1184" idx="2"/>
            <a:endCxn id="1174" idx="0"/>
          </p:cNvCxnSpPr>
          <p:nvPr/>
        </p:nvCxnSpPr>
        <p:spPr>
          <a:xfrm rot="-5400000" flipH="1">
            <a:off x="5083252" y="3370442"/>
            <a:ext cx="145500" cy="11100"/>
          </a:xfrm>
          <a:prstGeom prst="bentConnector3">
            <a:avLst>
              <a:gd name="adj1" fmla="val 50016"/>
            </a:avLst>
          </a:prstGeom>
          <a:noFill/>
          <a:ln w="9525" cap="flat" cmpd="sng">
            <a:solidFill>
              <a:srgbClr val="303132"/>
            </a:solidFill>
            <a:prstDash val="solid"/>
            <a:round/>
            <a:headEnd type="none" w="sm" len="sm"/>
            <a:tailEnd type="triangle" w="med" len="med"/>
          </a:ln>
        </p:spPr>
      </p:cxnSp>
      <p:cxnSp>
        <p:nvCxnSpPr>
          <p:cNvPr id="1199" name="Google Shape;1199;p151"/>
          <p:cNvCxnSpPr>
            <a:stCxn id="1174" idx="2"/>
            <a:endCxn id="1167" idx="0"/>
          </p:cNvCxnSpPr>
          <p:nvPr/>
        </p:nvCxnSpPr>
        <p:spPr>
          <a:xfrm rot="-5400000" flipH="1">
            <a:off x="5081088" y="3878935"/>
            <a:ext cx="161400" cy="600"/>
          </a:xfrm>
          <a:prstGeom prst="bentConnector3">
            <a:avLst>
              <a:gd name="adj1" fmla="val 50033"/>
            </a:avLst>
          </a:prstGeom>
          <a:noFill/>
          <a:ln w="9525" cap="flat" cmpd="sng">
            <a:solidFill>
              <a:srgbClr val="303132"/>
            </a:solidFill>
            <a:prstDash val="solid"/>
            <a:round/>
            <a:headEnd type="none" w="sm" len="sm"/>
            <a:tailEnd type="triangle" w="med" len="med"/>
          </a:ln>
        </p:spPr>
      </p:cxnSp>
      <p:cxnSp>
        <p:nvCxnSpPr>
          <p:cNvPr id="1200" name="Google Shape;1200;p151"/>
          <p:cNvCxnSpPr>
            <a:stCxn id="1167" idx="2"/>
            <a:endCxn id="1181" idx="0"/>
          </p:cNvCxnSpPr>
          <p:nvPr/>
        </p:nvCxnSpPr>
        <p:spPr>
          <a:xfrm rot="-5400000" flipH="1">
            <a:off x="5081087" y="4777406"/>
            <a:ext cx="161400" cy="600"/>
          </a:xfrm>
          <a:prstGeom prst="bentConnector3">
            <a:avLst>
              <a:gd name="adj1" fmla="val 50040"/>
            </a:avLst>
          </a:prstGeom>
          <a:noFill/>
          <a:ln w="9525" cap="flat" cmpd="sng">
            <a:solidFill>
              <a:srgbClr val="3D3E3F"/>
            </a:solidFill>
            <a:prstDash val="solid"/>
            <a:round/>
            <a:headEnd type="none" w="sm" len="sm"/>
            <a:tailEnd type="triangle" w="med" len="med"/>
          </a:ln>
        </p:spPr>
      </p:cxnSp>
      <p:cxnSp>
        <p:nvCxnSpPr>
          <p:cNvPr id="1201" name="Google Shape;1201;p151"/>
          <p:cNvCxnSpPr>
            <a:stCxn id="1167" idx="1"/>
            <a:endCxn id="1168" idx="2"/>
          </p:cNvCxnSpPr>
          <p:nvPr/>
        </p:nvCxnSpPr>
        <p:spPr>
          <a:xfrm rot="10800000">
            <a:off x="2307159" y="3963424"/>
            <a:ext cx="1175400" cy="365100"/>
          </a:xfrm>
          <a:prstGeom prst="bentConnector2">
            <a:avLst/>
          </a:prstGeom>
          <a:noFill/>
          <a:ln w="9525" cap="flat" cmpd="sng">
            <a:solidFill>
              <a:srgbClr val="484A4B"/>
            </a:solidFill>
            <a:prstDash val="solid"/>
            <a:round/>
            <a:headEnd type="none" w="sm" len="sm"/>
            <a:tailEnd type="triangle" w="med" len="med"/>
          </a:ln>
        </p:spPr>
      </p:cxnSp>
    </p:spTree>
  </p:cSld>
  <p:clrMapOvr>
    <a:overrideClrMapping bg1="lt1" tx1="dk1" bg2="lt2" tx2="dk2" accent1="accent1" accent2="accent2" accent3="accent3" accent4="accent4" accent5="accent5" accent6="accent6" hlink="hlink" folHlink="folHlink"/>
  </p:clrMapOvr>
</p:sld>
</file>

<file path=ppt/slides/slide8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05"/>
        <p:cNvGrpSpPr/>
        <p:nvPr/>
      </p:nvGrpSpPr>
      <p:grpSpPr>
        <a:xfrm>
          <a:off x="0" y="0"/>
          <a:ext cx="0" cy="0"/>
          <a:chOff x="0" y="0"/>
          <a:chExt cx="0" cy="0"/>
        </a:xfrm>
      </p:grpSpPr>
      <p:sp>
        <p:nvSpPr>
          <p:cNvPr id="1206" name="Google Shape;1206;p152"/>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Basic checks for Questionable stores</a:t>
            </a:r>
            <a:endParaRPr/>
          </a:p>
        </p:txBody>
      </p:sp>
      <p:sp>
        <p:nvSpPr>
          <p:cNvPr id="1207" name="Google Shape;1207;p152"/>
          <p:cNvSpPr txBox="1">
            <a:spLocks noGrp="1"/>
          </p:cNvSpPr>
          <p:nvPr>
            <p:ph type="body" idx="1"/>
          </p:nvPr>
        </p:nvSpPr>
        <p:spPr>
          <a:xfrm>
            <a:off x="407050" y="628650"/>
            <a:ext cx="8394000" cy="42861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 u="sng"/>
              <a:t>Census :</a:t>
            </a:r>
            <a:endParaRPr u="sng"/>
          </a:p>
          <a:p>
            <a:pPr marL="455612" lvl="1" indent="-171450" algn="l" rtl="0">
              <a:lnSpc>
                <a:spcPct val="100000"/>
              </a:lnSpc>
              <a:spcBef>
                <a:spcPts val="0"/>
              </a:spcBef>
              <a:spcAft>
                <a:spcPts val="0"/>
              </a:spcAft>
              <a:buSzPts val="2000"/>
              <a:buChar char="–"/>
            </a:pPr>
            <a:r>
              <a:rPr lang="en"/>
              <a:t>For Census stores, data represents true scenario for that store and data does not project to any other stores, so we can accept real data</a:t>
            </a:r>
            <a:endParaRPr/>
          </a:p>
          <a:p>
            <a:pPr marL="455612" lvl="1" indent="-171450" algn="l" rtl="0">
              <a:lnSpc>
                <a:spcPct val="100000"/>
              </a:lnSpc>
              <a:spcBef>
                <a:spcPts val="0"/>
              </a:spcBef>
              <a:spcAft>
                <a:spcPts val="0"/>
              </a:spcAft>
              <a:buSzPts val="2000"/>
              <a:buChar char="–"/>
            </a:pPr>
            <a:r>
              <a:rPr lang="en"/>
              <a:t>An operator can accept the real data even if it is not inline with Last Good Period data</a:t>
            </a:r>
            <a:endParaRPr/>
          </a:p>
          <a:p>
            <a:pPr marL="455612" lvl="1" indent="-171450" algn="l" rtl="0">
              <a:lnSpc>
                <a:spcPct val="100000"/>
              </a:lnSpc>
              <a:spcBef>
                <a:spcPts val="0"/>
              </a:spcBef>
              <a:spcAft>
                <a:spcPts val="0"/>
              </a:spcAft>
              <a:buSzPts val="2000"/>
              <a:buChar char="–"/>
            </a:pPr>
            <a:r>
              <a:rPr lang="en"/>
              <a:t>If data is not received for a store and store was closed due to real situation like remodeling, road work, reconstruction etc. then store should be kept as Empty store</a:t>
            </a:r>
            <a:endParaRPr/>
          </a:p>
          <a:p>
            <a:pPr marL="455612" lvl="1" indent="-171450" algn="l" rtl="0">
              <a:lnSpc>
                <a:spcPct val="100000"/>
              </a:lnSpc>
              <a:spcBef>
                <a:spcPts val="0"/>
              </a:spcBef>
              <a:spcAft>
                <a:spcPts val="0"/>
              </a:spcAft>
              <a:buSzPts val="2000"/>
              <a:buChar char="–"/>
            </a:pPr>
            <a:r>
              <a:rPr lang="en"/>
              <a:t>In case of daily data</a:t>
            </a:r>
            <a:endParaRPr/>
          </a:p>
          <a:p>
            <a:pPr marL="747712" lvl="2" indent="-177800" algn="l" rtl="0">
              <a:lnSpc>
                <a:spcPct val="100000"/>
              </a:lnSpc>
              <a:spcBef>
                <a:spcPts val="0"/>
              </a:spcBef>
              <a:spcAft>
                <a:spcPts val="0"/>
              </a:spcAft>
              <a:buSzPts val="1900"/>
              <a:buChar char="–"/>
            </a:pPr>
            <a:r>
              <a:rPr lang="en"/>
              <a:t>If the data is missing completely for a retailer for a specific day, it must be captured from the retailer level check</a:t>
            </a:r>
            <a:endParaRPr/>
          </a:p>
          <a:p>
            <a:pPr marL="747712" lvl="2" indent="-177800" algn="l" rtl="0">
              <a:lnSpc>
                <a:spcPct val="100000"/>
              </a:lnSpc>
              <a:spcBef>
                <a:spcPts val="0"/>
              </a:spcBef>
              <a:spcAft>
                <a:spcPts val="0"/>
              </a:spcAft>
              <a:buSzPts val="1900"/>
              <a:buChar char="–"/>
            </a:pPr>
            <a:r>
              <a:rPr lang="en"/>
              <a:t>If data is missing for one / more day(s) for one / few census store(s) for a particular retailer, the data can be accepted, except if prior information is received for missing day(s) (e.g. technical issue)</a:t>
            </a:r>
            <a:endParaRPr/>
          </a:p>
        </p:txBody>
      </p:sp>
    </p:spTree>
  </p:cSld>
  <p:clrMapOvr>
    <a:overrideClrMapping bg1="lt1" tx1="dk1" bg2="lt2" tx2="dk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11"/>
        <p:cNvGrpSpPr/>
        <p:nvPr/>
      </p:nvGrpSpPr>
      <p:grpSpPr>
        <a:xfrm>
          <a:off x="0" y="0"/>
          <a:ext cx="0" cy="0"/>
          <a:chOff x="0" y="0"/>
          <a:chExt cx="0" cy="0"/>
        </a:xfrm>
      </p:grpSpPr>
      <p:sp>
        <p:nvSpPr>
          <p:cNvPr id="1212" name="Google Shape;1212;p153"/>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Basic checks for Questionable stores</a:t>
            </a:r>
            <a:endParaRPr/>
          </a:p>
        </p:txBody>
      </p:sp>
      <p:sp>
        <p:nvSpPr>
          <p:cNvPr id="1213" name="Google Shape;1213;p153"/>
          <p:cNvSpPr txBox="1">
            <a:spLocks noGrp="1"/>
          </p:cNvSpPr>
          <p:nvPr>
            <p:ph type="body" idx="1"/>
          </p:nvPr>
        </p:nvSpPr>
        <p:spPr>
          <a:xfrm>
            <a:off x="361938" y="703554"/>
            <a:ext cx="8191500" cy="39564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None/>
            </a:pPr>
            <a:r>
              <a:rPr lang="en" sz="2220"/>
              <a:t>Sample :</a:t>
            </a:r>
            <a:endParaRPr sz="2220"/>
          </a:p>
          <a:p>
            <a:pPr marL="0" lvl="0" indent="0" algn="l" rtl="0">
              <a:lnSpc>
                <a:spcPct val="90000"/>
              </a:lnSpc>
              <a:spcBef>
                <a:spcPts val="0"/>
              </a:spcBef>
              <a:spcAft>
                <a:spcPts val="0"/>
              </a:spcAft>
              <a:buNone/>
            </a:pPr>
            <a:endParaRPr sz="1020"/>
          </a:p>
          <a:p>
            <a:pPr marL="457200" lvl="0" indent="-317500" algn="l" rtl="0">
              <a:lnSpc>
                <a:spcPct val="115000"/>
              </a:lnSpc>
              <a:spcBef>
                <a:spcPts val="0"/>
              </a:spcBef>
              <a:spcAft>
                <a:spcPts val="0"/>
              </a:spcAft>
              <a:buSzPts val="1400"/>
              <a:buChar char="•"/>
            </a:pPr>
            <a:r>
              <a:rPr lang="en" sz="1400"/>
              <a:t>If strange behavior is observed by an operator without any specific reason, data must be salvaged as data will be projected to other stores as well</a:t>
            </a:r>
            <a:endParaRPr sz="1400"/>
          </a:p>
          <a:p>
            <a:pPr marL="457200" lvl="0" indent="-317500" algn="l" rtl="0">
              <a:lnSpc>
                <a:spcPct val="115000"/>
              </a:lnSpc>
              <a:spcBef>
                <a:spcPts val="0"/>
              </a:spcBef>
              <a:spcAft>
                <a:spcPts val="0"/>
              </a:spcAft>
              <a:buSzPts val="1400"/>
              <a:buChar char="•"/>
            </a:pPr>
            <a:r>
              <a:rPr lang="en" sz="1400"/>
              <a:t>Sample stores project the data to Universe, so unexpected variation in data cannot be accepted, kindly refer below example</a:t>
            </a:r>
            <a:endParaRPr sz="1400"/>
          </a:p>
          <a:p>
            <a:pPr marL="457200" lvl="0" indent="0" algn="l" rtl="0">
              <a:lnSpc>
                <a:spcPct val="115000"/>
              </a:lnSpc>
              <a:spcBef>
                <a:spcPts val="1000"/>
              </a:spcBef>
              <a:spcAft>
                <a:spcPts val="0"/>
              </a:spcAft>
              <a:buNone/>
            </a:pPr>
            <a:r>
              <a:rPr lang="en" sz="1200" u="sng"/>
              <a:t>In case of daily data - </a:t>
            </a:r>
            <a:endParaRPr sz="1200" u="sng"/>
          </a:p>
          <a:p>
            <a:pPr marL="457200" lvl="0" indent="-304800" algn="l" rtl="0">
              <a:lnSpc>
                <a:spcPct val="115000"/>
              </a:lnSpc>
              <a:spcBef>
                <a:spcPts val="1000"/>
              </a:spcBef>
              <a:spcAft>
                <a:spcPts val="0"/>
              </a:spcAft>
              <a:buSzPts val="1200"/>
              <a:buChar char="•"/>
            </a:pPr>
            <a:r>
              <a:rPr lang="en" sz="1200"/>
              <a:t>If the data is missing completely for a retailer for a specific day, it must be captured from the retailer level check</a:t>
            </a:r>
            <a:endParaRPr sz="1200"/>
          </a:p>
          <a:p>
            <a:pPr marL="457200" lvl="0" indent="-304800" algn="l" rtl="0">
              <a:lnSpc>
                <a:spcPct val="115000"/>
              </a:lnSpc>
              <a:spcBef>
                <a:spcPts val="0"/>
              </a:spcBef>
              <a:spcAft>
                <a:spcPts val="0"/>
              </a:spcAft>
              <a:buSzPts val="1200"/>
              <a:buChar char="•"/>
            </a:pPr>
            <a:r>
              <a:rPr lang="en" sz="1200"/>
              <a:t>If data is missing for one / more day(s) for one / few sample store of a particular retailer, data is to be factored / Estimated based on salvation rules</a:t>
            </a:r>
            <a:endParaRPr sz="1200"/>
          </a:p>
          <a:p>
            <a:pPr marL="457200" lvl="0" indent="0" algn="l" rtl="0">
              <a:lnSpc>
                <a:spcPct val="115000"/>
              </a:lnSpc>
              <a:spcBef>
                <a:spcPts val="1000"/>
              </a:spcBef>
              <a:spcAft>
                <a:spcPts val="0"/>
              </a:spcAft>
              <a:buNone/>
            </a:pPr>
            <a:r>
              <a:rPr lang="en" sz="1200" u="sng"/>
              <a:t>Salvation Rule for missing day(s) are :</a:t>
            </a:r>
            <a:endParaRPr sz="1200" u="sng"/>
          </a:p>
          <a:p>
            <a:pPr marL="457200" lvl="0" indent="-304800" algn="l" rtl="0">
              <a:lnSpc>
                <a:spcPct val="115000"/>
              </a:lnSpc>
              <a:spcBef>
                <a:spcPts val="1000"/>
              </a:spcBef>
              <a:spcAft>
                <a:spcPts val="0"/>
              </a:spcAft>
              <a:buSzPts val="1200"/>
              <a:buChar char="•"/>
            </a:pPr>
            <a:r>
              <a:rPr lang="en" sz="1200"/>
              <a:t>If the data is missing for 2 or more days, then the store must be Estimated</a:t>
            </a:r>
            <a:endParaRPr sz="1200"/>
          </a:p>
          <a:p>
            <a:pPr marL="457200" lvl="0" indent="-304800" algn="l" rtl="0">
              <a:lnSpc>
                <a:spcPct val="115000"/>
              </a:lnSpc>
              <a:spcBef>
                <a:spcPts val="0"/>
              </a:spcBef>
              <a:spcAft>
                <a:spcPts val="0"/>
              </a:spcAft>
              <a:buSzPts val="1200"/>
              <a:buChar char="•"/>
            </a:pPr>
            <a:r>
              <a:rPr lang="en" sz="1200"/>
              <a:t>If the weight of the day is higher than other days and miss a part of the assortment sold in a week, then it must be Estimated (e.g. Friday or Saturday for a hypermarket)</a:t>
            </a:r>
            <a:endParaRPr sz="1200"/>
          </a:p>
          <a:p>
            <a:pPr marL="457200" lvl="0" indent="-304800" algn="l" rtl="0">
              <a:lnSpc>
                <a:spcPct val="115000"/>
              </a:lnSpc>
              <a:spcBef>
                <a:spcPts val="0"/>
              </a:spcBef>
              <a:spcAft>
                <a:spcPts val="0"/>
              </a:spcAft>
              <a:buSzPts val="1200"/>
              <a:buChar char="•"/>
            </a:pPr>
            <a:r>
              <a:rPr lang="en" sz="1200"/>
              <a:t>For all other missing days, store is to be factored (the factor value must adjust the Rawdata to the expected level)</a:t>
            </a:r>
            <a:endParaRPr sz="1200"/>
          </a:p>
        </p:txBody>
      </p:sp>
    </p:spTree>
  </p:cSld>
  <p:clrMapOvr>
    <a:overrideClrMapping bg1="lt1" tx1="dk1" bg2="lt2" tx2="dk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17"/>
        <p:cNvGrpSpPr/>
        <p:nvPr/>
      </p:nvGrpSpPr>
      <p:grpSpPr>
        <a:xfrm>
          <a:off x="0" y="0"/>
          <a:ext cx="0" cy="0"/>
          <a:chOff x="0" y="0"/>
          <a:chExt cx="0" cy="0"/>
        </a:xfrm>
      </p:grpSpPr>
      <p:sp>
        <p:nvSpPr>
          <p:cNvPr id="1218" name="Google Shape;1218;p154"/>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t>DAILY DATA CHECK</a:t>
            </a:r>
            <a:endParaRPr sz="2600"/>
          </a:p>
        </p:txBody>
      </p:sp>
      <p:sp>
        <p:nvSpPr>
          <p:cNvPr id="1219" name="Google Shape;1219;p154"/>
          <p:cNvSpPr txBox="1">
            <a:spLocks noGrp="1"/>
          </p:cNvSpPr>
          <p:nvPr>
            <p:ph type="body" idx="1"/>
          </p:nvPr>
        </p:nvSpPr>
        <p:spPr>
          <a:xfrm>
            <a:off x="361950" y="633125"/>
            <a:ext cx="8412000" cy="249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000"/>
              <a:buFont typeface="Arial"/>
              <a:buNone/>
            </a:pPr>
            <a:r>
              <a:rPr lang="en" sz="2000" b="1"/>
              <a:t>PURPOSE: </a:t>
            </a:r>
            <a:endParaRPr/>
          </a:p>
          <a:p>
            <a:pPr marL="0" lvl="0" indent="0" algn="l" rtl="0">
              <a:lnSpc>
                <a:spcPct val="100000"/>
              </a:lnSpc>
              <a:spcBef>
                <a:spcPts val="0"/>
              </a:spcBef>
              <a:spcAft>
                <a:spcPts val="0"/>
              </a:spcAft>
              <a:buSzPts val="2400"/>
              <a:buFont typeface="Arial"/>
              <a:buNone/>
            </a:pPr>
            <a:endParaRPr b="1"/>
          </a:p>
          <a:p>
            <a:pPr marL="169862" lvl="0" indent="-163512" algn="l" rtl="0">
              <a:lnSpc>
                <a:spcPct val="100000"/>
              </a:lnSpc>
              <a:spcBef>
                <a:spcPts val="0"/>
              </a:spcBef>
              <a:spcAft>
                <a:spcPts val="0"/>
              </a:spcAft>
              <a:buSzPts val="1700"/>
              <a:buFont typeface="Noto Sans Symbols"/>
              <a:buChar char="⮚"/>
            </a:pPr>
            <a:r>
              <a:rPr lang="en" sz="1700"/>
              <a:t>Daily sales data helps the operator to validate retailer’s data on a weekly basis</a:t>
            </a:r>
            <a:endParaRPr sz="1700"/>
          </a:p>
          <a:p>
            <a:pPr marL="169862" lvl="0" indent="-55559" algn="l" rtl="0">
              <a:lnSpc>
                <a:spcPct val="100000"/>
              </a:lnSpc>
              <a:spcBef>
                <a:spcPts val="0"/>
              </a:spcBef>
              <a:spcAft>
                <a:spcPts val="0"/>
              </a:spcAft>
              <a:buSzPts val="1800"/>
              <a:buFont typeface="Noto Sans Symbols"/>
              <a:buNone/>
            </a:pPr>
            <a:endParaRPr sz="1700"/>
          </a:p>
          <a:p>
            <a:pPr marL="169862" lvl="0" indent="-163512" algn="l" rtl="0">
              <a:lnSpc>
                <a:spcPct val="100000"/>
              </a:lnSpc>
              <a:spcBef>
                <a:spcPts val="0"/>
              </a:spcBef>
              <a:spcAft>
                <a:spcPts val="0"/>
              </a:spcAft>
              <a:buSzPts val="1700"/>
              <a:buFont typeface="Noto Sans Symbols"/>
              <a:buChar char="⮚"/>
            </a:pPr>
            <a:r>
              <a:rPr lang="en" sz="1700"/>
              <a:t>If a store is having missing data or unusual data trend for a specific day in a week, the operator can identify such cases by checking daily sales data reports</a:t>
            </a:r>
            <a:endParaRPr sz="1700"/>
          </a:p>
          <a:p>
            <a:pPr marL="169862" lvl="0" indent="-55559" algn="l" rtl="0">
              <a:lnSpc>
                <a:spcPct val="100000"/>
              </a:lnSpc>
              <a:spcBef>
                <a:spcPts val="0"/>
              </a:spcBef>
              <a:spcAft>
                <a:spcPts val="0"/>
              </a:spcAft>
              <a:buSzPts val="1800"/>
              <a:buFont typeface="Noto Sans Symbols"/>
              <a:buNone/>
            </a:pPr>
            <a:endParaRPr sz="1700"/>
          </a:p>
          <a:p>
            <a:pPr marL="169862" lvl="0" indent="-163512" algn="l" rtl="0">
              <a:lnSpc>
                <a:spcPct val="100000"/>
              </a:lnSpc>
              <a:spcBef>
                <a:spcPts val="0"/>
              </a:spcBef>
              <a:spcAft>
                <a:spcPts val="0"/>
              </a:spcAft>
              <a:buSzPts val="1700"/>
              <a:buFont typeface="Noto Sans Symbols"/>
              <a:buChar char="⮚"/>
            </a:pPr>
            <a:r>
              <a:rPr lang="en" sz="1700"/>
              <a:t>To use daily data information in SIRVAL, set up needs to be done in RFE to send those data to SIRVAL</a:t>
            </a:r>
            <a:endParaRPr sz="1700"/>
          </a:p>
          <a:p>
            <a:pPr marL="169862" lvl="0" indent="-55559" algn="l" rtl="0">
              <a:lnSpc>
                <a:spcPct val="100000"/>
              </a:lnSpc>
              <a:spcBef>
                <a:spcPts val="0"/>
              </a:spcBef>
              <a:spcAft>
                <a:spcPts val="0"/>
              </a:spcAft>
              <a:buSzPts val="1800"/>
              <a:buFont typeface="Noto Sans Symbols"/>
              <a:buNone/>
            </a:pPr>
            <a:endParaRPr sz="1700"/>
          </a:p>
          <a:p>
            <a:pPr marL="169862" lvl="0" indent="-163512" algn="l" rtl="0">
              <a:lnSpc>
                <a:spcPct val="100000"/>
              </a:lnSpc>
              <a:spcBef>
                <a:spcPts val="0"/>
              </a:spcBef>
              <a:spcAft>
                <a:spcPts val="0"/>
              </a:spcAft>
              <a:buSzPts val="1700"/>
              <a:buFont typeface="Noto Sans Symbols"/>
              <a:buChar char="⮚"/>
            </a:pPr>
            <a:r>
              <a:rPr lang="en" sz="1700"/>
              <a:t>This check will be applicable only for those Country / Retailers where daily sales data is received.</a:t>
            </a:r>
            <a:endParaRPr sz="1700"/>
          </a:p>
        </p:txBody>
      </p:sp>
    </p:spTree>
  </p:cSld>
  <p:clrMapOvr>
    <a:overrideClrMapping bg1="lt1" tx1="dk1" bg2="lt2" tx2="dk2" accent1="accent1" accent2="accent2" accent3="accent3" accent4="accent4" accent5="accent5" accent6="accent6" hlink="hlink" folHlink="folHlink"/>
  </p:clrMapOvr>
</p:sld>
</file>

<file path=ppt/slides/slide8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23"/>
        <p:cNvGrpSpPr/>
        <p:nvPr/>
      </p:nvGrpSpPr>
      <p:grpSpPr>
        <a:xfrm>
          <a:off x="0" y="0"/>
          <a:ext cx="0" cy="0"/>
          <a:chOff x="0" y="0"/>
          <a:chExt cx="0" cy="0"/>
        </a:xfrm>
      </p:grpSpPr>
      <p:sp>
        <p:nvSpPr>
          <p:cNvPr id="1224" name="Google Shape;1224;p155"/>
          <p:cNvSpPr txBox="1">
            <a:spLocks noGrp="1"/>
          </p:cNvSpPr>
          <p:nvPr>
            <p:ph type="title"/>
          </p:nvPr>
        </p:nvSpPr>
        <p:spPr>
          <a:xfrm>
            <a:off x="361950" y="154475"/>
            <a:ext cx="4234800" cy="4821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Scope of Daily Data Check</a:t>
            </a:r>
            <a:endParaRPr/>
          </a:p>
        </p:txBody>
      </p:sp>
      <p:sp>
        <p:nvSpPr>
          <p:cNvPr id="1225" name="Google Shape;1225;p155"/>
          <p:cNvSpPr txBox="1">
            <a:spLocks noGrp="1"/>
          </p:cNvSpPr>
          <p:nvPr>
            <p:ph type="body" idx="1"/>
          </p:nvPr>
        </p:nvSpPr>
        <p:spPr>
          <a:xfrm>
            <a:off x="398422" y="778563"/>
            <a:ext cx="6284400" cy="12702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None/>
            </a:pPr>
            <a:r>
              <a:rPr lang="en"/>
              <a:t>Through Daily data check</a:t>
            </a:r>
            <a:endParaRPr/>
          </a:p>
          <a:p>
            <a:pPr marL="455612" lvl="1" indent="-171450" algn="l" rtl="0">
              <a:lnSpc>
                <a:spcPct val="100000"/>
              </a:lnSpc>
              <a:spcBef>
                <a:spcPts val="0"/>
              </a:spcBef>
              <a:spcAft>
                <a:spcPts val="0"/>
              </a:spcAft>
              <a:buSzPts val="2000"/>
              <a:buChar char="–"/>
            </a:pPr>
            <a:r>
              <a:rPr lang="en"/>
              <a:t>User can identify the missing day which are expected</a:t>
            </a:r>
            <a:endParaRPr/>
          </a:p>
          <a:p>
            <a:pPr marL="455612" lvl="1" indent="-171450" algn="l" rtl="0">
              <a:lnSpc>
                <a:spcPct val="100000"/>
              </a:lnSpc>
              <a:spcBef>
                <a:spcPts val="0"/>
              </a:spcBef>
              <a:spcAft>
                <a:spcPts val="0"/>
              </a:spcAft>
              <a:buSzPts val="2000"/>
              <a:buChar char="–"/>
            </a:pPr>
            <a:r>
              <a:rPr lang="en"/>
              <a:t>User can check any cumulative data of one day to another.</a:t>
            </a:r>
            <a:endParaRPr/>
          </a:p>
          <a:p>
            <a:pPr marL="455612" lvl="1" indent="-171450" algn="l" rtl="0">
              <a:lnSpc>
                <a:spcPct val="100000"/>
              </a:lnSpc>
              <a:spcBef>
                <a:spcPts val="0"/>
              </a:spcBef>
              <a:spcAft>
                <a:spcPts val="0"/>
              </a:spcAft>
              <a:buSzPts val="2000"/>
              <a:buChar char="–"/>
            </a:pPr>
            <a:r>
              <a:rPr lang="en"/>
              <a:t>User can identify the very low sales in particular day</a:t>
            </a:r>
            <a:endParaRPr/>
          </a:p>
          <a:p>
            <a:pPr marL="284162" lvl="1" indent="0" algn="l" rtl="0">
              <a:lnSpc>
                <a:spcPct val="100000"/>
              </a:lnSpc>
              <a:spcBef>
                <a:spcPts val="0"/>
              </a:spcBef>
              <a:spcAft>
                <a:spcPts val="0"/>
              </a:spcAft>
              <a:buSzPts val="2000"/>
              <a:buNone/>
            </a:pPr>
            <a:endParaRPr/>
          </a:p>
          <a:p>
            <a:pPr marL="284162" lvl="1" indent="0" algn="l" rtl="0">
              <a:lnSpc>
                <a:spcPct val="100000"/>
              </a:lnSpc>
              <a:spcBef>
                <a:spcPts val="0"/>
              </a:spcBef>
              <a:spcAft>
                <a:spcPts val="0"/>
              </a:spcAft>
              <a:buSzPts val="2000"/>
              <a:buNone/>
            </a:pPr>
            <a:endParaRPr/>
          </a:p>
          <a:p>
            <a:pPr marL="0" lvl="0" indent="0" algn="l" rtl="0">
              <a:lnSpc>
                <a:spcPct val="100000"/>
              </a:lnSpc>
              <a:spcBef>
                <a:spcPts val="0"/>
              </a:spcBef>
              <a:spcAft>
                <a:spcPts val="0"/>
              </a:spcAft>
              <a:buSzPts val="2400"/>
              <a:buNone/>
            </a:pPr>
            <a:endParaRPr/>
          </a:p>
        </p:txBody>
      </p:sp>
      <p:sp>
        <p:nvSpPr>
          <p:cNvPr id="1226" name="Google Shape;1226;p155"/>
          <p:cNvSpPr txBox="1"/>
          <p:nvPr/>
        </p:nvSpPr>
        <p:spPr>
          <a:xfrm>
            <a:off x="381000" y="2114551"/>
            <a:ext cx="7918500" cy="451500"/>
          </a:xfrm>
          <a:prstGeom prst="rect">
            <a:avLst/>
          </a:prstGeom>
          <a:noFill/>
          <a:ln>
            <a:noFill/>
          </a:ln>
        </p:spPr>
        <p:txBody>
          <a:bodyPr spcFirstLastPara="1" wrap="square" lIns="91425" tIns="45700" rIns="91425" bIns="45700" anchor="t" anchorCtr="0">
            <a:noAutofit/>
          </a:bodyPr>
          <a:lstStyle/>
          <a:p>
            <a:pPr marL="0" marR="0" lvl="0" indent="0" algn="l" rtl="0">
              <a:lnSpc>
                <a:spcPct val="95000"/>
              </a:lnSpc>
              <a:spcBef>
                <a:spcPts val="0"/>
              </a:spcBef>
              <a:spcAft>
                <a:spcPts val="0"/>
              </a:spcAft>
              <a:buClr>
                <a:srgbClr val="000000"/>
              </a:buClr>
              <a:buSzPts val="3200"/>
              <a:buFont typeface="Arial"/>
              <a:buNone/>
            </a:pPr>
            <a:r>
              <a:rPr lang="en" sz="3000" b="1">
                <a:solidFill>
                  <a:schemeClr val="dk2"/>
                </a:solidFill>
                <a:latin typeface="Archivo Narrow"/>
                <a:ea typeface="Archivo Narrow"/>
                <a:cs typeface="Archivo Narrow"/>
                <a:sym typeface="Archivo Narrow"/>
              </a:rPr>
              <a:t>Out of Scope for Daily data check</a:t>
            </a:r>
            <a:endParaRPr sz="3200" b="0" i="0" u="none" strike="noStrike" cap="none">
              <a:solidFill>
                <a:srgbClr val="0082D1"/>
              </a:solidFill>
              <a:latin typeface="Arial"/>
              <a:ea typeface="Arial"/>
              <a:cs typeface="Arial"/>
              <a:sym typeface="Arial"/>
            </a:endParaRPr>
          </a:p>
        </p:txBody>
      </p:sp>
      <p:sp>
        <p:nvSpPr>
          <p:cNvPr id="1227" name="Google Shape;1227;p155"/>
          <p:cNvSpPr/>
          <p:nvPr/>
        </p:nvSpPr>
        <p:spPr>
          <a:xfrm>
            <a:off x="457200" y="2743200"/>
            <a:ext cx="7391400" cy="1070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800">
                <a:solidFill>
                  <a:schemeClr val="dk2"/>
                </a:solidFill>
                <a:latin typeface="Open Sans"/>
                <a:ea typeface="Open Sans"/>
                <a:cs typeface="Open Sans"/>
                <a:sym typeface="Open Sans"/>
              </a:rPr>
              <a:t>Through Daily data check,</a:t>
            </a:r>
            <a:r>
              <a:rPr lang="en"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455612" marR="0" lvl="1" indent="-171450" algn="l" rtl="0">
              <a:lnSpc>
                <a:spcPct val="100000"/>
              </a:lnSpc>
              <a:spcBef>
                <a:spcPts val="0"/>
              </a:spcBef>
              <a:spcAft>
                <a:spcPts val="0"/>
              </a:spcAft>
              <a:buClr>
                <a:srgbClr val="0082D1"/>
              </a:buClr>
              <a:buSzPts val="2000"/>
              <a:buFont typeface="Times"/>
              <a:buChar char="–"/>
            </a:pPr>
            <a:r>
              <a:rPr lang="en" sz="1600">
                <a:solidFill>
                  <a:schemeClr val="dk2"/>
                </a:solidFill>
                <a:latin typeface="Open Sans"/>
                <a:ea typeface="Open Sans"/>
                <a:cs typeface="Open Sans"/>
                <a:sym typeface="Open Sans"/>
              </a:rPr>
              <a:t>User can not check the daily data trend from previous period .</a:t>
            </a:r>
            <a:endParaRPr sz="1600">
              <a:solidFill>
                <a:schemeClr val="dk2"/>
              </a:solidFill>
              <a:latin typeface="Open Sans"/>
              <a:ea typeface="Open Sans"/>
              <a:cs typeface="Open Sans"/>
              <a:sym typeface="Open Sans"/>
            </a:endParaRPr>
          </a:p>
          <a:p>
            <a:pPr marL="455612" marR="0" lvl="1" indent="-171450" algn="l" rtl="0">
              <a:lnSpc>
                <a:spcPct val="100000"/>
              </a:lnSpc>
              <a:spcBef>
                <a:spcPts val="0"/>
              </a:spcBef>
              <a:spcAft>
                <a:spcPts val="0"/>
              </a:spcAft>
              <a:buClr>
                <a:srgbClr val="0082D1"/>
              </a:buClr>
              <a:buSzPts val="2000"/>
              <a:buFont typeface="Times"/>
              <a:buChar char="–"/>
            </a:pPr>
            <a:r>
              <a:rPr lang="en" sz="1600">
                <a:solidFill>
                  <a:schemeClr val="dk2"/>
                </a:solidFill>
                <a:latin typeface="Open Sans"/>
                <a:ea typeface="Open Sans"/>
                <a:cs typeface="Open Sans"/>
                <a:sym typeface="Open Sans"/>
              </a:rPr>
              <a:t>User can not compare day wise sales with other retailer/store</a:t>
            </a:r>
            <a:endParaRPr sz="2000" b="0" i="0" u="none" strike="noStrike" cap="none">
              <a:solidFill>
                <a:schemeClr val="dk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8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31"/>
        <p:cNvGrpSpPr/>
        <p:nvPr/>
      </p:nvGrpSpPr>
      <p:grpSpPr>
        <a:xfrm>
          <a:off x="0" y="0"/>
          <a:ext cx="0" cy="0"/>
          <a:chOff x="0" y="0"/>
          <a:chExt cx="0" cy="0"/>
        </a:xfrm>
      </p:grpSpPr>
      <p:sp>
        <p:nvSpPr>
          <p:cNvPr id="1232" name="Google Shape;1232;p156"/>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solidFill>
                  <a:schemeClr val="dk1"/>
                </a:solidFill>
              </a:rPr>
              <a:t>Rules &amp; Restriction - </a:t>
            </a:r>
            <a:r>
              <a:rPr lang="en"/>
              <a:t>Priority for FOVA reports</a:t>
            </a:r>
            <a:endParaRPr/>
          </a:p>
        </p:txBody>
      </p:sp>
      <p:sp>
        <p:nvSpPr>
          <p:cNvPr id="1233" name="Google Shape;1233;p156"/>
          <p:cNvSpPr txBox="1">
            <a:spLocks noGrp="1"/>
          </p:cNvSpPr>
          <p:nvPr>
            <p:ph type="body" idx="1"/>
          </p:nvPr>
        </p:nvSpPr>
        <p:spPr>
          <a:xfrm>
            <a:off x="277813" y="633115"/>
            <a:ext cx="8191500" cy="2490600"/>
          </a:xfrm>
          <a:prstGeom prst="rect">
            <a:avLst/>
          </a:prstGeom>
          <a:noFill/>
          <a:ln>
            <a:noFill/>
          </a:ln>
        </p:spPr>
        <p:txBody>
          <a:bodyPr spcFirstLastPara="1" wrap="square" lIns="91425" tIns="45700" rIns="91425" bIns="45700" anchor="t" anchorCtr="0">
            <a:noAutofit/>
          </a:bodyPr>
          <a:lstStyle/>
          <a:p>
            <a:pPr marL="457200" lvl="0" indent="-330200" algn="l" rtl="0">
              <a:lnSpc>
                <a:spcPct val="150000"/>
              </a:lnSpc>
              <a:spcBef>
                <a:spcPts val="0"/>
              </a:spcBef>
              <a:spcAft>
                <a:spcPts val="0"/>
              </a:spcAft>
              <a:buSzPts val="1600"/>
              <a:buChar char="•"/>
            </a:pPr>
            <a:r>
              <a:rPr lang="en" sz="1600"/>
              <a:t>All FOVA reports will be tagged with a priority number according to the errors present in the data for that store.</a:t>
            </a:r>
            <a:endParaRPr sz="1600"/>
          </a:p>
          <a:p>
            <a:pPr marL="457200" lvl="0" indent="-330200" algn="l" rtl="0">
              <a:lnSpc>
                <a:spcPct val="150000"/>
              </a:lnSpc>
              <a:spcBef>
                <a:spcPts val="0"/>
              </a:spcBef>
              <a:spcAft>
                <a:spcPts val="0"/>
              </a:spcAft>
              <a:buSzPts val="1600"/>
              <a:buChar char="•"/>
            </a:pPr>
            <a:r>
              <a:rPr lang="en" sz="1600"/>
              <a:t>Based on the errors present in the store, the priority numbers will differ.</a:t>
            </a:r>
            <a:endParaRPr sz="1600"/>
          </a:p>
          <a:p>
            <a:pPr marL="457200" lvl="0" indent="-330200" algn="l" rtl="0">
              <a:lnSpc>
                <a:spcPct val="150000"/>
              </a:lnSpc>
              <a:spcBef>
                <a:spcPts val="0"/>
              </a:spcBef>
              <a:spcAft>
                <a:spcPts val="0"/>
              </a:spcAft>
              <a:buSzPts val="1600"/>
              <a:buChar char="•"/>
            </a:pPr>
            <a:r>
              <a:rPr lang="en" sz="1600"/>
              <a:t>All identified cases, like Truncation, No Reset, High deviance etc. will be prioritized as 999.</a:t>
            </a:r>
            <a:endParaRPr sz="1600"/>
          </a:p>
          <a:p>
            <a:pPr marL="457200" lvl="0" indent="-330200" algn="l" rtl="0">
              <a:lnSpc>
                <a:spcPct val="150000"/>
              </a:lnSpc>
              <a:spcBef>
                <a:spcPts val="0"/>
              </a:spcBef>
              <a:spcAft>
                <a:spcPts val="0"/>
              </a:spcAft>
              <a:buSzPts val="1600"/>
              <a:buChar char="•"/>
            </a:pPr>
            <a:r>
              <a:rPr lang="en" sz="1600"/>
              <a:t>For First FOVA Run and No Common item, Priority will be Blank.</a:t>
            </a:r>
            <a:endParaRPr sz="1600"/>
          </a:p>
          <a:p>
            <a:pPr marL="457200" lvl="0" indent="-330200" algn="l" rtl="0">
              <a:lnSpc>
                <a:spcPct val="150000"/>
              </a:lnSpc>
              <a:spcBef>
                <a:spcPts val="0"/>
              </a:spcBef>
              <a:spcAft>
                <a:spcPts val="0"/>
              </a:spcAft>
              <a:buSzPts val="1600"/>
              <a:buChar char="•"/>
            </a:pPr>
            <a:r>
              <a:rPr lang="en" sz="1600"/>
              <a:t>For all Data Good cases, Priority will be Zero.</a:t>
            </a:r>
            <a:endParaRPr sz="1600"/>
          </a:p>
          <a:p>
            <a:pPr marL="457200" lvl="0" indent="-330200" algn="l" rtl="0">
              <a:lnSpc>
                <a:spcPct val="150000"/>
              </a:lnSpc>
              <a:spcBef>
                <a:spcPts val="0"/>
              </a:spcBef>
              <a:spcAft>
                <a:spcPts val="0"/>
              </a:spcAft>
              <a:buSzPts val="1600"/>
              <a:buChar char="•"/>
            </a:pPr>
            <a:r>
              <a:rPr lang="en" sz="1600"/>
              <a:t>For all Questionable stores priority number will be n_ks_unit value.</a:t>
            </a:r>
            <a:endParaRPr sz="1600"/>
          </a:p>
          <a:p>
            <a:pPr marL="457200" lvl="0" indent="-330200" algn="l" rtl="0">
              <a:lnSpc>
                <a:spcPct val="150000"/>
              </a:lnSpc>
              <a:spcBef>
                <a:spcPts val="0"/>
              </a:spcBef>
              <a:spcAft>
                <a:spcPts val="0"/>
              </a:spcAft>
              <a:buSzPts val="1600"/>
              <a:buChar char="•"/>
            </a:pPr>
            <a:r>
              <a:rPr lang="en" sz="1600"/>
              <a:t>In Report there are various tables to analyze data on various parameters like Total Store, units, Price, Super group etc… The operator need to take decision based on these tables. The operator can find the table which contain problem from finding “***” in the report</a:t>
            </a:r>
            <a:endParaRPr sz="1600"/>
          </a:p>
        </p:txBody>
      </p:sp>
    </p:spTree>
  </p:cSld>
  <p:clrMapOvr>
    <a:overrideClrMapping bg1="lt1" tx1="dk1" bg2="lt2" tx2="dk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37"/>
        <p:cNvGrpSpPr/>
        <p:nvPr/>
      </p:nvGrpSpPr>
      <p:grpSpPr>
        <a:xfrm>
          <a:off x="0" y="0"/>
          <a:ext cx="0" cy="0"/>
          <a:chOff x="0" y="0"/>
          <a:chExt cx="0" cy="0"/>
        </a:xfrm>
      </p:grpSpPr>
      <p:sp>
        <p:nvSpPr>
          <p:cNvPr id="1238" name="Google Shape;1238;p15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solidFill>
                  <a:schemeClr val="dk1"/>
                </a:solidFill>
              </a:rPr>
              <a:t>Rules &amp; Restriction - </a:t>
            </a:r>
            <a:r>
              <a:rPr lang="en"/>
              <a:t>Validate stores</a:t>
            </a:r>
            <a:endParaRPr/>
          </a:p>
        </p:txBody>
      </p:sp>
      <p:sp>
        <p:nvSpPr>
          <p:cNvPr id="1239" name="Google Shape;1239;p157"/>
          <p:cNvSpPr txBox="1">
            <a:spLocks noGrp="1"/>
          </p:cNvSpPr>
          <p:nvPr>
            <p:ph type="body" idx="1"/>
          </p:nvPr>
        </p:nvSpPr>
        <p:spPr>
          <a:xfrm>
            <a:off x="277813" y="709315"/>
            <a:ext cx="8191500" cy="2490600"/>
          </a:xfrm>
          <a:prstGeom prst="rect">
            <a:avLst/>
          </a:prstGeom>
          <a:noFill/>
          <a:ln>
            <a:noFill/>
          </a:ln>
        </p:spPr>
        <p:txBody>
          <a:bodyPr spcFirstLastPara="1" wrap="square" lIns="91425" tIns="45700" rIns="91425" bIns="45700" anchor="t" anchorCtr="0">
            <a:noAutofit/>
          </a:bodyPr>
          <a:lstStyle/>
          <a:p>
            <a:pPr marL="457200" lvl="0" indent="-330200" algn="l" rtl="0">
              <a:lnSpc>
                <a:spcPct val="150000"/>
              </a:lnSpc>
              <a:spcBef>
                <a:spcPts val="0"/>
              </a:spcBef>
              <a:spcAft>
                <a:spcPts val="0"/>
              </a:spcAft>
              <a:buSzPts val="1600"/>
              <a:buChar char="•"/>
            </a:pPr>
            <a:r>
              <a:rPr lang="en" sz="1600"/>
              <a:t>FOVA checking should start immediately after data is received (full or partial)</a:t>
            </a:r>
            <a:endParaRPr sz="1600"/>
          </a:p>
          <a:p>
            <a:pPr marL="457200" lvl="0" indent="-330200" algn="l" rtl="0">
              <a:lnSpc>
                <a:spcPct val="150000"/>
              </a:lnSpc>
              <a:spcBef>
                <a:spcPts val="0"/>
              </a:spcBef>
              <a:spcAft>
                <a:spcPts val="0"/>
              </a:spcAft>
              <a:buSzPts val="1600"/>
              <a:buChar char="•"/>
            </a:pPr>
            <a:r>
              <a:rPr lang="en" sz="1600"/>
              <a:t>If any discrepancies (store level / retailer level / channel level) are found then questions must be raised immediately to onshore / retailer</a:t>
            </a:r>
            <a:endParaRPr sz="1600"/>
          </a:p>
          <a:p>
            <a:pPr marL="457200" lvl="0" indent="-330200" algn="l" rtl="0">
              <a:lnSpc>
                <a:spcPct val="150000"/>
              </a:lnSpc>
              <a:spcBef>
                <a:spcPts val="0"/>
              </a:spcBef>
              <a:spcAft>
                <a:spcPts val="0"/>
              </a:spcAft>
              <a:buSzPts val="1600"/>
              <a:buChar char="•"/>
            </a:pPr>
            <a:r>
              <a:rPr lang="en" sz="1600"/>
              <a:t>Any additional information is available for retailer / season / region, it must be shared with the operator who is responsible for FOVA handling</a:t>
            </a:r>
            <a:endParaRPr sz="1600"/>
          </a:p>
          <a:p>
            <a:pPr marL="457200" lvl="0" indent="-330200" algn="l" rtl="0">
              <a:lnSpc>
                <a:spcPct val="150000"/>
              </a:lnSpc>
              <a:spcBef>
                <a:spcPts val="0"/>
              </a:spcBef>
              <a:spcAft>
                <a:spcPts val="0"/>
              </a:spcAft>
              <a:buSzPts val="1600"/>
              <a:buChar char="•"/>
            </a:pPr>
            <a:r>
              <a:rPr lang="en" sz="1600"/>
              <a:t>All stores should be checked and cleared from YAFA before going ahead for salvation</a:t>
            </a:r>
            <a:endParaRPr sz="1600"/>
          </a:p>
          <a:p>
            <a:pPr marL="457200" lvl="0" indent="-330200" algn="l" rtl="0">
              <a:lnSpc>
                <a:spcPct val="150000"/>
              </a:lnSpc>
              <a:spcBef>
                <a:spcPts val="0"/>
              </a:spcBef>
              <a:spcAft>
                <a:spcPts val="0"/>
              </a:spcAft>
              <a:buSzPts val="1600"/>
              <a:buChar char="•"/>
            </a:pPr>
            <a:r>
              <a:rPr lang="en" sz="1600"/>
              <a:t>Fova handling should be done only for the “Fova NOT OK” stores thrown by the system. </a:t>
            </a:r>
            <a:endParaRPr sz="1600"/>
          </a:p>
          <a:p>
            <a:pPr marL="457200" lvl="0" indent="-330200" algn="l" rtl="0">
              <a:lnSpc>
                <a:spcPct val="150000"/>
              </a:lnSpc>
              <a:spcBef>
                <a:spcPts val="0"/>
              </a:spcBef>
              <a:spcAft>
                <a:spcPts val="0"/>
              </a:spcAft>
              <a:buSzPts val="1600"/>
              <a:buChar char="•"/>
            </a:pPr>
            <a:r>
              <a:rPr lang="en" sz="1600"/>
              <a:t>No Data Good stores should be checked. If there is any problems in the Data Good stores then raise Issue to Governance and country MSci to fine tune the parameters.</a:t>
            </a:r>
            <a:endParaRPr sz="1600"/>
          </a:p>
          <a:p>
            <a:pPr marL="169862" lvl="0" indent="-17459" algn="l" rtl="0">
              <a:lnSpc>
                <a:spcPct val="100000"/>
              </a:lnSpc>
              <a:spcBef>
                <a:spcPts val="0"/>
              </a:spcBef>
              <a:spcAft>
                <a:spcPts val="0"/>
              </a:spcAft>
              <a:buSzPts val="2400"/>
              <a:buNone/>
            </a:pPr>
            <a:endParaRPr/>
          </a:p>
        </p:txBody>
      </p:sp>
    </p:spTree>
  </p:cSld>
  <p:clrMapOvr>
    <a:overrideClrMapping bg1="lt1" tx1="dk1" bg2="lt2" tx2="dk2" accent1="accent1" accent2="accent2" accent3="accent3" accent4="accent4" accent5="accent5" accent6="accent6" hlink="hlink" folHlink="folHlink"/>
  </p:clrMapOvr>
</p:sld>
</file>

<file path=ppt/slides/slide8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43"/>
        <p:cNvGrpSpPr/>
        <p:nvPr/>
      </p:nvGrpSpPr>
      <p:grpSpPr>
        <a:xfrm>
          <a:off x="0" y="0"/>
          <a:ext cx="0" cy="0"/>
          <a:chOff x="0" y="0"/>
          <a:chExt cx="0" cy="0"/>
        </a:xfrm>
      </p:grpSpPr>
      <p:sp>
        <p:nvSpPr>
          <p:cNvPr id="1244" name="Google Shape;1244;p158"/>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solidFill>
                  <a:schemeClr val="dk1"/>
                </a:solidFill>
              </a:rPr>
              <a:t>Rules &amp; Restriction - </a:t>
            </a:r>
            <a:r>
              <a:rPr lang="en"/>
              <a:t>Validate stores</a:t>
            </a:r>
            <a:endParaRPr/>
          </a:p>
        </p:txBody>
      </p:sp>
      <p:sp>
        <p:nvSpPr>
          <p:cNvPr id="1245" name="Google Shape;1245;p158"/>
          <p:cNvSpPr txBox="1">
            <a:spLocks noGrp="1"/>
          </p:cNvSpPr>
          <p:nvPr>
            <p:ph type="body" idx="1"/>
          </p:nvPr>
        </p:nvSpPr>
        <p:spPr>
          <a:xfrm>
            <a:off x="430213" y="709315"/>
            <a:ext cx="8385594" cy="4291364"/>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 sz="1700"/>
              <a:t>To validate questionable stores apart from FOVA reports, the operator requires following information :</a:t>
            </a:r>
            <a:endParaRPr lang="en-US" sz="1700"/>
          </a:p>
          <a:p>
            <a:pPr marL="0" lvl="0" indent="0" algn="l" rtl="0">
              <a:spcBef>
                <a:spcPts val="0"/>
              </a:spcBef>
              <a:spcAft>
                <a:spcPts val="0"/>
              </a:spcAft>
              <a:buNone/>
            </a:pPr>
            <a:endParaRPr sz="1000"/>
          </a:p>
          <a:p>
            <a:pPr marL="455295" lvl="1" indent="-165100" algn="l" rtl="0">
              <a:spcBef>
                <a:spcPts val="0"/>
              </a:spcBef>
              <a:spcAft>
                <a:spcPts val="0"/>
              </a:spcAft>
              <a:buSzPts val="1900"/>
              <a:buChar char="–"/>
            </a:pPr>
            <a:r>
              <a:rPr lang="en" sz="1500"/>
              <a:t>Seasonality information</a:t>
            </a:r>
            <a:endParaRPr sz="1500"/>
          </a:p>
          <a:p>
            <a:pPr marL="455295" lvl="1" indent="-165100" algn="l" rtl="0">
              <a:spcBef>
                <a:spcPts val="0"/>
              </a:spcBef>
              <a:spcAft>
                <a:spcPts val="0"/>
              </a:spcAft>
              <a:buSzPts val="1900"/>
              <a:buChar char="–"/>
            </a:pPr>
            <a:r>
              <a:rPr lang="en" sz="1500"/>
              <a:t>Missing day information</a:t>
            </a:r>
            <a:endParaRPr sz="1500"/>
          </a:p>
          <a:p>
            <a:pPr marL="455295" lvl="1" indent="-165100" algn="l" rtl="0">
              <a:spcBef>
                <a:spcPts val="0"/>
              </a:spcBef>
              <a:spcAft>
                <a:spcPts val="0"/>
              </a:spcAft>
              <a:buSzPts val="1900"/>
              <a:buChar char="–"/>
            </a:pPr>
            <a:r>
              <a:rPr lang="en" sz="1500"/>
              <a:t>Remodeling information</a:t>
            </a:r>
            <a:endParaRPr sz="1500"/>
          </a:p>
          <a:p>
            <a:pPr marL="455295" lvl="1" indent="-165100" algn="l" rtl="0">
              <a:spcBef>
                <a:spcPts val="0"/>
              </a:spcBef>
              <a:spcAft>
                <a:spcPts val="0"/>
              </a:spcAft>
              <a:buSzPts val="1900"/>
              <a:buChar char="–"/>
            </a:pPr>
            <a:r>
              <a:rPr lang="en" sz="1500"/>
              <a:t>Bank holidays</a:t>
            </a:r>
            <a:endParaRPr sz="1500"/>
          </a:p>
          <a:p>
            <a:pPr marL="455295" lvl="1" indent="-165100" algn="l" rtl="0">
              <a:spcBef>
                <a:spcPts val="0"/>
              </a:spcBef>
              <a:spcAft>
                <a:spcPts val="0"/>
              </a:spcAft>
              <a:buSzPts val="1900"/>
              <a:buChar char="–"/>
            </a:pPr>
            <a:r>
              <a:rPr lang="en" sz="1500"/>
              <a:t>National &amp; regional festivals</a:t>
            </a:r>
            <a:endParaRPr sz="1500"/>
          </a:p>
          <a:p>
            <a:pPr marL="455295" lvl="1" indent="-165100" algn="l" rtl="0">
              <a:spcBef>
                <a:spcPts val="0"/>
              </a:spcBef>
              <a:spcAft>
                <a:spcPts val="0"/>
              </a:spcAft>
              <a:buSzPts val="1900"/>
              <a:buChar char="–"/>
            </a:pPr>
            <a:r>
              <a:rPr lang="en" sz="1500"/>
              <a:t>Location \ Area information (e.g. Coastal shops, Mountain shops, Shops near to School etc.)</a:t>
            </a:r>
            <a:endParaRPr sz="1500"/>
          </a:p>
          <a:p>
            <a:pPr marL="0" lvl="0" indent="0" algn="l" rtl="0">
              <a:spcBef>
                <a:spcPts val="0"/>
              </a:spcBef>
              <a:spcAft>
                <a:spcPts val="0"/>
              </a:spcAft>
              <a:buNone/>
            </a:pPr>
            <a:r>
              <a:rPr lang="en" sz="1500"/>
              <a:t>The final decision of a </a:t>
            </a:r>
            <a:r>
              <a:rPr lang="en" sz="1500" err="1"/>
              <a:t>Fova</a:t>
            </a:r>
            <a:r>
              <a:rPr lang="en" sz="1500"/>
              <a:t> report should be based on below parameters content.</a:t>
            </a:r>
            <a:endParaRPr sz="1500"/>
          </a:p>
          <a:p>
            <a:pPr marL="0" lvl="0" indent="0" algn="l" rtl="0">
              <a:spcBef>
                <a:spcPts val="0"/>
              </a:spcBef>
              <a:spcAft>
                <a:spcPts val="0"/>
              </a:spcAft>
              <a:buNone/>
            </a:pPr>
            <a:endParaRPr sz="600"/>
          </a:p>
          <a:p>
            <a:pPr marL="0" lvl="0" indent="0" algn="l" rtl="0">
              <a:spcBef>
                <a:spcPts val="0"/>
              </a:spcBef>
              <a:spcAft>
                <a:spcPts val="0"/>
              </a:spcAft>
              <a:buNone/>
            </a:pPr>
            <a:r>
              <a:rPr lang="en" sz="1600"/>
              <a:t>Attached </a:t>
            </a:r>
            <a:r>
              <a:rPr lang="en" sz="1600" u="sng">
                <a:solidFill>
                  <a:schemeClr val="hlink"/>
                </a:solidFill>
                <a:hlinkClick r:id="rId4">
                  <a:extLst>
                    <a:ext uri="{A12FA001-AC4F-418D-AE19-62706E023703}">
                      <ahyp:hlinkClr xmlns:ahyp="http://schemas.microsoft.com/office/drawing/2018/hyperlinkcolor" val="tx"/>
                    </a:ext>
                  </a:extLst>
                </a:hlinkClick>
              </a:rPr>
              <a:t>Template</a:t>
            </a:r>
            <a:r>
              <a:rPr lang="en" sz="1600"/>
              <a:t> should be updated on Yearly basis</a:t>
            </a:r>
            <a:endParaRPr sz="1600"/>
          </a:p>
          <a:p>
            <a:pPr marL="0" indent="0" algn="l">
              <a:spcBef>
                <a:spcPts val="0"/>
              </a:spcBef>
              <a:spcAft>
                <a:spcPts val="0"/>
              </a:spcAft>
              <a:buNone/>
            </a:pPr>
            <a:endParaRPr lang="en" sz="1600"/>
          </a:p>
          <a:p>
            <a:pPr marL="0" indent="0">
              <a:buNone/>
            </a:pPr>
            <a:endParaRPr lang="en-US" sz="1500"/>
          </a:p>
        </p:txBody>
      </p:sp>
    </p:spTree>
  </p:cSld>
  <p:clrMapOvr>
    <a:overrideClrMapping bg1="lt1" tx1="dk1" bg2="lt2" tx2="dk2" accent1="accent1" accent2="accent2" accent3="accent3" accent4="accent4" accent5="accent5" accent6="accent6" hlink="hlink" folHlink="folHlink"/>
  </p:clrMapOvr>
</p:sld>
</file>

<file path=ppt/slides/slide8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A6D5-E5DD-4803-8D00-A4D7A3A2492B}"/>
              </a:ext>
            </a:extLst>
          </p:cNvPr>
          <p:cNvSpPr>
            <a:spLocks noGrp="1"/>
          </p:cNvSpPr>
          <p:nvPr>
            <p:ph type="title"/>
          </p:nvPr>
        </p:nvSpPr>
        <p:spPr>
          <a:xfrm>
            <a:off x="288626" y="249110"/>
            <a:ext cx="7918500" cy="451500"/>
          </a:xfrm>
        </p:spPr>
        <p:txBody>
          <a:bodyPr/>
          <a:lstStyle/>
          <a:p>
            <a:r>
              <a:rPr lang="en-US"/>
              <a:t>Additional Store Validation Guidance</a:t>
            </a:r>
          </a:p>
        </p:txBody>
      </p:sp>
      <p:sp>
        <p:nvSpPr>
          <p:cNvPr id="3" name="Text Placeholder 2">
            <a:extLst>
              <a:ext uri="{FF2B5EF4-FFF2-40B4-BE49-F238E27FC236}">
                <a16:creationId xmlns:a16="http://schemas.microsoft.com/office/drawing/2014/main" id="{ABCE796C-C43D-41B9-B2C1-AF360D630994}"/>
              </a:ext>
            </a:extLst>
          </p:cNvPr>
          <p:cNvSpPr>
            <a:spLocks noGrp="1"/>
          </p:cNvSpPr>
          <p:nvPr>
            <p:ph type="body" idx="1"/>
          </p:nvPr>
        </p:nvSpPr>
        <p:spPr>
          <a:xfrm>
            <a:off x="291472" y="844153"/>
            <a:ext cx="8482641" cy="3913766"/>
          </a:xfrm>
        </p:spPr>
        <p:txBody>
          <a:bodyPr/>
          <a:lstStyle/>
          <a:p>
            <a:pPr marL="0" indent="0">
              <a:buNone/>
            </a:pPr>
            <a:r>
              <a:rPr lang="en-US" sz="1600"/>
              <a:t>This is the additional guideline for the store validation part. It </a:t>
            </a:r>
            <a:r>
              <a:rPr lang="en-GB" sz="1600"/>
              <a:t>provides Global rules and roles. For Store level validation (FOVA and SU process for A2S stores).</a:t>
            </a:r>
            <a:endParaRPr lang="en-US" sz="1600"/>
          </a:p>
          <a:p>
            <a:pPr marL="0" indent="0">
              <a:buNone/>
            </a:pPr>
            <a:endParaRPr lang="en-GB" sz="1600"/>
          </a:p>
          <a:p>
            <a:pPr marL="0" indent="0">
              <a:buNone/>
            </a:pPr>
            <a:r>
              <a:rPr lang="en-GB" sz="1600"/>
              <a:t>It includes general guidance and suggestion. But in some countries some variations are allowed, as it defined by countries Ops Lead and/or Data Science team.</a:t>
            </a:r>
            <a:endParaRPr lang="en-US" sz="1600"/>
          </a:p>
          <a:p>
            <a:pPr marL="0" indent="0">
              <a:buNone/>
            </a:pPr>
            <a:endParaRPr lang="en-GB" sz="1600" b="1"/>
          </a:p>
          <a:p>
            <a:pPr marL="0" indent="0">
              <a:buNone/>
            </a:pPr>
            <a:r>
              <a:rPr lang="en-GB" sz="1600" b="1"/>
              <a:t>Assumptions </a:t>
            </a:r>
            <a:endParaRPr lang="en-GB" sz="1600"/>
          </a:p>
          <a:p>
            <a:pPr marL="285750" indent="-285750"/>
            <a:r>
              <a:rPr lang="en-GB" sz="1600"/>
              <a:t>It allows to estimate not ok stores – in case amount stores per retailer minimal (Standard threshold less than 3%). Can variate per country/retailer.</a:t>
            </a:r>
          </a:p>
          <a:p>
            <a:pPr marL="285750" indent="-285750"/>
            <a:r>
              <a:rPr lang="en-GB" sz="1600"/>
              <a:t>Retailer Engagement (EDD) –discuss with retailers' data – can be country specific (example in some this is done by IV team or for A2S, by DA).</a:t>
            </a:r>
          </a:p>
          <a:p>
            <a:pPr marL="285750" indent="-285750"/>
            <a:r>
              <a:rPr lang="en-GB" sz="1600"/>
              <a:t>Main decision on production done by Ops Lead/DS. Can be different teams depend on country.</a:t>
            </a:r>
          </a:p>
          <a:p>
            <a:pPr marL="285750" indent="-285750"/>
            <a:r>
              <a:rPr lang="en-GB" sz="1600"/>
              <a:t>DOT (daily calls) exists in country to discuss status of production. </a:t>
            </a:r>
          </a:p>
          <a:p>
            <a:pPr marL="0" indent="0">
              <a:buNone/>
            </a:pPr>
            <a:endParaRPr lang="en-GB" sz="1600"/>
          </a:p>
          <a:p>
            <a:pPr marL="114300" indent="0">
              <a:buNone/>
            </a:pPr>
            <a:endParaRPr lang="en-US" sz="1600"/>
          </a:p>
        </p:txBody>
      </p:sp>
    </p:spTree>
    <p:extLst>
      <p:ext uri="{BB962C8B-B14F-4D97-AF65-F5344CB8AC3E}">
        <p14:creationId xmlns:p14="http://schemas.microsoft.com/office/powerpoint/2010/main" val="2001550774"/>
      </p:ext>
    </p:extLst>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A6D5-E5DD-4803-8D00-A4D7A3A2492B}"/>
              </a:ext>
            </a:extLst>
          </p:cNvPr>
          <p:cNvSpPr>
            <a:spLocks noGrp="1"/>
          </p:cNvSpPr>
          <p:nvPr>
            <p:ph type="title"/>
          </p:nvPr>
        </p:nvSpPr>
        <p:spPr>
          <a:xfrm>
            <a:off x="288626" y="205978"/>
            <a:ext cx="8220424" cy="451500"/>
          </a:xfrm>
        </p:spPr>
        <p:txBody>
          <a:bodyPr/>
          <a:lstStyle/>
          <a:p>
            <a:r>
              <a:rPr lang="en-US"/>
              <a:t>Additional Store Validation Guidance</a:t>
            </a:r>
          </a:p>
        </p:txBody>
      </p:sp>
      <p:sp>
        <p:nvSpPr>
          <p:cNvPr id="3" name="Text Placeholder 2">
            <a:extLst>
              <a:ext uri="{FF2B5EF4-FFF2-40B4-BE49-F238E27FC236}">
                <a16:creationId xmlns:a16="http://schemas.microsoft.com/office/drawing/2014/main" id="{ABCE796C-C43D-41B9-B2C1-AF360D630994}"/>
              </a:ext>
            </a:extLst>
          </p:cNvPr>
          <p:cNvSpPr>
            <a:spLocks noGrp="1"/>
          </p:cNvSpPr>
          <p:nvPr>
            <p:ph type="body" idx="1"/>
          </p:nvPr>
        </p:nvSpPr>
        <p:spPr>
          <a:xfrm>
            <a:off x="291472" y="844153"/>
            <a:ext cx="8482641" cy="3913766"/>
          </a:xfrm>
        </p:spPr>
        <p:txBody>
          <a:bodyPr/>
          <a:lstStyle/>
          <a:p>
            <a:pPr>
              <a:buNone/>
            </a:pPr>
            <a:r>
              <a:rPr lang="en-GB" sz="1600" b="1"/>
              <a:t>Responsibility:</a:t>
            </a:r>
          </a:p>
          <a:p>
            <a:pPr>
              <a:buNone/>
            </a:pPr>
            <a:endParaRPr lang="en-GB" sz="1600" b="1"/>
          </a:p>
          <a:p>
            <a:pPr marL="342900">
              <a:buAutoNum type="arabicPeriod"/>
            </a:pPr>
            <a:r>
              <a:rPr lang="en-GB" sz="1600"/>
              <a:t>IV Operators are responsible to follow that guidance. In case guidance is not follow. Any issues caused due it, are responsibility of specific operators.</a:t>
            </a:r>
          </a:p>
          <a:p>
            <a:pPr marL="342900">
              <a:buAutoNum type="arabicPeriod"/>
            </a:pPr>
            <a:endParaRPr lang="en-GB" sz="1600"/>
          </a:p>
          <a:p>
            <a:pPr marL="342900">
              <a:buAutoNum type="arabicPeriod"/>
            </a:pPr>
            <a:r>
              <a:rPr lang="en-GB" sz="1600"/>
              <a:t>IV Operators must evaluate </a:t>
            </a:r>
            <a:r>
              <a:rPr lang="en-GB" sz="1600" b="1"/>
              <a:t>all status</a:t>
            </a:r>
            <a:r>
              <a:rPr lang="en-GB" sz="1600"/>
              <a:t> of FOVA not ok, not only linked with TRENDS</a:t>
            </a:r>
          </a:p>
          <a:p>
            <a:pPr marL="342900">
              <a:buAutoNum type="arabicPeriod"/>
            </a:pPr>
            <a:endParaRPr lang="en-GB" sz="1600"/>
          </a:p>
          <a:p>
            <a:pPr marL="342900">
              <a:buAutoNum type="arabicPeriod"/>
            </a:pPr>
            <a:r>
              <a:rPr lang="en-GB" sz="1600"/>
              <a:t>In case wrong decisions taken by respective team leaders – any QE can`t be assigned on IV team</a:t>
            </a:r>
            <a:r>
              <a:rPr lang="en-US" sz="1600"/>
              <a:t>d text</a:t>
            </a:r>
            <a:endParaRPr lang="en-GB" sz="1600"/>
          </a:p>
          <a:p>
            <a:pPr indent="0">
              <a:buNone/>
            </a:pPr>
            <a:endParaRPr lang="en-GB" sz="1600"/>
          </a:p>
          <a:p>
            <a:pPr indent="0">
              <a:buNone/>
            </a:pPr>
            <a:endParaRPr lang="en-GB"/>
          </a:p>
        </p:txBody>
      </p:sp>
    </p:spTree>
    <p:extLst>
      <p:ext uri="{BB962C8B-B14F-4D97-AF65-F5344CB8AC3E}">
        <p14:creationId xmlns:p14="http://schemas.microsoft.com/office/powerpoint/2010/main" val="1531024769"/>
      </p:ext>
    </p:extLst>
  </p:cSld>
  <p:clrMapOvr>
    <a:overrideClrMapping bg1="lt1" tx1="dk1" bg2="lt2" tx2="dk2" accent1="accent1" accent2="accent2" accent3="accent3" accent4="accent4" accent5="accent5" accent6="accent6" hlink="hlink" folHlink="folHlink"/>
  </p:clrMapOvr>
</p:sld>
</file>

<file path=ppt/slides/slide9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A6D5-E5DD-4803-8D00-A4D7A3A2492B}"/>
              </a:ext>
            </a:extLst>
          </p:cNvPr>
          <p:cNvSpPr>
            <a:spLocks noGrp="1"/>
          </p:cNvSpPr>
          <p:nvPr>
            <p:ph type="title"/>
          </p:nvPr>
        </p:nvSpPr>
        <p:spPr>
          <a:xfrm>
            <a:off x="288626" y="205978"/>
            <a:ext cx="8220424" cy="451500"/>
          </a:xfrm>
        </p:spPr>
        <p:txBody>
          <a:bodyPr/>
          <a:lstStyle/>
          <a:p>
            <a:r>
              <a:rPr lang="en-US"/>
              <a:t>Additional Store Validation Guidance</a:t>
            </a:r>
          </a:p>
        </p:txBody>
      </p:sp>
      <p:sp>
        <p:nvSpPr>
          <p:cNvPr id="3" name="Text Placeholder 2">
            <a:extLst>
              <a:ext uri="{FF2B5EF4-FFF2-40B4-BE49-F238E27FC236}">
                <a16:creationId xmlns:a16="http://schemas.microsoft.com/office/drawing/2014/main" id="{ABCE796C-C43D-41B9-B2C1-AF360D630994}"/>
              </a:ext>
            </a:extLst>
          </p:cNvPr>
          <p:cNvSpPr>
            <a:spLocks noGrp="1"/>
          </p:cNvSpPr>
          <p:nvPr>
            <p:ph type="body" idx="1"/>
          </p:nvPr>
        </p:nvSpPr>
        <p:spPr>
          <a:xfrm>
            <a:off x="291472" y="736323"/>
            <a:ext cx="8601254" cy="4021596"/>
          </a:xfrm>
        </p:spPr>
        <p:txBody>
          <a:bodyPr/>
          <a:lstStyle/>
          <a:p>
            <a:pPr>
              <a:buNone/>
            </a:pPr>
            <a:r>
              <a:rPr lang="en-GB" sz="1400" b="1" u="sng"/>
              <a:t>Decision tree</a:t>
            </a:r>
            <a:endParaRPr lang="en-GB" sz="1400" u="sng"/>
          </a:p>
          <a:p>
            <a:pPr>
              <a:buNone/>
            </a:pPr>
            <a:endParaRPr lang="en-GB" sz="1400"/>
          </a:p>
          <a:p>
            <a:pPr>
              <a:buNone/>
            </a:pPr>
            <a:r>
              <a:rPr lang="en-GB" sz="1400"/>
              <a:t>Scenario1:</a:t>
            </a:r>
          </a:p>
          <a:p>
            <a:pPr>
              <a:buNone/>
            </a:pPr>
            <a:r>
              <a:rPr lang="en-GB" sz="1200" b="1"/>
              <a:t>No problematic stores</a:t>
            </a:r>
            <a:endParaRPr lang="en-GB" sz="1200"/>
          </a:p>
          <a:p>
            <a:pPr>
              <a:buNone/>
            </a:pPr>
            <a:r>
              <a:rPr lang="en-GB" sz="1200" b="1"/>
              <a:t>Actions</a:t>
            </a:r>
            <a:r>
              <a:rPr lang="en-GB" sz="1200"/>
              <a:t> - Continue with current flow </a:t>
            </a:r>
          </a:p>
          <a:p>
            <a:pPr>
              <a:buNone/>
            </a:pPr>
            <a:endParaRPr lang="en-GB" sz="1400"/>
          </a:p>
          <a:p>
            <a:pPr>
              <a:buNone/>
            </a:pPr>
            <a:r>
              <a:rPr lang="en-GB" sz="1400"/>
              <a:t>Scenario 2</a:t>
            </a:r>
          </a:p>
          <a:p>
            <a:pPr>
              <a:buNone/>
            </a:pPr>
            <a:r>
              <a:rPr lang="en-GB" sz="1200" b="1"/>
              <a:t>No. of problematic stores not exceed defined threshold (default 3 % on retailer level)</a:t>
            </a:r>
          </a:p>
          <a:p>
            <a:pPr>
              <a:buNone/>
            </a:pPr>
            <a:endParaRPr lang="en-GB" sz="1400"/>
          </a:p>
          <a:p>
            <a:pPr>
              <a:buNone/>
            </a:pPr>
            <a:r>
              <a:rPr lang="en-GB" sz="1200" b="1"/>
              <a:t>Actions</a:t>
            </a:r>
            <a:r>
              <a:rPr lang="en-GB" sz="1200"/>
              <a:t> </a:t>
            </a:r>
          </a:p>
          <a:p>
            <a:pPr>
              <a:buNone/>
            </a:pPr>
            <a:r>
              <a:rPr lang="en-GB" sz="1200"/>
              <a:t>1.Operator should review issue reason – based on general knowledge (example if it could any event in specific region, or special events in country). And what level of issue (like increase in trend just 30% and not 500%), or other tag like fully equal data. This step should be skipped as per general recommendation, but it must be aligned based on country specific. </a:t>
            </a:r>
          </a:p>
          <a:p>
            <a:pPr>
              <a:buNone/>
            </a:pPr>
            <a:endParaRPr lang="en-GB" sz="1200"/>
          </a:p>
          <a:p>
            <a:pPr>
              <a:buNone/>
            </a:pPr>
            <a:r>
              <a:rPr lang="en-GB" sz="1200"/>
              <a:t>2. By General recommendation user can estimate all ‘not ok’ stores, if after step 1 user don`t know reason of issue</a:t>
            </a:r>
            <a:r>
              <a:rPr lang="en-GB" sz="1200" u="sng"/>
              <a:t>. </a:t>
            </a:r>
            <a:r>
              <a:rPr lang="en-GB" sz="1200"/>
              <a:t>This rule can be changed by country leaders and depend on retailer contracts and country specific - and in this case operator should ask EDD/Retailer engagement team to contact retailer for confirmation</a:t>
            </a:r>
          </a:p>
          <a:p>
            <a:pPr>
              <a:buNone/>
            </a:pPr>
            <a:endParaRPr lang="en-GB" sz="1200"/>
          </a:p>
          <a:p>
            <a:pPr>
              <a:buNone/>
            </a:pPr>
            <a:r>
              <a:rPr lang="en-GB" sz="1200"/>
              <a:t>3. In case there was need to contact but no answer from retailer in needed time- such stores are estimated.</a:t>
            </a:r>
          </a:p>
          <a:p>
            <a:pPr>
              <a:buNone/>
            </a:pPr>
            <a:endParaRPr lang="en-GB" sz="1400"/>
          </a:p>
          <a:p>
            <a:pPr>
              <a:buNone/>
            </a:pPr>
            <a:endParaRPr lang="en-GB" sz="1400" b="1"/>
          </a:p>
        </p:txBody>
      </p:sp>
    </p:spTree>
    <p:extLst>
      <p:ext uri="{BB962C8B-B14F-4D97-AF65-F5344CB8AC3E}">
        <p14:creationId xmlns:p14="http://schemas.microsoft.com/office/powerpoint/2010/main" val="480271577"/>
      </p:ext>
    </p:extLst>
  </p:cSld>
  <p:clrMapOvr>
    <a:overrideClrMapping bg1="lt1" tx1="dk1" bg2="lt2" tx2="dk2" accent1="accent1" accent2="accent2" accent3="accent3" accent4="accent4" accent5="accent5" accent6="accent6" hlink="hlink" folHlink="folHlink"/>
  </p:clrMapOvr>
</p:sld>
</file>

<file path=ppt/slides/slide9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A6D5-E5DD-4803-8D00-A4D7A3A2492B}"/>
              </a:ext>
            </a:extLst>
          </p:cNvPr>
          <p:cNvSpPr>
            <a:spLocks noGrp="1"/>
          </p:cNvSpPr>
          <p:nvPr>
            <p:ph type="title"/>
          </p:nvPr>
        </p:nvSpPr>
        <p:spPr>
          <a:xfrm>
            <a:off x="288626" y="55016"/>
            <a:ext cx="8220424" cy="451500"/>
          </a:xfrm>
        </p:spPr>
        <p:txBody>
          <a:bodyPr/>
          <a:lstStyle/>
          <a:p>
            <a:r>
              <a:rPr lang="en-US"/>
              <a:t>Additional Store Validation Guidance</a:t>
            </a:r>
          </a:p>
        </p:txBody>
      </p:sp>
      <p:sp>
        <p:nvSpPr>
          <p:cNvPr id="3" name="Text Placeholder 2">
            <a:extLst>
              <a:ext uri="{FF2B5EF4-FFF2-40B4-BE49-F238E27FC236}">
                <a16:creationId xmlns:a16="http://schemas.microsoft.com/office/drawing/2014/main" id="{ABCE796C-C43D-41B9-B2C1-AF360D630994}"/>
              </a:ext>
            </a:extLst>
          </p:cNvPr>
          <p:cNvSpPr>
            <a:spLocks noGrp="1"/>
          </p:cNvSpPr>
          <p:nvPr>
            <p:ph type="body" idx="1"/>
          </p:nvPr>
        </p:nvSpPr>
        <p:spPr>
          <a:xfrm>
            <a:off x="291472" y="509880"/>
            <a:ext cx="8601254" cy="4248039"/>
          </a:xfrm>
        </p:spPr>
        <p:txBody>
          <a:bodyPr/>
          <a:lstStyle/>
          <a:p>
            <a:pPr>
              <a:buNone/>
            </a:pPr>
            <a:r>
              <a:rPr lang="en-GB" sz="1400"/>
              <a:t>Scenario 3</a:t>
            </a:r>
          </a:p>
          <a:p>
            <a:pPr>
              <a:buNone/>
            </a:pPr>
            <a:r>
              <a:rPr lang="en-GB" sz="1400" b="1"/>
              <a:t>No. of problematic stores  exceed defined threshold(default 3 % on retailer level)</a:t>
            </a:r>
          </a:p>
          <a:p>
            <a:pPr>
              <a:buNone/>
            </a:pPr>
            <a:endParaRPr lang="en-GB" sz="1400"/>
          </a:p>
          <a:p>
            <a:pPr>
              <a:buNone/>
            </a:pPr>
            <a:r>
              <a:rPr lang="en-GB" sz="1400" b="1"/>
              <a:t>Actions</a:t>
            </a:r>
            <a:endParaRPr lang="en-GB" sz="1400"/>
          </a:p>
          <a:p>
            <a:pPr>
              <a:buNone/>
            </a:pPr>
            <a:endParaRPr lang="en-GB" sz="1400"/>
          </a:p>
          <a:p>
            <a:pPr>
              <a:buNone/>
            </a:pPr>
            <a:r>
              <a:rPr lang="en-GB" sz="1400"/>
              <a:t>1. Operator should review issue reason – base on general knowledge (example if it could any event in specific region, or special events in country). And what level of issue (like increase in trend just 30% and not 500%). In case tags are linked with trend change, user can make decided base on experience  to flag such information ok(example during Christmas week). But it must be consulted with IV country leader. </a:t>
            </a:r>
            <a:endParaRPr lang="en-GB"/>
          </a:p>
          <a:p>
            <a:pPr>
              <a:buNone/>
            </a:pPr>
            <a:r>
              <a:rPr lang="en-GB" sz="1400"/>
              <a:t>        In case issues are not linked with trend tags we should proceed to step2. </a:t>
            </a:r>
          </a:p>
          <a:p>
            <a:pPr>
              <a:buNone/>
            </a:pPr>
            <a:endParaRPr lang="en-GB" sz="1400"/>
          </a:p>
          <a:p>
            <a:pPr>
              <a:buNone/>
            </a:pPr>
            <a:r>
              <a:rPr lang="en-GB" sz="1400"/>
              <a:t>2. User must inform EDD/Retailer engagement team to contact with specific request. Those stores can`t be marked as OK except without retailer confirmation. On daily DOT call it should be highlighted that we have such retailers, so country is informed </a:t>
            </a:r>
          </a:p>
          <a:p>
            <a:pPr>
              <a:buNone/>
            </a:pPr>
            <a:endParaRPr lang="en-GB" sz="1400"/>
          </a:p>
          <a:p>
            <a:pPr>
              <a:buNone/>
            </a:pPr>
            <a:r>
              <a:rPr lang="en-GB" sz="1400"/>
              <a:t>3. In case there is no reply from retailers/or retailers can`t be reached due any reason. During DOT calls there should be ask for country stake holders for next actions.</a:t>
            </a:r>
          </a:p>
          <a:p>
            <a:pPr>
              <a:buNone/>
            </a:pPr>
            <a:endParaRPr lang="en-GB" sz="1400"/>
          </a:p>
          <a:p>
            <a:pPr>
              <a:buNone/>
            </a:pPr>
            <a:r>
              <a:rPr lang="en-GB" sz="1400"/>
              <a:t>Decision on such cases, must be taken ether by local DS or Ops leads. In this case IV team should just execute agreed solution.</a:t>
            </a:r>
          </a:p>
          <a:p>
            <a:pPr>
              <a:buNone/>
            </a:pPr>
            <a:endParaRPr lang="en-GB" sz="1400" b="1"/>
          </a:p>
        </p:txBody>
      </p:sp>
    </p:spTree>
    <p:extLst>
      <p:ext uri="{BB962C8B-B14F-4D97-AF65-F5344CB8AC3E}">
        <p14:creationId xmlns:p14="http://schemas.microsoft.com/office/powerpoint/2010/main" val="4114348416"/>
      </p:ext>
    </p:extLst>
  </p:cSld>
  <p:clrMapOvr>
    <a:overrideClrMapping bg1="lt1" tx1="dk1" bg2="lt2" tx2="dk2" accent1="accent1" accent2="accent2" accent3="accent3" accent4="accent4" accent5="accent5" accent6="accent6" hlink="hlink" folHlink="folHlink"/>
  </p:clrMapOvr>
</p:sld>
</file>

<file path=ppt/slides/slide9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A6D5-E5DD-4803-8D00-A4D7A3A2492B}"/>
              </a:ext>
            </a:extLst>
          </p:cNvPr>
          <p:cNvSpPr>
            <a:spLocks noGrp="1"/>
          </p:cNvSpPr>
          <p:nvPr>
            <p:ph type="title"/>
          </p:nvPr>
        </p:nvSpPr>
        <p:spPr>
          <a:xfrm>
            <a:off x="288626" y="55016"/>
            <a:ext cx="8220424" cy="451500"/>
          </a:xfrm>
        </p:spPr>
        <p:txBody>
          <a:bodyPr/>
          <a:lstStyle/>
          <a:p>
            <a:r>
              <a:rPr lang="en-US"/>
              <a:t>Additional Store Validation Guidance</a:t>
            </a:r>
          </a:p>
        </p:txBody>
      </p:sp>
      <p:sp>
        <p:nvSpPr>
          <p:cNvPr id="3" name="Text Placeholder 2">
            <a:extLst>
              <a:ext uri="{FF2B5EF4-FFF2-40B4-BE49-F238E27FC236}">
                <a16:creationId xmlns:a16="http://schemas.microsoft.com/office/drawing/2014/main" id="{ABCE796C-C43D-41B9-B2C1-AF360D630994}"/>
              </a:ext>
            </a:extLst>
          </p:cNvPr>
          <p:cNvSpPr>
            <a:spLocks noGrp="1"/>
          </p:cNvSpPr>
          <p:nvPr>
            <p:ph type="body" idx="1"/>
          </p:nvPr>
        </p:nvSpPr>
        <p:spPr>
          <a:xfrm>
            <a:off x="291472" y="509880"/>
            <a:ext cx="8601254" cy="4248039"/>
          </a:xfrm>
        </p:spPr>
        <p:txBody>
          <a:bodyPr/>
          <a:lstStyle/>
          <a:p>
            <a:pPr>
              <a:buNone/>
            </a:pPr>
            <a:r>
              <a:rPr lang="en-GB" sz="1400" b="1"/>
              <a:t>Best practices</a:t>
            </a:r>
          </a:p>
          <a:p>
            <a:pPr>
              <a:buNone/>
            </a:pPr>
            <a:endParaRPr lang="en-GB" sz="1400"/>
          </a:p>
          <a:p>
            <a:pPr marL="285750" indent="-285750"/>
            <a:r>
              <a:rPr lang="en-GB" sz="1400"/>
              <a:t>To simplify process and rules it recommended – to group retailers to good and bad quality. Such separation will allow- to keep attention even on small amount of FOVA not ok (Scenarion2) - for small retailers and at same time potentially skip checks of FOVA for good retailers in Scenarion2- making them just </a:t>
            </a:r>
            <a:r>
              <a:rPr lang="en-GB" sz="1400" err="1"/>
              <a:t>Fova</a:t>
            </a:r>
            <a:r>
              <a:rPr lang="en-GB" sz="1400"/>
              <a:t> OK. And immediately estimate not good retailers' data</a:t>
            </a:r>
          </a:p>
          <a:p>
            <a:pPr marL="285750" indent="-285750"/>
            <a:endParaRPr lang="en-GB" sz="1400"/>
          </a:p>
          <a:p>
            <a:pPr marL="285750" indent="-285750"/>
            <a:r>
              <a:rPr lang="en-GB" sz="1400"/>
              <a:t>It also recommended splitting retailers by group of Importance (one indication could be ACV of retailer. Or base on country importance. This will allow to build more clear rules. Of scenarios. In case we have Scenarion3 (so big amount of FOVA not ok). If we stop production, or immediately do estimation. This agreement should be documented as part of country process. And sign off by country Ops lead, before can be implemented. </a:t>
            </a:r>
          </a:p>
          <a:p>
            <a:pPr marL="285750" indent="-285750"/>
            <a:endParaRPr lang="en-GB" sz="1400"/>
          </a:p>
          <a:p>
            <a:pPr marL="285750" indent="-285750"/>
            <a:r>
              <a:rPr lang="en-GB" sz="1400"/>
              <a:t>Also, there could be build list of retailers. For which we wait or not wait answer from Retailer Engagement/EDD team. As we know that based on experience. Some retailers may not cooperate with </a:t>
            </a:r>
            <a:r>
              <a:rPr lang="en-GB" sz="1400" err="1"/>
              <a:t>NielsenIQ</a:t>
            </a:r>
            <a:r>
              <a:rPr lang="en-GB" sz="1400"/>
              <a:t>. So, for such retailers- there should be clear instructions, what should be done in case of Scenario3. </a:t>
            </a:r>
            <a:endParaRPr lang="en-GB"/>
          </a:p>
          <a:p>
            <a:pPr indent="0">
              <a:buNone/>
            </a:pPr>
            <a:endParaRPr lang="en-GB" sz="1400"/>
          </a:p>
          <a:p>
            <a:pPr>
              <a:buNone/>
            </a:pPr>
            <a:endParaRPr lang="en-GB" sz="1400"/>
          </a:p>
        </p:txBody>
      </p:sp>
    </p:spTree>
    <p:extLst>
      <p:ext uri="{BB962C8B-B14F-4D97-AF65-F5344CB8AC3E}">
        <p14:creationId xmlns:p14="http://schemas.microsoft.com/office/powerpoint/2010/main" val="329709084"/>
      </p:ext>
    </p:extLst>
  </p:cSld>
  <p:clrMapOvr>
    <a:overrideClrMapping bg1="lt1" tx1="dk1" bg2="lt2" tx2="dk2" accent1="accent1" accent2="accent2" accent3="accent3" accent4="accent4" accent5="accent5" accent6="accent6" hlink="hlink" folHlink="folHlink"/>
  </p:clrMapOvr>
</p:sld>
</file>

<file path=ppt/slides/slide9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1AA6D5-E5DD-4803-8D00-A4D7A3A2492B}"/>
              </a:ext>
            </a:extLst>
          </p:cNvPr>
          <p:cNvSpPr>
            <a:spLocks noGrp="1"/>
          </p:cNvSpPr>
          <p:nvPr>
            <p:ph type="title"/>
          </p:nvPr>
        </p:nvSpPr>
        <p:spPr>
          <a:xfrm>
            <a:off x="288626" y="55016"/>
            <a:ext cx="8220424" cy="451500"/>
          </a:xfrm>
        </p:spPr>
        <p:txBody>
          <a:bodyPr/>
          <a:lstStyle/>
          <a:p>
            <a:r>
              <a:rPr lang="en-US"/>
              <a:t>Additional Store Validation Guidance</a:t>
            </a:r>
          </a:p>
        </p:txBody>
      </p:sp>
      <p:graphicFrame>
        <p:nvGraphicFramePr>
          <p:cNvPr id="9" name="Table 8">
            <a:extLst>
              <a:ext uri="{FF2B5EF4-FFF2-40B4-BE49-F238E27FC236}">
                <a16:creationId xmlns:a16="http://schemas.microsoft.com/office/drawing/2014/main" id="{74B1D0C8-9097-4B93-A490-2FD1E0978267}"/>
              </a:ext>
            </a:extLst>
          </p:cNvPr>
          <p:cNvGraphicFramePr>
            <a:graphicFrameLocks noGrp="1"/>
          </p:cNvGraphicFramePr>
          <p:nvPr>
            <p:extLst>
              <p:ext uri="{D42A27DB-BD31-4B8C-83A1-F6EECF244321}">
                <p14:modId xmlns:p14="http://schemas.microsoft.com/office/powerpoint/2010/main" val="3707548018"/>
              </p:ext>
            </p:extLst>
          </p:nvPr>
        </p:nvGraphicFramePr>
        <p:xfrm>
          <a:off x="549933" y="1229263"/>
          <a:ext cx="7890234" cy="3716763"/>
        </p:xfrm>
        <a:graphic>
          <a:graphicData uri="http://schemas.openxmlformats.org/drawingml/2006/table">
            <a:tbl>
              <a:tblPr firstRow="1" bandRow="1">
                <a:tableStyleId>{3B4B98B0-60AC-42C2-AFA5-B58CD77FA1E5}</a:tableStyleId>
              </a:tblPr>
              <a:tblGrid>
                <a:gridCol w="945109">
                  <a:extLst>
                    <a:ext uri="{9D8B030D-6E8A-4147-A177-3AD203B41FA5}">
                      <a16:colId xmlns:a16="http://schemas.microsoft.com/office/drawing/2014/main" val="3964657944"/>
                    </a:ext>
                  </a:extLst>
                </a:gridCol>
                <a:gridCol w="4095476">
                  <a:extLst>
                    <a:ext uri="{9D8B030D-6E8A-4147-A177-3AD203B41FA5}">
                      <a16:colId xmlns:a16="http://schemas.microsoft.com/office/drawing/2014/main" val="1860933357"/>
                    </a:ext>
                  </a:extLst>
                </a:gridCol>
                <a:gridCol w="2849649">
                  <a:extLst>
                    <a:ext uri="{9D8B030D-6E8A-4147-A177-3AD203B41FA5}">
                      <a16:colId xmlns:a16="http://schemas.microsoft.com/office/drawing/2014/main" val="1649199940"/>
                    </a:ext>
                  </a:extLst>
                </a:gridCol>
              </a:tblGrid>
              <a:tr h="252420">
                <a:tc>
                  <a:txBody>
                    <a:bodyPr/>
                    <a:lstStyle/>
                    <a:p>
                      <a:pPr rtl="0" fontAlgn="base"/>
                      <a:r>
                        <a:rPr lang="en-GB" sz="1100">
                          <a:effectLst/>
                        </a:rPr>
                        <a:t>Tag </a:t>
                      </a:r>
                      <a:endParaRPr lang="en-GB">
                        <a:effectLst/>
                      </a:endParaRPr>
                    </a:p>
                  </a:txBody>
                  <a:tcPr anchor="b">
                    <a:solidFill>
                      <a:srgbClr val="0070C0"/>
                    </a:solidFill>
                  </a:tcPr>
                </a:tc>
                <a:tc>
                  <a:txBody>
                    <a:bodyPr/>
                    <a:lstStyle/>
                    <a:p>
                      <a:pPr rtl="0" fontAlgn="base"/>
                      <a:r>
                        <a:rPr lang="en-GB" sz="1100">
                          <a:effectLst/>
                        </a:rPr>
                        <a:t>Description </a:t>
                      </a:r>
                      <a:endParaRPr lang="en-GB">
                        <a:effectLst/>
                      </a:endParaRPr>
                    </a:p>
                  </a:txBody>
                  <a:tcPr anchor="b">
                    <a:solidFill>
                      <a:srgbClr val="0070C0"/>
                    </a:solidFill>
                  </a:tcPr>
                </a:tc>
                <a:tc>
                  <a:txBody>
                    <a:bodyPr/>
                    <a:lstStyle/>
                    <a:p>
                      <a:pPr lvl="0">
                        <a:buNone/>
                      </a:pPr>
                      <a:r>
                        <a:rPr lang="en-GB" sz="1100">
                          <a:effectLst/>
                        </a:rPr>
                        <a:t>Comment</a:t>
                      </a:r>
                      <a:endParaRPr lang="en-US"/>
                    </a:p>
                  </a:txBody>
                  <a:tcPr anchor="b">
                    <a:solidFill>
                      <a:srgbClr val="0070C0"/>
                    </a:solidFill>
                  </a:tcPr>
                </a:tc>
                <a:extLst>
                  <a:ext uri="{0D108BD9-81ED-4DB2-BD59-A6C34878D82A}">
                    <a16:rowId xmlns:a16="http://schemas.microsoft.com/office/drawing/2014/main" val="1328751821"/>
                  </a:ext>
                </a:extLst>
              </a:tr>
              <a:tr h="252420">
                <a:tc>
                  <a:txBody>
                    <a:bodyPr/>
                    <a:lstStyle/>
                    <a:p>
                      <a:pPr rtl="0" fontAlgn="base"/>
                      <a:r>
                        <a:rPr lang="en-GB" sz="1100">
                          <a:effectLst/>
                        </a:rPr>
                        <a:t>301 </a:t>
                      </a:r>
                      <a:endParaRPr lang="en-GB">
                        <a:effectLst/>
                      </a:endParaRPr>
                    </a:p>
                  </a:txBody>
                  <a:tcPr anchor="b"/>
                </a:tc>
                <a:tc>
                  <a:txBody>
                    <a:bodyPr/>
                    <a:lstStyle/>
                    <a:p>
                      <a:pPr rtl="0" fontAlgn="base"/>
                      <a:r>
                        <a:rPr lang="en-GB" sz="1100">
                          <a:effectLst/>
                        </a:rPr>
                        <a:t>TRUNC - ESTIMATION PROPOSED </a:t>
                      </a:r>
                      <a:endParaRPr lang="en-GB">
                        <a:effectLst/>
                      </a:endParaRPr>
                    </a:p>
                  </a:txBody>
                  <a:tcPr anchor="b"/>
                </a:tc>
                <a:tc>
                  <a:txBody>
                    <a:bodyPr/>
                    <a:lstStyle/>
                    <a:p>
                      <a:pPr rtl="0" fontAlgn="base"/>
                      <a:r>
                        <a:rPr lang="en-GB" sz="1100">
                          <a:effectLst/>
                        </a:rPr>
                        <a:t>medium chance of wrong data </a:t>
                      </a:r>
                      <a:endParaRPr lang="en-GB">
                        <a:effectLst/>
                      </a:endParaRPr>
                    </a:p>
                  </a:txBody>
                  <a:tcPr anchor="b">
                    <a:solidFill>
                      <a:srgbClr val="FFFF00"/>
                    </a:solidFill>
                  </a:tcPr>
                </a:tc>
                <a:extLst>
                  <a:ext uri="{0D108BD9-81ED-4DB2-BD59-A6C34878D82A}">
                    <a16:rowId xmlns:a16="http://schemas.microsoft.com/office/drawing/2014/main" val="2251088483"/>
                  </a:ext>
                </a:extLst>
              </a:tr>
              <a:tr h="523538">
                <a:tc>
                  <a:txBody>
                    <a:bodyPr/>
                    <a:lstStyle/>
                    <a:p>
                      <a:pPr rtl="0" fontAlgn="base"/>
                      <a:r>
                        <a:rPr lang="en-GB" sz="1100">
                          <a:effectLst/>
                        </a:rPr>
                        <a:t>302 </a:t>
                      </a:r>
                      <a:endParaRPr lang="en-GB">
                        <a:effectLst/>
                      </a:endParaRPr>
                    </a:p>
                  </a:txBody>
                  <a:tcPr anchor="b"/>
                </a:tc>
                <a:tc>
                  <a:txBody>
                    <a:bodyPr/>
                    <a:lstStyle/>
                    <a:p>
                      <a:pPr rtl="0" fontAlgn="base"/>
                      <a:r>
                        <a:rPr lang="en-GB" sz="1100">
                          <a:effectLst/>
                        </a:rPr>
                        <a:t>IDENTICAL VOLUMETRICS - ESTIMATION PROPOSED </a:t>
                      </a:r>
                      <a:endParaRPr lang="en-GB">
                        <a:effectLst/>
                      </a:endParaRPr>
                    </a:p>
                  </a:txBody>
                  <a:tcPr anchor="b"/>
                </a:tc>
                <a:tc>
                  <a:txBody>
                    <a:bodyPr/>
                    <a:lstStyle/>
                    <a:p>
                      <a:pPr rtl="0" fontAlgn="base"/>
                      <a:r>
                        <a:rPr lang="en-GB" sz="1100">
                          <a:effectLst/>
                        </a:rPr>
                        <a:t>wrong data </a:t>
                      </a:r>
                      <a:endParaRPr lang="en-GB">
                        <a:effectLst/>
                      </a:endParaRPr>
                    </a:p>
                  </a:txBody>
                  <a:tcPr anchor="b">
                    <a:solidFill>
                      <a:srgbClr val="FF0000"/>
                    </a:solidFill>
                  </a:tcPr>
                </a:tc>
                <a:extLst>
                  <a:ext uri="{0D108BD9-81ED-4DB2-BD59-A6C34878D82A}">
                    <a16:rowId xmlns:a16="http://schemas.microsoft.com/office/drawing/2014/main" val="3238843403"/>
                  </a:ext>
                </a:extLst>
              </a:tr>
              <a:tr h="261769">
                <a:tc>
                  <a:txBody>
                    <a:bodyPr/>
                    <a:lstStyle/>
                    <a:p>
                      <a:pPr rtl="0" fontAlgn="base"/>
                      <a:r>
                        <a:rPr lang="en-GB" sz="1100">
                          <a:effectLst/>
                        </a:rPr>
                        <a:t>306 </a:t>
                      </a:r>
                      <a:endParaRPr lang="en-GB">
                        <a:effectLst/>
                      </a:endParaRPr>
                    </a:p>
                  </a:txBody>
                  <a:tcPr anchor="b"/>
                </a:tc>
                <a:tc>
                  <a:txBody>
                    <a:bodyPr/>
                    <a:lstStyle/>
                    <a:p>
                      <a:pPr rtl="0" fontAlgn="base"/>
                      <a:r>
                        <a:rPr lang="en-GB" sz="1100">
                          <a:effectLst/>
                        </a:rPr>
                        <a:t>IDENTICAL PRICE </a:t>
                      </a:r>
                      <a:endParaRPr lang="en-GB">
                        <a:effectLst/>
                      </a:endParaRPr>
                    </a:p>
                  </a:txBody>
                  <a:tcPr anchor="b"/>
                </a:tc>
                <a:tc>
                  <a:txBody>
                    <a:bodyPr/>
                    <a:lstStyle/>
                    <a:p>
                      <a:pPr rtl="0" fontAlgn="base"/>
                      <a:r>
                        <a:rPr lang="en-GB" sz="1100">
                          <a:effectLst/>
                        </a:rPr>
                        <a:t>high chance of wrong data </a:t>
                      </a:r>
                      <a:endParaRPr lang="en-GB">
                        <a:effectLst/>
                      </a:endParaRPr>
                    </a:p>
                  </a:txBody>
                  <a:tcPr anchor="b">
                    <a:solidFill>
                      <a:srgbClr val="FFC000"/>
                    </a:solidFill>
                  </a:tcPr>
                </a:tc>
                <a:extLst>
                  <a:ext uri="{0D108BD9-81ED-4DB2-BD59-A6C34878D82A}">
                    <a16:rowId xmlns:a16="http://schemas.microsoft.com/office/drawing/2014/main" val="1504491030"/>
                  </a:ext>
                </a:extLst>
              </a:tr>
              <a:tr h="252420">
                <a:tc>
                  <a:txBody>
                    <a:bodyPr/>
                    <a:lstStyle/>
                    <a:p>
                      <a:pPr rtl="0" fontAlgn="base"/>
                      <a:r>
                        <a:rPr lang="en-GB" sz="1100">
                          <a:effectLst/>
                        </a:rPr>
                        <a:t>307 </a:t>
                      </a:r>
                      <a:endParaRPr lang="en-GB">
                        <a:effectLst/>
                      </a:endParaRPr>
                    </a:p>
                  </a:txBody>
                  <a:tcPr anchor="b"/>
                </a:tc>
                <a:tc>
                  <a:txBody>
                    <a:bodyPr/>
                    <a:lstStyle/>
                    <a:p>
                      <a:pPr rtl="0" fontAlgn="base"/>
                      <a:r>
                        <a:rPr lang="en-GB" sz="1100">
                          <a:effectLst/>
                        </a:rPr>
                        <a:t>CHANGED PRICE </a:t>
                      </a:r>
                      <a:endParaRPr lang="en-GB">
                        <a:effectLst/>
                      </a:endParaRPr>
                    </a:p>
                  </a:txBody>
                  <a:tcPr anchor="b"/>
                </a:tc>
                <a:tc>
                  <a:txBody>
                    <a:bodyPr/>
                    <a:lstStyle/>
                    <a:p>
                      <a:pPr rtl="0" fontAlgn="base"/>
                      <a:r>
                        <a:rPr lang="en-GB" sz="1100">
                          <a:effectLst/>
                        </a:rPr>
                        <a:t>high chance of wrong data </a:t>
                      </a:r>
                      <a:endParaRPr lang="en-GB">
                        <a:effectLst/>
                      </a:endParaRPr>
                    </a:p>
                  </a:txBody>
                  <a:tcPr anchor="b">
                    <a:solidFill>
                      <a:srgbClr val="FFC000"/>
                    </a:solidFill>
                  </a:tcPr>
                </a:tc>
                <a:extLst>
                  <a:ext uri="{0D108BD9-81ED-4DB2-BD59-A6C34878D82A}">
                    <a16:rowId xmlns:a16="http://schemas.microsoft.com/office/drawing/2014/main" val="1507255862"/>
                  </a:ext>
                </a:extLst>
              </a:tr>
              <a:tr h="252420">
                <a:tc>
                  <a:txBody>
                    <a:bodyPr/>
                    <a:lstStyle/>
                    <a:p>
                      <a:pPr rtl="0" fontAlgn="base"/>
                      <a:r>
                        <a:rPr lang="en-GB" sz="1100">
                          <a:effectLst/>
                        </a:rPr>
                        <a:t>308 </a:t>
                      </a:r>
                      <a:endParaRPr lang="en-GB">
                        <a:effectLst/>
                      </a:endParaRPr>
                    </a:p>
                  </a:txBody>
                  <a:tcPr anchor="b"/>
                </a:tc>
                <a:tc>
                  <a:txBody>
                    <a:bodyPr/>
                    <a:lstStyle/>
                    <a:p>
                      <a:pPr rtl="0" fontAlgn="base"/>
                      <a:r>
                        <a:rPr lang="en-GB" sz="1100">
                          <a:effectLst/>
                        </a:rPr>
                        <a:t>PRICE SYNC </a:t>
                      </a:r>
                      <a:endParaRPr lang="en-GB">
                        <a:effectLst/>
                      </a:endParaRPr>
                    </a:p>
                  </a:txBody>
                  <a:tcPr anchor="b"/>
                </a:tc>
                <a:tc>
                  <a:txBody>
                    <a:bodyPr/>
                    <a:lstStyle/>
                    <a:p>
                      <a:pPr rtl="0" fontAlgn="base"/>
                      <a:r>
                        <a:rPr lang="en-GB" sz="1100">
                          <a:effectLst/>
                        </a:rPr>
                        <a:t>medium chance of wrong data </a:t>
                      </a:r>
                      <a:endParaRPr lang="en-GB">
                        <a:effectLst/>
                      </a:endParaRPr>
                    </a:p>
                  </a:txBody>
                  <a:tcPr anchor="b">
                    <a:solidFill>
                      <a:srgbClr val="FFFF00"/>
                    </a:solidFill>
                  </a:tcPr>
                </a:tc>
                <a:extLst>
                  <a:ext uri="{0D108BD9-81ED-4DB2-BD59-A6C34878D82A}">
                    <a16:rowId xmlns:a16="http://schemas.microsoft.com/office/drawing/2014/main" val="3354923933"/>
                  </a:ext>
                </a:extLst>
              </a:tr>
              <a:tr h="261769">
                <a:tc>
                  <a:txBody>
                    <a:bodyPr/>
                    <a:lstStyle/>
                    <a:p>
                      <a:pPr rtl="0" fontAlgn="base"/>
                      <a:r>
                        <a:rPr lang="en-GB" sz="1100">
                          <a:effectLst/>
                        </a:rPr>
                        <a:t>313 </a:t>
                      </a:r>
                      <a:endParaRPr lang="en-GB">
                        <a:effectLst/>
                      </a:endParaRPr>
                    </a:p>
                  </a:txBody>
                  <a:tcPr anchor="b"/>
                </a:tc>
                <a:tc>
                  <a:txBody>
                    <a:bodyPr/>
                    <a:lstStyle/>
                    <a:p>
                      <a:pPr rtl="0" fontAlgn="base"/>
                      <a:r>
                        <a:rPr lang="en-GB" sz="1100">
                          <a:effectLst/>
                        </a:rPr>
                        <a:t>NO COMMOM ITEMS FOUND </a:t>
                      </a:r>
                      <a:endParaRPr lang="en-GB">
                        <a:effectLst/>
                      </a:endParaRPr>
                    </a:p>
                  </a:txBody>
                  <a:tcPr anchor="b"/>
                </a:tc>
                <a:tc>
                  <a:txBody>
                    <a:bodyPr/>
                    <a:lstStyle/>
                    <a:p>
                      <a:pPr rtl="0" fontAlgn="base"/>
                      <a:r>
                        <a:rPr lang="en-GB" sz="1100">
                          <a:effectLst/>
                        </a:rPr>
                        <a:t>high chance of wrong data </a:t>
                      </a:r>
                      <a:endParaRPr lang="en-GB">
                        <a:effectLst/>
                      </a:endParaRPr>
                    </a:p>
                  </a:txBody>
                  <a:tcPr anchor="b">
                    <a:solidFill>
                      <a:srgbClr val="FFC000"/>
                    </a:solidFill>
                  </a:tcPr>
                </a:tc>
                <a:extLst>
                  <a:ext uri="{0D108BD9-81ED-4DB2-BD59-A6C34878D82A}">
                    <a16:rowId xmlns:a16="http://schemas.microsoft.com/office/drawing/2014/main" val="1314396494"/>
                  </a:ext>
                </a:extLst>
              </a:tr>
              <a:tr h="430049">
                <a:tc>
                  <a:txBody>
                    <a:bodyPr/>
                    <a:lstStyle/>
                    <a:p>
                      <a:pPr rtl="0" fontAlgn="base"/>
                      <a:r>
                        <a:rPr lang="en-GB" sz="1100">
                          <a:effectLst/>
                        </a:rPr>
                        <a:t>314 </a:t>
                      </a:r>
                      <a:endParaRPr lang="en-GB">
                        <a:effectLst/>
                      </a:endParaRPr>
                    </a:p>
                  </a:txBody>
                  <a:tcPr anchor="b"/>
                </a:tc>
                <a:tc>
                  <a:txBody>
                    <a:bodyPr/>
                    <a:lstStyle/>
                    <a:p>
                      <a:pPr rtl="0" fontAlgn="base"/>
                      <a:r>
                        <a:rPr lang="en-GB" sz="1100">
                          <a:effectLst/>
                        </a:rPr>
                        <a:t>NO TREND IN COMMON ITEMS, BUT TREND IN ALL ITEMS </a:t>
                      </a:r>
                      <a:endParaRPr lang="en-GB">
                        <a:effectLst/>
                      </a:endParaRPr>
                    </a:p>
                  </a:txBody>
                  <a:tcPr anchor="b"/>
                </a:tc>
                <a:tc>
                  <a:txBody>
                    <a:bodyPr/>
                    <a:lstStyle/>
                    <a:p>
                      <a:pPr rtl="0" fontAlgn="base"/>
                      <a:r>
                        <a:rPr lang="en-GB" sz="1100">
                          <a:effectLst/>
                        </a:rPr>
                        <a:t>medium chance of wrong data </a:t>
                      </a:r>
                      <a:endParaRPr lang="en-GB">
                        <a:effectLst/>
                      </a:endParaRPr>
                    </a:p>
                  </a:txBody>
                  <a:tcPr anchor="b">
                    <a:solidFill>
                      <a:srgbClr val="FFFF00"/>
                    </a:solidFill>
                  </a:tcPr>
                </a:tc>
                <a:extLst>
                  <a:ext uri="{0D108BD9-81ED-4DB2-BD59-A6C34878D82A}">
                    <a16:rowId xmlns:a16="http://schemas.microsoft.com/office/drawing/2014/main" val="1115251796"/>
                  </a:ext>
                </a:extLst>
              </a:tr>
              <a:tr h="420700">
                <a:tc>
                  <a:txBody>
                    <a:bodyPr/>
                    <a:lstStyle/>
                    <a:p>
                      <a:pPr rtl="0" fontAlgn="base"/>
                      <a:r>
                        <a:rPr lang="en-GB" sz="1100">
                          <a:effectLst/>
                        </a:rPr>
                        <a:t>315 </a:t>
                      </a:r>
                      <a:endParaRPr lang="en-GB">
                        <a:effectLst/>
                      </a:endParaRPr>
                    </a:p>
                  </a:txBody>
                  <a:tcPr anchor="b"/>
                </a:tc>
                <a:tc>
                  <a:txBody>
                    <a:bodyPr/>
                    <a:lstStyle/>
                    <a:p>
                      <a:pPr rtl="0" fontAlgn="base"/>
                      <a:r>
                        <a:rPr lang="en-GB" sz="1100">
                          <a:effectLst/>
                        </a:rPr>
                        <a:t>NO TREND IN ALL ITEMS, BUT TREND IN COMMON ITEMS </a:t>
                      </a:r>
                      <a:endParaRPr lang="en-GB">
                        <a:effectLst/>
                      </a:endParaRPr>
                    </a:p>
                  </a:txBody>
                  <a:tcPr anchor="b"/>
                </a:tc>
                <a:tc>
                  <a:txBody>
                    <a:bodyPr/>
                    <a:lstStyle/>
                    <a:p>
                      <a:pPr rtl="0" fontAlgn="base"/>
                      <a:r>
                        <a:rPr lang="en-GB" sz="1100">
                          <a:effectLst/>
                        </a:rPr>
                        <a:t>medium chance of wrong data </a:t>
                      </a:r>
                      <a:endParaRPr lang="en-GB">
                        <a:effectLst/>
                      </a:endParaRPr>
                    </a:p>
                  </a:txBody>
                  <a:tcPr anchor="b">
                    <a:solidFill>
                      <a:srgbClr val="FFFF00"/>
                    </a:solidFill>
                  </a:tcPr>
                </a:tc>
                <a:extLst>
                  <a:ext uri="{0D108BD9-81ED-4DB2-BD59-A6C34878D82A}">
                    <a16:rowId xmlns:a16="http://schemas.microsoft.com/office/drawing/2014/main" val="518378828"/>
                  </a:ext>
                </a:extLst>
              </a:tr>
              <a:tr h="252420">
                <a:tc>
                  <a:txBody>
                    <a:bodyPr/>
                    <a:lstStyle/>
                    <a:p>
                      <a:pPr rtl="0" fontAlgn="base"/>
                      <a:r>
                        <a:rPr lang="en-GB" sz="1100">
                          <a:effectLst/>
                        </a:rPr>
                        <a:t>316 </a:t>
                      </a:r>
                      <a:endParaRPr lang="en-GB">
                        <a:effectLst/>
                      </a:endParaRPr>
                    </a:p>
                  </a:txBody>
                  <a:tcPr anchor="b"/>
                </a:tc>
                <a:tc>
                  <a:txBody>
                    <a:bodyPr/>
                    <a:lstStyle/>
                    <a:p>
                      <a:pPr rtl="0" fontAlgn="base"/>
                      <a:r>
                        <a:rPr lang="en-GB" sz="1100">
                          <a:effectLst/>
                        </a:rPr>
                        <a:t>MISSING DAYS </a:t>
                      </a:r>
                      <a:endParaRPr lang="en-GB">
                        <a:effectLst/>
                      </a:endParaRPr>
                    </a:p>
                  </a:txBody>
                  <a:tcPr anchor="b"/>
                </a:tc>
                <a:tc>
                  <a:txBody>
                    <a:bodyPr/>
                    <a:lstStyle/>
                    <a:p>
                      <a:pPr rtl="0" fontAlgn="base"/>
                      <a:r>
                        <a:rPr lang="en-GB" sz="1100">
                          <a:effectLst/>
                        </a:rPr>
                        <a:t>wrong data </a:t>
                      </a:r>
                      <a:endParaRPr lang="en-GB">
                        <a:effectLst/>
                      </a:endParaRPr>
                    </a:p>
                  </a:txBody>
                  <a:tcPr anchor="b">
                    <a:solidFill>
                      <a:srgbClr val="FF0000"/>
                    </a:solidFill>
                  </a:tcPr>
                </a:tc>
                <a:extLst>
                  <a:ext uri="{0D108BD9-81ED-4DB2-BD59-A6C34878D82A}">
                    <a16:rowId xmlns:a16="http://schemas.microsoft.com/office/drawing/2014/main" val="1293243218"/>
                  </a:ext>
                </a:extLst>
              </a:tr>
              <a:tr h="261769">
                <a:tc>
                  <a:txBody>
                    <a:bodyPr/>
                    <a:lstStyle/>
                    <a:p>
                      <a:pPr rtl="0" fontAlgn="base"/>
                      <a:r>
                        <a:rPr lang="en-GB" sz="1100">
                          <a:effectLst/>
                        </a:rPr>
                        <a:t>332 </a:t>
                      </a:r>
                      <a:endParaRPr lang="en-GB">
                        <a:effectLst/>
                      </a:endParaRPr>
                    </a:p>
                  </a:txBody>
                  <a:tcPr anchor="b"/>
                </a:tc>
                <a:tc>
                  <a:txBody>
                    <a:bodyPr/>
                    <a:lstStyle/>
                    <a:p>
                      <a:pPr rtl="0" fontAlgn="base"/>
                      <a:r>
                        <a:rPr lang="en-GB" sz="1100">
                          <a:effectLst/>
                        </a:rPr>
                        <a:t>STORE STRUCTURAL DEFICIENCIES </a:t>
                      </a:r>
                      <a:endParaRPr lang="en-GB">
                        <a:effectLst/>
                      </a:endParaRPr>
                    </a:p>
                  </a:txBody>
                  <a:tcPr anchor="b"/>
                </a:tc>
                <a:tc>
                  <a:txBody>
                    <a:bodyPr/>
                    <a:lstStyle/>
                    <a:p>
                      <a:pPr rtl="0" fontAlgn="base"/>
                      <a:r>
                        <a:rPr lang="en-GB" sz="1100">
                          <a:effectLst/>
                        </a:rPr>
                        <a:t>high chance of wrong data </a:t>
                      </a:r>
                      <a:endParaRPr lang="en-GB">
                        <a:effectLst/>
                      </a:endParaRPr>
                    </a:p>
                  </a:txBody>
                  <a:tcPr anchor="b">
                    <a:solidFill>
                      <a:srgbClr val="FFC000"/>
                    </a:solidFill>
                  </a:tcPr>
                </a:tc>
                <a:extLst>
                  <a:ext uri="{0D108BD9-81ED-4DB2-BD59-A6C34878D82A}">
                    <a16:rowId xmlns:a16="http://schemas.microsoft.com/office/drawing/2014/main" val="3552211700"/>
                  </a:ext>
                </a:extLst>
              </a:tr>
              <a:tr h="261769">
                <a:tc>
                  <a:txBody>
                    <a:bodyPr/>
                    <a:lstStyle/>
                    <a:p>
                      <a:pPr rtl="0" fontAlgn="base"/>
                      <a:r>
                        <a:rPr lang="en-GB" sz="1100">
                          <a:effectLst/>
                        </a:rPr>
                        <a:t>303 </a:t>
                      </a:r>
                      <a:endParaRPr lang="en-GB">
                        <a:effectLst/>
                      </a:endParaRPr>
                    </a:p>
                  </a:txBody>
                  <a:tcPr anchor="b"/>
                </a:tc>
                <a:tc>
                  <a:txBody>
                    <a:bodyPr/>
                    <a:lstStyle/>
                    <a:p>
                      <a:pPr rtl="0" fontAlgn="base"/>
                      <a:r>
                        <a:rPr lang="en-GB" sz="1100">
                          <a:effectLst/>
                        </a:rPr>
                        <a:t>NO RESET - ESTIMATION PROPOSED </a:t>
                      </a:r>
                      <a:endParaRPr lang="en-GB">
                        <a:effectLst/>
                      </a:endParaRPr>
                    </a:p>
                  </a:txBody>
                  <a:tcPr anchor="b"/>
                </a:tc>
                <a:tc>
                  <a:txBody>
                    <a:bodyPr/>
                    <a:lstStyle/>
                    <a:p>
                      <a:pPr lvl="0">
                        <a:buNone/>
                      </a:pPr>
                      <a:r>
                        <a:rPr lang="en-GB" sz="1100" b="0" i="0" u="none" strike="noStrike" noProof="0">
                          <a:effectLst/>
                          <a:latin typeface="Arial"/>
                        </a:rPr>
                        <a:t>high chance of wrong data </a:t>
                      </a:r>
                      <a:endParaRPr lang="en-US" b="0" i="0" u="none" strike="noStrike" noProof="0">
                        <a:latin typeface="Arial"/>
                      </a:endParaRPr>
                    </a:p>
                  </a:txBody>
                  <a:tcPr anchor="b">
                    <a:solidFill>
                      <a:srgbClr val="FFC000"/>
                    </a:solidFill>
                  </a:tcPr>
                </a:tc>
                <a:extLst>
                  <a:ext uri="{0D108BD9-81ED-4DB2-BD59-A6C34878D82A}">
                    <a16:rowId xmlns:a16="http://schemas.microsoft.com/office/drawing/2014/main" val="4183598434"/>
                  </a:ext>
                </a:extLst>
              </a:tr>
            </a:tbl>
          </a:graphicData>
        </a:graphic>
      </p:graphicFrame>
      <p:sp>
        <p:nvSpPr>
          <p:cNvPr id="10" name="TextBox 9">
            <a:extLst>
              <a:ext uri="{FF2B5EF4-FFF2-40B4-BE49-F238E27FC236}">
                <a16:creationId xmlns:a16="http://schemas.microsoft.com/office/drawing/2014/main" id="{F1B75632-AF4B-4698-B80A-B02AC96B4952}"/>
              </a:ext>
            </a:extLst>
          </p:cNvPr>
          <p:cNvSpPr txBox="1"/>
          <p:nvPr/>
        </p:nvSpPr>
        <p:spPr>
          <a:xfrm>
            <a:off x="590909" y="4586018"/>
            <a:ext cx="797296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a:p>
        </p:txBody>
      </p:sp>
      <p:sp>
        <p:nvSpPr>
          <p:cNvPr id="3" name="TextBox 2">
            <a:extLst>
              <a:ext uri="{FF2B5EF4-FFF2-40B4-BE49-F238E27FC236}">
                <a16:creationId xmlns:a16="http://schemas.microsoft.com/office/drawing/2014/main" id="{FE76E49E-9143-C017-1C45-ECCE41A961E3}"/>
              </a:ext>
            </a:extLst>
          </p:cNvPr>
          <p:cNvSpPr txBox="1"/>
          <p:nvPr/>
        </p:nvSpPr>
        <p:spPr>
          <a:xfrm>
            <a:off x="-2157" y="510037"/>
            <a:ext cx="856603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a:r>
              <a:rPr lang="en-GB"/>
              <a:t>Below Are few – FOVA tags (not linked with TREND check – for which it mandatory to deep dive, and FOVA ok flag shouldn't be put without answer from Retailers or IV leader revision.</a:t>
            </a:r>
          </a:p>
        </p:txBody>
      </p:sp>
    </p:spTree>
    <p:extLst>
      <p:ext uri="{BB962C8B-B14F-4D97-AF65-F5344CB8AC3E}">
        <p14:creationId xmlns:p14="http://schemas.microsoft.com/office/powerpoint/2010/main" val="3029144360"/>
      </p:ext>
    </p:extLst>
  </p:cSld>
  <p:clrMapOvr>
    <a:overrideClrMapping bg1="lt1" tx1="dk1" bg2="lt2" tx2="dk2" accent1="accent1" accent2="accent2" accent3="accent3" accent4="accent4" accent5="accent5" accent6="accent6" hlink="hlink" folHlink="folHlink"/>
  </p:clrMapOvr>
</p:sld>
</file>

<file path=ppt/slides/slide9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49"/>
        <p:cNvGrpSpPr/>
        <p:nvPr/>
      </p:nvGrpSpPr>
      <p:grpSpPr>
        <a:xfrm>
          <a:off x="0" y="0"/>
          <a:ext cx="0" cy="0"/>
          <a:chOff x="0" y="0"/>
          <a:chExt cx="0" cy="0"/>
        </a:xfrm>
      </p:grpSpPr>
      <p:sp>
        <p:nvSpPr>
          <p:cNvPr id="1250" name="Google Shape;1250;p159"/>
          <p:cNvSpPr txBox="1">
            <a:spLocks noGrp="1"/>
          </p:cNvSpPr>
          <p:nvPr>
            <p:ph type="title"/>
          </p:nvPr>
        </p:nvSpPr>
        <p:spPr>
          <a:xfrm>
            <a:off x="318225" y="708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General</a:t>
            </a:r>
            <a:endParaRPr sz="2600"/>
          </a:p>
        </p:txBody>
      </p:sp>
      <p:sp>
        <p:nvSpPr>
          <p:cNvPr id="1251" name="Google Shape;1251;p159"/>
          <p:cNvSpPr txBox="1">
            <a:spLocks noGrp="1"/>
          </p:cNvSpPr>
          <p:nvPr>
            <p:ph type="body" idx="1"/>
          </p:nvPr>
        </p:nvSpPr>
        <p:spPr>
          <a:xfrm>
            <a:off x="103600" y="567708"/>
            <a:ext cx="8940000" cy="4462800"/>
          </a:xfrm>
          <a:prstGeom prst="rect">
            <a:avLst/>
          </a:prstGeom>
          <a:noFill/>
          <a:ln>
            <a:noFill/>
          </a:ln>
        </p:spPr>
        <p:txBody>
          <a:bodyPr spcFirstLastPara="1" wrap="square" lIns="91425" tIns="45700" rIns="91425" bIns="45700" anchor="t" anchorCtr="0">
            <a:noAutofit/>
          </a:bodyPr>
          <a:lstStyle/>
          <a:p>
            <a:pPr marL="457200" lvl="0" indent="-311150" algn="l" rtl="0">
              <a:lnSpc>
                <a:spcPct val="115000"/>
              </a:lnSpc>
              <a:spcBef>
                <a:spcPts val="0"/>
              </a:spcBef>
              <a:spcAft>
                <a:spcPts val="0"/>
              </a:spcAft>
              <a:buSzPts val="1300"/>
              <a:buChar char="•"/>
            </a:pPr>
            <a:r>
              <a:rPr lang="en" sz="1300"/>
              <a:t>All </a:t>
            </a:r>
            <a:r>
              <a:rPr lang="en" sz="1300" err="1"/>
              <a:t>Fova</a:t>
            </a:r>
            <a:r>
              <a:rPr lang="en" sz="1300"/>
              <a:t> not ok stores should be checked from only one tool i.e. SIRVAL Web application(YAFA) only (No store monitor, SAS, SQL or any other tools should be used).</a:t>
            </a:r>
            <a:endParaRPr sz="1300"/>
          </a:p>
          <a:p>
            <a:pPr marL="457200" lvl="0" indent="-311150" algn="l" rtl="0">
              <a:lnSpc>
                <a:spcPct val="115000"/>
              </a:lnSpc>
              <a:spcBef>
                <a:spcPts val="0"/>
              </a:spcBef>
              <a:spcAft>
                <a:spcPts val="0"/>
              </a:spcAft>
              <a:buSzPts val="1300"/>
              <a:buChar char="•"/>
            </a:pPr>
            <a:r>
              <a:rPr lang="en" sz="1300" err="1"/>
              <a:t>Fova</a:t>
            </a:r>
            <a:r>
              <a:rPr lang="en" sz="1300"/>
              <a:t> checking should start immediately after loading is complete for each store.</a:t>
            </a:r>
            <a:endParaRPr sz="1300"/>
          </a:p>
          <a:p>
            <a:pPr indent="-311150">
              <a:lnSpc>
                <a:spcPct val="115000"/>
              </a:lnSpc>
              <a:buSzPts val="1300"/>
            </a:pPr>
            <a:r>
              <a:rPr lang="en" sz="1300"/>
              <a:t>FOVA_PARAMETER &amp; FOVA_PARAMETERS_LT  process needs to be completed for T-1 period.</a:t>
            </a:r>
            <a:endParaRPr sz="1300"/>
          </a:p>
          <a:p>
            <a:pPr marL="457200" lvl="0" indent="-311150" algn="l" rtl="0">
              <a:lnSpc>
                <a:spcPct val="115000"/>
              </a:lnSpc>
              <a:spcBef>
                <a:spcPts val="0"/>
              </a:spcBef>
              <a:spcAft>
                <a:spcPts val="0"/>
              </a:spcAft>
              <a:buSzPts val="1300"/>
              <a:buChar char="•"/>
            </a:pPr>
            <a:r>
              <a:rPr lang="en" sz="1300"/>
              <a:t>All required parameters needs to be set up before we go with new FOVA run.</a:t>
            </a:r>
            <a:endParaRPr sz="1300"/>
          </a:p>
          <a:p>
            <a:pPr marL="457200" lvl="0" indent="-311150" algn="l" rtl="0">
              <a:lnSpc>
                <a:spcPct val="115000"/>
              </a:lnSpc>
              <a:spcBef>
                <a:spcPts val="0"/>
              </a:spcBef>
              <a:spcAft>
                <a:spcPts val="0"/>
              </a:spcAft>
              <a:buSzPts val="1300"/>
              <a:buChar char="•"/>
            </a:pPr>
            <a:r>
              <a:rPr lang="en" sz="1300"/>
              <a:t>There is minimum 100-150 stores in each IBD and it should be align with SO team.</a:t>
            </a:r>
            <a:endParaRPr sz="1300"/>
          </a:p>
          <a:p>
            <a:pPr marL="457200" lvl="0" indent="-311150" algn="l" rtl="0">
              <a:lnSpc>
                <a:spcPct val="115000"/>
              </a:lnSpc>
              <a:spcBef>
                <a:spcPts val="0"/>
              </a:spcBef>
              <a:spcAft>
                <a:spcPts val="0"/>
              </a:spcAft>
              <a:buSzPts val="1300"/>
              <a:buChar char="•"/>
            </a:pPr>
            <a:r>
              <a:rPr lang="en" sz="1300"/>
              <a:t>FOVA_PARAMETRS_LT process should be ran for 104 weeks at the time of implementation first before running FOVA.</a:t>
            </a:r>
            <a:endParaRPr sz="1300"/>
          </a:p>
          <a:p>
            <a:pPr marL="457200" lvl="0" indent="-311150" algn="l" rtl="0">
              <a:lnSpc>
                <a:spcPct val="115000"/>
              </a:lnSpc>
              <a:spcBef>
                <a:spcPts val="0"/>
              </a:spcBef>
              <a:spcAft>
                <a:spcPts val="0"/>
              </a:spcAft>
              <a:buSzPts val="1300"/>
              <a:buChar char="•"/>
            </a:pPr>
            <a:r>
              <a:rPr lang="en" sz="1300"/>
              <a:t>The operator needs to follow the deployment steps to keep the process as BAU.</a:t>
            </a:r>
            <a:endParaRPr sz="1300"/>
          </a:p>
          <a:p>
            <a:pPr marL="457200" lvl="0" indent="-311150" algn="l" rtl="0">
              <a:lnSpc>
                <a:spcPct val="115000"/>
              </a:lnSpc>
              <a:spcBef>
                <a:spcPts val="0"/>
              </a:spcBef>
              <a:spcAft>
                <a:spcPts val="0"/>
              </a:spcAft>
              <a:buSzPts val="1300"/>
              <a:buChar char="•"/>
            </a:pPr>
            <a:r>
              <a:rPr lang="en" sz="1300"/>
              <a:t>For new stores, Onshore should align with Stat Ops for initial weeks to accept the data.</a:t>
            </a:r>
            <a:endParaRPr sz="1300"/>
          </a:p>
          <a:p>
            <a:pPr marL="457200" lvl="0" indent="-311150" algn="l" rtl="0">
              <a:lnSpc>
                <a:spcPct val="115000"/>
              </a:lnSpc>
              <a:spcBef>
                <a:spcPts val="0"/>
              </a:spcBef>
              <a:spcAft>
                <a:spcPts val="0"/>
              </a:spcAft>
              <a:buSzPts val="1300"/>
              <a:buChar char="•"/>
            </a:pPr>
            <a:r>
              <a:rPr lang="en" sz="1300"/>
              <a:t>A Standard template(attached) need to be updated containing information about retailers/stores and their behavior in normal days along with specific seasons and this should be reviewed yearly and when new retailer is added.</a:t>
            </a:r>
            <a:endParaRPr sz="1300"/>
          </a:p>
          <a:p>
            <a:pPr marL="457200" lvl="0" indent="-311150" algn="l" rtl="0">
              <a:lnSpc>
                <a:spcPct val="115000"/>
              </a:lnSpc>
              <a:spcBef>
                <a:spcPts val="0"/>
              </a:spcBef>
              <a:spcAft>
                <a:spcPts val="0"/>
              </a:spcAft>
              <a:buSzPts val="1300"/>
              <a:buChar char="•"/>
            </a:pPr>
            <a:r>
              <a:rPr lang="en" sz="1300"/>
              <a:t>DATA GOOD stores suggested by system should not be checked manually, if there is any problem in the DATA GOOD stores, it should be raised with examples to Stat Ops and IV Governance to look into the same.</a:t>
            </a:r>
            <a:endParaRPr sz="1300"/>
          </a:p>
          <a:p>
            <a:pPr marL="457200" lvl="0" indent="-311150" algn="l" rtl="0">
              <a:lnSpc>
                <a:spcPct val="115000"/>
              </a:lnSpc>
              <a:spcBef>
                <a:spcPts val="0"/>
              </a:spcBef>
              <a:spcAft>
                <a:spcPts val="0"/>
              </a:spcAft>
              <a:buSzPts val="1300"/>
              <a:buChar char="•"/>
            </a:pPr>
            <a:r>
              <a:rPr lang="en" sz="1300"/>
              <a:t>If additional information (daily data, temp closure, remodeling…) is available for any particular retailer, it must be used while performing </a:t>
            </a:r>
            <a:r>
              <a:rPr lang="en" sz="1300" err="1"/>
              <a:t>Fova</a:t>
            </a:r>
            <a:r>
              <a:rPr lang="en" sz="1300"/>
              <a:t> validation.</a:t>
            </a:r>
            <a:endParaRPr sz="1300"/>
          </a:p>
          <a:p>
            <a:pPr marL="457200" lvl="0" indent="-311150" algn="l" rtl="0">
              <a:lnSpc>
                <a:spcPct val="115000"/>
              </a:lnSpc>
              <a:spcBef>
                <a:spcPts val="0"/>
              </a:spcBef>
              <a:spcAft>
                <a:spcPts val="0"/>
              </a:spcAft>
              <a:buSzPts val="1300"/>
              <a:buChar char="•"/>
            </a:pPr>
            <a:r>
              <a:rPr lang="en" sz="1300"/>
              <a:t>YAFA enhancement is on-going right now which will be available soon, after that more rules will be added for general, retailer specific checks.</a:t>
            </a:r>
            <a:endParaRPr sz="1300"/>
          </a:p>
        </p:txBody>
      </p:sp>
    </p:spTree>
  </p:cSld>
  <p:clrMapOvr>
    <a:overrideClrMapping bg1="lt1" tx1="dk1" bg2="lt2" tx2="dk2" accent1="accent1" accent2="accent2" accent3="accent3" accent4="accent4" accent5="accent5" accent6="accent6" hlink="hlink" folHlink="folHlink"/>
  </p:clrMapOvr>
</p:sld>
</file>

<file path=ppt/slides/slide9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55"/>
        <p:cNvGrpSpPr/>
        <p:nvPr/>
      </p:nvGrpSpPr>
      <p:grpSpPr>
        <a:xfrm>
          <a:off x="0" y="0"/>
          <a:ext cx="0" cy="0"/>
          <a:chOff x="0" y="0"/>
          <a:chExt cx="0" cy="0"/>
        </a:xfrm>
      </p:grpSpPr>
      <p:sp>
        <p:nvSpPr>
          <p:cNvPr id="1256" name="Google Shape;1256;p160"/>
          <p:cNvSpPr txBox="1">
            <a:spLocks noGrp="1"/>
          </p:cNvSpPr>
          <p:nvPr>
            <p:ph type="title"/>
          </p:nvPr>
        </p:nvSpPr>
        <p:spPr>
          <a:xfrm>
            <a:off x="318225" y="708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Retailer Specific</a:t>
            </a:r>
            <a:endParaRPr sz="2600"/>
          </a:p>
        </p:txBody>
      </p:sp>
      <p:sp>
        <p:nvSpPr>
          <p:cNvPr id="1257" name="Google Shape;1257;p160"/>
          <p:cNvSpPr txBox="1">
            <a:spLocks noGrp="1"/>
          </p:cNvSpPr>
          <p:nvPr>
            <p:ph type="body" idx="1"/>
          </p:nvPr>
        </p:nvSpPr>
        <p:spPr>
          <a:xfrm>
            <a:off x="103600" y="556925"/>
            <a:ext cx="8940000" cy="4462800"/>
          </a:xfrm>
          <a:prstGeom prst="rect">
            <a:avLst/>
          </a:prstGeom>
          <a:noFill/>
          <a:ln>
            <a:noFill/>
          </a:ln>
        </p:spPr>
        <p:txBody>
          <a:bodyPr spcFirstLastPara="1" wrap="square" lIns="91425" tIns="45700" rIns="91425" bIns="45700" anchor="t" anchorCtr="0">
            <a:noAutofit/>
          </a:bodyPr>
          <a:lstStyle/>
          <a:p>
            <a:pPr marL="457200" lvl="0" indent="-311150" algn="l" rtl="0">
              <a:lnSpc>
                <a:spcPct val="115000"/>
              </a:lnSpc>
              <a:spcBef>
                <a:spcPts val="0"/>
              </a:spcBef>
              <a:spcAft>
                <a:spcPts val="0"/>
              </a:spcAft>
              <a:buSzPts val="1300"/>
              <a:buChar char="•"/>
            </a:pPr>
            <a:r>
              <a:rPr lang="en" sz="1300"/>
              <a:t>SIRVAL web interface is the primary &amp; standard tool to perform retailer trend check.</a:t>
            </a:r>
            <a:endParaRPr sz="1300"/>
          </a:p>
          <a:p>
            <a:pPr marL="457200" lvl="0" indent="-311150" algn="l" rtl="0">
              <a:lnSpc>
                <a:spcPct val="115000"/>
              </a:lnSpc>
              <a:spcBef>
                <a:spcPts val="0"/>
              </a:spcBef>
              <a:spcAft>
                <a:spcPts val="0"/>
              </a:spcAft>
              <a:buSzPts val="1300"/>
              <a:buChar char="•"/>
            </a:pPr>
            <a:r>
              <a:rPr lang="en" sz="1300"/>
              <a:t>Retailer trend must be check from “YAFA Estimations” option present under YAFA tab in SIRVAL web interface.</a:t>
            </a:r>
            <a:endParaRPr sz="1300"/>
          </a:p>
          <a:p>
            <a:pPr marL="457200" lvl="0" indent="-311150" algn="l" rtl="0">
              <a:lnSpc>
                <a:spcPct val="115000"/>
              </a:lnSpc>
              <a:spcBef>
                <a:spcPts val="0"/>
              </a:spcBef>
              <a:spcAft>
                <a:spcPts val="0"/>
              </a:spcAft>
              <a:buSzPts val="1300"/>
              <a:buChar char="•"/>
            </a:pPr>
            <a:r>
              <a:rPr lang="en" sz="1300"/>
              <a:t>If retailer input is received in one chunk then all retailer level checks can be performed after 100% loading is complete for a particular retailer.</a:t>
            </a:r>
            <a:endParaRPr sz="1300"/>
          </a:p>
          <a:p>
            <a:pPr marL="457200" lvl="0" indent="-311150" algn="l" rtl="0">
              <a:lnSpc>
                <a:spcPct val="115000"/>
              </a:lnSpc>
              <a:spcBef>
                <a:spcPts val="0"/>
              </a:spcBef>
              <a:spcAft>
                <a:spcPts val="0"/>
              </a:spcAft>
              <a:buSzPts val="1300"/>
              <a:buChar char="•"/>
            </a:pPr>
            <a:r>
              <a:rPr lang="en" sz="1300"/>
              <a:t>In case retailer is received in various chunks then retailer level checks can be performed twice , one after 50% loading and another after 100%.</a:t>
            </a:r>
            <a:endParaRPr sz="1300"/>
          </a:p>
          <a:p>
            <a:pPr marL="457200" lvl="0" indent="-311150" algn="l" rtl="0">
              <a:lnSpc>
                <a:spcPct val="115000"/>
              </a:lnSpc>
              <a:spcBef>
                <a:spcPts val="0"/>
              </a:spcBef>
              <a:spcAft>
                <a:spcPts val="0"/>
              </a:spcAft>
              <a:buSzPts val="1300"/>
              <a:buChar char="•"/>
            </a:pPr>
            <a:r>
              <a:rPr lang="en" sz="1300"/>
              <a:t>If variation in the trend (in terms of no. of shops, items or units or value ) for a retailer is exceptional or suspicious, it must be investigated.</a:t>
            </a:r>
            <a:endParaRPr sz="1300"/>
          </a:p>
          <a:p>
            <a:pPr marL="457200" lvl="0" indent="-311150" algn="l" rtl="0">
              <a:lnSpc>
                <a:spcPct val="115000"/>
              </a:lnSpc>
              <a:spcBef>
                <a:spcPts val="0"/>
              </a:spcBef>
              <a:spcAft>
                <a:spcPts val="0"/>
              </a:spcAft>
              <a:buSzPts val="1300"/>
              <a:buChar char="•"/>
            </a:pPr>
            <a:r>
              <a:rPr lang="en" sz="1300"/>
              <a:t>If there is any Strange Behavior of Retailer, it should be immediately raised to Onshore/Retailer.</a:t>
            </a:r>
            <a:endParaRPr sz="1300"/>
          </a:p>
          <a:p>
            <a:pPr marL="457200" lvl="0" indent="-311150" algn="l" rtl="0">
              <a:lnSpc>
                <a:spcPct val="115000"/>
              </a:lnSpc>
              <a:spcBef>
                <a:spcPts val="0"/>
              </a:spcBef>
              <a:spcAft>
                <a:spcPts val="0"/>
              </a:spcAft>
              <a:buSzPts val="1300"/>
              <a:buChar char="•"/>
            </a:pPr>
            <a:r>
              <a:rPr lang="en" sz="1300"/>
              <a:t>A retailer/Channel behavior can be checked from General Overview of YAFA.</a:t>
            </a:r>
            <a:endParaRPr sz="1300"/>
          </a:p>
          <a:p>
            <a:pPr marL="457200" lvl="0" indent="-311150" algn="l" rtl="0">
              <a:lnSpc>
                <a:spcPct val="115000"/>
              </a:lnSpc>
              <a:spcBef>
                <a:spcPts val="0"/>
              </a:spcBef>
              <a:spcAft>
                <a:spcPts val="0"/>
              </a:spcAft>
              <a:buSzPts val="1300"/>
              <a:buChar char="•"/>
            </a:pPr>
            <a:r>
              <a:rPr lang="en" sz="1300"/>
              <a:t>Onshore and Offshore can have agreement for particular retailers how much variation should be accepted.</a:t>
            </a:r>
            <a:endParaRPr sz="1300"/>
          </a:p>
          <a:p>
            <a:pPr marL="457200" lvl="0" indent="-311150" algn="l" rtl="0">
              <a:lnSpc>
                <a:spcPct val="115000"/>
              </a:lnSpc>
              <a:spcBef>
                <a:spcPts val="0"/>
              </a:spcBef>
              <a:spcAft>
                <a:spcPts val="0"/>
              </a:spcAft>
              <a:buSzPts val="1300"/>
              <a:buChar char="•"/>
            </a:pPr>
            <a:r>
              <a:rPr lang="en" sz="1300"/>
              <a:t>A clear guideline should be agreed between on/offshore regarding retailers/channel have high variation.</a:t>
            </a:r>
            <a:endParaRPr sz="1300"/>
          </a:p>
          <a:p>
            <a:pPr indent="-311150">
              <a:lnSpc>
                <a:spcPct val="115000"/>
              </a:lnSpc>
              <a:buSzPts val="1300"/>
            </a:pPr>
            <a:r>
              <a:rPr lang="en" sz="1300"/>
              <a:t>Retailer level check must be performed as data is received (Retailer/Channel/ Shop type/ Batch/regions/data inputs) and same filter should be created for YAFA  to perform this check.</a:t>
            </a:r>
            <a:endParaRPr sz="1300"/>
          </a:p>
          <a:p>
            <a:pPr marL="457200" lvl="0" indent="-311150" algn="l" rtl="0">
              <a:lnSpc>
                <a:spcPct val="115000"/>
              </a:lnSpc>
              <a:spcBef>
                <a:spcPts val="0"/>
              </a:spcBef>
              <a:spcAft>
                <a:spcPts val="0"/>
              </a:spcAft>
              <a:buSzPts val="1300"/>
              <a:buChar char="•"/>
            </a:pPr>
            <a:r>
              <a:rPr lang="en" sz="1300"/>
              <a:t>If more than 50% stores for particular selection are received in YAFA for Manual check, it must be confirmed with Onshore and potentially with retailer.</a:t>
            </a:r>
            <a:endParaRPr sz="1300"/>
          </a:p>
          <a:p>
            <a:pPr indent="-311150">
              <a:lnSpc>
                <a:spcPct val="115000"/>
              </a:lnSpc>
              <a:buSzPts val="1300"/>
            </a:pPr>
            <a:r>
              <a:rPr lang="en" sz="1300"/>
              <a:t>If for given selection each week  more than 40% stores are received in YAFA, than please ask Stat Ops to fine tune the parameter for the Retailer/Channel.</a:t>
            </a:r>
            <a:endParaRPr sz="1300"/>
          </a:p>
          <a:p>
            <a:pPr marL="0" lvl="0" indent="0" algn="l" rtl="0">
              <a:lnSpc>
                <a:spcPct val="115000"/>
              </a:lnSpc>
              <a:spcBef>
                <a:spcPts val="0"/>
              </a:spcBef>
              <a:spcAft>
                <a:spcPts val="0"/>
              </a:spcAft>
              <a:buNone/>
            </a:pPr>
            <a:endParaRPr sz="1300"/>
          </a:p>
        </p:txBody>
      </p:sp>
    </p:spTree>
  </p:cSld>
  <p:clrMapOvr>
    <a:overrideClrMapping bg1="lt1" tx1="dk1" bg2="lt2" tx2="dk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61"/>
        <p:cNvGrpSpPr/>
        <p:nvPr/>
      </p:nvGrpSpPr>
      <p:grpSpPr>
        <a:xfrm>
          <a:off x="0" y="0"/>
          <a:ext cx="0" cy="0"/>
          <a:chOff x="0" y="0"/>
          <a:chExt cx="0" cy="0"/>
        </a:xfrm>
      </p:grpSpPr>
      <p:sp>
        <p:nvSpPr>
          <p:cNvPr id="1262" name="Google Shape;1262;p161"/>
          <p:cNvSpPr txBox="1">
            <a:spLocks noGrp="1"/>
          </p:cNvSpPr>
          <p:nvPr>
            <p:ph type="title"/>
          </p:nvPr>
        </p:nvSpPr>
        <p:spPr>
          <a:xfrm>
            <a:off x="318225" y="1470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Census Specific</a:t>
            </a:r>
            <a:endParaRPr sz="2600"/>
          </a:p>
        </p:txBody>
      </p:sp>
      <p:sp>
        <p:nvSpPr>
          <p:cNvPr id="1263" name="Google Shape;1263;p161"/>
          <p:cNvSpPr txBox="1">
            <a:spLocks noGrp="1"/>
          </p:cNvSpPr>
          <p:nvPr>
            <p:ph type="body" idx="1"/>
          </p:nvPr>
        </p:nvSpPr>
        <p:spPr>
          <a:xfrm>
            <a:off x="103600" y="785525"/>
            <a:ext cx="8940000" cy="2691900"/>
          </a:xfrm>
          <a:prstGeom prst="rect">
            <a:avLst/>
          </a:prstGeom>
          <a:noFill/>
          <a:ln>
            <a:noFill/>
          </a:ln>
        </p:spPr>
        <p:txBody>
          <a:bodyPr spcFirstLastPara="1" wrap="square" lIns="91425" tIns="45700" rIns="91425" bIns="45700" anchor="t" anchorCtr="0">
            <a:noAutofit/>
          </a:bodyPr>
          <a:lstStyle/>
          <a:p>
            <a:pPr marL="457200" lvl="0" indent="-311150" algn="l" rtl="0">
              <a:lnSpc>
                <a:spcPct val="115000"/>
              </a:lnSpc>
              <a:spcBef>
                <a:spcPts val="0"/>
              </a:spcBef>
              <a:spcAft>
                <a:spcPts val="0"/>
              </a:spcAft>
              <a:buSzPts val="1300"/>
              <a:buChar char="•"/>
            </a:pPr>
            <a:r>
              <a:rPr lang="en" sz="1300"/>
              <a:t>Stores which are received in YAFA should be checked from Top to bottom by Fova decision message(all the pages)  till operator is confident that same decision can be applied for rest of the stores the data for the particular selection (Retailer/Channel/Shop Type…).</a:t>
            </a:r>
            <a:endParaRPr sz="1300"/>
          </a:p>
          <a:p>
            <a:pPr marL="457200" lvl="0" indent="-311150" algn="l" rtl="0">
              <a:lnSpc>
                <a:spcPct val="115000"/>
              </a:lnSpc>
              <a:spcBef>
                <a:spcPts val="0"/>
              </a:spcBef>
              <a:spcAft>
                <a:spcPts val="0"/>
              </a:spcAft>
              <a:buSzPts val="1300"/>
              <a:buChar char="•"/>
            </a:pPr>
            <a:r>
              <a:rPr lang="en" sz="1300"/>
              <a:t>As Census store is reflecting its own data, the operator should accept the real variation cases, data should be estimated only if it’s a technical issue or real erroneous data.</a:t>
            </a:r>
            <a:endParaRPr sz="1300"/>
          </a:p>
          <a:p>
            <a:pPr marL="457200" lvl="0" indent="-311150" algn="l" rtl="0">
              <a:lnSpc>
                <a:spcPct val="115000"/>
              </a:lnSpc>
              <a:spcBef>
                <a:spcPts val="0"/>
              </a:spcBef>
              <a:spcAft>
                <a:spcPts val="0"/>
              </a:spcAft>
              <a:buSzPts val="1300"/>
              <a:buChar char="•"/>
            </a:pPr>
            <a:r>
              <a:rPr lang="en" sz="1300"/>
              <a:t>While checking data for Census store, the operator need to check that incoming data is usable or not, and if any problem is found all relevant table (based on Fova tag) should be looked.</a:t>
            </a:r>
            <a:endParaRPr sz="1300"/>
          </a:p>
          <a:p>
            <a:pPr marL="457200" lvl="0" indent="-311150" algn="l" rtl="0">
              <a:lnSpc>
                <a:spcPct val="115000"/>
              </a:lnSpc>
              <a:spcBef>
                <a:spcPts val="0"/>
              </a:spcBef>
              <a:spcAft>
                <a:spcPts val="0"/>
              </a:spcAft>
              <a:buSzPts val="1300"/>
              <a:buChar char="•"/>
            </a:pPr>
            <a:r>
              <a:rPr lang="en" sz="1300"/>
              <a:t>If strange behaviour is observed for Census shop without any additional information, it must be estimated  if no particular guidelines are set for census retailers.</a:t>
            </a:r>
            <a:endParaRPr sz="1300"/>
          </a:p>
          <a:p>
            <a:pPr marL="457200" lvl="0" indent="-311150" algn="l" rtl="0">
              <a:lnSpc>
                <a:spcPct val="115000"/>
              </a:lnSpc>
              <a:spcBef>
                <a:spcPts val="0"/>
              </a:spcBef>
              <a:spcAft>
                <a:spcPts val="0"/>
              </a:spcAft>
              <a:buSzPts val="1300"/>
              <a:buChar char="•"/>
            </a:pPr>
            <a:r>
              <a:rPr lang="en" sz="1300"/>
              <a:t>If the data is acceptable based on comparison with LGP and more previous weeks or year in terms of all statistical tests and tables,  they can be SET TO OK if not acceptable then it must be estimated.</a:t>
            </a:r>
            <a:endParaRPr sz="1300"/>
          </a:p>
          <a:p>
            <a:pPr marL="0" lvl="0" indent="0" algn="l" rtl="0">
              <a:lnSpc>
                <a:spcPct val="115000"/>
              </a:lnSpc>
              <a:spcBef>
                <a:spcPts val="0"/>
              </a:spcBef>
              <a:spcAft>
                <a:spcPts val="0"/>
              </a:spcAft>
              <a:buNone/>
            </a:pPr>
            <a:endParaRPr sz="1300"/>
          </a:p>
        </p:txBody>
      </p:sp>
    </p:spTree>
  </p:cSld>
  <p:clrMapOvr>
    <a:overrideClrMapping bg1="lt1" tx1="dk1" bg2="lt2" tx2="dk2" accent1="accent1" accent2="accent2" accent3="accent3" accent4="accent4" accent5="accent5" accent6="accent6" hlink="hlink" folHlink="folHlink"/>
  </p:clrMapOvr>
</p:sld>
</file>

<file path=ppt/slides/slide9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67"/>
        <p:cNvGrpSpPr/>
        <p:nvPr/>
      </p:nvGrpSpPr>
      <p:grpSpPr>
        <a:xfrm>
          <a:off x="0" y="0"/>
          <a:ext cx="0" cy="0"/>
          <a:chOff x="0" y="0"/>
          <a:chExt cx="0" cy="0"/>
        </a:xfrm>
      </p:grpSpPr>
      <p:sp>
        <p:nvSpPr>
          <p:cNvPr id="1268" name="Google Shape;1268;p162"/>
          <p:cNvSpPr txBox="1">
            <a:spLocks noGrp="1"/>
          </p:cNvSpPr>
          <p:nvPr>
            <p:ph type="title"/>
          </p:nvPr>
        </p:nvSpPr>
        <p:spPr>
          <a:xfrm>
            <a:off x="318225" y="1470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Sample Specific</a:t>
            </a:r>
            <a:endParaRPr sz="2600"/>
          </a:p>
        </p:txBody>
      </p:sp>
      <p:sp>
        <p:nvSpPr>
          <p:cNvPr id="1269" name="Google Shape;1269;p162"/>
          <p:cNvSpPr txBox="1">
            <a:spLocks noGrp="1"/>
          </p:cNvSpPr>
          <p:nvPr>
            <p:ph type="body" idx="1"/>
          </p:nvPr>
        </p:nvSpPr>
        <p:spPr>
          <a:xfrm>
            <a:off x="103600" y="785525"/>
            <a:ext cx="8940000" cy="2691900"/>
          </a:xfrm>
          <a:prstGeom prst="rect">
            <a:avLst/>
          </a:prstGeom>
          <a:noFill/>
          <a:ln>
            <a:noFill/>
          </a:ln>
        </p:spPr>
        <p:txBody>
          <a:bodyPr spcFirstLastPara="1" wrap="square" lIns="91425" tIns="45700" rIns="91425" bIns="45700" anchor="t" anchorCtr="0">
            <a:noAutofit/>
          </a:bodyPr>
          <a:lstStyle/>
          <a:p>
            <a:pPr marL="457200" lvl="0" indent="-311150" algn="l" rtl="0">
              <a:lnSpc>
                <a:spcPct val="115000"/>
              </a:lnSpc>
              <a:spcBef>
                <a:spcPts val="0"/>
              </a:spcBef>
              <a:spcAft>
                <a:spcPts val="0"/>
              </a:spcAft>
              <a:buSzPts val="1300"/>
              <a:buChar char="•"/>
            </a:pPr>
            <a:r>
              <a:rPr lang="en" sz="1300"/>
              <a:t>For sample retailer /channel, all FOVA NOT OK stores should be checked and no big variation should be allowed as it will be projected to other store as well- Such stores should be estimated if particular guidelines are set up or else.</a:t>
            </a:r>
            <a:endParaRPr sz="1300"/>
          </a:p>
          <a:p>
            <a:pPr marL="457200" lvl="0" indent="-311150" algn="l" rtl="0">
              <a:lnSpc>
                <a:spcPct val="115000"/>
              </a:lnSpc>
              <a:spcBef>
                <a:spcPts val="0"/>
              </a:spcBef>
              <a:spcAft>
                <a:spcPts val="0"/>
              </a:spcAft>
              <a:buSzPts val="1300"/>
              <a:buChar char="•"/>
            </a:pPr>
            <a:r>
              <a:rPr lang="en" sz="1300"/>
              <a:t>If there is no seasonality effect than for Sample stores, expected variation should be accepted.</a:t>
            </a:r>
            <a:endParaRPr sz="1300"/>
          </a:p>
          <a:p>
            <a:pPr marL="457200" lvl="0" indent="-311150" algn="l" rtl="0">
              <a:lnSpc>
                <a:spcPct val="115000"/>
              </a:lnSpc>
              <a:spcBef>
                <a:spcPts val="0"/>
              </a:spcBef>
              <a:spcAft>
                <a:spcPts val="0"/>
              </a:spcAft>
              <a:buSzPts val="1300"/>
              <a:buChar char="•"/>
            </a:pPr>
            <a:r>
              <a:rPr lang="en" sz="1300"/>
              <a:t>If the data is acceptable based on comparison with LGP and more previous weeks or year in terms of all statistical tests and tables, they can be SET TO OK otherwise Estimate.</a:t>
            </a:r>
            <a:endParaRPr sz="1300"/>
          </a:p>
          <a:p>
            <a:pPr marL="457200" lvl="0" indent="-311150" algn="l" rtl="0">
              <a:lnSpc>
                <a:spcPct val="115000"/>
              </a:lnSpc>
              <a:spcBef>
                <a:spcPts val="0"/>
              </a:spcBef>
              <a:spcAft>
                <a:spcPts val="0"/>
              </a:spcAft>
              <a:buSzPts val="1300"/>
              <a:buChar char="•"/>
            </a:pPr>
            <a:r>
              <a:rPr lang="en" sz="1300"/>
              <a:t>If the data is not in line with previous week and Year’s Trend then it can be Salvaged.</a:t>
            </a:r>
            <a:endParaRPr sz="1300"/>
          </a:p>
          <a:p>
            <a:pPr marL="457200" lvl="0" indent="-311150" algn="l" rtl="0">
              <a:lnSpc>
                <a:spcPct val="115000"/>
              </a:lnSpc>
              <a:spcBef>
                <a:spcPts val="0"/>
              </a:spcBef>
              <a:spcAft>
                <a:spcPts val="0"/>
              </a:spcAft>
              <a:buSzPts val="1300"/>
              <a:buChar char="•"/>
            </a:pPr>
            <a:r>
              <a:rPr lang="en" sz="1300"/>
              <a:t>If strange behaviour is observed for sample shop without any additional information, it must be Estimated  Onshore/Retailer if no particular guidelines are set for sample retailers.</a:t>
            </a:r>
            <a:endParaRPr sz="1300"/>
          </a:p>
          <a:p>
            <a:pPr marL="457200" lvl="0" indent="-311150" algn="l" rtl="0">
              <a:lnSpc>
                <a:spcPct val="115000"/>
              </a:lnSpc>
              <a:spcBef>
                <a:spcPts val="0"/>
              </a:spcBef>
              <a:spcAft>
                <a:spcPts val="0"/>
              </a:spcAft>
              <a:buSzPts val="1300"/>
              <a:buChar char="•"/>
            </a:pPr>
            <a:r>
              <a:rPr lang="en" sz="1300"/>
              <a:t>After 5(no of weeks specified in Parameter) week of continuous bad data and store is Estimated , if the normal Trend reappears then data should be accepted.</a:t>
            </a:r>
            <a:endParaRPr sz="1300"/>
          </a:p>
          <a:p>
            <a:pPr marL="457200" lvl="0" indent="-311150" algn="l" rtl="0">
              <a:lnSpc>
                <a:spcPct val="115000"/>
              </a:lnSpc>
              <a:spcBef>
                <a:spcPts val="0"/>
              </a:spcBef>
              <a:spcAft>
                <a:spcPts val="0"/>
              </a:spcAft>
              <a:buSzPts val="1300"/>
              <a:buChar char="•"/>
            </a:pPr>
            <a:r>
              <a:rPr lang="en" sz="1300"/>
              <a:t>After 2 week of continuous bad data and store is Estimated , if the same trend is continue then it should be confirmed with Onshore.</a:t>
            </a:r>
            <a:endParaRPr sz="1300"/>
          </a:p>
        </p:txBody>
      </p:sp>
    </p:spTree>
  </p:cSld>
  <p:clrMapOvr>
    <a:overrideClrMapping bg1="lt1" tx1="dk1" bg2="lt2" tx2="dk2" accent1="accent1" accent2="accent2" accent3="accent3" accent4="accent4" accent5="accent5" accent6="accent6" hlink="hlink" folHlink="folHlink"/>
  </p:clrMapOvr>
</p:sld>
</file>

<file path=ppt/slides/slide9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73"/>
        <p:cNvGrpSpPr/>
        <p:nvPr/>
      </p:nvGrpSpPr>
      <p:grpSpPr>
        <a:xfrm>
          <a:off x="0" y="0"/>
          <a:ext cx="0" cy="0"/>
          <a:chOff x="0" y="0"/>
          <a:chExt cx="0" cy="0"/>
        </a:xfrm>
      </p:grpSpPr>
      <p:sp>
        <p:nvSpPr>
          <p:cNvPr id="1274" name="Google Shape;1274;p163"/>
          <p:cNvSpPr txBox="1">
            <a:spLocks noGrp="1"/>
          </p:cNvSpPr>
          <p:nvPr>
            <p:ph type="title"/>
          </p:nvPr>
        </p:nvSpPr>
        <p:spPr>
          <a:xfrm>
            <a:off x="318225" y="1470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Trend Table</a:t>
            </a:r>
            <a:endParaRPr sz="2600"/>
          </a:p>
        </p:txBody>
      </p:sp>
      <p:sp>
        <p:nvSpPr>
          <p:cNvPr id="1275" name="Google Shape;1275;p163"/>
          <p:cNvSpPr txBox="1">
            <a:spLocks noGrp="1"/>
          </p:cNvSpPr>
          <p:nvPr>
            <p:ph type="body" idx="1"/>
          </p:nvPr>
        </p:nvSpPr>
        <p:spPr>
          <a:xfrm>
            <a:off x="362625" y="785525"/>
            <a:ext cx="8681100" cy="26919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 sz="1300"/>
              <a:t>If the store is flagged as “Trend Test not OK” then;</a:t>
            </a:r>
            <a:endParaRPr sz="1300"/>
          </a:p>
          <a:p>
            <a:pPr marL="457200" lvl="0" indent="0" algn="l" rtl="0">
              <a:lnSpc>
                <a:spcPct val="115000"/>
              </a:lnSpc>
              <a:spcBef>
                <a:spcPts val="0"/>
              </a:spcBef>
              <a:spcAft>
                <a:spcPts val="0"/>
              </a:spcAft>
              <a:buNone/>
            </a:pPr>
            <a:endParaRPr sz="700"/>
          </a:p>
          <a:p>
            <a:pPr marL="457200" lvl="0" indent="-311150" algn="l" rtl="0">
              <a:lnSpc>
                <a:spcPct val="115000"/>
              </a:lnSpc>
              <a:spcBef>
                <a:spcPts val="0"/>
              </a:spcBef>
              <a:spcAft>
                <a:spcPts val="0"/>
              </a:spcAft>
              <a:buSzPts val="1300"/>
              <a:buAutoNum type="arabicPeriod"/>
            </a:pPr>
            <a:r>
              <a:rPr lang="en" sz="1300"/>
              <a:t>first check should be on Festival/Holiday information for the country/retailer</a:t>
            </a:r>
            <a:endParaRPr sz="1300"/>
          </a:p>
          <a:p>
            <a:pPr marL="457200" lvl="0" indent="-311150" algn="l" rtl="0">
              <a:lnSpc>
                <a:spcPct val="115000"/>
              </a:lnSpc>
              <a:spcBef>
                <a:spcPts val="0"/>
              </a:spcBef>
              <a:spcAft>
                <a:spcPts val="0"/>
              </a:spcAft>
              <a:buSzPts val="1300"/>
              <a:buAutoNum type="arabicPeriod"/>
            </a:pPr>
            <a:r>
              <a:rPr lang="en" sz="1300"/>
              <a:t>Then all other tables need to be checked to explain the sales (fex Unit freq, Super group freq. etc..)</a:t>
            </a:r>
            <a:endParaRPr sz="1300"/>
          </a:p>
          <a:p>
            <a:pPr marL="457200" lvl="0" indent="-311150" algn="l" rtl="0">
              <a:lnSpc>
                <a:spcPct val="115000"/>
              </a:lnSpc>
              <a:spcBef>
                <a:spcPts val="0"/>
              </a:spcBef>
              <a:spcAft>
                <a:spcPts val="0"/>
              </a:spcAft>
              <a:buSzPts val="1300"/>
              <a:buAutoNum type="arabicPeriod"/>
            </a:pPr>
            <a:r>
              <a:rPr lang="en" sz="1300"/>
              <a:t>Also check last year trend for the similar period to cross verify the sale </a:t>
            </a:r>
            <a:endParaRPr sz="1300"/>
          </a:p>
          <a:p>
            <a:pPr marL="457200" lvl="0" indent="-311150" algn="l" rtl="0">
              <a:lnSpc>
                <a:spcPct val="115000"/>
              </a:lnSpc>
              <a:spcBef>
                <a:spcPts val="0"/>
              </a:spcBef>
              <a:spcAft>
                <a:spcPts val="0"/>
              </a:spcAft>
              <a:buSzPts val="1300"/>
              <a:buAutoNum type="arabicPeriod"/>
            </a:pPr>
            <a:r>
              <a:rPr lang="en" sz="1300"/>
              <a:t>If required perform CREF analysis for the particular store</a:t>
            </a:r>
            <a:endParaRPr sz="1300"/>
          </a:p>
          <a:p>
            <a:pPr marL="0" lvl="0" indent="0" algn="l" rtl="0">
              <a:lnSpc>
                <a:spcPct val="115000"/>
              </a:lnSpc>
              <a:spcBef>
                <a:spcPts val="0"/>
              </a:spcBef>
              <a:spcAft>
                <a:spcPts val="0"/>
              </a:spcAft>
              <a:buNone/>
            </a:pPr>
            <a:endParaRPr sz="1300"/>
          </a:p>
        </p:txBody>
      </p:sp>
    </p:spTree>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79"/>
        <p:cNvGrpSpPr/>
        <p:nvPr/>
      </p:nvGrpSpPr>
      <p:grpSpPr>
        <a:xfrm>
          <a:off x="0" y="0"/>
          <a:ext cx="0" cy="0"/>
          <a:chOff x="0" y="0"/>
          <a:chExt cx="0" cy="0"/>
        </a:xfrm>
      </p:grpSpPr>
      <p:sp>
        <p:nvSpPr>
          <p:cNvPr id="1280" name="Google Shape;1280;p164"/>
          <p:cNvSpPr txBox="1">
            <a:spLocks noGrp="1"/>
          </p:cNvSpPr>
          <p:nvPr>
            <p:ph type="title"/>
          </p:nvPr>
        </p:nvSpPr>
        <p:spPr>
          <a:xfrm>
            <a:off x="318225" y="708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Daily Data</a:t>
            </a:r>
            <a:endParaRPr sz="2600"/>
          </a:p>
        </p:txBody>
      </p:sp>
      <p:sp>
        <p:nvSpPr>
          <p:cNvPr id="1281" name="Google Shape;1281;p164"/>
          <p:cNvSpPr txBox="1">
            <a:spLocks noGrp="1"/>
          </p:cNvSpPr>
          <p:nvPr>
            <p:ph type="body" idx="1"/>
          </p:nvPr>
        </p:nvSpPr>
        <p:spPr>
          <a:xfrm>
            <a:off x="103600" y="556925"/>
            <a:ext cx="8940000" cy="4462800"/>
          </a:xfrm>
          <a:prstGeom prst="rect">
            <a:avLst/>
          </a:prstGeom>
          <a:noFill/>
          <a:ln>
            <a:noFill/>
          </a:ln>
        </p:spPr>
        <p:txBody>
          <a:bodyPr spcFirstLastPara="1" wrap="square" lIns="91425" tIns="45700" rIns="91425" bIns="45700" anchor="t" anchorCtr="0">
            <a:noAutofit/>
          </a:bodyPr>
          <a:lstStyle/>
          <a:p>
            <a:pPr marL="457200" lvl="0" indent="-311150" algn="l" rtl="0">
              <a:lnSpc>
                <a:spcPct val="115000"/>
              </a:lnSpc>
              <a:spcBef>
                <a:spcPts val="0"/>
              </a:spcBef>
              <a:spcAft>
                <a:spcPts val="0"/>
              </a:spcAft>
              <a:buSzPts val="1300"/>
              <a:buChar char="•"/>
            </a:pPr>
            <a:r>
              <a:rPr lang="en" sz="1300"/>
              <a:t>The Sirval execution team must receive daily data information for all retailers/stores that provide us with daily input files.</a:t>
            </a:r>
            <a:endParaRPr sz="1300"/>
          </a:p>
          <a:p>
            <a:pPr marL="457200" lvl="0" indent="-311150" algn="l" rtl="0">
              <a:lnSpc>
                <a:spcPct val="115000"/>
              </a:lnSpc>
              <a:spcBef>
                <a:spcPts val="0"/>
              </a:spcBef>
              <a:spcAft>
                <a:spcPts val="0"/>
              </a:spcAft>
              <a:buSzPts val="1300"/>
              <a:buChar char="•"/>
            </a:pPr>
            <a:r>
              <a:rPr lang="en" sz="1300"/>
              <a:t>In RFE version 5, a report can be extracted at retailer level holding all the daily data information. The RFE team must provide us this information before the Sirval execution team starts with Fova handling.</a:t>
            </a:r>
            <a:endParaRPr sz="1300"/>
          </a:p>
          <a:p>
            <a:pPr marL="457200" lvl="0" indent="-311150" algn="l" rtl="0">
              <a:lnSpc>
                <a:spcPct val="115000"/>
              </a:lnSpc>
              <a:spcBef>
                <a:spcPts val="0"/>
              </a:spcBef>
              <a:spcAft>
                <a:spcPts val="0"/>
              </a:spcAft>
              <a:buSzPts val="1300"/>
              <a:buChar char="•"/>
            </a:pPr>
            <a:r>
              <a:rPr lang="en" sz="1300"/>
              <a:t>The files will be shared from RFE via an automatically created email. The operator need to make sure the email is send to all relevant email group address.</a:t>
            </a:r>
            <a:endParaRPr sz="1300"/>
          </a:p>
          <a:p>
            <a:pPr marL="457200" lvl="0" indent="-311150" algn="l" rtl="0">
              <a:lnSpc>
                <a:spcPct val="115000"/>
              </a:lnSpc>
              <a:spcBef>
                <a:spcPts val="0"/>
              </a:spcBef>
              <a:spcAft>
                <a:spcPts val="0"/>
              </a:spcAft>
              <a:buSzPts val="1300"/>
              <a:buChar char="•"/>
            </a:pPr>
            <a:r>
              <a:rPr lang="en" sz="1300"/>
              <a:t>In case the batchid sent from RFE to Sirval is containing all the stores of a retailer, the file must be provided together with the rawdata. In case the batchid contains a certain number of stores for a particular retailer, the same rule applies. In case, a batchid per shop is created, the file must only be sent to the Sirval team when a certain number of shops per retailer have been reformatted to sirpair files. In this case, clear rules and timelines must be discussed between both teams.</a:t>
            </a:r>
            <a:endParaRPr sz="1300"/>
          </a:p>
          <a:p>
            <a:pPr marL="457200" lvl="0" indent="-311150" algn="l" rtl="0">
              <a:lnSpc>
                <a:spcPct val="115000"/>
              </a:lnSpc>
              <a:spcBef>
                <a:spcPts val="0"/>
              </a:spcBef>
              <a:spcAft>
                <a:spcPts val="0"/>
              </a:spcAft>
              <a:buSzPts val="1300"/>
              <a:buChar char="•"/>
            </a:pPr>
            <a:r>
              <a:rPr lang="en" sz="1300"/>
              <a:t>Whenever daily data info is available, this info must be used additional to the existing Fova reports to judge on the quality of the incoming stores data and on the potential actions to take.</a:t>
            </a:r>
            <a:endParaRPr sz="1300"/>
          </a:p>
          <a:p>
            <a:pPr marL="457200" lvl="0" indent="-311150" algn="l" rtl="0">
              <a:lnSpc>
                <a:spcPct val="115000"/>
              </a:lnSpc>
              <a:spcBef>
                <a:spcPts val="0"/>
              </a:spcBef>
              <a:spcAft>
                <a:spcPts val="0"/>
              </a:spcAft>
              <a:buSzPts val="1300"/>
              <a:buChar char="•"/>
            </a:pPr>
            <a:r>
              <a:rPr lang="en" sz="1300"/>
              <a:t>Missing day information as well as inconsistencies in the daily data must (during Fova handling) be xchecked with RFE team and the retailer itself if required.</a:t>
            </a:r>
            <a:endParaRPr sz="1300"/>
          </a:p>
          <a:p>
            <a:pPr marL="0" lvl="0" indent="0" algn="l" rtl="0">
              <a:lnSpc>
                <a:spcPct val="115000"/>
              </a:lnSpc>
              <a:spcBef>
                <a:spcPts val="0"/>
              </a:spcBef>
              <a:spcAft>
                <a:spcPts val="0"/>
              </a:spcAft>
              <a:buNone/>
            </a:pPr>
            <a:endParaRPr sz="1300"/>
          </a:p>
        </p:txBody>
      </p:sp>
    </p:spTree>
  </p:cSld>
  <p:clrMapOvr>
    <a:overrideClrMapping bg1="lt1" tx1="dk1" bg2="lt2" tx2="dk2" accent1="accent1" accent2="accent2" accent3="accent3" accent4="accent4" accent5="accent5" accent6="accent6" hlink="hlink" folHlink="folHlink"/>
  </p:clrMapOvr>
</p:sld>
</file>

<file path=ppt/slides/slide10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85"/>
        <p:cNvGrpSpPr/>
        <p:nvPr/>
      </p:nvGrpSpPr>
      <p:grpSpPr>
        <a:xfrm>
          <a:off x="0" y="0"/>
          <a:ext cx="0" cy="0"/>
          <a:chOff x="0" y="0"/>
          <a:chExt cx="0" cy="0"/>
        </a:xfrm>
      </p:grpSpPr>
      <p:sp>
        <p:nvSpPr>
          <p:cNvPr id="1286" name="Google Shape;1286;p165"/>
          <p:cNvSpPr txBox="1">
            <a:spLocks noGrp="1"/>
          </p:cNvSpPr>
          <p:nvPr>
            <p:ph type="title"/>
          </p:nvPr>
        </p:nvSpPr>
        <p:spPr>
          <a:xfrm>
            <a:off x="318225" y="708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solidFill>
                  <a:schemeClr val="dk1"/>
                </a:solidFill>
              </a:rPr>
              <a:t>Rules &amp; Restriction - </a:t>
            </a:r>
            <a:r>
              <a:rPr lang="en" sz="2600"/>
              <a:t>Daily Data</a:t>
            </a:r>
            <a:endParaRPr sz="2600"/>
          </a:p>
        </p:txBody>
      </p:sp>
      <p:sp>
        <p:nvSpPr>
          <p:cNvPr id="1287" name="Google Shape;1287;p165"/>
          <p:cNvSpPr txBox="1">
            <a:spLocks noGrp="1"/>
          </p:cNvSpPr>
          <p:nvPr>
            <p:ph type="body" idx="1"/>
          </p:nvPr>
        </p:nvSpPr>
        <p:spPr>
          <a:xfrm>
            <a:off x="318225" y="556925"/>
            <a:ext cx="8725500" cy="4462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 sz="1050"/>
              <a:t>What is a missing day?</a:t>
            </a:r>
            <a:endParaRPr sz="1050"/>
          </a:p>
          <a:p>
            <a:pPr marL="0" lvl="0" indent="0" algn="l" rtl="0">
              <a:lnSpc>
                <a:spcPct val="115000"/>
              </a:lnSpc>
              <a:spcBef>
                <a:spcPts val="0"/>
              </a:spcBef>
              <a:spcAft>
                <a:spcPts val="0"/>
              </a:spcAft>
              <a:buNone/>
            </a:pPr>
            <a:endParaRPr sz="1050"/>
          </a:p>
          <a:p>
            <a:pPr marL="0" indent="0">
              <a:lnSpc>
                <a:spcPct val="115000"/>
              </a:lnSpc>
              <a:buNone/>
            </a:pPr>
            <a:r>
              <a:rPr lang="en" sz="1050"/>
              <a:t>A day when the data is  expected but not received in the input is called a missing day. Normal bank holiday or store closure days will not be considered as Missing days and they need to be communicated in advance.</a:t>
            </a:r>
            <a:endParaRPr sz="1050"/>
          </a:p>
          <a:p>
            <a:pPr marL="0" lvl="0" indent="0" algn="l" rtl="0">
              <a:lnSpc>
                <a:spcPct val="115000"/>
              </a:lnSpc>
              <a:spcBef>
                <a:spcPts val="0"/>
              </a:spcBef>
              <a:spcAft>
                <a:spcPts val="0"/>
              </a:spcAft>
              <a:buNone/>
            </a:pPr>
            <a:r>
              <a:rPr lang="en" sz="1050"/>
              <a:t>These rules will be valid only for the retailers for which reliable daily sales information is received.</a:t>
            </a:r>
            <a:endParaRPr sz="1050"/>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r>
              <a:rPr lang="en" sz="1050" u="sng"/>
              <a:t>Census</a:t>
            </a:r>
            <a:endParaRPr sz="1050" u="sng"/>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r>
              <a:rPr lang="en" sz="1050"/>
              <a:t>If a day is missing for full retailer need to be captured from the retailer check.</a:t>
            </a:r>
            <a:endParaRPr sz="1050"/>
          </a:p>
          <a:p>
            <a:pPr marL="0" indent="0">
              <a:lnSpc>
                <a:spcPct val="115000"/>
              </a:lnSpc>
              <a:buNone/>
            </a:pPr>
            <a:r>
              <a:rPr lang="en" sz="1050"/>
              <a:t>If one/more day(s) is missing for one/few census store of a particular retailer, we accept the data, excluded  if we have received prior information is received for missing day (e.g. technical issue).</a:t>
            </a:r>
            <a:endParaRPr sz="1050"/>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r>
              <a:rPr lang="en" sz="1050" u="sng"/>
              <a:t>Sample</a:t>
            </a:r>
            <a:endParaRPr sz="1050" u="sng"/>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r>
              <a:rPr lang="en" sz="1050"/>
              <a:t>If a day is missing for full retailer need to be captured from the retailer check.</a:t>
            </a:r>
            <a:endParaRPr sz="1050"/>
          </a:p>
          <a:p>
            <a:pPr marL="0" indent="0">
              <a:lnSpc>
                <a:spcPct val="115000"/>
              </a:lnSpc>
              <a:buNone/>
            </a:pPr>
            <a:r>
              <a:rPr lang="en" sz="1050"/>
              <a:t>If one/more day(s) is missing for one/few sample store of a particular retailer, Data need to be factored/Estimated based on salvation rules.</a:t>
            </a:r>
            <a:endParaRPr sz="1050"/>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r>
              <a:rPr lang="en" sz="1050" u="sng"/>
              <a:t>Salvation Rule for missing day(s):-</a:t>
            </a:r>
            <a:endParaRPr sz="1050" u="sng"/>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r>
              <a:rPr lang="en" sz="1050"/>
              <a:t>If 2 or more days are missing then store must be Estimated.</a:t>
            </a:r>
            <a:endParaRPr sz="1050"/>
          </a:p>
          <a:p>
            <a:pPr marL="0" lvl="0" indent="0" algn="l" rtl="0">
              <a:lnSpc>
                <a:spcPct val="115000"/>
              </a:lnSpc>
              <a:spcBef>
                <a:spcPts val="0"/>
              </a:spcBef>
              <a:spcAft>
                <a:spcPts val="0"/>
              </a:spcAft>
              <a:buNone/>
            </a:pPr>
            <a:r>
              <a:rPr lang="en" sz="1050"/>
              <a:t>If the weight of the day is higher than other days and miss a part of the assortment sold in a week then it must be estimated (</a:t>
            </a:r>
            <a:r>
              <a:rPr lang="en" sz="1050" err="1"/>
              <a:t>fex</a:t>
            </a:r>
            <a:r>
              <a:rPr lang="en" sz="1050"/>
              <a:t> Friday or Saturday for a hypermarket).</a:t>
            </a:r>
            <a:endParaRPr sz="1050"/>
          </a:p>
          <a:p>
            <a:pPr marL="0" lvl="0" indent="0" algn="l" rtl="0">
              <a:lnSpc>
                <a:spcPct val="115000"/>
              </a:lnSpc>
              <a:spcBef>
                <a:spcPts val="0"/>
              </a:spcBef>
              <a:spcAft>
                <a:spcPts val="0"/>
              </a:spcAft>
              <a:buNone/>
            </a:pPr>
            <a:r>
              <a:rPr lang="en" sz="1050"/>
              <a:t>For all other missing day store need to be factor (the factor value must adjust the </a:t>
            </a:r>
            <a:r>
              <a:rPr lang="en" sz="1050" err="1"/>
              <a:t>Rawdata</a:t>
            </a:r>
            <a:r>
              <a:rPr lang="en" sz="1050"/>
              <a:t> to the expected level).</a:t>
            </a:r>
            <a:endParaRPr sz="1050"/>
          </a:p>
          <a:p>
            <a:pPr marL="0" lvl="0" indent="0" algn="l" rtl="0">
              <a:lnSpc>
                <a:spcPct val="115000"/>
              </a:lnSpc>
              <a:spcBef>
                <a:spcPts val="0"/>
              </a:spcBef>
              <a:spcAft>
                <a:spcPts val="0"/>
              </a:spcAft>
              <a:buNone/>
            </a:pPr>
            <a:endParaRPr sz="1050"/>
          </a:p>
          <a:p>
            <a:pPr marL="0" lvl="0" indent="0" algn="l" rtl="0">
              <a:lnSpc>
                <a:spcPct val="115000"/>
              </a:lnSpc>
              <a:spcBef>
                <a:spcPts val="0"/>
              </a:spcBef>
              <a:spcAft>
                <a:spcPts val="0"/>
              </a:spcAft>
              <a:buNone/>
            </a:pPr>
            <a:endParaRPr sz="1050"/>
          </a:p>
        </p:txBody>
      </p:sp>
    </p:spTree>
  </p:cSld>
  <p:clrMapOvr>
    <a:overrideClrMapping bg1="lt1" tx1="dk1" bg2="lt2" tx2="dk2" accent1="accent1" accent2="accent2" accent3="accent3" accent4="accent4" accent5="accent5" accent6="accent6" hlink="hlink" folHlink="folHlink"/>
  </p:clrMapOvr>
</p:sld>
</file>

<file path=ppt/slides/slide10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1"/>
        <p:cNvGrpSpPr/>
        <p:nvPr/>
      </p:nvGrpSpPr>
      <p:grpSpPr>
        <a:xfrm>
          <a:off x="0" y="0"/>
          <a:ext cx="0" cy="0"/>
          <a:chOff x="0" y="0"/>
          <a:chExt cx="0" cy="0"/>
        </a:xfrm>
      </p:grpSpPr>
      <p:sp>
        <p:nvSpPr>
          <p:cNvPr id="1292" name="Google Shape;1292;p166"/>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Smart way of FOVA checking</a:t>
            </a:r>
            <a:endParaRPr/>
          </a:p>
        </p:txBody>
      </p:sp>
      <p:sp>
        <p:nvSpPr>
          <p:cNvPr id="1293" name="Google Shape;1293;p166"/>
          <p:cNvSpPr txBox="1">
            <a:spLocks noGrp="1"/>
          </p:cNvSpPr>
          <p:nvPr>
            <p:ph type="body" idx="1"/>
          </p:nvPr>
        </p:nvSpPr>
        <p:spPr>
          <a:xfrm>
            <a:off x="419825" y="647929"/>
            <a:ext cx="8191500" cy="3437400"/>
          </a:xfrm>
          <a:prstGeom prst="rect">
            <a:avLst/>
          </a:prstGeom>
          <a:noFill/>
          <a:ln>
            <a:noFill/>
          </a:ln>
        </p:spPr>
        <p:txBody>
          <a:bodyPr spcFirstLastPara="1" wrap="square" lIns="91425" tIns="45700" rIns="91425" bIns="45700" anchor="t" anchorCtr="0">
            <a:noAutofit/>
          </a:bodyPr>
          <a:lstStyle/>
          <a:p>
            <a:pPr marL="0" lvl="0" indent="0" algn="l" rtl="0">
              <a:lnSpc>
                <a:spcPct val="133333"/>
              </a:lnSpc>
              <a:spcBef>
                <a:spcPts val="0"/>
              </a:spcBef>
              <a:spcAft>
                <a:spcPts val="0"/>
              </a:spcAft>
              <a:buClr>
                <a:srgbClr val="5F5F5F"/>
              </a:buClr>
              <a:buSzPts val="1800"/>
              <a:buNone/>
            </a:pPr>
            <a:r>
              <a:rPr lang="en" sz="1400" b="1">
                <a:solidFill>
                  <a:srgbClr val="000000"/>
                </a:solidFill>
                <a:latin typeface="Arial"/>
                <a:ea typeface="Arial"/>
                <a:cs typeface="Arial"/>
                <a:sym typeface="Arial"/>
              </a:rPr>
              <a:t>Requirements</a:t>
            </a:r>
            <a:endParaRPr sz="1400" b="1">
              <a:solidFill>
                <a:srgbClr val="000000"/>
              </a:solidFill>
              <a:latin typeface="Arial"/>
              <a:ea typeface="Arial"/>
              <a:cs typeface="Arial"/>
              <a:sym typeface="Arial"/>
            </a:endParaRPr>
          </a:p>
          <a:p>
            <a:pPr marL="169862" lvl="0" indent="-144462" algn="l" rtl="0">
              <a:lnSpc>
                <a:spcPct val="133333"/>
              </a:lnSpc>
              <a:spcBef>
                <a:spcPts val="600"/>
              </a:spcBef>
              <a:spcAft>
                <a:spcPts val="0"/>
              </a:spcAft>
              <a:buClr>
                <a:srgbClr val="000000"/>
              </a:buClr>
              <a:buSzPts val="1400"/>
              <a:buFont typeface="Noto Sans Symbols"/>
              <a:buChar char="⮚"/>
            </a:pPr>
            <a:r>
              <a:rPr lang="en" sz="1400">
                <a:solidFill>
                  <a:srgbClr val="000000"/>
                </a:solidFill>
                <a:latin typeface="Calibri"/>
                <a:ea typeface="Calibri"/>
                <a:cs typeface="Calibri"/>
                <a:sym typeface="Calibri"/>
              </a:rPr>
              <a:t>When we have more number of stores thrown in YAFA, usually the operator checks the FOVA report for almost all stores. However they are not following all the steps describe in SOP and skip few points which leads to quality issues.</a:t>
            </a:r>
            <a:endParaRPr sz="1400">
              <a:solidFill>
                <a:srgbClr val="000000"/>
              </a:solidFill>
              <a:latin typeface="Calibri"/>
              <a:ea typeface="Calibri"/>
              <a:cs typeface="Calibri"/>
              <a:sym typeface="Calibri"/>
            </a:endParaRPr>
          </a:p>
          <a:p>
            <a:pPr marL="169862" lvl="0" indent="-144462" algn="l" rtl="0">
              <a:lnSpc>
                <a:spcPct val="133333"/>
              </a:lnSpc>
              <a:spcBef>
                <a:spcPts val="600"/>
              </a:spcBef>
              <a:spcAft>
                <a:spcPts val="0"/>
              </a:spcAft>
              <a:buClr>
                <a:srgbClr val="000000"/>
              </a:buClr>
              <a:buSzPts val="1400"/>
              <a:buFont typeface="Noto Sans Symbols"/>
              <a:buChar char="⮚"/>
            </a:pPr>
            <a:r>
              <a:rPr lang="en" sz="1400">
                <a:solidFill>
                  <a:srgbClr val="000000"/>
                </a:solidFill>
                <a:latin typeface="Calibri"/>
                <a:ea typeface="Calibri"/>
                <a:cs typeface="Calibri"/>
                <a:sym typeface="Calibri"/>
              </a:rPr>
              <a:t>On the other hand, if they start checking all FOVA with all steps as described in SOP; it may lead to delay in preparing Rawdata and might impact overall cycle time of the production</a:t>
            </a:r>
            <a:endParaRPr sz="1400">
              <a:solidFill>
                <a:srgbClr val="000000"/>
              </a:solidFill>
              <a:latin typeface="Calibri"/>
              <a:ea typeface="Calibri"/>
              <a:cs typeface="Calibri"/>
              <a:sym typeface="Calibri"/>
            </a:endParaRPr>
          </a:p>
          <a:p>
            <a:pPr marL="0" lvl="0" indent="0" algn="l" rtl="0">
              <a:lnSpc>
                <a:spcPct val="133333"/>
              </a:lnSpc>
              <a:spcBef>
                <a:spcPts val="600"/>
              </a:spcBef>
              <a:spcAft>
                <a:spcPts val="0"/>
              </a:spcAft>
              <a:buClr>
                <a:srgbClr val="5F5F5F"/>
              </a:buClr>
              <a:buSzPts val="1800"/>
              <a:buNone/>
            </a:pPr>
            <a:r>
              <a:rPr lang="en" sz="1400" b="1">
                <a:solidFill>
                  <a:srgbClr val="000000"/>
                </a:solidFill>
                <a:latin typeface="Arial"/>
                <a:ea typeface="Arial"/>
                <a:cs typeface="Arial"/>
                <a:sym typeface="Arial"/>
              </a:rPr>
              <a:t>Solution</a:t>
            </a:r>
            <a:endParaRPr sz="1400">
              <a:solidFill>
                <a:srgbClr val="000000"/>
              </a:solidFill>
            </a:endParaRPr>
          </a:p>
          <a:p>
            <a:pPr marL="169862" lvl="0" indent="-144462" algn="l" rtl="0">
              <a:lnSpc>
                <a:spcPct val="133333"/>
              </a:lnSpc>
              <a:spcBef>
                <a:spcPts val="600"/>
              </a:spcBef>
              <a:spcAft>
                <a:spcPts val="0"/>
              </a:spcAft>
              <a:buClr>
                <a:srgbClr val="000000"/>
              </a:buClr>
              <a:buSzPts val="1400"/>
              <a:buFont typeface="Noto Sans Symbols"/>
              <a:buChar char="⮚"/>
            </a:pPr>
            <a:r>
              <a:rPr lang="en" sz="1400">
                <a:solidFill>
                  <a:srgbClr val="000000"/>
                </a:solidFill>
                <a:latin typeface="Calibri"/>
                <a:ea typeface="Calibri"/>
                <a:cs typeface="Calibri"/>
                <a:sym typeface="Calibri"/>
              </a:rPr>
              <a:t>Using the smart way, the operator can reduce the chances of error &amp; time required to check all FOVA for the retailers. In a way it will help to increase the productivity &amp; reduce the quality issue</a:t>
            </a:r>
            <a:endParaRPr sz="1400">
              <a:solidFill>
                <a:srgbClr val="000000"/>
              </a:solidFill>
            </a:endParaRPr>
          </a:p>
        </p:txBody>
      </p:sp>
    </p:spTree>
  </p:cSld>
  <p:clrMapOvr>
    <a:overrideClrMapping bg1="lt1" tx1="dk1" bg2="lt2" tx2="dk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Smart way of FOVA checking</a:t>
            </a:r>
            <a:endParaRPr/>
          </a:p>
        </p:txBody>
      </p:sp>
      <p:sp>
        <p:nvSpPr>
          <p:cNvPr id="1299" name="Google Shape;1299;p167"/>
          <p:cNvSpPr txBox="1">
            <a:spLocks noGrp="1"/>
          </p:cNvSpPr>
          <p:nvPr>
            <p:ph type="body" idx="1"/>
          </p:nvPr>
        </p:nvSpPr>
        <p:spPr>
          <a:xfrm>
            <a:off x="430213" y="628651"/>
            <a:ext cx="8191500" cy="3320700"/>
          </a:xfrm>
          <a:prstGeom prst="rect">
            <a:avLst/>
          </a:prstGeom>
          <a:noFill/>
          <a:ln>
            <a:noFill/>
          </a:ln>
        </p:spPr>
        <p:txBody>
          <a:bodyPr spcFirstLastPara="1" wrap="square" lIns="91425" tIns="45700" rIns="91425" bIns="45700" anchor="t" anchorCtr="0">
            <a:noAutofit/>
          </a:bodyPr>
          <a:lstStyle/>
          <a:p>
            <a:pPr marL="0" lvl="0" indent="0" algn="l" rtl="0">
              <a:lnSpc>
                <a:spcPct val="133333"/>
              </a:lnSpc>
              <a:spcBef>
                <a:spcPts val="0"/>
              </a:spcBef>
              <a:spcAft>
                <a:spcPts val="0"/>
              </a:spcAft>
              <a:buClr>
                <a:srgbClr val="5F5F5F"/>
              </a:buClr>
              <a:buSzPts val="1800"/>
              <a:buNone/>
            </a:pPr>
            <a:r>
              <a:rPr lang="en" sz="1500" b="1" dirty="0">
                <a:solidFill>
                  <a:srgbClr val="000000"/>
                </a:solidFill>
                <a:latin typeface="Arial"/>
                <a:ea typeface="Arial"/>
                <a:cs typeface="Arial"/>
                <a:sym typeface="Arial"/>
              </a:rPr>
              <a:t>How to check FOVA smartly?</a:t>
            </a:r>
            <a:endParaRPr sz="1500" b="1" dirty="0">
              <a:solidFill>
                <a:srgbClr val="000000"/>
              </a:solidFill>
              <a:latin typeface="Arial"/>
              <a:ea typeface="Arial"/>
              <a:cs typeface="Arial"/>
              <a:sym typeface="Arial"/>
            </a:endParaRPr>
          </a:p>
          <a:p>
            <a:pPr marL="169545" lvl="0" indent="-55245" algn="l" rtl="0">
              <a:lnSpc>
                <a:spcPct val="100000"/>
              </a:lnSpc>
              <a:spcBef>
                <a:spcPts val="0"/>
              </a:spcBef>
              <a:spcAft>
                <a:spcPts val="0"/>
              </a:spcAft>
              <a:buSzPts val="1800"/>
              <a:buFont typeface="Noto Sans Symbols"/>
              <a:buNone/>
            </a:pPr>
            <a:endParaRPr sz="1500">
              <a:solidFill>
                <a:srgbClr val="000000"/>
              </a:solidFill>
              <a:latin typeface="Calibri"/>
              <a:ea typeface="Calibri"/>
              <a:cs typeface="Calibri"/>
            </a:endParaRPr>
          </a:p>
          <a:p>
            <a:pPr marL="169545" lvl="0" indent="-150495" algn="l" rtl="0">
              <a:lnSpc>
                <a:spcPct val="100000"/>
              </a:lnSpc>
              <a:spcBef>
                <a:spcPts val="0"/>
              </a:spcBef>
              <a:spcAft>
                <a:spcPts val="0"/>
              </a:spcAft>
              <a:buClr>
                <a:srgbClr val="000000"/>
              </a:buClr>
              <a:buSzPts val="1500"/>
              <a:buFont typeface="Noto Sans Symbols"/>
              <a:buChar char="⮚"/>
            </a:pPr>
            <a:r>
              <a:rPr lang="en" sz="1500" dirty="0">
                <a:solidFill>
                  <a:srgbClr val="000000"/>
                </a:solidFill>
                <a:latin typeface="Calibri"/>
                <a:ea typeface="Calibri"/>
                <a:cs typeface="Calibri"/>
                <a:sym typeface="Calibri"/>
              </a:rPr>
              <a:t>The operator needs to start checking FOVA retailer wise starting with high priority cases. And needs to check all FOVA NOT OK cases which are thrown in YAFA with high priority</a:t>
            </a:r>
            <a:endParaRPr sz="1500" dirty="0">
              <a:solidFill>
                <a:srgbClr val="000000"/>
              </a:solidFill>
            </a:endParaRPr>
          </a:p>
          <a:p>
            <a:pPr marL="169545" lvl="0" indent="-55245" algn="l" rtl="0">
              <a:lnSpc>
                <a:spcPct val="100000"/>
              </a:lnSpc>
              <a:spcBef>
                <a:spcPts val="0"/>
              </a:spcBef>
              <a:spcAft>
                <a:spcPts val="0"/>
              </a:spcAft>
              <a:buSzPts val="1800"/>
              <a:buFont typeface="Noto Sans Symbols"/>
              <a:buNone/>
            </a:pPr>
            <a:endParaRPr sz="1500">
              <a:solidFill>
                <a:srgbClr val="000000"/>
              </a:solidFill>
              <a:latin typeface="Calibri"/>
              <a:ea typeface="Calibri"/>
              <a:cs typeface="Calibri"/>
            </a:endParaRPr>
          </a:p>
          <a:p>
            <a:pPr marL="169545" lvl="0" indent="-150495" algn="l" rtl="0">
              <a:lnSpc>
                <a:spcPct val="100000"/>
              </a:lnSpc>
              <a:spcBef>
                <a:spcPts val="0"/>
              </a:spcBef>
              <a:spcAft>
                <a:spcPts val="0"/>
              </a:spcAft>
              <a:buClr>
                <a:srgbClr val="000000"/>
              </a:buClr>
              <a:buSzPts val="1500"/>
              <a:buFont typeface="Noto Sans Symbols"/>
              <a:buChar char="⮚"/>
            </a:pPr>
            <a:r>
              <a:rPr lang="en" sz="1500" dirty="0">
                <a:solidFill>
                  <a:srgbClr val="000000"/>
                </a:solidFill>
                <a:latin typeface="Calibri"/>
                <a:ea typeface="Calibri"/>
                <a:cs typeface="Calibri"/>
                <a:sym typeface="Calibri"/>
              </a:rPr>
              <a:t>For the LOW priority FOVA cases, once user has confidence that all the stores which are checked have no issues &amp; remaining all low priority stores can be SET TO OK without checking it, they can do so</a:t>
            </a:r>
            <a:endParaRPr sz="1500" dirty="0">
              <a:solidFill>
                <a:srgbClr val="000000"/>
              </a:solidFill>
              <a:latin typeface="Calibri"/>
              <a:ea typeface="Calibri"/>
              <a:cs typeface="Calibri"/>
            </a:endParaRPr>
          </a:p>
          <a:p>
            <a:pPr marL="169545" lvl="0" indent="-55245" algn="l" rtl="0">
              <a:lnSpc>
                <a:spcPct val="100000"/>
              </a:lnSpc>
              <a:spcBef>
                <a:spcPts val="0"/>
              </a:spcBef>
              <a:spcAft>
                <a:spcPts val="0"/>
              </a:spcAft>
              <a:buSzPts val="1800"/>
              <a:buFont typeface="Noto Sans Symbols"/>
              <a:buNone/>
            </a:pPr>
            <a:endParaRPr sz="1500">
              <a:solidFill>
                <a:srgbClr val="000000"/>
              </a:solidFill>
              <a:latin typeface="Calibri"/>
              <a:ea typeface="Calibri"/>
              <a:cs typeface="Calibri"/>
            </a:endParaRPr>
          </a:p>
          <a:p>
            <a:pPr marL="169545" lvl="0" indent="-150495" algn="l" rtl="0">
              <a:lnSpc>
                <a:spcPct val="100000"/>
              </a:lnSpc>
              <a:spcBef>
                <a:spcPts val="0"/>
              </a:spcBef>
              <a:spcAft>
                <a:spcPts val="0"/>
              </a:spcAft>
              <a:buClr>
                <a:srgbClr val="000000"/>
              </a:buClr>
              <a:buSzPts val="1500"/>
              <a:buFont typeface="Noto Sans Symbols"/>
              <a:buChar char="⮚"/>
            </a:pPr>
            <a:r>
              <a:rPr lang="en" sz="1500" dirty="0">
                <a:solidFill>
                  <a:srgbClr val="000000"/>
                </a:solidFill>
                <a:latin typeface="Calibri"/>
                <a:ea typeface="Calibri"/>
                <a:cs typeface="Calibri"/>
                <a:sym typeface="Calibri"/>
              </a:rPr>
              <a:t>If we have more number of FOVA NOT OK cases with similar tag then also we can apply the same logic that after checking initial few FOVA NOT OK cases, if no issues found, remaining FOVA NOT OK can be SET TO OK without checking any further</a:t>
            </a:r>
            <a:endParaRPr sz="1500" dirty="0">
              <a:solidFill>
                <a:srgbClr val="000000"/>
              </a:solidFill>
              <a:latin typeface="Calibri"/>
              <a:ea typeface="Calibri"/>
              <a:cs typeface="Calibri"/>
            </a:endParaRPr>
          </a:p>
          <a:p>
            <a:pPr marL="169545" lvl="0" indent="-55245" algn="l" rtl="0">
              <a:lnSpc>
                <a:spcPct val="100000"/>
              </a:lnSpc>
              <a:spcBef>
                <a:spcPts val="0"/>
              </a:spcBef>
              <a:spcAft>
                <a:spcPts val="0"/>
              </a:spcAft>
              <a:buSzPts val="1800"/>
              <a:buFont typeface="Noto Sans Symbols"/>
              <a:buNone/>
            </a:pPr>
            <a:endParaRPr sz="1500">
              <a:solidFill>
                <a:srgbClr val="000000"/>
              </a:solidFill>
              <a:latin typeface="Calibri"/>
              <a:ea typeface="Calibri"/>
              <a:cs typeface="Calibri"/>
            </a:endParaRPr>
          </a:p>
          <a:p>
            <a:pPr marL="169545" lvl="0" indent="-150495" algn="l" rtl="0">
              <a:lnSpc>
                <a:spcPct val="100000"/>
              </a:lnSpc>
              <a:spcBef>
                <a:spcPts val="0"/>
              </a:spcBef>
              <a:spcAft>
                <a:spcPts val="0"/>
              </a:spcAft>
              <a:buClr>
                <a:srgbClr val="000000"/>
              </a:buClr>
              <a:buSzPts val="1500"/>
              <a:buFont typeface="Noto Sans Symbols"/>
              <a:buChar char="⮚"/>
            </a:pPr>
            <a:r>
              <a:rPr lang="en" sz="1500" dirty="0">
                <a:solidFill>
                  <a:srgbClr val="000000"/>
                </a:solidFill>
                <a:latin typeface="Calibri"/>
                <a:ea typeface="Calibri"/>
                <a:cs typeface="Calibri"/>
                <a:sym typeface="Calibri"/>
              </a:rPr>
              <a:t>Retailer specific information will also help to reduce the time of doing FOVA. Like DRUG retailers, we always have variation in common items. So if the same issue repeats, the operator can SET TO OK after initial checks on FOVA NOT OK cases</a:t>
            </a:r>
            <a:endParaRPr sz="1500" dirty="0">
              <a:solidFill>
                <a:srgbClr val="000000"/>
              </a:solidFill>
              <a:latin typeface="Calibri"/>
              <a:ea typeface="Calibri"/>
              <a:cs typeface="Calibri"/>
            </a:endParaRPr>
          </a:p>
          <a:p>
            <a:pPr marL="169545" lvl="0" indent="-55245" algn="l" rtl="0">
              <a:lnSpc>
                <a:spcPct val="100000"/>
              </a:lnSpc>
              <a:spcBef>
                <a:spcPts val="0"/>
              </a:spcBef>
              <a:spcAft>
                <a:spcPts val="0"/>
              </a:spcAft>
              <a:buSzPts val="1800"/>
              <a:buFont typeface="Noto Sans Symbols"/>
              <a:buNone/>
            </a:pPr>
            <a:endParaRPr sz="1500">
              <a:solidFill>
                <a:srgbClr val="000000"/>
              </a:solidFill>
              <a:latin typeface="Calibri"/>
              <a:ea typeface="Calibri"/>
              <a:cs typeface="Calibri"/>
            </a:endParaRPr>
          </a:p>
          <a:p>
            <a:pPr marL="169545" lvl="0" indent="-150495" algn="l" rtl="0">
              <a:lnSpc>
                <a:spcPct val="100000"/>
              </a:lnSpc>
              <a:spcBef>
                <a:spcPts val="0"/>
              </a:spcBef>
              <a:spcAft>
                <a:spcPts val="0"/>
              </a:spcAft>
              <a:buClr>
                <a:srgbClr val="000000"/>
              </a:buClr>
              <a:buSzPts val="1500"/>
              <a:buFont typeface="Noto Sans Symbols"/>
              <a:buChar char="⮚"/>
            </a:pPr>
            <a:r>
              <a:rPr lang="en" sz="1500" dirty="0">
                <a:solidFill>
                  <a:srgbClr val="000000"/>
                </a:solidFill>
                <a:latin typeface="Calibri"/>
                <a:ea typeface="Calibri"/>
                <a:cs typeface="Calibri"/>
                <a:sym typeface="Calibri"/>
              </a:rPr>
              <a:t>THE OPERATOR MUST FOLLOW ALL STEPS DESCRIBED WHEN THEY ARE CHECKING FOVA REPORTS. THEY CAN NOT SKIP ANY OF THE STEPS</a:t>
            </a:r>
            <a:endParaRPr sz="1500" dirty="0">
              <a:solidFill>
                <a:srgbClr val="000000"/>
              </a:solidFill>
              <a:latin typeface="Calibri"/>
              <a:ea typeface="Calibri"/>
              <a:cs typeface="Calibri"/>
            </a:endParaRPr>
          </a:p>
        </p:txBody>
      </p:sp>
    </p:spTree>
  </p:cSld>
  <p:clrMapOvr>
    <a:overrideClrMapping bg1="lt1" tx1="dk1" bg2="lt2" tx2="dk2" accent1="accent1" accent2="accent2" accent3="accent3" accent4="accent4" accent5="accent5" accent6="accent6" hlink="hlink" folHlink="folHlink"/>
  </p:clrMapOvr>
</p:sld>
</file>

<file path=ppt/slides/slide10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169545" indent="-150495">
              <a:buClr>
                <a:srgbClr val="000000"/>
              </a:buClr>
              <a:buSzPts val="1500"/>
              <a:buFont typeface="Noto Sans Symbols"/>
              <a:buChar char="⮚"/>
            </a:pPr>
            <a:r>
              <a:rPr lang="en" sz="1500">
                <a:solidFill>
                  <a:srgbClr val="000000"/>
                </a:solidFill>
                <a:latin typeface="Calibri"/>
                <a:ea typeface="Calibri"/>
                <a:cs typeface="Calibri"/>
                <a:sym typeface="Calibri"/>
              </a:rPr>
              <a:t>There are many countries in which they are fallowing the predefined rules to handle the </a:t>
            </a:r>
            <a:r>
              <a:rPr lang="en" sz="1500" err="1">
                <a:solidFill>
                  <a:srgbClr val="000000"/>
                </a:solidFill>
                <a:latin typeface="Calibri"/>
                <a:ea typeface="Calibri"/>
                <a:cs typeface="Calibri"/>
                <a:sym typeface="Calibri"/>
              </a:rPr>
              <a:t>fova</a:t>
            </a:r>
            <a:r>
              <a:rPr lang="en" sz="1500">
                <a:solidFill>
                  <a:srgbClr val="000000"/>
                </a:solidFill>
                <a:latin typeface="Calibri"/>
                <a:ea typeface="Calibri"/>
                <a:cs typeface="Calibri"/>
                <a:sym typeface="Calibri"/>
              </a:rPr>
              <a:t> questionable stores. In this, standard action to be taken on questionable (Not ok) stores and set the stores OK or salvage. This method involves the less effort for the users as need to follow the predefined rule for the retailer.</a:t>
            </a:r>
            <a:endParaRPr lang="en" sz="1500">
              <a:solidFill>
                <a:srgbClr val="000000"/>
              </a:solidFill>
              <a:latin typeface="Calibri"/>
              <a:cs typeface="Calibri"/>
            </a:endParaRPr>
          </a:p>
          <a:p>
            <a:pPr marL="169545" lvl="0" indent="-150495" algn="l">
              <a:lnSpc>
                <a:spcPct val="100000"/>
              </a:lnSpc>
              <a:spcBef>
                <a:spcPts val="0"/>
              </a:spcBef>
              <a:spcAft>
                <a:spcPts val="0"/>
              </a:spcAft>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r>
              <a:rPr lang="en" sz="1500">
                <a:solidFill>
                  <a:srgbClr val="000000"/>
                </a:solidFill>
                <a:latin typeface="Calibri"/>
                <a:ea typeface="Calibri"/>
                <a:cs typeface="Calibri"/>
                <a:sym typeface="Calibri"/>
              </a:rPr>
              <a:t>However, this needs to be automated where stores can be set OK or salvage automatically using certain rules which is used by user manually. For this reason, a new process is introduced which is called as “FOVA AUTOMATION” which can apply </a:t>
            </a:r>
            <a:r>
              <a:rPr lang="en" sz="1500" err="1">
                <a:solidFill>
                  <a:srgbClr val="000000"/>
                </a:solidFill>
                <a:latin typeface="Calibri"/>
                <a:ea typeface="Calibri"/>
                <a:cs typeface="Calibri"/>
                <a:sym typeface="Calibri"/>
              </a:rPr>
              <a:t>Fova</a:t>
            </a:r>
            <a:r>
              <a:rPr lang="en" sz="1500">
                <a:solidFill>
                  <a:srgbClr val="000000"/>
                </a:solidFill>
                <a:latin typeface="Calibri"/>
                <a:ea typeface="Calibri"/>
                <a:cs typeface="Calibri"/>
                <a:sym typeface="Calibri"/>
              </a:rPr>
              <a:t> automation rule automatically. This process is added in GUI screen on below path:</a:t>
            </a:r>
            <a:endParaRPr lang="en" sz="1500">
              <a:solidFill>
                <a:srgbClr val="000000"/>
              </a:solidFill>
              <a:latin typeface="Calibri"/>
              <a:ea typeface="Calibri"/>
              <a:cs typeface="Calibri"/>
            </a:endParaRPr>
          </a:p>
          <a:p>
            <a:pPr marL="169545" lvl="0" indent="-150495" algn="l">
              <a:lnSpc>
                <a:spcPct val="100000"/>
              </a:lnSpc>
              <a:spcBef>
                <a:spcPts val="0"/>
              </a:spcBef>
              <a:spcAft>
                <a:spcPts val="0"/>
              </a:spcAft>
              <a:buSzPts val="1500"/>
              <a:buFont typeface="Noto Sans Symbols"/>
              <a:buChar char="⮚"/>
            </a:pPr>
            <a:endParaRPr lang="en" sz="1500">
              <a:solidFill>
                <a:srgbClr val="000000"/>
              </a:solidFill>
              <a:latin typeface="Calibri"/>
              <a:ea typeface="Calibri"/>
              <a:cs typeface="Calibri"/>
            </a:endParaRPr>
          </a:p>
          <a:p>
            <a:pPr marL="19050" indent="0">
              <a:buClr>
                <a:srgbClr val="000000"/>
              </a:buClr>
              <a:buSzPts val="1500"/>
              <a:buNone/>
            </a:pPr>
            <a:r>
              <a:rPr lang="en" sz="1500">
                <a:solidFill>
                  <a:srgbClr val="000000"/>
                </a:solidFill>
                <a:latin typeface="Calibri"/>
                <a:ea typeface="Calibri"/>
                <a:cs typeface="Calibri"/>
              </a:rPr>
              <a:t>Sys Set up --&gt; </a:t>
            </a:r>
            <a:r>
              <a:rPr lang="en" sz="1500" err="1">
                <a:solidFill>
                  <a:srgbClr val="000000"/>
                </a:solidFill>
                <a:latin typeface="Calibri"/>
                <a:ea typeface="Calibri"/>
                <a:cs typeface="Calibri"/>
              </a:rPr>
              <a:t>Fova</a:t>
            </a:r>
            <a:r>
              <a:rPr lang="en" sz="1500">
                <a:solidFill>
                  <a:srgbClr val="000000"/>
                </a:solidFill>
                <a:latin typeface="Calibri"/>
                <a:ea typeface="Calibri"/>
                <a:cs typeface="Calibri"/>
              </a:rPr>
              <a:t> Automation</a:t>
            </a:r>
          </a:p>
          <a:p>
            <a:pPr marL="19050" indent="0">
              <a:buSzPts val="1500"/>
              <a:buNone/>
            </a:pPr>
            <a:endParaRPr lang="en" sz="1500">
              <a:solidFill>
                <a:srgbClr val="000000"/>
              </a:solidFill>
              <a:latin typeface="Calibri"/>
              <a:ea typeface="Calibri"/>
              <a:cs typeface="Calibri"/>
            </a:endParaRPr>
          </a:p>
          <a:p>
            <a:pPr marL="19050" indent="0">
              <a:buNone/>
            </a:pPr>
            <a:r>
              <a:rPr lang="en" sz="1500">
                <a:solidFill>
                  <a:srgbClr val="000000"/>
                </a:solidFill>
                <a:latin typeface="Calibri"/>
                <a:ea typeface="Calibri"/>
                <a:cs typeface="Calibri"/>
              </a:rPr>
              <a:t>This process is triggered like autoload functionality. Process is triggered on specific time interval as per the selection done by the user and automation rules are applied once the specific % loading gets completed. Once process is triggered it follow the </a:t>
            </a:r>
            <a:r>
              <a:rPr lang="en" sz="1500" err="1">
                <a:solidFill>
                  <a:srgbClr val="000000"/>
                </a:solidFill>
                <a:latin typeface="Calibri"/>
                <a:ea typeface="Calibri"/>
                <a:cs typeface="Calibri"/>
              </a:rPr>
              <a:t>Fova</a:t>
            </a:r>
            <a:r>
              <a:rPr lang="en" sz="1500">
                <a:solidFill>
                  <a:srgbClr val="000000"/>
                </a:solidFill>
                <a:latin typeface="Calibri"/>
                <a:ea typeface="Calibri"/>
                <a:cs typeface="Calibri"/>
              </a:rPr>
              <a:t> automation rule for stores to set ok or Salvage.</a:t>
            </a: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spTree>
    <p:extLst>
      <p:ext uri="{BB962C8B-B14F-4D97-AF65-F5344CB8AC3E}">
        <p14:creationId xmlns:p14="http://schemas.microsoft.com/office/powerpoint/2010/main" val="880165127"/>
      </p:ext>
    </p:extLst>
  </p:cSld>
  <p:clrMapOvr>
    <a:overrideClrMapping bg1="lt1" tx1="dk1" bg2="lt2" tx2="dk2" accent1="accent1" accent2="accent2" accent3="accent3" accent4="accent4" accent5="accent5" accent6="accent6" hlink="hlink" folHlink="folHlink"/>
  </p:clrMapOvr>
</p:sld>
</file>

<file path=ppt/slides/slide10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2" name="Picture 3" descr="Graphical user interface, text, application, email&#10;&#10;Description automatically generated">
            <a:extLst>
              <a:ext uri="{FF2B5EF4-FFF2-40B4-BE49-F238E27FC236}">
                <a16:creationId xmlns:a16="http://schemas.microsoft.com/office/drawing/2014/main" id="{03845A55-0B6A-2690-FB00-1EADA772FC8D}"/>
              </a:ext>
            </a:extLst>
          </p:cNvPr>
          <p:cNvPicPr>
            <a:picLocks noChangeAspect="1"/>
          </p:cNvPicPr>
          <p:nvPr/>
        </p:nvPicPr>
        <p:blipFill>
          <a:blip r:embed="rId4"/>
          <a:stretch>
            <a:fillRect/>
          </a:stretch>
        </p:blipFill>
        <p:spPr>
          <a:xfrm>
            <a:off x="508819" y="1057961"/>
            <a:ext cx="3337744" cy="3847956"/>
          </a:xfrm>
          <a:prstGeom prst="rect">
            <a:avLst/>
          </a:prstGeom>
          <a:ln>
            <a:solidFill>
              <a:schemeClr val="tx1"/>
            </a:solidFill>
          </a:ln>
        </p:spPr>
      </p:pic>
      <p:pic>
        <p:nvPicPr>
          <p:cNvPr id="4" name="Picture 4">
            <a:extLst>
              <a:ext uri="{FF2B5EF4-FFF2-40B4-BE49-F238E27FC236}">
                <a16:creationId xmlns:a16="http://schemas.microsoft.com/office/drawing/2014/main" id="{DF584CAD-D14E-8343-0761-1E9572CB8419}"/>
              </a:ext>
            </a:extLst>
          </p:cNvPr>
          <p:cNvPicPr>
            <a:picLocks noChangeAspect="1"/>
          </p:cNvPicPr>
          <p:nvPr/>
        </p:nvPicPr>
        <p:blipFill>
          <a:blip r:embed="rId5"/>
          <a:stretch>
            <a:fillRect/>
          </a:stretch>
        </p:blipFill>
        <p:spPr>
          <a:xfrm>
            <a:off x="4458160" y="941971"/>
            <a:ext cx="3268611" cy="3791421"/>
          </a:xfrm>
          <a:prstGeom prst="rect">
            <a:avLst/>
          </a:prstGeom>
        </p:spPr>
      </p:pic>
      <p:sp>
        <p:nvSpPr>
          <p:cNvPr id="5" name="TextBox 4">
            <a:extLst>
              <a:ext uri="{FF2B5EF4-FFF2-40B4-BE49-F238E27FC236}">
                <a16:creationId xmlns:a16="http://schemas.microsoft.com/office/drawing/2014/main" id="{C6842501-4113-A6BB-C3AF-F6277B967C16}"/>
              </a:ext>
            </a:extLst>
          </p:cNvPr>
          <p:cNvSpPr txBox="1"/>
          <p:nvPr/>
        </p:nvSpPr>
        <p:spPr>
          <a:xfrm>
            <a:off x="361797" y="677503"/>
            <a:ext cx="691100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User interface:</a:t>
            </a:r>
          </a:p>
        </p:txBody>
      </p:sp>
    </p:spTree>
    <p:extLst>
      <p:ext uri="{BB962C8B-B14F-4D97-AF65-F5344CB8AC3E}">
        <p14:creationId xmlns:p14="http://schemas.microsoft.com/office/powerpoint/2010/main" val="745990831"/>
      </p:ext>
    </p:extLst>
  </p:cSld>
  <p:clrMapOvr>
    <a:overrideClrMapping bg1="lt1" tx1="dk1" bg2="lt2" tx2="dk2" accent1="accent1" accent2="accent2" accent3="accent3" accent4="accent4" accent5="accent5" accent6="accent6" hlink="hlink" folHlink="folHlink"/>
  </p:clrMapOvr>
</p:sld>
</file>

<file path=ppt/slides/slide10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518039"/>
            <a:ext cx="8435770" cy="4532832"/>
          </a:xfrm>
          <a:prstGeom prst="rect">
            <a:avLst/>
          </a:prstGeom>
          <a:noFill/>
          <a:ln>
            <a:noFill/>
          </a:ln>
        </p:spPr>
        <p:txBody>
          <a:bodyPr spcFirstLastPara="1" wrap="square" lIns="91425" tIns="45700" rIns="91425" bIns="45700" anchor="t" anchorCtr="0">
            <a:noAutofit/>
          </a:bodyPr>
          <a:lstStyle/>
          <a:p>
            <a:pPr marL="169545" indent="-150495">
              <a:buClr>
                <a:srgbClr val="000000"/>
              </a:buClr>
              <a:buSzPts val="1500"/>
              <a:buFont typeface="Noto Sans Symbols"/>
              <a:buChar char="⮚"/>
            </a:pPr>
            <a:r>
              <a:rPr lang="en" sz="1500">
                <a:solidFill>
                  <a:srgbClr val="000000"/>
                </a:solidFill>
                <a:latin typeface="Calibri"/>
                <a:ea typeface="Calibri"/>
                <a:cs typeface="Calibri"/>
                <a:sym typeface="Calibri"/>
              </a:rPr>
              <a:t>These Automation rules are set differently for Census and Sample retailer stores. C19 approach follows the simple rule for the stores status to set and those rules are as below:</a:t>
            </a:r>
          </a:p>
          <a:p>
            <a:pPr marL="169545" indent="-150495">
              <a:buClr>
                <a:srgbClr val="000000"/>
              </a:buClr>
              <a:buSzPts val="1500"/>
              <a:buFont typeface="Noto Sans Symbols"/>
              <a:buChar char="⮚"/>
            </a:pPr>
            <a:endParaRPr lang="en" sz="1500">
              <a:solidFill>
                <a:srgbClr val="000000"/>
              </a:solidFill>
              <a:latin typeface="Calibri"/>
              <a:ea typeface="Calibri"/>
              <a:cs typeface="Calibri"/>
              <a:sym typeface="Calibri"/>
            </a:endParaRPr>
          </a:p>
          <a:p>
            <a:pPr marL="626745" lvl="1">
              <a:buClr>
                <a:srgbClr val="000000"/>
              </a:buClr>
              <a:buSzPts val="1500"/>
              <a:buFont typeface="Noto Sans Symbols"/>
              <a:buChar char="⮚"/>
            </a:pPr>
            <a:r>
              <a:rPr lang="en" sz="1300">
                <a:solidFill>
                  <a:srgbClr val="000000"/>
                </a:solidFill>
                <a:latin typeface="Calibri"/>
                <a:ea typeface="Calibri"/>
                <a:cs typeface="Calibri"/>
                <a:sym typeface="Calibri"/>
              </a:rPr>
              <a:t>For Census Retailer: If &lt;3% </a:t>
            </a:r>
            <a:r>
              <a:rPr lang="en" sz="1300" err="1">
                <a:solidFill>
                  <a:srgbClr val="000000"/>
                </a:solidFill>
                <a:latin typeface="Calibri"/>
                <a:ea typeface="Calibri"/>
                <a:cs typeface="Calibri"/>
                <a:sym typeface="Calibri"/>
              </a:rPr>
              <a:t>fova</a:t>
            </a:r>
            <a:r>
              <a:rPr lang="en" sz="1300">
                <a:solidFill>
                  <a:srgbClr val="000000"/>
                </a:solidFill>
                <a:latin typeface="Calibri"/>
                <a:ea typeface="Calibri"/>
                <a:cs typeface="Calibri"/>
                <a:sym typeface="Calibri"/>
              </a:rPr>
              <a:t> not ok stores for Retailer, Automatically SET TO OK all those questionable stores</a:t>
            </a:r>
            <a:endParaRPr lang="en" sz="1300">
              <a:solidFill>
                <a:srgbClr val="000000"/>
              </a:solidFill>
              <a:latin typeface="Calibri"/>
              <a:ea typeface="Calibri"/>
              <a:cs typeface="Calibri"/>
            </a:endParaRPr>
          </a:p>
          <a:p>
            <a:pPr marL="626745" lvl="1">
              <a:buClr>
                <a:srgbClr val="000000"/>
              </a:buClr>
              <a:buSzPts val="1500"/>
              <a:buFont typeface="Noto Sans Symbols"/>
              <a:buChar char="⮚"/>
            </a:pPr>
            <a:r>
              <a:rPr lang="en" sz="1300">
                <a:solidFill>
                  <a:srgbClr val="000000"/>
                </a:solidFill>
                <a:latin typeface="Calibri"/>
                <a:ea typeface="Calibri"/>
                <a:cs typeface="Calibri"/>
                <a:sym typeface="Calibri"/>
              </a:rPr>
              <a:t>For Sample Retailer: If &lt;3% </a:t>
            </a:r>
            <a:r>
              <a:rPr lang="en" sz="1300" err="1">
                <a:solidFill>
                  <a:srgbClr val="000000"/>
                </a:solidFill>
                <a:latin typeface="Calibri"/>
                <a:ea typeface="Calibri"/>
                <a:cs typeface="Calibri"/>
                <a:sym typeface="Calibri"/>
              </a:rPr>
              <a:t>fova</a:t>
            </a:r>
            <a:r>
              <a:rPr lang="en" sz="1300">
                <a:solidFill>
                  <a:srgbClr val="000000"/>
                </a:solidFill>
                <a:latin typeface="Calibri"/>
                <a:ea typeface="Calibri"/>
                <a:cs typeface="Calibri"/>
                <a:sym typeface="Calibri"/>
              </a:rPr>
              <a:t> not ok stores for Retailer, Automatically Apply Salvation(Estimate) on all those questionable stores  </a:t>
            </a:r>
            <a:endParaRPr lang="en" sz="1300">
              <a:solidFill>
                <a:srgbClr val="000000"/>
              </a:solidFill>
              <a:latin typeface="Calibri"/>
              <a:ea typeface="Calibri"/>
              <a:cs typeface="Calibri"/>
            </a:endParaRPr>
          </a:p>
          <a:p>
            <a:pPr marL="169545" indent="-150495">
              <a:buClr>
                <a:srgbClr val="000000"/>
              </a:buClr>
              <a:buSzPts val="1500"/>
              <a:buFont typeface="Noto Sans Symbols"/>
              <a:buChar char="⮚"/>
            </a:pPr>
            <a:endParaRPr lang="en" sz="1500">
              <a:solidFill>
                <a:srgbClr val="000000"/>
              </a:solidFill>
              <a:latin typeface="Calibri"/>
              <a:ea typeface="Calibri"/>
              <a:cs typeface="Calibri"/>
              <a:sym typeface="Calibri"/>
            </a:endParaRPr>
          </a:p>
          <a:p>
            <a:pPr marL="169545" indent="-150495">
              <a:buClr>
                <a:srgbClr val="000000"/>
              </a:buClr>
              <a:buSzPts val="1500"/>
              <a:buFont typeface="Noto Sans Symbols"/>
              <a:buChar char="⮚"/>
            </a:pPr>
            <a:r>
              <a:rPr lang="en" sz="1500">
                <a:solidFill>
                  <a:srgbClr val="000000"/>
                </a:solidFill>
                <a:latin typeface="Calibri"/>
                <a:ea typeface="Calibri"/>
                <a:cs typeface="Calibri"/>
                <a:sym typeface="Calibri"/>
              </a:rPr>
              <a:t>There are few cases which are out scope from this </a:t>
            </a:r>
            <a:r>
              <a:rPr lang="en" sz="1500" err="1">
                <a:solidFill>
                  <a:srgbClr val="000000"/>
                </a:solidFill>
                <a:latin typeface="Calibri"/>
                <a:ea typeface="Calibri"/>
                <a:cs typeface="Calibri"/>
                <a:sym typeface="Calibri"/>
              </a:rPr>
              <a:t>Fova</a:t>
            </a:r>
            <a:r>
              <a:rPr lang="en" sz="1500">
                <a:solidFill>
                  <a:srgbClr val="000000"/>
                </a:solidFill>
                <a:latin typeface="Calibri"/>
                <a:ea typeface="Calibri"/>
                <a:cs typeface="Calibri"/>
                <a:sym typeface="Calibri"/>
              </a:rPr>
              <a:t> automation rules, and they are as below:</a:t>
            </a:r>
            <a:endParaRPr lang="en" sz="1500">
              <a:solidFill>
                <a:srgbClr val="000000"/>
              </a:solidFill>
              <a:latin typeface="Calibri"/>
              <a:ea typeface="Calibri"/>
              <a:cs typeface="Calibri"/>
            </a:endParaRPr>
          </a:p>
          <a:p>
            <a:pPr marL="169545" indent="-150495">
              <a:buSzPts val="1500"/>
              <a:buFont typeface="Noto Sans Symbols"/>
              <a:buChar char="⮚"/>
            </a:pPr>
            <a:endParaRPr lang="en" sz="1500">
              <a:solidFill>
                <a:srgbClr val="000000"/>
              </a:solidFill>
              <a:latin typeface="Calibri"/>
              <a:ea typeface="Calibri"/>
              <a:cs typeface="Calibri"/>
            </a:endParaRPr>
          </a:p>
          <a:p>
            <a:pPr marL="169545" indent="-150495">
              <a:buSzPts val="1500"/>
              <a:buFont typeface="Noto Sans Symbols"/>
              <a:buChar char="⮚"/>
            </a:pPr>
            <a:r>
              <a:rPr lang="en" sz="1500">
                <a:solidFill>
                  <a:srgbClr val="000000"/>
                </a:solidFill>
                <a:latin typeface="Calibri"/>
                <a:ea typeface="Calibri"/>
                <a:cs typeface="Calibri"/>
              </a:rPr>
              <a:t>Retailers which do not fall under FOVA automation rule, will be treated as BAU. </a:t>
            </a:r>
            <a:endParaRPr lang="en" sz="1500">
              <a:solidFill>
                <a:srgbClr val="000000"/>
              </a:solidFill>
            </a:endParaRPr>
          </a:p>
          <a:p>
            <a:pPr marL="169545" indent="-150495">
              <a:buSzPts val="1500"/>
              <a:buFont typeface="Noto Sans Symbols"/>
              <a:buChar char="⮚"/>
            </a:pPr>
            <a:r>
              <a:rPr lang="en" sz="1500">
                <a:solidFill>
                  <a:srgbClr val="000000"/>
                </a:solidFill>
                <a:latin typeface="Calibri"/>
                <a:ea typeface="Calibri"/>
                <a:cs typeface="Calibri"/>
              </a:rPr>
              <a:t>TTR retailers are out of scope as we are not running </a:t>
            </a:r>
            <a:r>
              <a:rPr lang="en" sz="1500" err="1">
                <a:solidFill>
                  <a:srgbClr val="000000"/>
                </a:solidFill>
                <a:latin typeface="Calibri"/>
                <a:ea typeface="Calibri"/>
                <a:cs typeface="Calibri"/>
              </a:rPr>
              <a:t>fova</a:t>
            </a:r>
            <a:r>
              <a:rPr lang="en" sz="1500">
                <a:solidFill>
                  <a:srgbClr val="000000"/>
                </a:solidFill>
                <a:latin typeface="Calibri"/>
                <a:ea typeface="Calibri"/>
                <a:cs typeface="Calibri"/>
              </a:rPr>
              <a:t> on these stores. Due to this, TTR stores are excluded from </a:t>
            </a:r>
            <a:r>
              <a:rPr lang="en" sz="1500" err="1">
                <a:solidFill>
                  <a:srgbClr val="000000"/>
                </a:solidFill>
                <a:latin typeface="Calibri"/>
                <a:ea typeface="Calibri"/>
                <a:cs typeface="Calibri"/>
              </a:rPr>
              <a:t>Fova</a:t>
            </a:r>
            <a:r>
              <a:rPr lang="en" sz="1500">
                <a:solidFill>
                  <a:srgbClr val="000000"/>
                </a:solidFill>
                <a:latin typeface="Calibri"/>
                <a:ea typeface="Calibri"/>
                <a:cs typeface="Calibri"/>
              </a:rPr>
              <a:t> automation rule. TTR stores are by default excluded from this process based on the already country set up parameter “TTR_STORE_LIST”.</a:t>
            </a:r>
            <a:endParaRPr lang="en" sz="1500"/>
          </a:p>
          <a:p>
            <a:pPr marL="169545" indent="-150495">
              <a:buClr>
                <a:srgbClr val="000000"/>
              </a:buClr>
              <a:buSzPts val="1500"/>
              <a:buFont typeface="Noto Sans Symbols"/>
              <a:buChar char="⮚"/>
            </a:pPr>
            <a:r>
              <a:rPr lang="en" sz="1500">
                <a:solidFill>
                  <a:srgbClr val="000000"/>
                </a:solidFill>
                <a:latin typeface="Calibri"/>
                <a:ea typeface="Calibri"/>
                <a:cs typeface="Calibri"/>
              </a:rPr>
              <a:t>ECOM, TTR, Special retailers, Daily Data reception are Out of Scope from  </a:t>
            </a:r>
            <a:r>
              <a:rPr lang="en" sz="1500" err="1">
                <a:solidFill>
                  <a:srgbClr val="000000"/>
                </a:solidFill>
                <a:latin typeface="Calibri"/>
                <a:ea typeface="Calibri"/>
                <a:cs typeface="Calibri"/>
              </a:rPr>
              <a:t>fova</a:t>
            </a:r>
            <a:r>
              <a:rPr lang="en" sz="1500">
                <a:solidFill>
                  <a:srgbClr val="000000"/>
                </a:solidFill>
                <a:latin typeface="Calibri"/>
                <a:ea typeface="Calibri"/>
                <a:cs typeface="Calibri"/>
              </a:rPr>
              <a:t> automation Rule.</a:t>
            </a:r>
          </a:p>
          <a:p>
            <a:pPr marL="169545" indent="-150495">
              <a:buSzPts val="1500"/>
              <a:buFont typeface="Noto Sans Symbols"/>
              <a:buChar char="⮚"/>
            </a:pPr>
            <a:r>
              <a:rPr lang="en" sz="1500">
                <a:solidFill>
                  <a:srgbClr val="000000"/>
                </a:solidFill>
                <a:latin typeface="Calibri"/>
                <a:ea typeface="Calibri"/>
                <a:cs typeface="Calibri"/>
              </a:rPr>
              <a:t>Mixed retailers are those retailers in which we can have some stores in sample and some in census. For such retailer, need to mention in store char "AC_STORE_CHAR6" which are store census and sample by putting "C" or "S" respectively. Based on that sample and census rule applied on mixed retailer. </a:t>
            </a:r>
            <a:endParaRPr lang="en"/>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spTree>
    <p:extLst>
      <p:ext uri="{BB962C8B-B14F-4D97-AF65-F5344CB8AC3E}">
        <p14:creationId xmlns:p14="http://schemas.microsoft.com/office/powerpoint/2010/main" val="2554162873"/>
      </p:ext>
    </p:extLst>
  </p:cSld>
  <p:clrMapOvr>
    <a:overrideClrMapping bg1="lt1" tx1="dk1" bg2="lt2" tx2="dk2" accent1="accent1" accent2="accent2" accent3="accent3" accent4="accent4" accent5="accent5" accent6="accent6" hlink="hlink" folHlink="folHlink"/>
  </p:clrMapOvr>
</p:sld>
</file>

<file path=ppt/slides/slide10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169545" indent="-150495">
              <a:buClr>
                <a:srgbClr val="000000"/>
              </a:buClr>
              <a:buSzPts val="1500"/>
              <a:buFont typeface="Noto Sans Symbols"/>
              <a:buChar char="⮚"/>
            </a:pPr>
            <a:r>
              <a:rPr lang="en" sz="1500">
                <a:solidFill>
                  <a:srgbClr val="000000"/>
                </a:solidFill>
                <a:latin typeface="Calibri"/>
                <a:ea typeface="Calibri"/>
                <a:cs typeface="Calibri"/>
                <a:sym typeface="Calibri"/>
              </a:rPr>
              <a:t>Below</a:t>
            </a:r>
            <a:r>
              <a:rPr lang="en" sz="1500">
                <a:solidFill>
                  <a:srgbClr val="000000"/>
                </a:solidFill>
                <a:latin typeface="Calibri"/>
                <a:ea typeface="Calibri"/>
                <a:cs typeface="Calibri"/>
              </a:rPr>
              <a:t> example will give better understanding of </a:t>
            </a:r>
            <a:r>
              <a:rPr lang="en" sz="1500" err="1">
                <a:solidFill>
                  <a:srgbClr val="000000"/>
                </a:solidFill>
                <a:latin typeface="Calibri"/>
                <a:ea typeface="Calibri"/>
                <a:cs typeface="Calibri"/>
              </a:rPr>
              <a:t>fova</a:t>
            </a:r>
            <a:r>
              <a:rPr lang="en" sz="1500">
                <a:solidFill>
                  <a:srgbClr val="000000"/>
                </a:solidFill>
                <a:latin typeface="Calibri"/>
                <a:ea typeface="Calibri"/>
                <a:cs typeface="Calibri"/>
              </a:rPr>
              <a:t> automation approach:</a:t>
            </a: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a:p>
            <a:pPr marL="169545" indent="-150495">
              <a:buClr>
                <a:srgbClr val="000000"/>
              </a:buClr>
              <a:buSzPts val="1500"/>
              <a:buFont typeface="Noto Sans Symbols"/>
              <a:buChar char="⮚"/>
            </a:pPr>
            <a:r>
              <a:rPr lang="en" sz="1500">
                <a:solidFill>
                  <a:srgbClr val="000000"/>
                </a:solidFill>
                <a:latin typeface="Calibri"/>
                <a:cs typeface="Calibri"/>
              </a:rPr>
              <a:t>Now to apply this rules we need to provide some information to process in order to identify the retailer.</a:t>
            </a:r>
          </a:p>
          <a:p>
            <a:pPr marL="169545" indent="-150495">
              <a:buClr>
                <a:srgbClr val="000000"/>
              </a:buClr>
              <a:buSzPts val="1500"/>
              <a:buFont typeface="Noto Sans Symbols"/>
              <a:buChar char="⮚"/>
            </a:pPr>
            <a:r>
              <a:rPr lang="en" sz="1500">
                <a:solidFill>
                  <a:srgbClr val="000000"/>
                </a:solidFill>
                <a:latin typeface="Calibri"/>
                <a:cs typeface="Calibri"/>
              </a:rPr>
              <a:t>So, basically here we need to bifurcate the retailer that whether they are census or sample or mixed retailer (Some stores are census, and some are sample) then only process will apply the automatic rule on those retailer.</a:t>
            </a:r>
          </a:p>
          <a:p>
            <a:pPr marL="169545" indent="-150495">
              <a:buClr>
                <a:srgbClr val="000000"/>
              </a:buClr>
              <a:buSzPts val="1500"/>
              <a:buFont typeface="Noto Sans Symbols"/>
              <a:buChar char="⮚"/>
            </a:pPr>
            <a:r>
              <a:rPr lang="en" sz="1500">
                <a:solidFill>
                  <a:srgbClr val="000000"/>
                </a:solidFill>
                <a:latin typeface="Calibri"/>
                <a:cs typeface="Calibri"/>
              </a:rPr>
              <a:t>To give this bifurcation, we have a new table called as FOVA_RETAILERS which can provide such information for the retailer. This table can be updated using the bulk load options where users can create input for the retailers in txt file and upload via bulk upload options. </a:t>
            </a:r>
            <a:endParaRPr lang="en"/>
          </a:p>
          <a:p>
            <a:pPr marL="169545" indent="-150495">
              <a:buClr>
                <a:srgbClr val="000000"/>
              </a:buClr>
              <a:buSzPts val="1500"/>
              <a:buFont typeface="Noto Sans Symbols"/>
              <a:buChar char="⮚"/>
            </a:pPr>
            <a:endParaRPr lang="en" sz="1500">
              <a:solidFill>
                <a:srgbClr val="000000"/>
              </a:solidFill>
              <a:latin typeface="Calibri"/>
              <a:ea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2" name="Picture 3" descr="Table&#10;&#10;Description automatically generated">
            <a:extLst>
              <a:ext uri="{FF2B5EF4-FFF2-40B4-BE49-F238E27FC236}">
                <a16:creationId xmlns:a16="http://schemas.microsoft.com/office/drawing/2014/main" id="{9F7E7A31-5C4D-F934-86ED-67DD30143FBE}"/>
              </a:ext>
            </a:extLst>
          </p:cNvPr>
          <p:cNvPicPr>
            <a:picLocks noChangeAspect="1"/>
          </p:cNvPicPr>
          <p:nvPr/>
        </p:nvPicPr>
        <p:blipFill>
          <a:blip r:embed="rId4"/>
          <a:stretch>
            <a:fillRect/>
          </a:stretch>
        </p:blipFill>
        <p:spPr>
          <a:xfrm>
            <a:off x="665521" y="1097075"/>
            <a:ext cx="7057103" cy="776700"/>
          </a:xfrm>
          <a:prstGeom prst="rect">
            <a:avLst/>
          </a:prstGeom>
        </p:spPr>
      </p:pic>
    </p:spTree>
    <p:extLst>
      <p:ext uri="{BB962C8B-B14F-4D97-AF65-F5344CB8AC3E}">
        <p14:creationId xmlns:p14="http://schemas.microsoft.com/office/powerpoint/2010/main" val="2443462777"/>
      </p:ext>
    </p:extLst>
  </p:cSld>
  <p:clrMapOvr>
    <a:overrideClrMapping bg1="lt1" tx1="dk1" bg2="lt2" tx2="dk2" accent1="accent1" accent2="accent2" accent3="accent3" accent4="accent4" accent5="accent5" accent6="accent6" hlink="hlink" folHlink="folHlink"/>
  </p:clrMapOvr>
</p:sld>
</file>

<file path=ppt/slides/slide10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73345" y="510038"/>
            <a:ext cx="8191500" cy="4422220"/>
          </a:xfrm>
          <a:prstGeom prst="rect">
            <a:avLst/>
          </a:prstGeom>
          <a:noFill/>
          <a:ln>
            <a:noFill/>
          </a:ln>
        </p:spPr>
        <p:txBody>
          <a:bodyPr spcFirstLastPara="1" wrap="square" lIns="91425" tIns="45700" rIns="91425" bIns="45700" anchor="t" anchorCtr="0">
            <a:noAutofit/>
          </a:bodyPr>
          <a:lstStyle/>
          <a:p>
            <a:pPr marL="19050" indent="0">
              <a:buNone/>
            </a:pPr>
            <a:r>
              <a:rPr lang="en" sz="1500">
                <a:solidFill>
                  <a:srgbClr val="000000"/>
                </a:solidFill>
                <a:latin typeface="Calibri"/>
                <a:cs typeface="Calibri"/>
                <a:sym typeface="Calibri"/>
              </a:rPr>
              <a:t>User can follow below path to upload file to update </a:t>
            </a:r>
            <a:r>
              <a:rPr lang="en" sz="1500" err="1">
                <a:solidFill>
                  <a:srgbClr val="000000"/>
                </a:solidFill>
                <a:latin typeface="Calibri"/>
                <a:cs typeface="Calibri"/>
                <a:sym typeface="Calibri"/>
              </a:rPr>
              <a:t>Fova_Retailers</a:t>
            </a:r>
            <a:r>
              <a:rPr lang="en" sz="1500">
                <a:solidFill>
                  <a:srgbClr val="000000"/>
                </a:solidFill>
                <a:latin typeface="Calibri"/>
                <a:cs typeface="Calibri"/>
                <a:sym typeface="Calibri"/>
              </a:rPr>
              <a:t> table:</a:t>
            </a:r>
          </a:p>
          <a:p>
            <a:pPr marL="19050" indent="0">
              <a:buNone/>
            </a:pPr>
            <a:endParaRPr lang="en" sz="1500">
              <a:latin typeface="Calibri"/>
              <a:cs typeface="Calibri"/>
            </a:endParaRPr>
          </a:p>
          <a:p>
            <a:pPr marL="19050" indent="0">
              <a:buNone/>
            </a:pPr>
            <a:r>
              <a:rPr lang="en" sz="1500">
                <a:latin typeface="Calibri"/>
                <a:cs typeface="Calibri"/>
              </a:rPr>
              <a:t>OP Set up --&gt; Bulk Upload --&gt; Bulk Load/Bulk update --&gt; </a:t>
            </a:r>
            <a:r>
              <a:rPr lang="en" sz="1500" err="1">
                <a:latin typeface="Calibri"/>
                <a:cs typeface="Calibri"/>
              </a:rPr>
              <a:t>Fova_Retailer</a:t>
            </a:r>
          </a:p>
          <a:p>
            <a:pPr marL="19050" indent="0">
              <a:buNone/>
            </a:pPr>
            <a:endParaRPr lang="en"/>
          </a:p>
          <a:p>
            <a:pPr marL="19050" indent="0">
              <a:buNone/>
            </a:pPr>
            <a:r>
              <a:rPr lang="en" sz="1500">
                <a:latin typeface="Calibri"/>
                <a:cs typeface="Calibri"/>
              </a:rPr>
              <a:t>This table contains below columns where users' needs to provide information follows</a:t>
            </a:r>
            <a:endParaRPr lang="en"/>
          </a:p>
          <a:p>
            <a:pPr marL="19050" indent="0">
              <a:buNone/>
            </a:pPr>
            <a:endParaRPr lang="en" sz="150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4" name="Picture 4" descr="Table&#10;&#10;Description automatically generated">
            <a:extLst>
              <a:ext uri="{FF2B5EF4-FFF2-40B4-BE49-F238E27FC236}">
                <a16:creationId xmlns:a16="http://schemas.microsoft.com/office/drawing/2014/main" id="{E6FF325F-9E4B-FC8B-AE19-EE7FF1A4ADB3}"/>
              </a:ext>
            </a:extLst>
          </p:cNvPr>
          <p:cNvPicPr>
            <a:picLocks noChangeAspect="1"/>
          </p:cNvPicPr>
          <p:nvPr/>
        </p:nvPicPr>
        <p:blipFill>
          <a:blip r:embed="rId4"/>
          <a:stretch>
            <a:fillRect/>
          </a:stretch>
        </p:blipFill>
        <p:spPr>
          <a:xfrm>
            <a:off x="471948" y="2032913"/>
            <a:ext cx="3420704" cy="2746084"/>
          </a:xfrm>
          <a:prstGeom prst="rect">
            <a:avLst/>
          </a:prstGeom>
          <a:ln>
            <a:solidFill>
              <a:schemeClr val="tx1"/>
            </a:solidFill>
          </a:ln>
        </p:spPr>
      </p:pic>
      <p:pic>
        <p:nvPicPr>
          <p:cNvPr id="5" name="Picture 5">
            <a:extLst>
              <a:ext uri="{FF2B5EF4-FFF2-40B4-BE49-F238E27FC236}">
                <a16:creationId xmlns:a16="http://schemas.microsoft.com/office/drawing/2014/main" id="{42A138A4-56A7-FF0C-8AC7-142D0DF624AC}"/>
              </a:ext>
            </a:extLst>
          </p:cNvPr>
          <p:cNvPicPr>
            <a:picLocks noChangeAspect="1"/>
          </p:cNvPicPr>
          <p:nvPr/>
        </p:nvPicPr>
        <p:blipFill>
          <a:blip r:embed="rId5"/>
          <a:stretch>
            <a:fillRect/>
          </a:stretch>
        </p:blipFill>
        <p:spPr>
          <a:xfrm>
            <a:off x="4223569" y="1986835"/>
            <a:ext cx="2729374" cy="2884329"/>
          </a:xfrm>
          <a:prstGeom prst="rect">
            <a:avLst/>
          </a:prstGeom>
        </p:spPr>
      </p:pic>
    </p:spTree>
    <p:extLst>
      <p:ext uri="{BB962C8B-B14F-4D97-AF65-F5344CB8AC3E}">
        <p14:creationId xmlns:p14="http://schemas.microsoft.com/office/powerpoint/2010/main" val="683377903"/>
      </p:ext>
    </p:extLst>
  </p:cSld>
  <p:clrMapOvr>
    <a:overrideClrMapping bg1="lt1" tx1="dk1" bg2="lt2" tx2="dk2" accent1="accent1" accent2="accent2" accent3="accent3" accent4="accent4" accent5="accent5" accent6="accent6" hlink="hlink" folHlink="folHlink"/>
  </p:clrMapOvr>
</p:sld>
</file>

<file path=ppt/slides/slide10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304800" indent="-285750">
              <a:buFont typeface="Wingdings"/>
              <a:buChar char="Ø"/>
            </a:pPr>
            <a:r>
              <a:rPr lang="en" sz="1500">
                <a:latin typeface="Calibri"/>
                <a:cs typeface="Calibri"/>
              </a:rPr>
              <a:t>Based on previous set up, process will set the stores either OK or Estimate on the retailer type using the rule.</a:t>
            </a:r>
          </a:p>
          <a:p>
            <a:pPr marL="19050" indent="0">
              <a:buNone/>
            </a:pPr>
            <a:endParaRPr lang="en" sz="1500">
              <a:latin typeface="Calibri"/>
              <a:cs typeface="Calibri"/>
            </a:endParaRPr>
          </a:p>
          <a:p>
            <a:pPr marL="19050" indent="0">
              <a:buNone/>
            </a:pPr>
            <a:endParaRPr lang="en" sz="150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2" name="Picture 5" descr="Graphical user interface, text, chat or text message&#10;&#10;Description automatically generated">
            <a:extLst>
              <a:ext uri="{FF2B5EF4-FFF2-40B4-BE49-F238E27FC236}">
                <a16:creationId xmlns:a16="http://schemas.microsoft.com/office/drawing/2014/main" id="{414711BC-2644-2766-B09B-DF3A95591E49}"/>
              </a:ext>
            </a:extLst>
          </p:cNvPr>
          <p:cNvPicPr>
            <a:picLocks noChangeAspect="1"/>
          </p:cNvPicPr>
          <p:nvPr/>
        </p:nvPicPr>
        <p:blipFill>
          <a:blip r:embed="rId4"/>
          <a:stretch>
            <a:fillRect/>
          </a:stretch>
        </p:blipFill>
        <p:spPr>
          <a:xfrm>
            <a:off x="513428" y="841220"/>
            <a:ext cx="2743200" cy="2032310"/>
          </a:xfrm>
          <a:prstGeom prst="rect">
            <a:avLst/>
          </a:prstGeom>
          <a:ln>
            <a:solidFill>
              <a:schemeClr val="tx1"/>
            </a:solidFill>
          </a:ln>
        </p:spPr>
      </p:pic>
      <p:pic>
        <p:nvPicPr>
          <p:cNvPr id="6" name="Picture 6">
            <a:extLst>
              <a:ext uri="{FF2B5EF4-FFF2-40B4-BE49-F238E27FC236}">
                <a16:creationId xmlns:a16="http://schemas.microsoft.com/office/drawing/2014/main" id="{4D5D9262-FB7D-4991-B71E-ABA4D806492B}"/>
              </a:ext>
            </a:extLst>
          </p:cNvPr>
          <p:cNvPicPr>
            <a:picLocks noChangeAspect="1"/>
          </p:cNvPicPr>
          <p:nvPr/>
        </p:nvPicPr>
        <p:blipFill>
          <a:blip r:embed="rId5"/>
          <a:stretch>
            <a:fillRect/>
          </a:stretch>
        </p:blipFill>
        <p:spPr>
          <a:xfrm>
            <a:off x="3295343" y="1548581"/>
            <a:ext cx="776133" cy="352732"/>
          </a:xfrm>
          <a:prstGeom prst="rect">
            <a:avLst/>
          </a:prstGeom>
        </p:spPr>
      </p:pic>
      <p:sp>
        <p:nvSpPr>
          <p:cNvPr id="4" name="TextBox 3">
            <a:extLst>
              <a:ext uri="{FF2B5EF4-FFF2-40B4-BE49-F238E27FC236}">
                <a16:creationId xmlns:a16="http://schemas.microsoft.com/office/drawing/2014/main" id="{AE65E129-E975-0615-4DE9-B6550BE73D36}"/>
              </a:ext>
            </a:extLst>
          </p:cNvPr>
          <p:cNvSpPr txBox="1"/>
          <p:nvPr/>
        </p:nvSpPr>
        <p:spPr>
          <a:xfrm>
            <a:off x="4175637" y="843425"/>
            <a:ext cx="4369208" cy="2123658"/>
          </a:xfrm>
          <a:prstGeom prst="rect">
            <a:avLst/>
          </a:prstGeom>
          <a:noFill/>
          <a:ln>
            <a:solidFill>
              <a:schemeClr val="tx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Calibri"/>
              </a:rPr>
              <a:t>For Mixed retailer user has to define the parameter "RETAILER_TYPE". In this parameter country has to use "AC_STORE_CHAR6" and in stores table need to mention for that mixed retailer, which are the store belong to census and sample by putting "C" or "S" respectively. Based on this process will apply decision on Census and sample store using the rule for the retailer. This is only for the mixed retailer.</a:t>
            </a:r>
          </a:p>
          <a:p>
            <a:endParaRPr lang="en-US" sz="1100">
              <a:latin typeface="Calibri"/>
            </a:endParaRPr>
          </a:p>
          <a:p>
            <a:r>
              <a:rPr lang="en-US" sz="1100" b="1">
                <a:latin typeface="Calibri"/>
              </a:rPr>
              <a:t>For Ex:</a:t>
            </a:r>
            <a:r>
              <a:rPr lang="en-US" sz="1100">
                <a:latin typeface="Calibri"/>
              </a:rPr>
              <a:t> If mixed retailer having 500 stores and out of that 350 are census and 150 are sample. Country need to define for these 500 store AC_STORE_CHAR6 as C or S. When this process run it apply decision on 350 store based on census rule and apply decision on 150 store based on Sample rule.</a:t>
            </a:r>
          </a:p>
        </p:txBody>
      </p:sp>
    </p:spTree>
    <p:extLst>
      <p:ext uri="{BB962C8B-B14F-4D97-AF65-F5344CB8AC3E}">
        <p14:creationId xmlns:p14="http://schemas.microsoft.com/office/powerpoint/2010/main" val="2722662460"/>
      </p:ext>
    </p:extLst>
  </p:cSld>
  <p:clrMapOvr>
    <a:overrideClrMapping bg1="lt1" tx1="dk1" bg2="lt2" tx2="dk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19050" indent="0">
              <a:buNone/>
            </a:pPr>
            <a:r>
              <a:rPr lang="en" sz="1500">
                <a:latin typeface="Calibri"/>
                <a:cs typeface="Calibri"/>
              </a:rPr>
              <a:t>There are few parameters using which country can exclude specific stores and </a:t>
            </a:r>
            <a:r>
              <a:rPr lang="en" sz="1500" err="1">
                <a:latin typeface="Calibri"/>
                <a:cs typeface="Calibri"/>
              </a:rPr>
              <a:t>fova</a:t>
            </a:r>
            <a:r>
              <a:rPr lang="en" sz="1500">
                <a:latin typeface="Calibri"/>
                <a:cs typeface="Calibri"/>
              </a:rPr>
              <a:t> tags from this rule to apply. Those parameters are as below:</a:t>
            </a:r>
          </a:p>
          <a:p>
            <a:pPr marL="19050" indent="0">
              <a:buNone/>
            </a:pPr>
            <a:endParaRPr lang="en" sz="1500">
              <a:latin typeface="Calibri"/>
              <a:cs typeface="Calibri"/>
            </a:endParaRPr>
          </a:p>
          <a:p>
            <a:pPr marL="19050" indent="0">
              <a:buNone/>
            </a:pPr>
            <a:r>
              <a:rPr lang="en" sz="1500" b="1">
                <a:latin typeface="Calibri"/>
                <a:cs typeface="Calibri"/>
              </a:rPr>
              <a:t>FOVA_EXCLUDE_STORE:</a:t>
            </a:r>
          </a:p>
          <a:p>
            <a:pPr marL="19050" indent="0">
              <a:buNone/>
            </a:pPr>
            <a:r>
              <a:rPr lang="en" sz="1500">
                <a:latin typeface="Calibri"/>
                <a:cs typeface="Calibri"/>
              </a:rPr>
              <a:t>Using this parameter, country can exclude specific list of stores from </a:t>
            </a:r>
            <a:r>
              <a:rPr lang="en" sz="1500" err="1">
                <a:latin typeface="Calibri"/>
                <a:cs typeface="Calibri"/>
              </a:rPr>
              <a:t>fova</a:t>
            </a:r>
            <a:r>
              <a:rPr lang="en" sz="1500">
                <a:latin typeface="Calibri"/>
                <a:cs typeface="Calibri"/>
              </a:rPr>
              <a:t> automation rules using the SQL query  or stores mentioning with comma separated.</a:t>
            </a:r>
          </a:p>
          <a:p>
            <a:pPr marL="19050" indent="0">
              <a:buNone/>
            </a:pPr>
            <a:endParaRPr lang="en" sz="1500">
              <a:latin typeface="Calibri"/>
              <a:cs typeface="Calibri"/>
            </a:endParaRPr>
          </a:p>
          <a:p>
            <a:pPr marL="19050" indent="0">
              <a:buNone/>
            </a:pPr>
            <a:r>
              <a:rPr lang="en" sz="1500" b="1">
                <a:latin typeface="Calibri"/>
                <a:cs typeface="Calibri"/>
              </a:rPr>
              <a:t>FOVA_EXCLUDE_TAG:</a:t>
            </a:r>
          </a:p>
          <a:p>
            <a:pPr marL="19050" indent="0">
              <a:buNone/>
            </a:pPr>
            <a:r>
              <a:rPr lang="en" sz="1500">
                <a:latin typeface="Calibri"/>
                <a:cs typeface="Calibri"/>
              </a:rPr>
              <a:t>Using this this parameter country can exclude specific list of FOVA Tag from </a:t>
            </a:r>
            <a:r>
              <a:rPr lang="en" sz="1500" err="1">
                <a:latin typeface="Calibri"/>
                <a:cs typeface="Calibri"/>
              </a:rPr>
              <a:t>fova</a:t>
            </a:r>
            <a:r>
              <a:rPr lang="en" sz="1500">
                <a:latin typeface="Calibri"/>
                <a:cs typeface="Calibri"/>
              </a:rPr>
              <a:t> automation rule using the SQL query  or stores mentioning with comma separated. </a:t>
            </a:r>
          </a:p>
          <a:p>
            <a:pPr marL="19050" indent="0">
              <a:buNone/>
            </a:pPr>
            <a:endParaRPr lang="en" sz="1500">
              <a:latin typeface="Calibri"/>
              <a:cs typeface="Calibri"/>
            </a:endParaRPr>
          </a:p>
          <a:p>
            <a:pPr marL="19050" indent="0">
              <a:buNone/>
            </a:pPr>
            <a:r>
              <a:rPr lang="en" sz="1500">
                <a:latin typeface="Calibri"/>
                <a:cs typeface="Calibri"/>
              </a:rPr>
              <a:t>In order to trigger the </a:t>
            </a:r>
            <a:r>
              <a:rPr lang="en" sz="1500" err="1">
                <a:latin typeface="Calibri"/>
                <a:cs typeface="Calibri"/>
              </a:rPr>
              <a:t>Fova</a:t>
            </a:r>
            <a:r>
              <a:rPr lang="en" sz="1500">
                <a:latin typeface="Calibri"/>
                <a:cs typeface="Calibri"/>
              </a:rPr>
              <a:t> Automation rule on </a:t>
            </a:r>
            <a:r>
              <a:rPr lang="en" sz="1500" err="1">
                <a:latin typeface="Calibri"/>
                <a:cs typeface="Calibri"/>
              </a:rPr>
              <a:t>Fova</a:t>
            </a:r>
            <a:r>
              <a:rPr lang="en" sz="1500">
                <a:latin typeface="Calibri"/>
                <a:cs typeface="Calibri"/>
              </a:rPr>
              <a:t> not ok stores, process needs to know if enough stores are loaded or not and whether the </a:t>
            </a:r>
            <a:r>
              <a:rPr lang="en" sz="1500" err="1">
                <a:latin typeface="Calibri"/>
                <a:cs typeface="Calibri"/>
              </a:rPr>
              <a:t>fova</a:t>
            </a:r>
            <a:r>
              <a:rPr lang="en" sz="1500">
                <a:latin typeface="Calibri"/>
                <a:cs typeface="Calibri"/>
              </a:rPr>
              <a:t> ok not count is less then or greater then the defined parameter. Then only process will apply those automatic rules. For this process takes into consider the YAFA loading status from below path:</a:t>
            </a:r>
          </a:p>
          <a:p>
            <a:pPr marL="19050" indent="0">
              <a:buNone/>
            </a:pPr>
            <a:endParaRPr lang="en" sz="1500">
              <a:latin typeface="Calibri"/>
              <a:cs typeface="Calibri"/>
            </a:endParaRPr>
          </a:p>
          <a:p>
            <a:pPr marL="19050" indent="0">
              <a:buNone/>
            </a:pPr>
            <a:r>
              <a:rPr lang="en" sz="1500">
                <a:latin typeface="Calibri"/>
                <a:cs typeface="Calibri"/>
              </a:rPr>
              <a:t>YAFA --&gt; Loading Stats --&gt; Loading stats:</a:t>
            </a:r>
          </a:p>
          <a:p>
            <a:pPr marL="19050" indent="0">
              <a:buNone/>
            </a:pPr>
            <a:endParaRPr lang="en" sz="150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spTree>
    <p:extLst>
      <p:ext uri="{BB962C8B-B14F-4D97-AF65-F5344CB8AC3E}">
        <p14:creationId xmlns:p14="http://schemas.microsoft.com/office/powerpoint/2010/main" val="2164969238"/>
      </p:ext>
    </p:extLst>
  </p:cSld>
  <p:clrMapOvr>
    <a:overrideClrMapping bg1="lt1" tx1="dk1" bg2="lt2" tx2="dk2" accent1="accent1" accent2="accent2" accent3="accent3" accent4="accent4" accent5="accent5" accent6="accent6" hlink="hlink" folHlink="folHlink"/>
  </p:clrMapOvr>
</p:sld>
</file>

<file path=ppt/slides/slide1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r>
              <a:rPr lang="en" sz="1500" dirty="0">
                <a:latin typeface="Calibri"/>
                <a:cs typeface="Calibri"/>
              </a:rPr>
              <a:t>From here, the process checks what % of loading completed and out of that what % </a:t>
            </a:r>
            <a:r>
              <a:rPr lang="en" sz="1500" dirty="0" err="1">
                <a:latin typeface="Calibri"/>
                <a:cs typeface="Calibri"/>
              </a:rPr>
              <a:t>fova</a:t>
            </a:r>
            <a:r>
              <a:rPr lang="en" sz="1500" dirty="0">
                <a:latin typeface="Calibri"/>
                <a:cs typeface="Calibri"/>
              </a:rPr>
              <a:t> not ok count. As mentioned earlier, the process triggers this automatic rule when 95% of loading gets completed and based on the table “FOVA_RETILER” column “RULE” it takes the % information for retailer to use </a:t>
            </a:r>
            <a:r>
              <a:rPr lang="en" sz="1500" dirty="0" err="1">
                <a:latin typeface="Calibri"/>
                <a:cs typeface="Calibri"/>
              </a:rPr>
              <a:t>Fova</a:t>
            </a:r>
            <a:r>
              <a:rPr lang="en" sz="1500" dirty="0">
                <a:latin typeface="Calibri"/>
                <a:cs typeface="Calibri"/>
              </a:rPr>
              <a:t> automation rule. Default will be 3 but country can change according to their requirement. So, from this interface it gets % loading and % not ok count and then it triggers the process and does the rest (Set to ok or Set to Salvage (Estimate)) things.</a:t>
            </a: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2" name="Picture 3" descr="Table&#10;&#10;Description automatically generated">
            <a:extLst>
              <a:ext uri="{FF2B5EF4-FFF2-40B4-BE49-F238E27FC236}">
                <a16:creationId xmlns:a16="http://schemas.microsoft.com/office/drawing/2014/main" id="{4832DE17-15F5-38E5-E898-CA587B86CE6C}"/>
              </a:ext>
            </a:extLst>
          </p:cNvPr>
          <p:cNvPicPr>
            <a:picLocks noChangeAspect="1"/>
          </p:cNvPicPr>
          <p:nvPr/>
        </p:nvPicPr>
        <p:blipFill>
          <a:blip r:embed="rId4"/>
          <a:stretch>
            <a:fillRect/>
          </a:stretch>
        </p:blipFill>
        <p:spPr>
          <a:xfrm>
            <a:off x="554908" y="731935"/>
            <a:ext cx="7319808" cy="1895997"/>
          </a:xfrm>
          <a:prstGeom prst="rect">
            <a:avLst/>
          </a:prstGeom>
          <a:ln>
            <a:solidFill>
              <a:schemeClr val="tx1"/>
            </a:solidFill>
          </a:ln>
        </p:spPr>
      </p:pic>
    </p:spTree>
    <p:extLst>
      <p:ext uri="{BB962C8B-B14F-4D97-AF65-F5344CB8AC3E}">
        <p14:creationId xmlns:p14="http://schemas.microsoft.com/office/powerpoint/2010/main" val="2331311249"/>
      </p:ext>
    </p:extLst>
  </p:cSld>
  <p:clrMapOvr>
    <a:overrideClrMapping bg1="lt1" tx1="dk1" bg2="lt2" tx2="dk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304800" indent="-285750">
              <a:buFont typeface="Wingdings"/>
              <a:buChar char="Ø"/>
            </a:pPr>
            <a:r>
              <a:rPr lang="en" sz="1500">
                <a:latin typeface="Calibri"/>
                <a:cs typeface="Calibri"/>
              </a:rPr>
              <a:t>Calculate percentage of loading as: (Loaded stores/ Expected stores) x 100 </a:t>
            </a:r>
          </a:p>
          <a:p>
            <a:pPr marL="304800" indent="-285750">
              <a:buFont typeface="Wingdings"/>
              <a:buChar char="Ø"/>
            </a:pPr>
            <a:r>
              <a:rPr lang="en" sz="1500">
                <a:latin typeface="Calibri"/>
                <a:cs typeface="Calibri"/>
              </a:rPr>
              <a:t>Calculate percentage of not ok stores as: (NOT OK stores/ Loaded stores) x 100 </a:t>
            </a:r>
          </a:p>
          <a:p>
            <a:pPr marL="304800" indent="-285750">
              <a:buFont typeface="Wingdings"/>
              <a:buChar char="Ø"/>
            </a:pPr>
            <a:r>
              <a:rPr lang="en" sz="1500">
                <a:latin typeface="Calibri"/>
                <a:cs typeface="Calibri"/>
              </a:rPr>
              <a:t>Flag the grouped stores (grouped by &lt;GROUP_CHAR &gt; and retailer type) as follows: </a:t>
            </a:r>
          </a:p>
          <a:p>
            <a:pPr marL="762000" lvl="1" indent="-285750">
              <a:buFont typeface="Wingdings"/>
              <a:buChar char="Ø"/>
            </a:pPr>
            <a:r>
              <a:rPr lang="en" sz="1300">
                <a:latin typeface="Calibri"/>
                <a:cs typeface="Calibri"/>
              </a:rPr>
              <a:t>IF "% OF LOADING"&gt;= &lt;FOVA_LOADING_PERCENTAGE - parameter&gt; and "% OF NOT OK"&lt; 3 and AC_RETAILER_TYPE=’C’ then 'SET OK' </a:t>
            </a:r>
          </a:p>
          <a:p>
            <a:pPr marL="762000" lvl="1" indent="-285750">
              <a:buFont typeface="Wingdings"/>
              <a:buChar char="Ø"/>
            </a:pPr>
            <a:r>
              <a:rPr lang="en" sz="1300">
                <a:latin typeface="Calibri"/>
                <a:cs typeface="Calibri"/>
              </a:rPr>
              <a:t>IF "% OF LOADING"&gt;= &lt;FOVA_LOADING_PERCENTAGE - parameter&gt; and "% OF NOT OK"&lt; 3 and AC_RETAILER_TYPE=’S’ then 'SET ESTIMATE’ </a:t>
            </a:r>
          </a:p>
          <a:p>
            <a:pPr marL="762000" lvl="1" indent="-285750">
              <a:buFont typeface="Wingdings"/>
              <a:buChar char="Ø"/>
            </a:pPr>
            <a:r>
              <a:rPr lang="en" sz="1300">
                <a:latin typeface="Calibri"/>
                <a:cs typeface="Calibri"/>
              </a:rPr>
              <a:t>IF “% OF LOADING"&gt;= &lt;FOVA_LOADING_PERCENTAGE - parameter&gt; and "% OF NOT OK"&gt;= 3 then 'Critical' </a:t>
            </a:r>
          </a:p>
          <a:p>
            <a:pPr marL="762000" lvl="1" indent="-285750">
              <a:buFont typeface="Wingdings"/>
              <a:buChar char="Ø"/>
            </a:pPr>
            <a:r>
              <a:rPr lang="en" sz="1300">
                <a:latin typeface="Calibri"/>
                <a:cs typeface="Calibri"/>
              </a:rPr>
              <a:t>IF "% OF LOADING" &lt; &lt;FOVA_LOADING_PERCENTAGE&gt; then 'WARNING'</a:t>
            </a: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19050" indent="0">
              <a:buNone/>
            </a:pPr>
            <a:r>
              <a:rPr lang="en" sz="1500">
                <a:latin typeface="Calibri"/>
                <a:cs typeface="Calibri"/>
              </a:rPr>
              <a:t>Note:</a:t>
            </a:r>
          </a:p>
          <a:p>
            <a:pPr marL="304800" indent="-285750">
              <a:buFont typeface="Wingdings"/>
              <a:buChar char="Ø"/>
            </a:pPr>
            <a:r>
              <a:rPr lang="en" sz="1500">
                <a:latin typeface="Calibri"/>
                <a:cs typeface="Calibri"/>
              </a:rPr>
              <a:t>The value 3 for "% OF NOT OK condition is obtained from the RULE column of FOVA_RETAILERS table if no values is present then DEFAULT value is taken as 3.</a:t>
            </a: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19050" indent="0">
              <a:buNone/>
            </a:pPr>
            <a:endParaRPr lang="en" sz="150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6" name="Picture 6" descr="Table&#10;&#10;Description automatically generated">
            <a:extLst>
              <a:ext uri="{FF2B5EF4-FFF2-40B4-BE49-F238E27FC236}">
                <a16:creationId xmlns:a16="http://schemas.microsoft.com/office/drawing/2014/main" id="{0881ADA0-21EB-9214-9526-111052BE870E}"/>
              </a:ext>
            </a:extLst>
          </p:cNvPr>
          <p:cNvPicPr>
            <a:picLocks noChangeAspect="1"/>
          </p:cNvPicPr>
          <p:nvPr/>
        </p:nvPicPr>
        <p:blipFill>
          <a:blip r:embed="rId4"/>
          <a:stretch>
            <a:fillRect/>
          </a:stretch>
        </p:blipFill>
        <p:spPr>
          <a:xfrm>
            <a:off x="1854609" y="2716964"/>
            <a:ext cx="2743200" cy="1239715"/>
          </a:xfrm>
          <a:prstGeom prst="rect">
            <a:avLst/>
          </a:prstGeom>
        </p:spPr>
      </p:pic>
    </p:spTree>
    <p:extLst>
      <p:ext uri="{BB962C8B-B14F-4D97-AF65-F5344CB8AC3E}">
        <p14:creationId xmlns:p14="http://schemas.microsoft.com/office/powerpoint/2010/main" val="1537280366"/>
      </p:ext>
    </p:extLst>
  </p:cSld>
  <p:clrMapOvr>
    <a:overrideClrMapping bg1="lt1" tx1="dk1" bg2="lt2" tx2="dk2" accent1="accent1" accent2="accent2" accent3="accent3" accent4="accent4" accent5="accent5" accent6="accent6" hlink="hlink" folHlink="folHlink"/>
  </p:clrMapOvr>
</p:sld>
</file>

<file path=ppt/slides/slide1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304800" indent="-285750">
              <a:buFont typeface="Wingdings"/>
              <a:buChar char="Ø"/>
            </a:pPr>
            <a:r>
              <a:rPr lang="en" sz="1500">
                <a:latin typeface="Calibri"/>
                <a:cs typeface="Calibri"/>
              </a:rPr>
              <a:t>GROUP_CHAR parameter contains the rule for grouping the retailer:</a:t>
            </a: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r>
              <a:rPr lang="en" sz="1500">
                <a:latin typeface="Calibri"/>
                <a:cs typeface="Calibri"/>
              </a:rPr>
              <a:t>If country does not have the enough stores in a retailer then they can group the retailer using this parameter.</a:t>
            </a:r>
          </a:p>
          <a:p>
            <a:pPr marL="304800" indent="-285750">
              <a:buFont typeface="Wingdings"/>
              <a:buChar char="Ø"/>
            </a:pPr>
            <a:endParaRPr lang="en" sz="1500">
              <a:latin typeface="Calibri"/>
              <a:cs typeface="Calibri"/>
            </a:endParaRPr>
          </a:p>
          <a:p>
            <a:pPr marL="304800" indent="-285750">
              <a:buFont typeface="Wingdings"/>
              <a:buChar char="Ø"/>
            </a:pPr>
            <a:r>
              <a:rPr lang="en" sz="1500">
                <a:latin typeface="Calibri"/>
                <a:cs typeface="Calibri"/>
              </a:rPr>
              <a:t>This FOVA Automation process will also trigger the alert automatically, this alert will be triggered based on the conditions below: </a:t>
            </a:r>
          </a:p>
          <a:p>
            <a:pPr marL="304800" indent="-285750">
              <a:buFont typeface="Wingdings"/>
              <a:buChar char="Ø"/>
            </a:pPr>
            <a:r>
              <a:rPr lang="en" sz="1500">
                <a:latin typeface="Calibri"/>
                <a:cs typeface="Calibri"/>
              </a:rPr>
              <a:t> Alert by Retailer/group: </a:t>
            </a:r>
          </a:p>
          <a:p>
            <a:pPr marL="762000" lvl="1" indent="-285750">
              <a:buFont typeface="Wingdings"/>
              <a:buChar char="Ø"/>
            </a:pPr>
            <a:r>
              <a:rPr lang="en" sz="1300">
                <a:latin typeface="Calibri"/>
                <a:cs typeface="Calibri"/>
              </a:rPr>
              <a:t>&gt;50% not ok and &gt;20% loaded </a:t>
            </a:r>
          </a:p>
          <a:p>
            <a:pPr marL="762000" lvl="1" indent="-285750">
              <a:buFont typeface="Wingdings"/>
              <a:buChar char="Ø"/>
            </a:pPr>
            <a:r>
              <a:rPr lang="en" sz="1300">
                <a:latin typeface="Calibri"/>
                <a:cs typeface="Calibri"/>
              </a:rPr>
              <a:t>&gt;3% not ok and &gt;95% Loaded</a:t>
            </a:r>
          </a:p>
          <a:p>
            <a:pPr marL="304800" indent="-285750">
              <a:buFont typeface="Wingdings"/>
              <a:buChar char="Ø"/>
            </a:pPr>
            <a:endParaRPr lang="en" sz="1500">
              <a:latin typeface="Calibri"/>
              <a:cs typeface="Calibri"/>
            </a:endParaRPr>
          </a:p>
          <a:p>
            <a:pPr marL="304800" indent="-285750">
              <a:buFont typeface="Wingdings"/>
              <a:buChar char="Ø"/>
            </a:pPr>
            <a:r>
              <a:rPr lang="en" sz="1500">
                <a:latin typeface="Calibri"/>
                <a:cs typeface="Calibri"/>
              </a:rPr>
              <a:t>Apart from this, there are 2 new check boxes added in the GUI:</a:t>
            </a:r>
          </a:p>
          <a:p>
            <a:pPr marL="762000" lvl="1" indent="-285750">
              <a:buFont typeface="Wingdings"/>
              <a:buChar char="Ø"/>
            </a:pPr>
            <a:r>
              <a:rPr lang="en" sz="1300">
                <a:latin typeface="Calibri"/>
                <a:cs typeface="Calibri"/>
              </a:rPr>
              <a:t>Census Retailer: If user wanted to see only census retailer loading stats, then can click on this box.</a:t>
            </a:r>
          </a:p>
          <a:p>
            <a:pPr marL="762000" lvl="1" indent="-285750">
              <a:buFont typeface="Wingdings"/>
              <a:buChar char="Ø"/>
            </a:pPr>
            <a:r>
              <a:rPr lang="en" sz="1300">
                <a:latin typeface="Calibri"/>
                <a:cs typeface="Calibri"/>
              </a:rPr>
              <a:t>Sample Retailer: if user wants to see only sample retailer loading stats, then can click on this box.</a:t>
            </a:r>
          </a:p>
          <a:p>
            <a:pPr marL="762000" lvl="1" indent="-285750">
              <a:buFont typeface="Wingdings"/>
              <a:buChar char="Ø"/>
            </a:pPr>
            <a:endParaRPr lang="en" sz="1300">
              <a:latin typeface="Calibri"/>
              <a:cs typeface="Calibri"/>
            </a:endParaRPr>
          </a:p>
          <a:p>
            <a:pPr marL="304800" indent="-285750">
              <a:buFont typeface="Wingdings"/>
              <a:buChar char="Ø"/>
            </a:pPr>
            <a:r>
              <a:rPr lang="en" sz="1500">
                <a:latin typeface="Calibri"/>
                <a:cs typeface="Calibri"/>
              </a:rPr>
              <a:t>If user wanted to see only </a:t>
            </a:r>
            <a:r>
              <a:rPr lang="en" sz="1500" err="1">
                <a:latin typeface="Calibri"/>
                <a:cs typeface="Calibri"/>
              </a:rPr>
              <a:t>Fova</a:t>
            </a:r>
            <a:r>
              <a:rPr lang="en" sz="1500">
                <a:latin typeface="Calibri"/>
                <a:cs typeface="Calibri"/>
              </a:rPr>
              <a:t> not ok retailer in the view, then they can click the check box “View </a:t>
            </a:r>
            <a:r>
              <a:rPr lang="en" sz="1500" err="1">
                <a:latin typeface="Calibri"/>
                <a:cs typeface="Calibri"/>
              </a:rPr>
              <a:t>fova</a:t>
            </a:r>
            <a:r>
              <a:rPr lang="en" sz="1500">
                <a:latin typeface="Calibri"/>
                <a:cs typeface="Calibri"/>
              </a:rPr>
              <a:t> not ok”</a:t>
            </a:r>
          </a:p>
          <a:p>
            <a:pPr marL="304800" indent="-285750">
              <a:buFont typeface="Wingdings"/>
              <a:buChar char="Ø"/>
            </a:pPr>
            <a:endParaRPr lang="en" sz="150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2" name="Picture 3">
            <a:extLst>
              <a:ext uri="{FF2B5EF4-FFF2-40B4-BE49-F238E27FC236}">
                <a16:creationId xmlns:a16="http://schemas.microsoft.com/office/drawing/2014/main" id="{517B53FD-F7DF-5016-A6F8-A8AC9CDDDCA8}"/>
              </a:ext>
            </a:extLst>
          </p:cNvPr>
          <p:cNvPicPr>
            <a:picLocks noChangeAspect="1"/>
          </p:cNvPicPr>
          <p:nvPr/>
        </p:nvPicPr>
        <p:blipFill>
          <a:blip r:embed="rId4"/>
          <a:stretch>
            <a:fillRect/>
          </a:stretch>
        </p:blipFill>
        <p:spPr>
          <a:xfrm>
            <a:off x="600997" y="995542"/>
            <a:ext cx="7748433" cy="548403"/>
          </a:xfrm>
          <a:prstGeom prst="rect">
            <a:avLst/>
          </a:prstGeom>
          <a:ln>
            <a:solidFill>
              <a:schemeClr val="tx1"/>
            </a:solidFill>
          </a:ln>
        </p:spPr>
      </p:pic>
    </p:spTree>
    <p:extLst>
      <p:ext uri="{BB962C8B-B14F-4D97-AF65-F5344CB8AC3E}">
        <p14:creationId xmlns:p14="http://schemas.microsoft.com/office/powerpoint/2010/main" val="684596409"/>
      </p:ext>
    </p:extLst>
  </p:cSld>
  <p:clrMapOvr>
    <a:overrideClrMapping bg1="lt1" tx1="dk1" bg2="lt2" tx2="dk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191500" cy="4422220"/>
          </a:xfrm>
          <a:prstGeom prst="rect">
            <a:avLst/>
          </a:prstGeom>
          <a:noFill/>
          <a:ln>
            <a:noFill/>
          </a:ln>
        </p:spPr>
        <p:txBody>
          <a:bodyPr spcFirstLastPara="1" wrap="square" lIns="91425" tIns="45700" rIns="91425" bIns="45700" anchor="t" anchorCtr="0">
            <a:noAutofit/>
          </a:bodyPr>
          <a:lstStyle/>
          <a:p>
            <a:pPr marL="304800" indent="-285750">
              <a:buFont typeface="Wingdings"/>
              <a:buChar char="Ø"/>
            </a:pPr>
            <a:r>
              <a:rPr lang="en" sz="1500">
                <a:latin typeface="Calibri"/>
                <a:cs typeface="Calibri"/>
              </a:rPr>
              <a:t>There is one table which is called as “FOVA_AUTOMATION_PARM”. This table provides the information of the </a:t>
            </a:r>
            <a:r>
              <a:rPr lang="en" sz="1500" err="1">
                <a:latin typeface="Calibri"/>
                <a:cs typeface="Calibri"/>
              </a:rPr>
              <a:t>Fova</a:t>
            </a:r>
            <a:r>
              <a:rPr lang="en" sz="1500">
                <a:latin typeface="Calibri"/>
                <a:cs typeface="Calibri"/>
              </a:rPr>
              <a:t> Automation GUI screen selection. See below:</a:t>
            </a: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endParaRPr lang="en" sz="1500">
              <a:latin typeface="Calibri"/>
              <a:cs typeface="Calibri"/>
            </a:endParaRPr>
          </a:p>
          <a:p>
            <a:pPr marL="304800" indent="-285750">
              <a:buFont typeface="Wingdings"/>
              <a:buChar char="Ø"/>
            </a:pPr>
            <a:r>
              <a:rPr lang="en" sz="1500">
                <a:latin typeface="Calibri"/>
                <a:cs typeface="Calibri"/>
              </a:rPr>
              <a:t>There are new monitor tags also introduced to identify the decision taken by </a:t>
            </a:r>
            <a:r>
              <a:rPr lang="en" sz="1500" err="1">
                <a:latin typeface="Calibri"/>
                <a:cs typeface="Calibri"/>
              </a:rPr>
              <a:t>Fova</a:t>
            </a:r>
            <a:r>
              <a:rPr lang="en" sz="1500">
                <a:latin typeface="Calibri"/>
                <a:cs typeface="Calibri"/>
              </a:rPr>
              <a:t> automation process. They are as follows:</a:t>
            </a: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pic>
        <p:nvPicPr>
          <p:cNvPr id="4" name="Picture 4" descr="A picture containing Word&#10;&#10;Description automatically generated">
            <a:extLst>
              <a:ext uri="{FF2B5EF4-FFF2-40B4-BE49-F238E27FC236}">
                <a16:creationId xmlns:a16="http://schemas.microsoft.com/office/drawing/2014/main" id="{148C760D-0E70-09B2-F70E-3753A9D54DD0}"/>
              </a:ext>
            </a:extLst>
          </p:cNvPr>
          <p:cNvPicPr>
            <a:picLocks noChangeAspect="1"/>
          </p:cNvPicPr>
          <p:nvPr/>
        </p:nvPicPr>
        <p:blipFill>
          <a:blip r:embed="rId4"/>
          <a:stretch>
            <a:fillRect/>
          </a:stretch>
        </p:blipFill>
        <p:spPr>
          <a:xfrm>
            <a:off x="789960" y="1287820"/>
            <a:ext cx="7895917" cy="369428"/>
          </a:xfrm>
          <a:prstGeom prst="rect">
            <a:avLst/>
          </a:prstGeom>
          <a:ln>
            <a:solidFill>
              <a:schemeClr val="tx1"/>
            </a:solidFill>
          </a:ln>
        </p:spPr>
      </p:pic>
      <p:pic>
        <p:nvPicPr>
          <p:cNvPr id="5" name="Picture 5">
            <a:extLst>
              <a:ext uri="{FF2B5EF4-FFF2-40B4-BE49-F238E27FC236}">
                <a16:creationId xmlns:a16="http://schemas.microsoft.com/office/drawing/2014/main" id="{E80CA0E4-12D7-03F7-0838-E75F9CA19DA6}"/>
              </a:ext>
            </a:extLst>
          </p:cNvPr>
          <p:cNvPicPr>
            <a:picLocks noChangeAspect="1"/>
          </p:cNvPicPr>
          <p:nvPr/>
        </p:nvPicPr>
        <p:blipFill>
          <a:blip r:embed="rId5"/>
          <a:stretch>
            <a:fillRect/>
          </a:stretch>
        </p:blipFill>
        <p:spPr>
          <a:xfrm>
            <a:off x="845267" y="1949853"/>
            <a:ext cx="6863530" cy="414198"/>
          </a:xfrm>
          <a:prstGeom prst="rect">
            <a:avLst/>
          </a:prstGeom>
          <a:ln>
            <a:solidFill>
              <a:schemeClr val="tx1"/>
            </a:solidFill>
          </a:ln>
        </p:spPr>
      </p:pic>
      <p:graphicFrame>
        <p:nvGraphicFramePr>
          <p:cNvPr id="7" name="Table 6">
            <a:extLst>
              <a:ext uri="{FF2B5EF4-FFF2-40B4-BE49-F238E27FC236}">
                <a16:creationId xmlns:a16="http://schemas.microsoft.com/office/drawing/2014/main" id="{16B8D469-4866-0E9B-E538-36AB5394B991}"/>
              </a:ext>
            </a:extLst>
          </p:cNvPr>
          <p:cNvGraphicFramePr>
            <a:graphicFrameLocks noGrp="1"/>
          </p:cNvGraphicFramePr>
          <p:nvPr>
            <p:extLst>
              <p:ext uri="{D42A27DB-BD31-4B8C-83A1-F6EECF244321}">
                <p14:modId xmlns:p14="http://schemas.microsoft.com/office/powerpoint/2010/main" val="386939767"/>
              </p:ext>
            </p:extLst>
          </p:nvPr>
        </p:nvGraphicFramePr>
        <p:xfrm>
          <a:off x="661372" y="3271684"/>
          <a:ext cx="4143375" cy="640080"/>
        </p:xfrm>
        <a:graphic>
          <a:graphicData uri="http://schemas.openxmlformats.org/drawingml/2006/table">
            <a:tbl>
              <a:tblPr firstRow="1" bandRow="1">
                <a:tableStyleId>{C70574C8-F969-49A7-8605-77D3504E23D5}</a:tableStyleId>
              </a:tblPr>
              <a:tblGrid>
                <a:gridCol w="1123950">
                  <a:extLst>
                    <a:ext uri="{9D8B030D-6E8A-4147-A177-3AD203B41FA5}">
                      <a16:colId xmlns:a16="http://schemas.microsoft.com/office/drawing/2014/main" val="1218159793"/>
                    </a:ext>
                  </a:extLst>
                </a:gridCol>
                <a:gridCol w="3019425">
                  <a:extLst>
                    <a:ext uri="{9D8B030D-6E8A-4147-A177-3AD203B41FA5}">
                      <a16:colId xmlns:a16="http://schemas.microsoft.com/office/drawing/2014/main" val="3666325118"/>
                    </a:ext>
                  </a:extLst>
                </a:gridCol>
              </a:tblGrid>
              <a:tr h="190500">
                <a:tc>
                  <a:txBody>
                    <a:bodyPr/>
                    <a:lstStyle/>
                    <a:p>
                      <a:pPr algn="ctr" rtl="0" fontAlgn="base"/>
                      <a:r>
                        <a:rPr lang="en-US" sz="800">
                          <a:effectLst/>
                        </a:rPr>
                        <a:t>AC_MONITORTAG </a:t>
                      </a:r>
                      <a:endParaRPr lang="en-US" sz="8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rtl="0" fontAlgn="base"/>
                      <a:r>
                        <a:rPr lang="en-US" sz="800">
                          <a:effectLst/>
                        </a:rPr>
                        <a:t>AC_MONITORSTATUS </a:t>
                      </a:r>
                      <a:endParaRPr lang="en-US" sz="8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2346855841"/>
                  </a:ext>
                </a:extLst>
              </a:tr>
              <a:tr h="190500">
                <a:tc>
                  <a:txBody>
                    <a:bodyPr/>
                    <a:lstStyle/>
                    <a:p>
                      <a:pPr algn="ctr" rtl="0" fontAlgn="base"/>
                      <a:r>
                        <a:rPr lang="en-US" sz="800">
                          <a:effectLst/>
                        </a:rPr>
                        <a:t>337 </a:t>
                      </a:r>
                      <a:endParaRPr lang="en-US" sz="8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800">
                          <a:effectLst/>
                        </a:rPr>
                        <a:t>Store set to Estimate by FOVA AUTOMATION rule </a:t>
                      </a:r>
                      <a:endParaRPr lang="en-US" sz="8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913749194"/>
                  </a:ext>
                </a:extLst>
              </a:tr>
              <a:tr h="190500">
                <a:tc>
                  <a:txBody>
                    <a:bodyPr/>
                    <a:lstStyle/>
                    <a:p>
                      <a:pPr algn="ctr" rtl="0" fontAlgn="base"/>
                      <a:r>
                        <a:rPr lang="en-US" sz="800">
                          <a:effectLst/>
                        </a:rPr>
                        <a:t>337 </a:t>
                      </a:r>
                      <a:endParaRPr lang="en-US" sz="8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800">
                          <a:effectLst/>
                        </a:rPr>
                        <a:t>Store set to OK by FOVA AUTOMATION rule </a:t>
                      </a:r>
                      <a:endParaRPr lang="en-US" sz="8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827646460"/>
                  </a:ext>
                </a:extLst>
              </a:tr>
            </a:tbl>
          </a:graphicData>
        </a:graphic>
      </p:graphicFrame>
    </p:spTree>
    <p:extLst>
      <p:ext uri="{BB962C8B-B14F-4D97-AF65-F5344CB8AC3E}">
        <p14:creationId xmlns:p14="http://schemas.microsoft.com/office/powerpoint/2010/main" val="918553481"/>
      </p:ext>
    </p:extLst>
  </p:cSld>
  <p:clrMapOvr>
    <a:overrideClrMapping bg1="lt1" tx1="dk1" bg2="lt2" tx2="dk2" accent1="accent1" accent2="accent2" accent3="accent3" accent4="accent4" accent5="accent5" accent6="accent6" hlink="hlink" folHlink="folHlink"/>
  </p:clrMapOvr>
</p:sld>
</file>

<file path=ppt/slides/slide1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517139"/>
            <a:ext cx="8537165" cy="4533732"/>
          </a:xfrm>
          <a:prstGeom prst="rect">
            <a:avLst/>
          </a:prstGeom>
          <a:noFill/>
          <a:ln>
            <a:noFill/>
          </a:ln>
        </p:spPr>
        <p:txBody>
          <a:bodyPr spcFirstLastPara="1" wrap="square" lIns="91425" tIns="45700" rIns="91425" bIns="45700" anchor="t" anchorCtr="0">
            <a:noAutofit/>
          </a:bodyPr>
          <a:lstStyle/>
          <a:p>
            <a:pPr marL="19050" indent="0">
              <a:buNone/>
            </a:pPr>
            <a:r>
              <a:rPr lang="en" sz="1500" dirty="0">
                <a:latin typeface="Calibri"/>
                <a:cs typeface="Calibri"/>
              </a:rPr>
              <a:t>Parameters:</a:t>
            </a: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 sz="1500">
              <a:latin typeface="Calibri"/>
              <a:cs typeface="Calibri"/>
            </a:endParaRPr>
          </a:p>
          <a:p>
            <a:pPr marL="19050" indent="0">
              <a:buNone/>
            </a:pPr>
            <a:endParaRPr lang="en-US" sz="1050" b="1" dirty="0">
              <a:latin typeface="Times New Roman"/>
              <a:cs typeface="Times New Roman"/>
            </a:endParaRPr>
          </a:p>
          <a:p>
            <a:pPr marL="19050" indent="0">
              <a:buNone/>
            </a:pPr>
            <a:endParaRPr lang="en-US" sz="1050" b="1" dirty="0">
              <a:latin typeface="Times New Roman"/>
              <a:cs typeface="Times New Roman"/>
            </a:endParaRPr>
          </a:p>
          <a:p>
            <a:pPr marL="19050" indent="0">
              <a:buNone/>
            </a:pPr>
            <a:r>
              <a:rPr lang="en-US" sz="1050" b="1" dirty="0">
                <a:latin typeface="Times New Roman"/>
                <a:cs typeface="Times New Roman"/>
              </a:rPr>
              <a:t>Note: </a:t>
            </a:r>
            <a:r>
              <a:rPr lang="en-US" sz="1050" dirty="0">
                <a:latin typeface="Times New Roman"/>
                <a:cs typeface="Times New Roman"/>
              </a:rPr>
              <a:t>FOVA_RETAILER_TYPE</a:t>
            </a:r>
            <a:r>
              <a:rPr lang="en-US" sz="1050" b="1" dirty="0">
                <a:latin typeface="Times New Roman"/>
                <a:cs typeface="Times New Roman"/>
              </a:rPr>
              <a:t> </a:t>
            </a:r>
            <a:r>
              <a:rPr lang="en-US" sz="1050" dirty="0">
                <a:latin typeface="Times New Roman"/>
                <a:cs typeface="Times New Roman"/>
              </a:rPr>
              <a:t>parameter is mandatory to be set up by country even if country does not have a mixed retailer. If this parameter is kept </a:t>
            </a:r>
            <a:r>
              <a:rPr lang="en-US" sz="1050">
                <a:latin typeface="Times New Roman"/>
                <a:cs typeface="Times New Roman"/>
              </a:rPr>
              <a:t>blank in that case process will get abend. So, the country must put recommended value (AC_STORE_CHAR6) in this parameter to avoid process abend.</a:t>
            </a:r>
            <a:endParaRPr lang="en" sz="1500">
              <a:latin typeface="Calibri"/>
              <a:cs typeface="Calibri"/>
            </a:endParaRPr>
          </a:p>
          <a:p>
            <a:pPr marL="19050" indent="0">
              <a:buNone/>
            </a:pPr>
            <a:endParaRPr lang="en" sz="1050" dirty="0">
              <a:latin typeface="Calibri"/>
              <a:cs typeface="Calibri"/>
            </a:endParaRPr>
          </a:p>
          <a:p>
            <a:pPr marL="19050" indent="0">
              <a:buNone/>
            </a:pPr>
            <a:r>
              <a:rPr lang="en" sz="1050" dirty="0">
                <a:latin typeface="Calibri"/>
                <a:cs typeface="Calibri"/>
              </a:rPr>
              <a:t>Also there is a parameter based on which this process automatically trigger on specific interval. it is as below.</a:t>
            </a:r>
            <a:endParaRPr lang="en" dirty="0"/>
          </a:p>
          <a:p>
            <a:pPr marL="19050" indent="0">
              <a:buNone/>
            </a:pPr>
            <a:endParaRPr lang="en" sz="1050" dirty="0">
              <a:latin typeface="Calibri"/>
              <a:cs typeface="Calibri"/>
            </a:endParaRPr>
          </a:p>
          <a:p>
            <a:pPr marL="19050" indent="0">
              <a:buNone/>
            </a:pPr>
            <a:endParaRPr lang="en" sz="1050" dirty="0">
              <a:latin typeface="Calibri"/>
              <a:cs typeface="Calibri"/>
            </a:endParaRPr>
          </a:p>
          <a:p>
            <a:pPr marL="19050" indent="0">
              <a:buNone/>
            </a:pPr>
            <a:endParaRPr lang="en" sz="1200" dirty="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graphicFrame>
        <p:nvGraphicFramePr>
          <p:cNvPr id="6" name="Table 5">
            <a:extLst>
              <a:ext uri="{FF2B5EF4-FFF2-40B4-BE49-F238E27FC236}">
                <a16:creationId xmlns:a16="http://schemas.microsoft.com/office/drawing/2014/main" id="{ADA69F83-189D-C339-69CF-E92258C35CCD}"/>
              </a:ext>
            </a:extLst>
          </p:cNvPr>
          <p:cNvGraphicFramePr>
            <a:graphicFrameLocks noGrp="1"/>
          </p:cNvGraphicFramePr>
          <p:nvPr>
            <p:extLst>
              <p:ext uri="{D42A27DB-BD31-4B8C-83A1-F6EECF244321}">
                <p14:modId xmlns:p14="http://schemas.microsoft.com/office/powerpoint/2010/main" val="746946920"/>
              </p:ext>
            </p:extLst>
          </p:nvPr>
        </p:nvGraphicFramePr>
        <p:xfrm>
          <a:off x="547406" y="812736"/>
          <a:ext cx="8279515" cy="2651022"/>
        </p:xfrm>
        <a:graphic>
          <a:graphicData uri="http://schemas.openxmlformats.org/drawingml/2006/table">
            <a:tbl>
              <a:tblPr firstRow="1" bandRow="1">
                <a:tableStyleId>{C70574C8-F969-49A7-8605-77D3504E23D5}</a:tableStyleId>
              </a:tblPr>
              <a:tblGrid>
                <a:gridCol w="989670">
                  <a:extLst>
                    <a:ext uri="{9D8B030D-6E8A-4147-A177-3AD203B41FA5}">
                      <a16:colId xmlns:a16="http://schemas.microsoft.com/office/drawing/2014/main" val="3946352773"/>
                    </a:ext>
                  </a:extLst>
                </a:gridCol>
                <a:gridCol w="1554201">
                  <a:extLst>
                    <a:ext uri="{9D8B030D-6E8A-4147-A177-3AD203B41FA5}">
                      <a16:colId xmlns:a16="http://schemas.microsoft.com/office/drawing/2014/main" val="75527905"/>
                    </a:ext>
                  </a:extLst>
                </a:gridCol>
                <a:gridCol w="2096841">
                  <a:extLst>
                    <a:ext uri="{9D8B030D-6E8A-4147-A177-3AD203B41FA5}">
                      <a16:colId xmlns:a16="http://schemas.microsoft.com/office/drawing/2014/main" val="2063004397"/>
                    </a:ext>
                  </a:extLst>
                </a:gridCol>
                <a:gridCol w="855308">
                  <a:extLst>
                    <a:ext uri="{9D8B030D-6E8A-4147-A177-3AD203B41FA5}">
                      <a16:colId xmlns:a16="http://schemas.microsoft.com/office/drawing/2014/main" val="2799905719"/>
                    </a:ext>
                  </a:extLst>
                </a:gridCol>
                <a:gridCol w="968760">
                  <a:extLst>
                    <a:ext uri="{9D8B030D-6E8A-4147-A177-3AD203B41FA5}">
                      <a16:colId xmlns:a16="http://schemas.microsoft.com/office/drawing/2014/main" val="1551663970"/>
                    </a:ext>
                  </a:extLst>
                </a:gridCol>
                <a:gridCol w="794803">
                  <a:extLst>
                    <a:ext uri="{9D8B030D-6E8A-4147-A177-3AD203B41FA5}">
                      <a16:colId xmlns:a16="http://schemas.microsoft.com/office/drawing/2014/main" val="1851087743"/>
                    </a:ext>
                  </a:extLst>
                </a:gridCol>
                <a:gridCol w="446949">
                  <a:extLst>
                    <a:ext uri="{9D8B030D-6E8A-4147-A177-3AD203B41FA5}">
                      <a16:colId xmlns:a16="http://schemas.microsoft.com/office/drawing/2014/main" val="2968805994"/>
                    </a:ext>
                  </a:extLst>
                </a:gridCol>
                <a:gridCol w="572983">
                  <a:extLst>
                    <a:ext uri="{9D8B030D-6E8A-4147-A177-3AD203B41FA5}">
                      <a16:colId xmlns:a16="http://schemas.microsoft.com/office/drawing/2014/main" val="28850048"/>
                    </a:ext>
                  </a:extLst>
                </a:gridCol>
              </a:tblGrid>
              <a:tr h="400050">
                <a:tc>
                  <a:txBody>
                    <a:bodyPr/>
                    <a:lstStyle/>
                    <a:p>
                      <a:pPr algn="l" rtl="0" fontAlgn="base"/>
                      <a:r>
                        <a:rPr lang="en-US" sz="600" b="1" dirty="0">
                          <a:effectLst/>
                        </a:rPr>
                        <a:t>PROCESSID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PARAMTER TAG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PARAMETER DESCRIPTION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PARAMTER SERVICE RESOLUTION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DEFUALT VALUE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PARAMETER VALUE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PERIOD FROM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l" rtl="0" fontAlgn="base"/>
                      <a:r>
                        <a:rPr lang="en-US" sz="600" b="1" dirty="0">
                          <a:effectLst/>
                        </a:rPr>
                        <a:t>PERIOD TO </a:t>
                      </a:r>
                      <a:endParaRPr lang="en-US" sz="600" b="1" i="0">
                        <a:effectLst/>
                      </a:endParaRP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1019879224"/>
                  </a:ext>
                </a:extLst>
              </a:tr>
              <a:tr h="334536">
                <a:tc>
                  <a:txBody>
                    <a:bodyPr/>
                    <a:lstStyle/>
                    <a:p>
                      <a:pPr algn="l" rtl="0" fontAlgn="base"/>
                      <a:r>
                        <a:rPr lang="en-US" sz="600" dirty="0">
                          <a:effectLst/>
                        </a:rPr>
                        <a:t>FOVA_AUTOMATION </a:t>
                      </a:r>
                      <a:endParaRPr lang="en-US" sz="600"/>
                    </a:p>
                    <a:p>
                      <a:pPr algn="l"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FOVA_LOADING_PERCENTAGE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Minimum % Loading stores to execute </a:t>
                      </a:r>
                      <a:r>
                        <a:rPr lang="en-US" sz="600" err="1">
                          <a:effectLst/>
                        </a:rPr>
                        <a:t>fova</a:t>
                      </a:r>
                      <a:r>
                        <a:rPr lang="en-US" sz="600" dirty="0">
                          <a:effectLst/>
                        </a:rPr>
                        <a:t> automation Rule, % Will be used as Base to execute rule.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95 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791849879"/>
                  </a:ext>
                </a:extLst>
              </a:tr>
              <a:tr h="362414">
                <a:tc>
                  <a:txBody>
                    <a:bodyPr/>
                    <a:lstStyle/>
                    <a:p>
                      <a:pPr algn="l" rtl="0" fontAlgn="base"/>
                      <a:r>
                        <a:rPr lang="en-US" sz="600" dirty="0">
                          <a:effectLst/>
                        </a:rPr>
                        <a:t>FOVA_AUTOMATION </a:t>
                      </a:r>
                      <a:endParaRPr lang="en-US" sz="600"/>
                    </a:p>
                    <a:p>
                      <a:pPr algn="l"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FOVA_EXCLUDE_STORE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List of stores to exclude from FOVA automation Rule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SQL (SHORT), Separated by Comma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SQL: List to stores to exclude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946592050"/>
                  </a:ext>
                </a:extLst>
              </a:tr>
              <a:tr h="371475">
                <a:tc>
                  <a:txBody>
                    <a:bodyPr/>
                    <a:lstStyle/>
                    <a:p>
                      <a:pPr algn="l" rtl="0" fontAlgn="base"/>
                      <a:r>
                        <a:rPr lang="en-US" sz="600" dirty="0">
                          <a:effectLst/>
                        </a:rPr>
                        <a:t>FOVA_AUTOMATION </a:t>
                      </a:r>
                      <a:endParaRPr lang="en-US" sz="600"/>
                    </a:p>
                    <a:p>
                      <a:pPr algn="l"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FOVA_EXCLUDE_TAG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List of FOVA Tag to exclude from FOVA automation Rule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SQL (SHORT), Separated by Comma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600" b="0" i="0" u="none" strike="noStrike" cap="none" noProof="0" dirty="0">
                          <a:solidFill>
                            <a:srgbClr val="000000"/>
                          </a:solidFill>
                          <a:effectLst/>
                          <a:latin typeface="Arial"/>
                          <a:cs typeface="Arial"/>
                          <a:sym typeface="Arial"/>
                        </a:rPr>
                        <a:t>301,302,303,306,307,308,313,314,315,316,332,358,361</a:t>
                      </a:r>
                      <a:endParaRPr lang="en-US" sz="600" b="0" i="0" u="none" strike="noStrike" cap="none" dirty="0">
                        <a:solidFill>
                          <a:srgbClr val="000000"/>
                        </a:solidFill>
                        <a:effectLst/>
                        <a:latin typeface="Arial"/>
                        <a:cs typeface="Arial"/>
                        <a:sym typeface="Arial"/>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SQL: List of tags to exclude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043200020"/>
                  </a:ext>
                </a:extLst>
              </a:tr>
              <a:tr h="334536">
                <a:tc>
                  <a:txBody>
                    <a:bodyPr/>
                    <a:lstStyle/>
                    <a:p>
                      <a:pPr algn="l" rtl="0" fontAlgn="base"/>
                      <a:r>
                        <a:rPr lang="en-US" sz="600" dirty="0">
                          <a:effectLst/>
                        </a:rPr>
                        <a:t>FOVA_AUTOMATION </a:t>
                      </a:r>
                      <a:endParaRPr lang="en-US" sz="600"/>
                    </a:p>
                    <a:p>
                      <a:pPr algn="l"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FOVA_RETAILER_TYPE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Store Char name needs to define, which store information, either C or S for stores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AC_STORE_CHAR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endParaRPr lang="en-US" sz="600" b="0" i="0" u="none" strike="noStrike" cap="none" noProof="0" dirty="0">
                        <a:solidFill>
                          <a:srgbClr val="000000"/>
                        </a:solidFill>
                        <a:effectLst/>
                        <a:latin typeface="Arial"/>
                        <a:cs typeface="Arial"/>
                        <a:sym typeface="Arial"/>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Example:AC_STORE_CHAR6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653825580"/>
                  </a:ext>
                </a:extLst>
              </a:tr>
              <a:tr h="324925">
                <a:tc>
                  <a:txBody>
                    <a:bodyPr/>
                    <a:lstStyle/>
                    <a:p>
                      <a:pPr algn="l" rtl="0" fontAlgn="base"/>
                      <a:r>
                        <a:rPr lang="en-US" sz="600" dirty="0">
                          <a:effectLst/>
                        </a:rPr>
                        <a:t>FOVA_AUTOMATION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GROUP_CHAR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Grouping or retailers with less than less than 30 stores; to be grouped together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600" b="0" i="0" u="none" strike="noStrike" noProof="0" dirty="0">
                          <a:solidFill>
                            <a:srgbClr val="000000"/>
                          </a:solidFill>
                          <a:effectLst/>
                          <a:latin typeface="Arial"/>
                        </a:rPr>
                        <a:t>AC_RETAILER</a:t>
                      </a:r>
                      <a:endParaRPr lang="en-US" sz="600"/>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SQL: - group list of stores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029231531"/>
                  </a:ext>
                </a:extLst>
              </a:tr>
              <a:tr h="243932">
                <a:tc>
                  <a:txBody>
                    <a:bodyPr/>
                    <a:lstStyle/>
                    <a:p>
                      <a:pPr algn="l" rtl="0" fontAlgn="base"/>
                      <a:r>
                        <a:rPr lang="en-US" sz="600" dirty="0">
                          <a:effectLst/>
                        </a:rPr>
                        <a:t>FOVA_AUTOMATION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FOVA_MIN_LOADING_PERCENTAGE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Min loading percentage in order to send alert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20 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172885304"/>
                  </a:ext>
                </a:extLst>
              </a:tr>
              <a:tr h="271810">
                <a:tc>
                  <a:txBody>
                    <a:bodyPr/>
                    <a:lstStyle/>
                    <a:p>
                      <a:pPr algn="l" rtl="0" fontAlgn="base"/>
                      <a:r>
                        <a:rPr lang="en-US" sz="600" dirty="0">
                          <a:effectLst/>
                        </a:rPr>
                        <a:t>FOVA_AUTOMATION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FOVA_ALERT_NOTOK_PERCENTAGE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600" dirty="0">
                          <a:effectLst/>
                        </a:rPr>
                        <a:t>Min FOVA not OK percentage in order to send alert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0.01</a:t>
                      </a: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1000" b="0" i="0" dirty="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1 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dirty="0">
                          <a:effectLst/>
                        </a:rPr>
                        <a:t>9999 </a:t>
                      </a:r>
                      <a:endParaRPr lang="en-US" sz="600" b="0" i="0">
                        <a:effectLst/>
                      </a:endParaRP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313245754"/>
                  </a:ext>
                </a:extLst>
              </a:tr>
            </a:tbl>
          </a:graphicData>
        </a:graphic>
      </p:graphicFrame>
      <p:graphicFrame>
        <p:nvGraphicFramePr>
          <p:cNvPr id="5" name="Table 6">
            <a:extLst>
              <a:ext uri="{FF2B5EF4-FFF2-40B4-BE49-F238E27FC236}">
                <a16:creationId xmlns:a16="http://schemas.microsoft.com/office/drawing/2014/main" id="{9B1FB946-F675-D0BE-CBB7-73DDB10E8395}"/>
              </a:ext>
            </a:extLst>
          </p:cNvPr>
          <p:cNvGraphicFramePr>
            <a:graphicFrameLocks noGrp="1"/>
          </p:cNvGraphicFramePr>
          <p:nvPr>
            <p:extLst>
              <p:ext uri="{D42A27DB-BD31-4B8C-83A1-F6EECF244321}">
                <p14:modId xmlns:p14="http://schemas.microsoft.com/office/powerpoint/2010/main" val="728019269"/>
              </p:ext>
            </p:extLst>
          </p:nvPr>
        </p:nvGraphicFramePr>
        <p:xfrm>
          <a:off x="659068" y="4387645"/>
          <a:ext cx="8282196" cy="601912"/>
        </p:xfrm>
        <a:graphic>
          <a:graphicData uri="http://schemas.openxmlformats.org/drawingml/2006/table">
            <a:tbl>
              <a:tblPr firstRow="1" bandRow="1">
                <a:tableStyleId>{C70574C8-F969-49A7-8605-77D3504E23D5}</a:tableStyleId>
              </a:tblPr>
              <a:tblGrid>
                <a:gridCol w="1152032">
                  <a:extLst>
                    <a:ext uri="{9D8B030D-6E8A-4147-A177-3AD203B41FA5}">
                      <a16:colId xmlns:a16="http://schemas.microsoft.com/office/drawing/2014/main" val="3856681208"/>
                    </a:ext>
                  </a:extLst>
                </a:gridCol>
                <a:gridCol w="2047199">
                  <a:extLst>
                    <a:ext uri="{9D8B030D-6E8A-4147-A177-3AD203B41FA5}">
                      <a16:colId xmlns:a16="http://schemas.microsoft.com/office/drawing/2014/main" val="1411837490"/>
                    </a:ext>
                  </a:extLst>
                </a:gridCol>
                <a:gridCol w="2622061">
                  <a:extLst>
                    <a:ext uri="{9D8B030D-6E8A-4147-A177-3AD203B41FA5}">
                      <a16:colId xmlns:a16="http://schemas.microsoft.com/office/drawing/2014/main" val="1541546422"/>
                    </a:ext>
                  </a:extLst>
                </a:gridCol>
                <a:gridCol w="919469">
                  <a:extLst>
                    <a:ext uri="{9D8B030D-6E8A-4147-A177-3AD203B41FA5}">
                      <a16:colId xmlns:a16="http://schemas.microsoft.com/office/drawing/2014/main" val="665258380"/>
                    </a:ext>
                  </a:extLst>
                </a:gridCol>
                <a:gridCol w="1541435">
                  <a:extLst>
                    <a:ext uri="{9D8B030D-6E8A-4147-A177-3AD203B41FA5}">
                      <a16:colId xmlns:a16="http://schemas.microsoft.com/office/drawing/2014/main" val="3386099880"/>
                    </a:ext>
                  </a:extLst>
                </a:gridCol>
              </a:tblGrid>
              <a:tr h="300956">
                <a:tc>
                  <a:txBody>
                    <a:bodyPr/>
                    <a:lstStyle/>
                    <a:p>
                      <a:pPr algn="ctr"/>
                      <a:r>
                        <a:rPr lang="en-US" sz="800" b="1"/>
                        <a:t>Process ID</a:t>
                      </a: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sz="800" b="1"/>
                        <a:t>Parameter Tag</a:t>
                      </a: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sz="800" b="1"/>
                        <a:t>Parameter </a:t>
                      </a:r>
                      <a:r>
                        <a:rPr lang="en-US" sz="800" b="1" err="1"/>
                        <a:t>Descr</a:t>
                      </a: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a:r>
                        <a:rPr lang="en-US" sz="800" b="1"/>
                        <a:t>Default value</a:t>
                      </a:r>
                    </a:p>
                  </a:txBody>
                  <a:tcP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solidFill>
                      <a:srgbClr val="00B0F0"/>
                    </a:solidFill>
                  </a:tcPr>
                </a:tc>
                <a:tc>
                  <a:txBody>
                    <a:bodyPr/>
                    <a:lstStyle/>
                    <a:p>
                      <a:pPr lvl="0" algn="ctr">
                        <a:buNone/>
                      </a:pPr>
                      <a:r>
                        <a:rPr lang="en-US" sz="800" b="1"/>
                        <a:t>Comment</a:t>
                      </a:r>
                    </a:p>
                  </a:txBody>
                  <a:tcP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2210167924"/>
                  </a:ext>
                </a:extLst>
              </a:tr>
              <a:tr h="300956">
                <a:tc>
                  <a:txBody>
                    <a:bodyPr/>
                    <a:lstStyle/>
                    <a:p>
                      <a:pPr lvl="0" algn="ctr">
                        <a:buNone/>
                      </a:pPr>
                      <a:r>
                        <a:rPr lang="en-US" sz="800" b="0" i="0" u="none" strike="noStrike" noProof="0">
                          <a:latin typeface="Arial"/>
                        </a:rPr>
                        <a:t>AUTOLOAD</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800" b="0" i="0" u="none" strike="noStrike" noProof="0">
                          <a:latin typeface="Arial"/>
                        </a:rPr>
                        <a:t>FOVA_AUTOMATION_INTERVAL</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lvl="0" algn="ctr">
                        <a:buNone/>
                      </a:pPr>
                      <a:r>
                        <a:rPr lang="en-US" sz="800" b="0" i="0" u="none" strike="noStrike" noProof="0">
                          <a:latin typeface="Arial"/>
                        </a:rPr>
                        <a:t>Interval for autoload to submit </a:t>
                      </a:r>
                      <a:r>
                        <a:rPr lang="en-US" sz="800" b="0" i="0" u="none" strike="noStrike" noProof="0" err="1">
                          <a:latin typeface="Arial"/>
                        </a:rPr>
                        <a:t>fova</a:t>
                      </a:r>
                      <a:r>
                        <a:rPr lang="en-US" sz="800" b="0" i="0" u="none" strike="noStrike" noProof="0">
                          <a:latin typeface="Arial"/>
                        </a:rPr>
                        <a:t> automation</a:t>
                      </a:r>
                      <a:endParaRPr lang="en-US"/>
                    </a:p>
                  </a:txBody>
                  <a:tcP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a:r>
                        <a:rPr lang="en-US" sz="800"/>
                        <a:t>2</a:t>
                      </a:r>
                    </a:p>
                  </a:txBody>
                  <a:tcPr>
                    <a:lnL w="12700">
                      <a:solidFill>
                        <a:schemeClr val="tx1"/>
                      </a:solidFill>
                    </a:lnL>
                    <a:lnR w="12700" cap="flat" cmpd="sng" algn="ctr">
                      <a:solidFill>
                        <a:schemeClr val="tx1"/>
                      </a:solidFill>
                      <a:prstDash val="solid"/>
                      <a:round/>
                      <a:headEnd type="none" w="med" len="med"/>
                      <a:tailEnd type="none" w="med" len="med"/>
                    </a:lnR>
                    <a:lnT w="12700">
                      <a:solidFill>
                        <a:schemeClr val="tx1"/>
                      </a:solidFill>
                    </a:lnT>
                    <a:lnB w="12700">
                      <a:solidFill>
                        <a:schemeClr val="tx1"/>
                      </a:solidFill>
                    </a:lnB>
                  </a:tcPr>
                </a:tc>
                <a:tc>
                  <a:txBody>
                    <a:bodyPr/>
                    <a:lstStyle/>
                    <a:p>
                      <a:pPr lvl="0" algn="ctr">
                        <a:buNone/>
                      </a:pPr>
                      <a:r>
                        <a:rPr lang="en-US" sz="800"/>
                        <a:t>Value will be in the Hours.</a:t>
                      </a:r>
                    </a:p>
                  </a:txBody>
                  <a:tcP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95097374"/>
                  </a:ext>
                </a:extLst>
              </a:tr>
            </a:tbl>
          </a:graphicData>
        </a:graphic>
      </p:graphicFrame>
    </p:spTree>
    <p:extLst>
      <p:ext uri="{BB962C8B-B14F-4D97-AF65-F5344CB8AC3E}">
        <p14:creationId xmlns:p14="http://schemas.microsoft.com/office/powerpoint/2010/main" val="263556463"/>
      </p:ext>
    </p:extLst>
  </p:cSld>
  <p:clrMapOvr>
    <a:overrideClrMapping bg1="lt1" tx1="dk1" bg2="lt2" tx2="dk2" accent1="accent1" accent2="accent2" accent3="accent3" accent4="accent4" accent5="accent5" accent6="accent6" hlink="hlink" folHlink="folHlink"/>
  </p:clrMapOvr>
</p:sld>
</file>

<file path=ppt/slides/slide1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537165" cy="4422220"/>
          </a:xfrm>
          <a:prstGeom prst="rect">
            <a:avLst/>
          </a:prstGeom>
          <a:noFill/>
          <a:ln>
            <a:noFill/>
          </a:ln>
        </p:spPr>
        <p:txBody>
          <a:bodyPr spcFirstLastPara="1" wrap="square" lIns="91425" tIns="45700" rIns="91425" bIns="45700" anchor="t" anchorCtr="0">
            <a:noAutofit/>
          </a:bodyPr>
          <a:lstStyle/>
          <a:p>
            <a:pPr marL="19050" indent="0">
              <a:buNone/>
            </a:pPr>
            <a:r>
              <a:rPr lang="en" sz="1500">
                <a:latin typeface="Calibri"/>
                <a:cs typeface="Calibri"/>
              </a:rPr>
              <a:t>Tables: </a:t>
            </a:r>
          </a:p>
          <a:p>
            <a:pPr marL="19050" indent="0">
              <a:buNone/>
            </a:pPr>
            <a:endParaRPr lang="en" sz="1500">
              <a:latin typeface="Calibri"/>
              <a:cs typeface="Calibri"/>
            </a:endParaRPr>
          </a:p>
          <a:p>
            <a:pPr marL="19050" indent="0">
              <a:buNone/>
            </a:pPr>
            <a:r>
              <a:rPr lang="en" sz="1500">
                <a:latin typeface="Calibri"/>
                <a:cs typeface="Calibri"/>
              </a:rPr>
              <a:t>FOVA_RETAILERS:</a:t>
            </a: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graphicFrame>
        <p:nvGraphicFramePr>
          <p:cNvPr id="4" name="Table 3">
            <a:extLst>
              <a:ext uri="{FF2B5EF4-FFF2-40B4-BE49-F238E27FC236}">
                <a16:creationId xmlns:a16="http://schemas.microsoft.com/office/drawing/2014/main" id="{1FB9408F-3244-D967-B13F-6E2348E6C351}"/>
              </a:ext>
            </a:extLst>
          </p:cNvPr>
          <p:cNvGraphicFramePr>
            <a:graphicFrameLocks noGrp="1"/>
          </p:cNvGraphicFramePr>
          <p:nvPr>
            <p:extLst>
              <p:ext uri="{D42A27DB-BD31-4B8C-83A1-F6EECF244321}">
                <p14:modId xmlns:p14="http://schemas.microsoft.com/office/powerpoint/2010/main" val="821578164"/>
              </p:ext>
            </p:extLst>
          </p:nvPr>
        </p:nvGraphicFramePr>
        <p:xfrm>
          <a:off x="1166352" y="1453331"/>
          <a:ext cx="6838950" cy="1767840"/>
        </p:xfrm>
        <a:graphic>
          <a:graphicData uri="http://schemas.openxmlformats.org/drawingml/2006/table">
            <a:tbl>
              <a:tblPr firstRow="1" bandRow="1">
                <a:tableStyleId>{C70574C8-F969-49A7-8605-77D3504E23D5}</a:tableStyleId>
              </a:tblPr>
              <a:tblGrid>
                <a:gridCol w="1200150">
                  <a:extLst>
                    <a:ext uri="{9D8B030D-6E8A-4147-A177-3AD203B41FA5}">
                      <a16:colId xmlns:a16="http://schemas.microsoft.com/office/drawing/2014/main" val="385629883"/>
                    </a:ext>
                  </a:extLst>
                </a:gridCol>
                <a:gridCol w="1524000">
                  <a:extLst>
                    <a:ext uri="{9D8B030D-6E8A-4147-A177-3AD203B41FA5}">
                      <a16:colId xmlns:a16="http://schemas.microsoft.com/office/drawing/2014/main" val="1518227313"/>
                    </a:ext>
                  </a:extLst>
                </a:gridCol>
                <a:gridCol w="4114800">
                  <a:extLst>
                    <a:ext uri="{9D8B030D-6E8A-4147-A177-3AD203B41FA5}">
                      <a16:colId xmlns:a16="http://schemas.microsoft.com/office/drawing/2014/main" val="3120342099"/>
                    </a:ext>
                  </a:extLst>
                </a:gridCol>
              </a:tblGrid>
              <a:tr h="190500">
                <a:tc>
                  <a:txBody>
                    <a:bodyPr/>
                    <a:lstStyle/>
                    <a:p>
                      <a:pPr algn="ctr" rtl="0" fontAlgn="base"/>
                      <a:r>
                        <a:rPr lang="en-US" sz="1000">
                          <a:effectLst/>
                        </a:rPr>
                        <a:t>Name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rtl="0" fontAlgn="base"/>
                      <a:r>
                        <a:rPr lang="en-US" sz="1000">
                          <a:effectLst/>
                        </a:rPr>
                        <a:t>Type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rtl="0" fontAlgn="base"/>
                      <a:r>
                        <a:rPr lang="en-US" sz="1000">
                          <a:effectLst/>
                        </a:rPr>
                        <a:t>COMMENT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815719393"/>
                  </a:ext>
                </a:extLst>
              </a:tr>
              <a:tr h="190500">
                <a:tc>
                  <a:txBody>
                    <a:bodyPr/>
                    <a:lstStyle/>
                    <a:p>
                      <a:pPr algn="ctr" rtl="0" fontAlgn="base"/>
                      <a:r>
                        <a:rPr lang="en-US" sz="1000">
                          <a:effectLst/>
                        </a:rPr>
                        <a:t>AC_RETAILER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1000">
                          <a:effectLst/>
                        </a:rPr>
                        <a:t>VARCHAR2(200)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1000">
                          <a:effectLst/>
                        </a:rPr>
                        <a:t>List of Retailer for which we need to define (Census / Sample / Mixed)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810078147"/>
                  </a:ext>
                </a:extLst>
              </a:tr>
              <a:tr h="190500">
                <a:tc>
                  <a:txBody>
                    <a:bodyPr/>
                    <a:lstStyle/>
                    <a:p>
                      <a:pPr algn="ctr" rtl="0" fontAlgn="base"/>
                      <a:r>
                        <a:rPr lang="en-US" sz="1000">
                          <a:effectLst/>
                        </a:rPr>
                        <a:t>RULE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1000">
                          <a:effectLst/>
                        </a:rPr>
                        <a:t>VARCHAR2 (200)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1000">
                          <a:effectLst/>
                        </a:rPr>
                        <a:t>% Information for Retailer to use </a:t>
                      </a:r>
                      <a:r>
                        <a:rPr lang="en-US" sz="1000" err="1">
                          <a:effectLst/>
                        </a:rPr>
                        <a:t>Fova</a:t>
                      </a:r>
                      <a:r>
                        <a:rPr lang="en-US" sz="1000">
                          <a:effectLst/>
                        </a:rPr>
                        <a:t> automation % Rule. </a:t>
                      </a:r>
                      <a:endParaRPr lang="en-US">
                        <a:effectLst/>
                      </a:endParaRPr>
                    </a:p>
                    <a:p>
                      <a:pPr algn="l" rtl="0" fontAlgn="base"/>
                      <a:r>
                        <a:rPr lang="en-US" sz="1000">
                          <a:effectLst/>
                        </a:rPr>
                        <a:t> (Default is 3%)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28415800"/>
                  </a:ext>
                </a:extLst>
              </a:tr>
              <a:tr h="190500">
                <a:tc>
                  <a:txBody>
                    <a:bodyPr/>
                    <a:lstStyle/>
                    <a:p>
                      <a:pPr algn="ctr" rtl="0" fontAlgn="base"/>
                      <a:r>
                        <a:rPr lang="en-US" sz="1000">
                          <a:effectLst/>
                        </a:rPr>
                        <a:t>TYPE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1000">
                          <a:effectLst/>
                        </a:rPr>
                        <a:t>VARCHAR2 (1)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1000">
                          <a:effectLst/>
                        </a:rPr>
                        <a:t>C / S / M (C: Census, S: Sample, M: Mixed)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50660116"/>
                  </a:ext>
                </a:extLst>
              </a:tr>
              <a:tr h="219075">
                <a:tc>
                  <a:txBody>
                    <a:bodyPr/>
                    <a:lstStyle/>
                    <a:p>
                      <a:pPr algn="ctr" rtl="0" fontAlgn="base"/>
                      <a:r>
                        <a:rPr lang="en-US" sz="1000">
                          <a:effectLst/>
                        </a:rPr>
                        <a:t>PERIOD FROM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1000">
                          <a:effectLst/>
                        </a:rPr>
                        <a:t>NUMBER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1000">
                          <a:effectLst/>
                        </a:rPr>
                        <a:t>Start </a:t>
                      </a:r>
                      <a:r>
                        <a:rPr lang="en-US" sz="1000" err="1">
                          <a:effectLst/>
                        </a:rPr>
                        <a:t>Periodid</a:t>
                      </a:r>
                      <a:r>
                        <a:rPr lang="en-US" sz="1000">
                          <a:effectLst/>
                        </a:rPr>
                        <a:t>, from where Rule wants to be executed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58365673"/>
                  </a:ext>
                </a:extLst>
              </a:tr>
              <a:tr h="219075">
                <a:tc>
                  <a:txBody>
                    <a:bodyPr/>
                    <a:lstStyle/>
                    <a:p>
                      <a:pPr algn="ctr" rtl="0" fontAlgn="base"/>
                      <a:r>
                        <a:rPr lang="en-US" sz="1000">
                          <a:effectLst/>
                        </a:rPr>
                        <a:t>PERIOD TO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1000">
                          <a:effectLst/>
                        </a:rPr>
                        <a:t>NUMBER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l" rtl="0" fontAlgn="base"/>
                      <a:r>
                        <a:rPr lang="en-US" sz="1000">
                          <a:effectLst/>
                        </a:rPr>
                        <a:t>End </a:t>
                      </a:r>
                      <a:r>
                        <a:rPr lang="en-US" sz="1000" err="1">
                          <a:effectLst/>
                        </a:rPr>
                        <a:t>Periodid</a:t>
                      </a:r>
                      <a:r>
                        <a:rPr lang="en-US" sz="1000">
                          <a:effectLst/>
                        </a:rPr>
                        <a:t>, Where Rule wants to be executed </a:t>
                      </a:r>
                      <a:endParaRPr lang="en-US"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889630884"/>
                  </a:ext>
                </a:extLst>
              </a:tr>
            </a:tbl>
          </a:graphicData>
        </a:graphic>
      </p:graphicFrame>
    </p:spTree>
    <p:extLst>
      <p:ext uri="{BB962C8B-B14F-4D97-AF65-F5344CB8AC3E}">
        <p14:creationId xmlns:p14="http://schemas.microsoft.com/office/powerpoint/2010/main" val="3355998806"/>
      </p:ext>
    </p:extLst>
  </p:cSld>
  <p:clrMapOvr>
    <a:overrideClrMapping bg1="lt1" tx1="dk1" bg2="lt2" tx2="dk2" accent1="accent1" accent2="accent2" accent3="accent3" accent4="accent4" accent5="accent5" accent6="accent6" hlink="hlink" folHlink="folHlink"/>
  </p:clrMapOvr>
</p:sld>
</file>

<file path=ppt/slides/slide1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297"/>
        <p:cNvGrpSpPr/>
        <p:nvPr/>
      </p:nvGrpSpPr>
      <p:grpSpPr>
        <a:xfrm>
          <a:off x="0" y="0"/>
          <a:ext cx="0" cy="0"/>
          <a:chOff x="0" y="0"/>
          <a:chExt cx="0" cy="0"/>
        </a:xfrm>
      </p:grpSpPr>
      <p:sp>
        <p:nvSpPr>
          <p:cNvPr id="1298" name="Google Shape;1298;p167"/>
          <p:cNvSpPr txBox="1">
            <a:spLocks noGrp="1"/>
          </p:cNvSpPr>
          <p:nvPr>
            <p:ph type="title"/>
          </p:nvPr>
        </p:nvSpPr>
        <p:spPr>
          <a:xfrm>
            <a:off x="361950" y="78284"/>
            <a:ext cx="7918500" cy="338700"/>
          </a:xfrm>
          <a:prstGeom prst="rect">
            <a:avLst/>
          </a:prstGeom>
          <a:noFill/>
          <a:ln>
            <a:noFill/>
          </a:ln>
        </p:spPr>
        <p:txBody>
          <a:bodyPr spcFirstLastPara="1" wrap="square" lIns="91425" tIns="45700" rIns="91425" bIns="45700" anchor="t" anchorCtr="0">
            <a:noAutofit/>
          </a:bodyPr>
          <a:lstStyle/>
          <a:p>
            <a:r>
              <a:rPr lang="en"/>
              <a:t>DM 25641 FOVA Automation Rule:</a:t>
            </a:r>
          </a:p>
        </p:txBody>
      </p:sp>
      <p:sp>
        <p:nvSpPr>
          <p:cNvPr id="1299" name="Google Shape;1299;p167"/>
          <p:cNvSpPr txBox="1">
            <a:spLocks noGrp="1"/>
          </p:cNvSpPr>
          <p:nvPr>
            <p:ph type="body" idx="1"/>
          </p:nvPr>
        </p:nvSpPr>
        <p:spPr>
          <a:xfrm>
            <a:off x="430213" y="628651"/>
            <a:ext cx="8537165" cy="4422220"/>
          </a:xfrm>
          <a:prstGeom prst="rect">
            <a:avLst/>
          </a:prstGeom>
          <a:noFill/>
          <a:ln>
            <a:noFill/>
          </a:ln>
        </p:spPr>
        <p:txBody>
          <a:bodyPr spcFirstLastPara="1" wrap="square" lIns="91425" tIns="45700" rIns="91425" bIns="45700" anchor="t" anchorCtr="0">
            <a:noAutofit/>
          </a:bodyPr>
          <a:lstStyle/>
          <a:p>
            <a:pPr marL="19050" indent="0">
              <a:buNone/>
            </a:pPr>
            <a:r>
              <a:rPr lang="en" sz="1500">
                <a:latin typeface="Calibri"/>
                <a:cs typeface="Calibri"/>
              </a:rPr>
              <a:t>Tables:</a:t>
            </a:r>
          </a:p>
          <a:p>
            <a:pPr marL="19050" indent="0">
              <a:buNone/>
            </a:pPr>
            <a:r>
              <a:rPr lang="en" sz="1500">
                <a:latin typeface="Calibri"/>
                <a:cs typeface="Calibri"/>
              </a:rPr>
              <a:t>FOVA_AUTOMATION_PARM:</a:t>
            </a:r>
          </a:p>
          <a:p>
            <a:pPr marL="19050" indent="0">
              <a:buNone/>
            </a:pPr>
            <a:endParaRPr lang="en" sz="1500">
              <a:latin typeface="Calibri"/>
              <a:cs typeface="Calibri"/>
            </a:endParaRPr>
          </a:p>
          <a:p>
            <a:pPr marL="19050" indent="0">
              <a:buNone/>
            </a:pPr>
            <a:endParaRPr lang="en" sz="1500">
              <a:latin typeface="Calibri"/>
              <a:cs typeface="Calibri"/>
            </a:endParaRPr>
          </a:p>
        </p:txBody>
      </p:sp>
      <p:sp>
        <p:nvSpPr>
          <p:cNvPr id="3" name="Google Shape;1314;p169">
            <a:extLst>
              <a:ext uri="{FF2B5EF4-FFF2-40B4-BE49-F238E27FC236}">
                <a16:creationId xmlns:a16="http://schemas.microsoft.com/office/drawing/2014/main" id="{9F0B20A8-997A-A7BD-553D-D7E53487D362}"/>
              </a:ext>
            </a:extLst>
          </p:cNvPr>
          <p:cNvSpPr/>
          <p:nvPr/>
        </p:nvSpPr>
        <p:spPr>
          <a:xfrm>
            <a:off x="7503549" y="82798"/>
            <a:ext cx="954651" cy="272182"/>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100">
                <a:solidFill>
                  <a:srgbClr val="FFFFFF"/>
                </a:solidFill>
              </a:rPr>
              <a:t>Jan’23</a:t>
            </a:r>
            <a:r>
              <a:rPr lang="en" sz="1100">
                <a:solidFill>
                  <a:srgbClr val="FFFFFF"/>
                </a:solidFill>
                <a:latin typeface="Arial"/>
                <a:ea typeface="Arial"/>
                <a:cs typeface="Arial"/>
                <a:sym typeface="Arial"/>
              </a:rPr>
              <a:t> CR</a:t>
            </a:r>
            <a:endParaRPr lang="en-US" sz="1100">
              <a:solidFill>
                <a:srgbClr val="FFFFFF"/>
              </a:solidFill>
              <a:latin typeface="Arial"/>
              <a:ea typeface="Arial"/>
              <a:cs typeface="Arial"/>
            </a:endParaRPr>
          </a:p>
        </p:txBody>
      </p:sp>
      <p:graphicFrame>
        <p:nvGraphicFramePr>
          <p:cNvPr id="5" name="Table 4">
            <a:extLst>
              <a:ext uri="{FF2B5EF4-FFF2-40B4-BE49-F238E27FC236}">
                <a16:creationId xmlns:a16="http://schemas.microsoft.com/office/drawing/2014/main" id="{7F7DA198-789B-ACF8-7706-FB5D48D9E0DE}"/>
              </a:ext>
            </a:extLst>
          </p:cNvPr>
          <p:cNvGraphicFramePr>
            <a:graphicFrameLocks noGrp="1"/>
          </p:cNvGraphicFramePr>
          <p:nvPr>
            <p:extLst>
              <p:ext uri="{D42A27DB-BD31-4B8C-83A1-F6EECF244321}">
                <p14:modId xmlns:p14="http://schemas.microsoft.com/office/powerpoint/2010/main" val="2015380321"/>
              </p:ext>
            </p:extLst>
          </p:nvPr>
        </p:nvGraphicFramePr>
        <p:xfrm>
          <a:off x="515490" y="1199199"/>
          <a:ext cx="4852810" cy="3840480"/>
        </p:xfrm>
        <a:graphic>
          <a:graphicData uri="http://schemas.openxmlformats.org/drawingml/2006/table">
            <a:tbl>
              <a:tblPr firstRow="1" bandRow="1">
                <a:tableStyleId>{C70574C8-F969-49A7-8605-77D3504E23D5}</a:tableStyleId>
              </a:tblPr>
              <a:tblGrid>
                <a:gridCol w="1096018">
                  <a:extLst>
                    <a:ext uri="{9D8B030D-6E8A-4147-A177-3AD203B41FA5}">
                      <a16:colId xmlns:a16="http://schemas.microsoft.com/office/drawing/2014/main" val="1997385609"/>
                    </a:ext>
                  </a:extLst>
                </a:gridCol>
                <a:gridCol w="930581">
                  <a:extLst>
                    <a:ext uri="{9D8B030D-6E8A-4147-A177-3AD203B41FA5}">
                      <a16:colId xmlns:a16="http://schemas.microsoft.com/office/drawing/2014/main" val="294868624"/>
                    </a:ext>
                  </a:extLst>
                </a:gridCol>
                <a:gridCol w="2826211">
                  <a:extLst>
                    <a:ext uri="{9D8B030D-6E8A-4147-A177-3AD203B41FA5}">
                      <a16:colId xmlns:a16="http://schemas.microsoft.com/office/drawing/2014/main" val="1776293648"/>
                    </a:ext>
                  </a:extLst>
                </a:gridCol>
              </a:tblGrid>
              <a:tr h="154159">
                <a:tc>
                  <a:txBody>
                    <a:bodyPr/>
                    <a:lstStyle/>
                    <a:p>
                      <a:pPr algn="ctr" rtl="0" fontAlgn="base"/>
                      <a:r>
                        <a:rPr lang="en-US" sz="600" b="1">
                          <a:effectLst/>
                        </a:rPr>
                        <a:t>Name  </a:t>
                      </a:r>
                      <a:endParaRPr lang="en-US" sz="600" b="1"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rtl="0" fontAlgn="base"/>
                      <a:r>
                        <a:rPr lang="en-US" sz="600" b="1">
                          <a:effectLst/>
                        </a:rPr>
                        <a:t>Type </a:t>
                      </a:r>
                      <a:endParaRPr lang="en-US" sz="600" b="1"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tc>
                  <a:txBody>
                    <a:bodyPr/>
                    <a:lstStyle/>
                    <a:p>
                      <a:pPr algn="ctr" rtl="0" fontAlgn="base"/>
                      <a:r>
                        <a:rPr lang="en-US" sz="600" b="1">
                          <a:effectLst/>
                        </a:rPr>
                        <a:t>COMMENT </a:t>
                      </a:r>
                      <a:endParaRPr lang="en-US" sz="600" b="1"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solidFill>
                      <a:srgbClr val="00B0F0"/>
                    </a:solidFill>
                  </a:tcPr>
                </a:tc>
                <a:extLst>
                  <a:ext uri="{0D108BD9-81ED-4DB2-BD59-A6C34878D82A}">
                    <a16:rowId xmlns:a16="http://schemas.microsoft.com/office/drawing/2014/main" val="3151258768"/>
                  </a:ext>
                </a:extLst>
              </a:tr>
              <a:tr h="154159">
                <a:tc>
                  <a:txBody>
                    <a:bodyPr/>
                    <a:lstStyle/>
                    <a:p>
                      <a:pPr algn="ctr" rtl="0" fontAlgn="base"/>
                      <a:r>
                        <a:rPr lang="en-US" sz="600">
                          <a:effectLst/>
                        </a:rPr>
                        <a:t>NC_PERIODSET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NUMBER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17308989"/>
                  </a:ext>
                </a:extLst>
              </a:tr>
              <a:tr h="154159">
                <a:tc>
                  <a:txBody>
                    <a:bodyPr/>
                    <a:lstStyle/>
                    <a:p>
                      <a:pPr algn="ctr" rtl="0" fontAlgn="base"/>
                      <a:r>
                        <a:rPr lang="en-US" sz="600">
                          <a:effectLst/>
                        </a:rPr>
                        <a:t>NC_PERIODID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NUMBER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79345303"/>
                  </a:ext>
                </a:extLst>
              </a:tr>
              <a:tr h="154159">
                <a:tc>
                  <a:txBody>
                    <a:bodyPr/>
                    <a:lstStyle/>
                    <a:p>
                      <a:pPr algn="ctr" rtl="0" fontAlgn="base"/>
                      <a:r>
                        <a:rPr lang="en-US" sz="600">
                          <a:effectLst/>
                        </a:rPr>
                        <a:t>AC_DTGROUP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VARCHAR2(100)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51639197"/>
                  </a:ext>
                </a:extLst>
              </a:tr>
              <a:tr h="154159">
                <a:tc>
                  <a:txBody>
                    <a:bodyPr/>
                    <a:lstStyle/>
                    <a:p>
                      <a:pPr algn="ctr" rtl="0" fontAlgn="base"/>
                      <a:r>
                        <a:rPr lang="en-US" sz="600">
                          <a:effectLst/>
                        </a:rPr>
                        <a:t>AC_CHANNELID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VARCHAR2(100)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41524973"/>
                  </a:ext>
                </a:extLst>
              </a:tr>
              <a:tr h="154159">
                <a:tc>
                  <a:txBody>
                    <a:bodyPr/>
                    <a:lstStyle/>
                    <a:p>
                      <a:pPr algn="ctr" rtl="0" fontAlgn="base"/>
                      <a:r>
                        <a:rPr lang="en-US" sz="600">
                          <a:effectLst/>
                        </a:rPr>
                        <a:t>AC_RETAILERID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VARCHAR2(100)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729528518"/>
                  </a:ext>
                </a:extLst>
              </a:tr>
              <a:tr h="154159">
                <a:tc>
                  <a:txBody>
                    <a:bodyPr/>
                    <a:lstStyle/>
                    <a:p>
                      <a:pPr algn="ctr" rtl="0" fontAlgn="base"/>
                      <a:r>
                        <a:rPr lang="en-US" sz="600">
                          <a:effectLst/>
                        </a:rPr>
                        <a:t>AC_C19_FOVA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227621946"/>
                  </a:ext>
                </a:extLst>
              </a:tr>
              <a:tr h="154159">
                <a:tc>
                  <a:txBody>
                    <a:bodyPr/>
                    <a:lstStyle/>
                    <a:p>
                      <a:pPr algn="ctr" rtl="0" fontAlgn="base"/>
                      <a:r>
                        <a:rPr lang="en-US" sz="600">
                          <a:effectLst/>
                        </a:rPr>
                        <a:t>AC_ALERT_MAIL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44863679"/>
                  </a:ext>
                </a:extLst>
              </a:tr>
              <a:tr h="177875">
                <a:tc>
                  <a:txBody>
                    <a:bodyPr/>
                    <a:lstStyle/>
                    <a:p>
                      <a:pPr algn="ctr" rtl="0" fontAlgn="base"/>
                      <a:r>
                        <a:rPr lang="en-US" sz="600">
                          <a:effectLst/>
                        </a:rPr>
                        <a:t>AC_SET_FOVA_OK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63155782"/>
                  </a:ext>
                </a:extLst>
              </a:tr>
              <a:tr h="177875">
                <a:tc>
                  <a:txBody>
                    <a:bodyPr/>
                    <a:lstStyle/>
                    <a:p>
                      <a:pPr algn="ctr" rtl="0" fontAlgn="base"/>
                      <a:r>
                        <a:rPr lang="en-US" sz="600">
                          <a:effectLst/>
                        </a:rPr>
                        <a:t>AC_SET_ESTIMATE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21733407"/>
                  </a:ext>
                </a:extLst>
              </a:tr>
              <a:tr h="177875">
                <a:tc>
                  <a:txBody>
                    <a:bodyPr/>
                    <a:lstStyle/>
                    <a:p>
                      <a:pPr algn="ctr" rtl="0" fontAlgn="base"/>
                      <a:r>
                        <a:rPr lang="en-US" sz="600">
                          <a:effectLst/>
                        </a:rPr>
                        <a:t>AC_DAY1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524910311"/>
                  </a:ext>
                </a:extLst>
              </a:tr>
              <a:tr h="177875">
                <a:tc>
                  <a:txBody>
                    <a:bodyPr/>
                    <a:lstStyle/>
                    <a:p>
                      <a:pPr algn="ctr" rtl="0" fontAlgn="base"/>
                      <a:r>
                        <a:rPr lang="en-US" sz="600">
                          <a:effectLst/>
                        </a:rPr>
                        <a:t>AC_DAY2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51698851"/>
                  </a:ext>
                </a:extLst>
              </a:tr>
              <a:tr h="177875">
                <a:tc>
                  <a:txBody>
                    <a:bodyPr/>
                    <a:lstStyle/>
                    <a:p>
                      <a:pPr algn="ctr" rtl="0" fontAlgn="base"/>
                      <a:r>
                        <a:rPr lang="en-US" sz="600">
                          <a:effectLst/>
                        </a:rPr>
                        <a:t>AC_DAY3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456535903"/>
                  </a:ext>
                </a:extLst>
              </a:tr>
              <a:tr h="177875">
                <a:tc>
                  <a:txBody>
                    <a:bodyPr/>
                    <a:lstStyle/>
                    <a:p>
                      <a:pPr algn="ctr" rtl="0" fontAlgn="base"/>
                      <a:r>
                        <a:rPr lang="en-US" sz="600">
                          <a:effectLst/>
                        </a:rPr>
                        <a:t>AC_DAY4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825179401"/>
                  </a:ext>
                </a:extLst>
              </a:tr>
              <a:tr h="177875">
                <a:tc>
                  <a:txBody>
                    <a:bodyPr/>
                    <a:lstStyle/>
                    <a:p>
                      <a:pPr algn="ctr" rtl="0" fontAlgn="base"/>
                      <a:r>
                        <a:rPr lang="en-US" sz="600">
                          <a:effectLst/>
                        </a:rPr>
                        <a:t>AC_DAY5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96439696"/>
                  </a:ext>
                </a:extLst>
              </a:tr>
              <a:tr h="177875">
                <a:tc>
                  <a:txBody>
                    <a:bodyPr/>
                    <a:lstStyle/>
                    <a:p>
                      <a:pPr algn="ctr" rtl="0" fontAlgn="base"/>
                      <a:r>
                        <a:rPr lang="en-US" sz="600">
                          <a:effectLst/>
                        </a:rPr>
                        <a:t>AC_DAY6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904033120"/>
                  </a:ext>
                </a:extLst>
              </a:tr>
              <a:tr h="177875">
                <a:tc>
                  <a:txBody>
                    <a:bodyPr/>
                    <a:lstStyle/>
                    <a:p>
                      <a:pPr algn="ctr" rtl="0" fontAlgn="base"/>
                      <a:r>
                        <a:rPr lang="en-US" sz="600">
                          <a:effectLst/>
                        </a:rPr>
                        <a:t>AC_DAY7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VARCHAR2(1)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1737466210"/>
                  </a:ext>
                </a:extLst>
              </a:tr>
              <a:tr h="177875">
                <a:tc>
                  <a:txBody>
                    <a:bodyPr/>
                    <a:lstStyle/>
                    <a:p>
                      <a:pPr algn="ctr" rtl="0" fontAlgn="base"/>
                      <a:r>
                        <a:rPr lang="en-US" sz="600">
                          <a:effectLst/>
                        </a:rPr>
                        <a:t>NC_DELAY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NUMBER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Interval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128474883"/>
                  </a:ext>
                </a:extLst>
              </a:tr>
              <a:tr h="177875">
                <a:tc>
                  <a:txBody>
                    <a:bodyPr/>
                    <a:lstStyle/>
                    <a:p>
                      <a:pPr algn="ctr" rtl="0" fontAlgn="base"/>
                      <a:r>
                        <a:rPr lang="en-US" sz="600">
                          <a:effectLst/>
                        </a:rPr>
                        <a:t>AC_TIME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VARCHAR2(5)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Y/N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3472830131"/>
                  </a:ext>
                </a:extLst>
              </a:tr>
              <a:tr h="177875">
                <a:tc>
                  <a:txBody>
                    <a:bodyPr/>
                    <a:lstStyle/>
                    <a:p>
                      <a:pPr algn="ctr" rtl="0" fontAlgn="base"/>
                      <a:r>
                        <a:rPr lang="en-US" sz="600">
                          <a:effectLst/>
                        </a:rPr>
                        <a:t>AC_MAIL_ID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VARCHAR2(200)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List of mail ids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4016950171"/>
                  </a:ext>
                </a:extLst>
              </a:tr>
              <a:tr h="154159">
                <a:tc>
                  <a:txBody>
                    <a:bodyPr/>
                    <a:lstStyle/>
                    <a:p>
                      <a:pPr algn="ctr" rtl="0" fontAlgn="base"/>
                      <a:r>
                        <a:rPr lang="en-US" sz="600">
                          <a:effectLst/>
                        </a:rPr>
                        <a:t>AC_MAIL_MESSAGE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VARCHAR2(200)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tc>
                  <a:txBody>
                    <a:bodyPr/>
                    <a:lstStyle/>
                    <a:p>
                      <a:pPr algn="ctr" rtl="0" fontAlgn="base"/>
                      <a:r>
                        <a:rPr lang="en-US" sz="600">
                          <a:effectLst/>
                        </a:rPr>
                        <a:t>Content of message if any </a:t>
                      </a:r>
                      <a:endParaRPr lang="en-US" sz="600" b="0" i="0">
                        <a:effectLst/>
                      </a:endParaRPr>
                    </a:p>
                  </a:txBody>
                  <a:tcPr anchor="ctr">
                    <a:lnL w="12700">
                      <a:solidFill>
                        <a:schemeClr val="tx1"/>
                      </a:solidFill>
                    </a:lnL>
                    <a:lnR w="12700">
                      <a:solidFill>
                        <a:schemeClr val="tx1"/>
                      </a:solidFill>
                    </a:lnR>
                    <a:lnT w="12700">
                      <a:solidFill>
                        <a:schemeClr val="tx1"/>
                      </a:solidFill>
                    </a:lnT>
                    <a:lnB w="12700">
                      <a:solidFill>
                        <a:schemeClr val="tx1"/>
                      </a:solidFill>
                    </a:lnB>
                  </a:tcPr>
                </a:tc>
                <a:extLst>
                  <a:ext uri="{0D108BD9-81ED-4DB2-BD59-A6C34878D82A}">
                    <a16:rowId xmlns:a16="http://schemas.microsoft.com/office/drawing/2014/main" val="2260259765"/>
                  </a:ext>
                </a:extLst>
              </a:tr>
            </a:tbl>
          </a:graphicData>
        </a:graphic>
      </p:graphicFrame>
    </p:spTree>
    <p:extLst>
      <p:ext uri="{BB962C8B-B14F-4D97-AF65-F5344CB8AC3E}">
        <p14:creationId xmlns:p14="http://schemas.microsoft.com/office/powerpoint/2010/main" val="605191546"/>
      </p:ext>
    </p:extLst>
  </p:cSld>
  <p:clrMapOvr>
    <a:overrideClrMapping bg1="lt1" tx1="dk1" bg2="lt2" tx2="dk2" accent1="accent1" accent2="accent2" accent3="accent3" accent4="accent4" accent5="accent5" accent6="accent6" hlink="hlink" folHlink="folHlink"/>
  </p:clrMapOvr>
</p:sld>
</file>

<file path=ppt/slides/slide11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03"/>
        <p:cNvGrpSpPr/>
        <p:nvPr/>
      </p:nvGrpSpPr>
      <p:grpSpPr>
        <a:xfrm>
          <a:off x="0" y="0"/>
          <a:ext cx="0" cy="0"/>
          <a:chOff x="0" y="0"/>
          <a:chExt cx="0" cy="0"/>
        </a:xfrm>
      </p:grpSpPr>
      <p:sp>
        <p:nvSpPr>
          <p:cNvPr id="1304" name="Google Shape;1304;p168"/>
          <p:cNvSpPr txBox="1">
            <a:spLocks noGrp="1"/>
          </p:cNvSpPr>
          <p:nvPr>
            <p:ph type="title"/>
          </p:nvPr>
        </p:nvSpPr>
        <p:spPr>
          <a:xfrm>
            <a:off x="438150" y="154471"/>
            <a:ext cx="7918500" cy="491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Detailed explanation for each Test of FOVA</a:t>
            </a:r>
            <a:endParaRPr/>
          </a:p>
        </p:txBody>
      </p:sp>
      <p:pic>
        <p:nvPicPr>
          <p:cNvPr id="1305" name="Google Shape;1305;p168"/>
          <p:cNvPicPr preferRelativeResize="0"/>
          <p:nvPr/>
        </p:nvPicPr>
        <p:blipFill rotWithShape="1">
          <a:blip r:embed="rId4">
            <a:alphaModFix/>
          </a:blip>
          <a:srcRect/>
          <a:stretch/>
        </p:blipFill>
        <p:spPr>
          <a:xfrm>
            <a:off x="4971900" y="1410250"/>
            <a:ext cx="2998650" cy="2530099"/>
          </a:xfrm>
          <a:prstGeom prst="rect">
            <a:avLst/>
          </a:prstGeom>
          <a:noFill/>
          <a:ln>
            <a:noFill/>
          </a:ln>
        </p:spPr>
      </p:pic>
      <p:pic>
        <p:nvPicPr>
          <p:cNvPr id="1306" name="Google Shape;1306;p168"/>
          <p:cNvPicPr preferRelativeResize="0"/>
          <p:nvPr/>
        </p:nvPicPr>
        <p:blipFill rotWithShape="1">
          <a:blip r:embed="rId5">
            <a:alphaModFix/>
          </a:blip>
          <a:srcRect/>
          <a:stretch/>
        </p:blipFill>
        <p:spPr>
          <a:xfrm>
            <a:off x="999600" y="1421033"/>
            <a:ext cx="2998650" cy="2532865"/>
          </a:xfrm>
          <a:prstGeom prst="rect">
            <a:avLst/>
          </a:prstGeom>
          <a:noFill/>
          <a:ln>
            <a:noFill/>
          </a:ln>
        </p:spPr>
      </p:pic>
      <p:sp>
        <p:nvSpPr>
          <p:cNvPr id="1307" name="Google Shape;1307;p168"/>
          <p:cNvSpPr txBox="1"/>
          <p:nvPr/>
        </p:nvSpPr>
        <p:spPr>
          <a:xfrm>
            <a:off x="1574450" y="3331275"/>
            <a:ext cx="1877100" cy="88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latin typeface="Open Sans"/>
                <a:ea typeface="Open Sans"/>
                <a:cs typeface="Open Sans"/>
                <a:sym typeface="Open Sans"/>
                <a:hlinkClick r:id="rId6"/>
              </a:rPr>
              <a:t>Specification for dynamic calculation of FoVa parameters</a:t>
            </a:r>
            <a:endParaRPr>
              <a:solidFill>
                <a:schemeClr val="hlink"/>
              </a:solidFill>
              <a:latin typeface="Open Sans"/>
              <a:ea typeface="Open Sans"/>
              <a:cs typeface="Open Sans"/>
              <a:sym typeface="Open Sans"/>
              <a:hlinkClick r:id="rId6"/>
            </a:endParaRPr>
          </a:p>
        </p:txBody>
      </p:sp>
      <p:sp>
        <p:nvSpPr>
          <p:cNvPr id="1308" name="Google Shape;1308;p168"/>
          <p:cNvSpPr txBox="1"/>
          <p:nvPr/>
        </p:nvSpPr>
        <p:spPr>
          <a:xfrm>
            <a:off x="5536850" y="3331275"/>
            <a:ext cx="1877100" cy="882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latin typeface="Open Sans"/>
                <a:ea typeface="Open Sans"/>
                <a:cs typeface="Open Sans"/>
                <a:sym typeface="Open Sans"/>
                <a:hlinkClick r:id="rId7"/>
              </a:rPr>
              <a:t>Formal Validation for Volumetric data</a:t>
            </a:r>
            <a:endParaRPr>
              <a:solidFill>
                <a:schemeClr val="hlink"/>
              </a:solidFill>
              <a:latin typeface="Open Sans"/>
              <a:ea typeface="Open Sans"/>
              <a:cs typeface="Open Sans"/>
              <a:sym typeface="Open Sans"/>
              <a:hlinkClick r:id="rId7"/>
            </a:endParaRPr>
          </a:p>
        </p:txBody>
      </p:sp>
    </p:spTree>
  </p:cSld>
  <p:clrMapOvr>
    <a:overrideClrMapping bg1="lt1" tx1="dk1" bg2="lt2" tx2="dk2" accent1="accent1" accent2="accent2" accent3="accent3" accent4="accent4" accent5="accent5" accent6="accent6" hlink="hlink" folHlink="folHlink"/>
  </p:clrMapOvr>
</p:sld>
</file>

<file path=ppt/slides/slide11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12"/>
        <p:cNvGrpSpPr/>
        <p:nvPr/>
      </p:nvGrpSpPr>
      <p:grpSpPr>
        <a:xfrm>
          <a:off x="0" y="0"/>
          <a:ext cx="0" cy="0"/>
          <a:chOff x="0" y="0"/>
          <a:chExt cx="0" cy="0"/>
        </a:xfrm>
      </p:grpSpPr>
      <p:sp>
        <p:nvSpPr>
          <p:cNvPr id="1313" name="Google Shape;1313;p169"/>
          <p:cNvSpPr txBox="1">
            <a:spLocks noGrp="1"/>
          </p:cNvSpPr>
          <p:nvPr>
            <p:ph type="title"/>
          </p:nvPr>
        </p:nvSpPr>
        <p:spPr>
          <a:xfrm>
            <a:off x="438150" y="154471"/>
            <a:ext cx="7918500" cy="491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Force Fova Ok Changes :</a:t>
            </a:r>
            <a:endParaRPr/>
          </a:p>
        </p:txBody>
      </p:sp>
      <p:sp>
        <p:nvSpPr>
          <p:cNvPr id="1314" name="Google Shape;1314;p169"/>
          <p:cNvSpPr/>
          <p:nvPr/>
        </p:nvSpPr>
        <p:spPr>
          <a:xfrm>
            <a:off x="7010400" y="87406"/>
            <a:ext cx="1447800" cy="2814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a:solidFill>
                  <a:srgbClr val="FFFFFF"/>
                </a:solidFill>
              </a:rPr>
              <a:t>Mar’21</a:t>
            </a:r>
            <a:r>
              <a:rPr lang="en" sz="1800">
                <a:solidFill>
                  <a:srgbClr val="FFFFFF"/>
                </a:solidFill>
                <a:latin typeface="Arial"/>
                <a:ea typeface="Arial"/>
                <a:cs typeface="Arial"/>
                <a:sym typeface="Arial"/>
              </a:rPr>
              <a:t> CR</a:t>
            </a:r>
            <a:endParaRPr sz="1800">
              <a:solidFill>
                <a:srgbClr val="FFFFFF"/>
              </a:solidFill>
              <a:latin typeface="Arial"/>
              <a:ea typeface="Arial"/>
              <a:cs typeface="Arial"/>
              <a:sym typeface="Arial"/>
            </a:endParaRPr>
          </a:p>
        </p:txBody>
      </p:sp>
      <p:sp>
        <p:nvSpPr>
          <p:cNvPr id="1315" name="Google Shape;1315;p169"/>
          <p:cNvSpPr txBox="1"/>
          <p:nvPr/>
        </p:nvSpPr>
        <p:spPr>
          <a:xfrm>
            <a:off x="438150" y="657750"/>
            <a:ext cx="81384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In the </a:t>
            </a:r>
            <a:r>
              <a:rPr lang="en" err="1">
                <a:latin typeface="Open Sans"/>
                <a:ea typeface="Open Sans"/>
                <a:cs typeface="Open Sans"/>
                <a:sym typeface="Open Sans"/>
              </a:rPr>
              <a:t>Fova</a:t>
            </a:r>
            <a:r>
              <a:rPr lang="en">
                <a:latin typeface="Open Sans"/>
                <a:ea typeface="Open Sans"/>
                <a:cs typeface="Open Sans"/>
                <a:sym typeface="Open Sans"/>
              </a:rPr>
              <a:t> process, there is a parameter FORCE_FOVA_OK which will change the </a:t>
            </a:r>
            <a:r>
              <a:rPr lang="en" err="1">
                <a:latin typeface="Open Sans"/>
                <a:ea typeface="Open Sans"/>
                <a:cs typeface="Open Sans"/>
                <a:sym typeface="Open Sans"/>
              </a:rPr>
              <a:t>Fova</a:t>
            </a:r>
            <a:r>
              <a:rPr lang="en">
                <a:latin typeface="Open Sans"/>
                <a:ea typeface="Open Sans"/>
                <a:cs typeface="Open Sans"/>
                <a:sym typeface="Open Sans"/>
              </a:rPr>
              <a:t> not ok store to </a:t>
            </a:r>
            <a:r>
              <a:rPr lang="en" err="1">
                <a:latin typeface="Open Sans"/>
                <a:ea typeface="Open Sans"/>
                <a:cs typeface="Open Sans"/>
                <a:sym typeface="Open Sans"/>
              </a:rPr>
              <a:t>Fova</a:t>
            </a:r>
            <a:r>
              <a:rPr lang="en">
                <a:latin typeface="Open Sans"/>
                <a:ea typeface="Open Sans"/>
                <a:cs typeface="Open Sans"/>
                <a:sym typeface="Open Sans"/>
              </a:rPr>
              <a:t> ok store and the store status shown as “ DATA GOOD - FORCE FOVA OK”. But in this case, the system is not saving the old </a:t>
            </a:r>
            <a:r>
              <a:rPr lang="en" err="1">
                <a:latin typeface="Open Sans"/>
                <a:ea typeface="Open Sans"/>
                <a:cs typeface="Open Sans"/>
                <a:sym typeface="Open Sans"/>
              </a:rPr>
              <a:t>fova</a:t>
            </a:r>
            <a:r>
              <a:rPr lang="en">
                <a:latin typeface="Open Sans"/>
                <a:ea typeface="Open Sans"/>
                <a:cs typeface="Open Sans"/>
                <a:sym typeface="Open Sans"/>
              </a:rPr>
              <a:t> tag in report or in store monitor.</a:t>
            </a:r>
            <a:endParaRPr>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r>
              <a:rPr lang="en">
                <a:latin typeface="Open Sans"/>
                <a:ea typeface="Open Sans"/>
                <a:cs typeface="Open Sans"/>
                <a:sym typeface="Open Sans"/>
              </a:rPr>
              <a:t>Now onwards, there is a change in </a:t>
            </a:r>
            <a:r>
              <a:rPr lang="en" err="1">
                <a:latin typeface="Open Sans"/>
                <a:ea typeface="Open Sans"/>
                <a:cs typeface="Open Sans"/>
                <a:sym typeface="Open Sans"/>
              </a:rPr>
              <a:t>fova</a:t>
            </a:r>
            <a:r>
              <a:rPr lang="en">
                <a:latin typeface="Open Sans"/>
                <a:ea typeface="Open Sans"/>
                <a:cs typeface="Open Sans"/>
                <a:sym typeface="Open Sans"/>
              </a:rPr>
              <a:t> report view that will showcase the old </a:t>
            </a:r>
            <a:r>
              <a:rPr lang="en" err="1">
                <a:latin typeface="Open Sans"/>
                <a:ea typeface="Open Sans"/>
                <a:cs typeface="Open Sans"/>
                <a:sym typeface="Open Sans"/>
              </a:rPr>
              <a:t>fova</a:t>
            </a:r>
            <a:r>
              <a:rPr lang="en">
                <a:latin typeface="Open Sans"/>
                <a:ea typeface="Open Sans"/>
                <a:cs typeface="Open Sans"/>
                <a:sym typeface="Open Sans"/>
              </a:rPr>
              <a:t> tag in a row “DECISION BEFORE FORCE FOVA OK”  as below :</a:t>
            </a:r>
            <a:endParaRPr>
              <a:latin typeface="Open Sans"/>
              <a:ea typeface="Open Sans"/>
              <a:cs typeface="Open Sans"/>
              <a:sym typeface="Open Sans"/>
            </a:endParaRPr>
          </a:p>
        </p:txBody>
      </p:sp>
      <p:pic>
        <p:nvPicPr>
          <p:cNvPr id="1316" name="Google Shape;1316;p169"/>
          <p:cNvPicPr preferRelativeResize="0"/>
          <p:nvPr/>
        </p:nvPicPr>
        <p:blipFill>
          <a:blip r:embed="rId4">
            <a:alphaModFix/>
          </a:blip>
          <a:stretch>
            <a:fillRect/>
          </a:stretch>
        </p:blipFill>
        <p:spPr>
          <a:xfrm>
            <a:off x="533400" y="2157475"/>
            <a:ext cx="6026826" cy="28114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2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20"/>
        <p:cNvGrpSpPr/>
        <p:nvPr/>
      </p:nvGrpSpPr>
      <p:grpSpPr>
        <a:xfrm>
          <a:off x="0" y="0"/>
          <a:ext cx="0" cy="0"/>
          <a:chOff x="0" y="0"/>
          <a:chExt cx="0" cy="0"/>
        </a:xfrm>
      </p:grpSpPr>
      <p:sp>
        <p:nvSpPr>
          <p:cNvPr id="1321" name="Google Shape;1321;p170"/>
          <p:cNvSpPr txBox="1">
            <a:spLocks noGrp="1"/>
          </p:cNvSpPr>
          <p:nvPr>
            <p:ph type="title"/>
          </p:nvPr>
        </p:nvSpPr>
        <p:spPr>
          <a:xfrm>
            <a:off x="438150" y="154471"/>
            <a:ext cx="7918500" cy="4917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Force Fova Ok Changes (Cont..) :</a:t>
            </a:r>
            <a:endParaRPr/>
          </a:p>
        </p:txBody>
      </p:sp>
      <p:sp>
        <p:nvSpPr>
          <p:cNvPr id="1322" name="Google Shape;1322;p170"/>
          <p:cNvSpPr/>
          <p:nvPr/>
        </p:nvSpPr>
        <p:spPr>
          <a:xfrm>
            <a:off x="7010400" y="87406"/>
            <a:ext cx="1447800" cy="2814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a:solidFill>
                  <a:srgbClr val="FFFFFF"/>
                </a:solidFill>
              </a:rPr>
              <a:t>Mar’21</a:t>
            </a:r>
            <a:r>
              <a:rPr lang="en" sz="1800">
                <a:solidFill>
                  <a:srgbClr val="FFFFFF"/>
                </a:solidFill>
                <a:latin typeface="Arial"/>
                <a:ea typeface="Arial"/>
                <a:cs typeface="Arial"/>
                <a:sym typeface="Arial"/>
              </a:rPr>
              <a:t> CR</a:t>
            </a:r>
            <a:endParaRPr sz="1800">
              <a:solidFill>
                <a:srgbClr val="FFFFFF"/>
              </a:solidFill>
              <a:latin typeface="Arial"/>
              <a:ea typeface="Arial"/>
              <a:cs typeface="Arial"/>
              <a:sym typeface="Arial"/>
            </a:endParaRPr>
          </a:p>
        </p:txBody>
      </p:sp>
      <p:sp>
        <p:nvSpPr>
          <p:cNvPr id="1323" name="Google Shape;1323;p170"/>
          <p:cNvSpPr txBox="1"/>
          <p:nvPr/>
        </p:nvSpPr>
        <p:spPr>
          <a:xfrm>
            <a:off x="438150" y="810150"/>
            <a:ext cx="81384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Open Sans"/>
                <a:ea typeface="Open Sans"/>
                <a:cs typeface="Open Sans"/>
                <a:sym typeface="Open Sans"/>
              </a:rPr>
              <a:t>There is the introduction of a new monitor tag as “355” which will show the original decision before force fova ok as below :</a:t>
            </a:r>
            <a:endParaRPr>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p:txBody>
      </p:sp>
      <p:pic>
        <p:nvPicPr>
          <p:cNvPr id="1324" name="Google Shape;1324;p170"/>
          <p:cNvPicPr preferRelativeResize="0"/>
          <p:nvPr/>
        </p:nvPicPr>
        <p:blipFill>
          <a:blip r:embed="rId4">
            <a:alphaModFix/>
          </a:blip>
          <a:stretch>
            <a:fillRect/>
          </a:stretch>
        </p:blipFill>
        <p:spPr>
          <a:xfrm>
            <a:off x="457200" y="1870050"/>
            <a:ext cx="8480075" cy="2239375"/>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2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28"/>
        <p:cNvGrpSpPr/>
        <p:nvPr/>
      </p:nvGrpSpPr>
      <p:grpSpPr>
        <a:xfrm>
          <a:off x="0" y="0"/>
          <a:ext cx="0" cy="0"/>
          <a:chOff x="0" y="0"/>
          <a:chExt cx="0" cy="0"/>
        </a:xfrm>
      </p:grpSpPr>
      <p:sp>
        <p:nvSpPr>
          <p:cNvPr id="1329" name="Google Shape;1329;p171"/>
          <p:cNvSpPr txBox="1">
            <a:spLocks noGrp="1"/>
          </p:cNvSpPr>
          <p:nvPr>
            <p:ph type="title"/>
          </p:nvPr>
        </p:nvSpPr>
        <p:spPr>
          <a:xfrm>
            <a:off x="330200" y="53579"/>
            <a:ext cx="82803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SET UP </a:t>
            </a:r>
            <a:r>
              <a:rPr lang="en" sz="3000"/>
              <a:t>PARAMETERS : FOVA &amp; FOVA_PARAMETER </a:t>
            </a:r>
            <a:endParaRPr sz="3000"/>
          </a:p>
        </p:txBody>
      </p:sp>
      <p:sp>
        <p:nvSpPr>
          <p:cNvPr id="1330" name="Google Shape;1330;p171"/>
          <p:cNvSpPr txBox="1"/>
          <p:nvPr/>
        </p:nvSpPr>
        <p:spPr>
          <a:xfrm>
            <a:off x="384825" y="571500"/>
            <a:ext cx="8606700" cy="4408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500" b="0" i="0" u="none" strike="noStrike" cap="none">
                <a:solidFill>
                  <a:schemeClr val="dk1"/>
                </a:solidFill>
                <a:latin typeface="Arial"/>
                <a:ea typeface="Arial"/>
                <a:cs typeface="Arial"/>
                <a:sym typeface="Arial"/>
              </a:rPr>
              <a:t>Parameters to activate  New FOVA</a:t>
            </a:r>
            <a:endParaRPr sz="15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500" b="0"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None/>
            </a:pPr>
            <a:r>
              <a:rPr lang="en" sz="1500">
                <a:solidFill>
                  <a:schemeClr val="dk1"/>
                </a:solidFill>
              </a:rPr>
              <a:t>Parameter - </a:t>
            </a:r>
            <a:r>
              <a:rPr lang="en" sz="1500" b="0" i="0" u="none" strike="noStrike" cap="none">
                <a:solidFill>
                  <a:schemeClr val="dk1"/>
                </a:solidFill>
                <a:latin typeface="Arial"/>
                <a:ea typeface="Arial"/>
                <a:cs typeface="Arial"/>
                <a:sym typeface="Arial"/>
              </a:rPr>
              <a:t>“IBD” : </a:t>
            </a:r>
            <a:endParaRPr sz="15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500">
              <a:solidFill>
                <a:schemeClr val="dk1"/>
              </a:solidFill>
            </a:endParaRPr>
          </a:p>
          <a:p>
            <a:pPr marL="0" marR="0" lvl="1" indent="0" algn="l" rtl="0">
              <a:lnSpc>
                <a:spcPct val="100000"/>
              </a:lnSpc>
              <a:spcBef>
                <a:spcPts val="0"/>
              </a:spcBef>
              <a:spcAft>
                <a:spcPts val="0"/>
              </a:spcAft>
              <a:buClr>
                <a:srgbClr val="000000"/>
              </a:buClr>
              <a:buSzPts val="1600"/>
              <a:buFont typeface="Arial"/>
              <a:buNone/>
            </a:pPr>
            <a:r>
              <a:rPr lang="en" sz="1500" b="0" i="0" u="none" strike="noStrike" cap="none">
                <a:solidFill>
                  <a:schemeClr val="dk1"/>
                </a:solidFill>
                <a:latin typeface="Arial"/>
                <a:ea typeface="Arial"/>
                <a:cs typeface="Arial"/>
                <a:sym typeface="Arial"/>
              </a:rPr>
              <a:t>This parameter indicates the Group of the stores which is used by Fova_parameter process to calculate dynamic parameters</a:t>
            </a:r>
            <a:endParaRPr sz="15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500">
              <a:solidFill>
                <a:schemeClr val="dk1"/>
              </a:solidFill>
            </a:endParaRPr>
          </a:p>
          <a:p>
            <a:pPr marL="0" marR="0" lvl="1" indent="0" algn="l" rtl="0">
              <a:lnSpc>
                <a:spcPct val="100000"/>
              </a:lnSpc>
              <a:spcBef>
                <a:spcPts val="0"/>
              </a:spcBef>
              <a:spcAft>
                <a:spcPts val="0"/>
              </a:spcAft>
              <a:buClr>
                <a:srgbClr val="000000"/>
              </a:buClr>
              <a:buSzPts val="1600"/>
              <a:buFont typeface="Arial"/>
              <a:buNone/>
            </a:pPr>
            <a:endParaRPr sz="1500">
              <a:solidFill>
                <a:schemeClr val="dk1"/>
              </a:solidFill>
            </a:endParaRPr>
          </a:p>
          <a:p>
            <a:pPr marL="0" marR="0" lvl="1" indent="0" algn="l" rtl="0">
              <a:lnSpc>
                <a:spcPct val="100000"/>
              </a:lnSpc>
              <a:spcBef>
                <a:spcPts val="0"/>
              </a:spcBef>
              <a:spcAft>
                <a:spcPts val="0"/>
              </a:spcAft>
              <a:buClr>
                <a:srgbClr val="000000"/>
              </a:buClr>
              <a:buSzPts val="1600"/>
              <a:buFont typeface="Arial"/>
              <a:buNone/>
            </a:pPr>
            <a:endParaRPr sz="300">
              <a:solidFill>
                <a:schemeClr val="dk1"/>
              </a:solidFill>
            </a:endParaRPr>
          </a:p>
          <a:p>
            <a:pPr marL="0" marR="0" lvl="1" indent="0" algn="l" rtl="0">
              <a:lnSpc>
                <a:spcPct val="100000"/>
              </a:lnSpc>
              <a:spcBef>
                <a:spcPts val="0"/>
              </a:spcBef>
              <a:spcAft>
                <a:spcPts val="0"/>
              </a:spcAft>
              <a:buClr>
                <a:srgbClr val="000000"/>
              </a:buClr>
              <a:buSzPts val="1600"/>
              <a:buFont typeface="Arial"/>
              <a:buNone/>
            </a:pPr>
            <a:r>
              <a:rPr lang="en" sz="1500" b="0" i="0" u="none" strike="noStrike" cap="none">
                <a:solidFill>
                  <a:schemeClr val="dk1"/>
                </a:solidFill>
                <a:latin typeface="Arial"/>
                <a:ea typeface="Arial"/>
                <a:cs typeface="Arial"/>
                <a:sym typeface="Arial"/>
              </a:rPr>
              <a:t>As a parameter value we can take combination of any chars or sql statement. </a:t>
            </a:r>
            <a:endParaRPr sz="15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r>
              <a:rPr lang="en" sz="1500" b="0" i="0" u="none" strike="noStrike" cap="none">
                <a:solidFill>
                  <a:schemeClr val="dk1"/>
                </a:solidFill>
                <a:latin typeface="Arial"/>
                <a:ea typeface="Arial"/>
                <a:cs typeface="Arial"/>
                <a:sym typeface="Arial"/>
              </a:rPr>
              <a:t>E.g.</a:t>
            </a:r>
            <a:endParaRPr sz="15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5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5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5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500">
                <a:solidFill>
                  <a:schemeClr val="dk1"/>
                </a:solidFill>
              </a:rPr>
              <a:t>Parameter - </a:t>
            </a:r>
            <a:r>
              <a:rPr lang="en" sz="1500" b="0" i="0" u="none" strike="noStrike" cap="none">
                <a:solidFill>
                  <a:schemeClr val="dk1"/>
                </a:solidFill>
                <a:latin typeface="Arial"/>
                <a:ea typeface="Arial"/>
                <a:cs typeface="Arial"/>
                <a:sym typeface="Arial"/>
              </a:rPr>
              <a:t>“USE_NEW_FOVA” : </a:t>
            </a:r>
            <a:endParaRPr sz="15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500">
              <a:solidFill>
                <a:schemeClr val="dk1"/>
              </a:solidFill>
            </a:endParaRPr>
          </a:p>
          <a:p>
            <a:pPr marL="0" marR="0" lvl="1" indent="0" algn="l" rtl="0">
              <a:lnSpc>
                <a:spcPct val="100000"/>
              </a:lnSpc>
              <a:spcBef>
                <a:spcPts val="0"/>
              </a:spcBef>
              <a:spcAft>
                <a:spcPts val="0"/>
              </a:spcAft>
              <a:buClr>
                <a:srgbClr val="000000"/>
              </a:buClr>
              <a:buSzPts val="1600"/>
              <a:buFont typeface="Arial"/>
              <a:buNone/>
            </a:pPr>
            <a:r>
              <a:rPr lang="en" sz="1500" b="0" i="0" u="none" strike="noStrike" cap="none">
                <a:solidFill>
                  <a:schemeClr val="dk1"/>
                </a:solidFill>
                <a:latin typeface="Arial"/>
                <a:ea typeface="Arial"/>
                <a:cs typeface="Arial"/>
                <a:sym typeface="Arial"/>
              </a:rPr>
              <a:t>This parameter indicates activation for New FOVA. Default of this parameter is “N”</a:t>
            </a:r>
            <a:r>
              <a:rPr lang="en" sz="1500">
                <a:solidFill>
                  <a:schemeClr val="dk1"/>
                </a:solidFill>
              </a:rPr>
              <a:t>.</a:t>
            </a:r>
            <a:endParaRPr sz="1500" b="0" i="0" u="none" strike="noStrike" cap="none">
              <a:solidFill>
                <a:srgbClr val="000000"/>
              </a:solidFill>
              <a:latin typeface="Arial"/>
              <a:ea typeface="Arial"/>
              <a:cs typeface="Arial"/>
              <a:sym typeface="Arial"/>
            </a:endParaRPr>
          </a:p>
        </p:txBody>
      </p:sp>
      <p:graphicFrame>
        <p:nvGraphicFramePr>
          <p:cNvPr id="1331" name="Google Shape;1331;p171"/>
          <p:cNvGraphicFramePr/>
          <p:nvPr/>
        </p:nvGraphicFramePr>
        <p:xfrm>
          <a:off x="1600200" y="1892950"/>
          <a:ext cx="4445000" cy="393050"/>
        </p:xfrm>
        <a:graphic>
          <a:graphicData uri="http://schemas.openxmlformats.org/drawingml/2006/table">
            <a:tbl>
              <a:tblPr>
                <a:noFill/>
                <a:tableStyleId>{C70574C8-F969-49A7-8605-77D3504E23D5}</a:tableStyleId>
              </a:tblPr>
              <a:tblGrid>
                <a:gridCol w="1041400">
                  <a:extLst>
                    <a:ext uri="{9D8B030D-6E8A-4147-A177-3AD203B41FA5}">
                      <a16:colId xmlns:a16="http://schemas.microsoft.com/office/drawing/2014/main" val="20000"/>
                    </a:ext>
                  </a:extLst>
                </a:gridCol>
                <a:gridCol w="1358900">
                  <a:extLst>
                    <a:ext uri="{9D8B030D-6E8A-4147-A177-3AD203B41FA5}">
                      <a16:colId xmlns:a16="http://schemas.microsoft.com/office/drawing/2014/main" val="20001"/>
                    </a:ext>
                  </a:extLst>
                </a:gridCol>
                <a:gridCol w="2044700">
                  <a:extLst>
                    <a:ext uri="{9D8B030D-6E8A-4147-A177-3AD203B41FA5}">
                      <a16:colId xmlns:a16="http://schemas.microsoft.com/office/drawing/2014/main" val="20002"/>
                    </a:ext>
                  </a:extLst>
                </a:gridCol>
              </a:tblGrid>
              <a:tr h="196525">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AC_PROCESSID</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AC_PARAMETERTAG</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AC_PARAMETERDEFAULTVALUE</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196525">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FOVA</a:t>
                      </a:r>
                      <a:endParaRPr sz="1100" u="none" strike="noStrike" cap="none"/>
                    </a:p>
                  </a:txBody>
                  <a:tcPr marL="9525" marR="9525" marT="715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IBD</a:t>
                      </a:r>
                      <a:endParaRPr sz="1100" u="none" strike="noStrike" cap="none"/>
                    </a:p>
                  </a:txBody>
                  <a:tcPr marL="9525" marR="9525" marT="715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(null)</a:t>
                      </a:r>
                      <a:endParaRPr sz="1100" u="none" strike="noStrike" cap="none"/>
                    </a:p>
                  </a:txBody>
                  <a:tcPr marL="9525" marR="9525" marT="7150" marB="0" anchor="b">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32" name="Google Shape;1332;p171"/>
          <p:cNvGraphicFramePr/>
          <p:nvPr/>
        </p:nvGraphicFramePr>
        <p:xfrm>
          <a:off x="457204" y="2838450"/>
          <a:ext cx="8458200" cy="552275"/>
        </p:xfrm>
        <a:graphic>
          <a:graphicData uri="http://schemas.openxmlformats.org/drawingml/2006/table">
            <a:tbl>
              <a:tblPr>
                <a:noFill/>
                <a:tableStyleId>{C70574C8-F969-49A7-8605-77D3504E23D5}</a:tableStyleId>
              </a:tblPr>
              <a:tblGrid>
                <a:gridCol w="1435975">
                  <a:extLst>
                    <a:ext uri="{9D8B030D-6E8A-4147-A177-3AD203B41FA5}">
                      <a16:colId xmlns:a16="http://schemas.microsoft.com/office/drawing/2014/main" val="20000"/>
                    </a:ext>
                  </a:extLst>
                </a:gridCol>
                <a:gridCol w="1873750">
                  <a:extLst>
                    <a:ext uri="{9D8B030D-6E8A-4147-A177-3AD203B41FA5}">
                      <a16:colId xmlns:a16="http://schemas.microsoft.com/office/drawing/2014/main" val="20001"/>
                    </a:ext>
                  </a:extLst>
                </a:gridCol>
                <a:gridCol w="5148475">
                  <a:extLst>
                    <a:ext uri="{9D8B030D-6E8A-4147-A177-3AD203B41FA5}">
                      <a16:colId xmlns:a16="http://schemas.microsoft.com/office/drawing/2014/main" val="20002"/>
                    </a:ext>
                  </a:extLst>
                </a:gridCol>
              </a:tblGrid>
              <a:tr h="187500">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AC_PROCESSID</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AC_PARAMETERTAG</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AC_PARAMETERDEFAULTVALUE</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364775">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FOVA</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IBD</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CASE WHEN AC_SHOPTYPE IN('LESS100','APO','BAB','TKH','KAF','DISC','LFI','BM','SST','NK','LEH','LDI','SMK') OR (AC_SHOPTYPE='APONEU' AND AC_CHANNELID='MAIP') THEN 'OTHERS' ELSE AC_SHOPTYPE || '_' || AC_CHANNELID END</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33" name="Google Shape;1333;p171"/>
          <p:cNvGraphicFramePr/>
          <p:nvPr/>
        </p:nvGraphicFramePr>
        <p:xfrm>
          <a:off x="1600213" y="4278850"/>
          <a:ext cx="4466025" cy="451500"/>
        </p:xfrm>
        <a:graphic>
          <a:graphicData uri="http://schemas.openxmlformats.org/drawingml/2006/table">
            <a:tbl>
              <a:tblPr>
                <a:noFill/>
                <a:tableStyleId>{C70574C8-F969-49A7-8605-77D3504E23D5}</a:tableStyleId>
              </a:tblPr>
              <a:tblGrid>
                <a:gridCol w="758225">
                  <a:extLst>
                    <a:ext uri="{9D8B030D-6E8A-4147-A177-3AD203B41FA5}">
                      <a16:colId xmlns:a16="http://schemas.microsoft.com/office/drawing/2014/main" val="20000"/>
                    </a:ext>
                  </a:extLst>
                </a:gridCol>
                <a:gridCol w="1277750">
                  <a:extLst>
                    <a:ext uri="{9D8B030D-6E8A-4147-A177-3AD203B41FA5}">
                      <a16:colId xmlns:a16="http://schemas.microsoft.com/office/drawing/2014/main" val="20001"/>
                    </a:ext>
                  </a:extLst>
                </a:gridCol>
                <a:gridCol w="2430050">
                  <a:extLst>
                    <a:ext uri="{9D8B030D-6E8A-4147-A177-3AD203B41FA5}">
                      <a16:colId xmlns:a16="http://schemas.microsoft.com/office/drawing/2014/main" val="20002"/>
                    </a:ext>
                  </a:extLst>
                </a:gridCol>
              </a:tblGrid>
              <a:tr h="225750">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AC_PROCESSID</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AC_PARAMETERTAG</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AC_PARAMETERDEFAULTVALUE</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257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FOVA</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USE_NEW_FOVA</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N</a:t>
                      </a:r>
                      <a:endParaRPr sz="800" b="0" i="0" u="none" strike="noStrike" cap="none">
                        <a:solidFill>
                          <a:srgbClr val="000000"/>
                        </a:solidFill>
                        <a:latin typeface="Calibri"/>
                        <a:ea typeface="Calibri"/>
                        <a:cs typeface="Calibri"/>
                        <a:sym typeface="Calibri"/>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2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37"/>
        <p:cNvGrpSpPr/>
        <p:nvPr/>
      </p:nvGrpSpPr>
      <p:grpSpPr>
        <a:xfrm>
          <a:off x="0" y="0"/>
          <a:ext cx="0" cy="0"/>
          <a:chOff x="0" y="0"/>
          <a:chExt cx="0" cy="0"/>
        </a:xfrm>
      </p:grpSpPr>
      <p:sp>
        <p:nvSpPr>
          <p:cNvPr id="1338" name="Google Shape;1338;p172"/>
          <p:cNvSpPr txBox="1"/>
          <p:nvPr/>
        </p:nvSpPr>
        <p:spPr>
          <a:xfrm>
            <a:off x="392250" y="666650"/>
            <a:ext cx="8599200" cy="4166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Below are the different Operator level parameter is used for New FOVA activation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a:solidFill>
                  <a:schemeClr val="dk1"/>
                </a:solidFill>
              </a:rPr>
              <a:t>Parameter - </a:t>
            </a:r>
            <a:r>
              <a:rPr lang="en" sz="1600" b="0" i="0" u="none" strike="noStrike" cap="none">
                <a:solidFill>
                  <a:schemeClr val="dk1"/>
                </a:solidFill>
                <a:latin typeface="Arial"/>
                <a:ea typeface="Arial"/>
                <a:cs typeface="Arial"/>
                <a:sym typeface="Arial"/>
              </a:rPr>
              <a:t>“RELAUNCH_FOVA” : </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600">
              <a:solidFill>
                <a:schemeClr val="dk1"/>
              </a:solidFill>
            </a:endParaRPr>
          </a:p>
          <a:p>
            <a:pPr marL="0" marR="0" lvl="1"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This parameter indicates that for the current period whether we need to resubmit the FOVA after X period or not. Default value is “N”</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600">
                <a:solidFill>
                  <a:schemeClr val="dk1"/>
                </a:solidFill>
              </a:rPr>
              <a:t>Parameter - </a:t>
            </a:r>
            <a:r>
              <a:rPr lang="en" sz="1600" b="0" i="0" u="none" strike="noStrike" cap="none">
                <a:solidFill>
                  <a:schemeClr val="dk1"/>
                </a:solidFill>
                <a:latin typeface="Arial"/>
                <a:ea typeface="Arial"/>
                <a:cs typeface="Arial"/>
                <a:sym typeface="Arial"/>
              </a:rPr>
              <a:t>“NR_PERIODS_TREND_ANALYSIS”:</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600"/>
              <a:buFont typeface="Arial"/>
              <a:buNone/>
            </a:pPr>
            <a:endParaRPr sz="1600">
              <a:solidFill>
                <a:schemeClr val="dk1"/>
              </a:solidFill>
            </a:endParaRPr>
          </a:p>
          <a:p>
            <a:pPr marL="0" marR="0" lvl="1"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This parameter indicates the trend analysis period for FOVA_PARAMETER process</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graphicFrame>
        <p:nvGraphicFramePr>
          <p:cNvPr id="1339" name="Google Shape;1339;p172"/>
          <p:cNvGraphicFramePr/>
          <p:nvPr/>
        </p:nvGraphicFramePr>
        <p:xfrm>
          <a:off x="1981200" y="4152900"/>
          <a:ext cx="4622800" cy="531650"/>
        </p:xfrm>
        <a:graphic>
          <a:graphicData uri="http://schemas.openxmlformats.org/drawingml/2006/table">
            <a:tbl>
              <a:tblPr>
                <a:noFill/>
                <a:tableStyleId>{C70574C8-F969-49A7-8605-77D3504E23D5}</a:tableStyleId>
              </a:tblPr>
              <a:tblGrid>
                <a:gridCol w="1155700">
                  <a:extLst>
                    <a:ext uri="{9D8B030D-6E8A-4147-A177-3AD203B41FA5}">
                      <a16:colId xmlns:a16="http://schemas.microsoft.com/office/drawing/2014/main" val="20000"/>
                    </a:ext>
                  </a:extLst>
                </a:gridCol>
                <a:gridCol w="1631575">
                  <a:extLst>
                    <a:ext uri="{9D8B030D-6E8A-4147-A177-3AD203B41FA5}">
                      <a16:colId xmlns:a16="http://schemas.microsoft.com/office/drawing/2014/main" val="20001"/>
                    </a:ext>
                  </a:extLst>
                </a:gridCol>
                <a:gridCol w="1835525">
                  <a:extLst>
                    <a:ext uri="{9D8B030D-6E8A-4147-A177-3AD203B41FA5}">
                      <a16:colId xmlns:a16="http://schemas.microsoft.com/office/drawing/2014/main" val="20002"/>
                    </a:ext>
                  </a:extLst>
                </a:gridCol>
              </a:tblGrid>
              <a:tr h="265825">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AC_PROCESSID</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AC_PARAMETERTAG</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AC_PARAMETERDEFAULTVALUE</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65825">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FOVA_PARAMEER</a:t>
                      </a:r>
                      <a:endParaRPr sz="800" b="0" i="0" u="none" strike="noStrike" cap="none">
                        <a:solidFill>
                          <a:srgbClr val="000000"/>
                        </a:solidFill>
                        <a:latin typeface="Calibri"/>
                        <a:ea typeface="Calibri"/>
                        <a:cs typeface="Calibri"/>
                        <a:sym typeface="Calibri"/>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NR_PERIODS_TREND_ANALYSIS</a:t>
                      </a:r>
                      <a:endParaRPr sz="800" b="0" i="0" u="none" strike="noStrike" cap="none">
                        <a:solidFill>
                          <a:srgbClr val="000000"/>
                        </a:solidFill>
                        <a:latin typeface="Calibri"/>
                        <a:ea typeface="Calibri"/>
                        <a:cs typeface="Calibri"/>
                        <a:sym typeface="Calibri"/>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13</a:t>
                      </a:r>
                      <a:endParaRPr sz="800" b="0" i="0" u="none" strike="noStrike" cap="none">
                        <a:solidFill>
                          <a:srgbClr val="000000"/>
                        </a:solidFill>
                        <a:latin typeface="Calibri"/>
                        <a:ea typeface="Calibri"/>
                        <a:cs typeface="Calibri"/>
                        <a:sym typeface="Calibri"/>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graphicFrame>
        <p:nvGraphicFramePr>
          <p:cNvPr id="1340" name="Google Shape;1340;p172"/>
          <p:cNvGraphicFramePr/>
          <p:nvPr/>
        </p:nvGraphicFramePr>
        <p:xfrm>
          <a:off x="1981200" y="2381250"/>
          <a:ext cx="4622800" cy="451500"/>
        </p:xfrm>
        <a:graphic>
          <a:graphicData uri="http://schemas.openxmlformats.org/drawingml/2006/table">
            <a:tbl>
              <a:tblPr>
                <a:noFill/>
                <a:tableStyleId>{C70574C8-F969-49A7-8605-77D3504E23D5}</a:tableStyleId>
              </a:tblPr>
              <a:tblGrid>
                <a:gridCol w="1041400">
                  <a:extLst>
                    <a:ext uri="{9D8B030D-6E8A-4147-A177-3AD203B41FA5}">
                      <a16:colId xmlns:a16="http://schemas.microsoft.com/office/drawing/2014/main" val="20000"/>
                    </a:ext>
                  </a:extLst>
                </a:gridCol>
                <a:gridCol w="1358900">
                  <a:extLst>
                    <a:ext uri="{9D8B030D-6E8A-4147-A177-3AD203B41FA5}">
                      <a16:colId xmlns:a16="http://schemas.microsoft.com/office/drawing/2014/main" val="20001"/>
                    </a:ext>
                  </a:extLst>
                </a:gridCol>
                <a:gridCol w="2222500">
                  <a:extLst>
                    <a:ext uri="{9D8B030D-6E8A-4147-A177-3AD203B41FA5}">
                      <a16:colId xmlns:a16="http://schemas.microsoft.com/office/drawing/2014/main" val="20002"/>
                    </a:ext>
                  </a:extLst>
                </a:gridCol>
              </a:tblGrid>
              <a:tr h="225750">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AC_PROCESSID</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AC_PARAMETERTAG</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AC_PARAMETERDEFAULTVALUE</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257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FOVA</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RELAUNCH_FOVA</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N</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41" name="Google Shape;1341;p172"/>
          <p:cNvSpPr txBox="1">
            <a:spLocks noGrp="1"/>
          </p:cNvSpPr>
          <p:nvPr>
            <p:ph type="title"/>
          </p:nvPr>
        </p:nvSpPr>
        <p:spPr>
          <a:xfrm>
            <a:off x="330200" y="53579"/>
            <a:ext cx="82803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SET UP </a:t>
            </a:r>
            <a:r>
              <a:rPr lang="en" sz="3000"/>
              <a:t>PARAMETERS : FOVA &amp; FOVA_PARAMETER </a:t>
            </a:r>
            <a:endParaRPr sz="3000"/>
          </a:p>
        </p:txBody>
      </p:sp>
    </p:spTree>
  </p:cSld>
  <p:clrMapOvr>
    <a:overrideClrMapping bg1="lt1" tx1="dk1" bg2="lt2" tx2="dk2" accent1="accent1" accent2="accent2" accent3="accent3" accent4="accent4" accent5="accent5" accent6="accent6" hlink="hlink" folHlink="folHlink"/>
  </p:clrMapOvr>
</p:sld>
</file>

<file path=ppt/slides/slide12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45"/>
        <p:cNvGrpSpPr/>
        <p:nvPr/>
      </p:nvGrpSpPr>
      <p:grpSpPr>
        <a:xfrm>
          <a:off x="0" y="0"/>
          <a:ext cx="0" cy="0"/>
          <a:chOff x="0" y="0"/>
          <a:chExt cx="0" cy="0"/>
        </a:xfrm>
      </p:grpSpPr>
      <p:sp>
        <p:nvSpPr>
          <p:cNvPr id="1346" name="Google Shape;1346;p173"/>
          <p:cNvSpPr txBox="1"/>
          <p:nvPr/>
        </p:nvSpPr>
        <p:spPr>
          <a:xfrm>
            <a:off x="330200" y="571500"/>
            <a:ext cx="8599500" cy="3139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Below are the different Operator level parameter is used for New FOVA activation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a:solidFill>
                  <a:schemeClr val="dk1"/>
                </a:solidFill>
              </a:rPr>
              <a:t>Parameter - </a:t>
            </a:r>
            <a:r>
              <a:rPr lang="en" sz="1800" b="0" i="0" u="none" strike="noStrike" cap="none">
                <a:solidFill>
                  <a:schemeClr val="dk1"/>
                </a:solidFill>
                <a:latin typeface="Arial"/>
                <a:ea typeface="Arial"/>
                <a:cs typeface="Arial"/>
                <a:sym typeface="Arial"/>
              </a:rPr>
              <a:t>“RESTRICTIVE_MODE”:</a:t>
            </a:r>
            <a:endParaRPr sz="14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SzPts val="1800"/>
              <a:buFont typeface="Arial"/>
              <a:buNone/>
            </a:pPr>
            <a:endParaRPr sz="1800">
              <a:solidFill>
                <a:schemeClr val="dk1"/>
              </a:solidFill>
            </a:endParaRPr>
          </a:p>
          <a:p>
            <a:pPr marL="0" marR="0" lvl="1"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This parameter indicates the strictness of the acceptance of the data based on parameter</a:t>
            </a:r>
            <a:endParaRPr sz="1400" b="0" i="0" u="none" strike="noStrike" cap="none">
              <a:solidFill>
                <a:srgbClr val="000000"/>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457200" marR="0" lvl="1"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800" b="0" i="0" u="none" strike="noStrike" cap="none">
                <a:solidFill>
                  <a:schemeClr val="dk1"/>
                </a:solidFill>
                <a:latin typeface="Arial"/>
                <a:ea typeface="Arial"/>
                <a:cs typeface="Arial"/>
                <a:sym typeface="Arial"/>
              </a:rPr>
              <a:t>Default value is N – Means if  any FOVA test is out of bound for </a:t>
            </a:r>
            <a:r>
              <a:rPr lang="en" sz="1800" b="1" i="0" u="none" strike="noStrike" cap="none">
                <a:solidFill>
                  <a:srgbClr val="000000"/>
                </a:solidFill>
                <a:latin typeface="Arial"/>
                <a:ea typeface="Arial"/>
                <a:cs typeface="Arial"/>
                <a:sym typeface="Arial"/>
              </a:rPr>
              <a:t>both</a:t>
            </a:r>
            <a:r>
              <a:rPr lang="en" sz="1800" b="0" i="0" u="none" strike="noStrike" cap="none">
                <a:solidFill>
                  <a:schemeClr val="dk1"/>
                </a:solidFill>
                <a:latin typeface="Arial"/>
                <a:ea typeface="Arial"/>
                <a:cs typeface="Arial"/>
                <a:sym typeface="Arial"/>
              </a:rPr>
              <a:t> the boundaries (LT</a:t>
            </a:r>
            <a:r>
              <a:rPr lang="en" sz="1800" b="1" i="0" u="sng" strike="noStrike" cap="none">
                <a:solidFill>
                  <a:srgbClr val="000000"/>
                </a:solidFill>
                <a:latin typeface="Arial"/>
                <a:ea typeface="Arial"/>
                <a:cs typeface="Arial"/>
                <a:sym typeface="Arial"/>
              </a:rPr>
              <a:t>&amp;</a:t>
            </a:r>
            <a:r>
              <a:rPr lang="en" sz="1800" b="0" i="0" u="none" strike="noStrike" cap="none">
                <a:solidFill>
                  <a:schemeClr val="dk1"/>
                </a:solidFill>
                <a:latin typeface="Arial"/>
                <a:ea typeface="Arial"/>
                <a:cs typeface="Arial"/>
                <a:sym typeface="Arial"/>
              </a:rPr>
              <a:t>WT) then only system consider as FOVA NOT OK	</a:t>
            </a:r>
            <a:endParaRPr sz="1800" b="0" i="0" u="none" strike="noStrike" cap="none">
              <a:solidFill>
                <a:schemeClr val="dk1"/>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r>
              <a:rPr lang="en" sz="1800" b="0" i="0" u="none" strike="noStrike" cap="none">
                <a:solidFill>
                  <a:schemeClr val="dk1"/>
                </a:solidFill>
                <a:latin typeface="Arial"/>
                <a:ea typeface="Arial"/>
                <a:cs typeface="Arial"/>
                <a:sym typeface="Arial"/>
              </a:rPr>
              <a:t>If country changes to Y- this indicates that if any FOVA test which is out of  boundaries of LT </a:t>
            </a:r>
            <a:r>
              <a:rPr lang="en" sz="1800" b="1" i="0" u="sng" strike="noStrike" cap="none">
                <a:solidFill>
                  <a:srgbClr val="000000"/>
                </a:solidFill>
                <a:latin typeface="Arial"/>
                <a:ea typeface="Arial"/>
                <a:cs typeface="Arial"/>
                <a:sym typeface="Arial"/>
              </a:rPr>
              <a:t>or</a:t>
            </a:r>
            <a:r>
              <a:rPr lang="en" sz="1800" b="0" i="0" u="none" strike="noStrike" cap="none">
                <a:solidFill>
                  <a:schemeClr val="dk1"/>
                </a:solidFill>
                <a:latin typeface="Arial"/>
                <a:ea typeface="Arial"/>
                <a:cs typeface="Arial"/>
                <a:sym typeface="Arial"/>
              </a:rPr>
              <a:t> WT then system will consider as FOVA NOT OK</a:t>
            </a:r>
            <a:endParaRPr sz="1400" b="0" i="0" u="none" strike="noStrike" cap="none">
              <a:solidFill>
                <a:srgbClr val="000000"/>
              </a:solidFill>
              <a:latin typeface="Arial"/>
              <a:ea typeface="Arial"/>
              <a:cs typeface="Arial"/>
              <a:sym typeface="Arial"/>
            </a:endParaRPr>
          </a:p>
          <a:p>
            <a:pPr marL="285750" marR="0" lvl="0" indent="-171450" algn="l" rtl="0">
              <a:lnSpc>
                <a:spcPct val="100000"/>
              </a:lnSpc>
              <a:spcBef>
                <a:spcPts val="0"/>
              </a:spcBef>
              <a:spcAft>
                <a:spcPts val="0"/>
              </a:spcAft>
              <a:buClr>
                <a:schemeClr val="dk1"/>
              </a:buClr>
              <a:buSzPts val="1800"/>
              <a:buFont typeface="Noto Sans Symbols"/>
              <a:buNone/>
            </a:pP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	</a:t>
            </a:r>
            <a:endParaRPr sz="1800" b="0" i="0" u="none" strike="noStrike" cap="none">
              <a:solidFill>
                <a:schemeClr val="dk1"/>
              </a:solidFill>
              <a:latin typeface="Arial"/>
              <a:ea typeface="Arial"/>
              <a:cs typeface="Arial"/>
              <a:sym typeface="Arial"/>
            </a:endParaRPr>
          </a:p>
        </p:txBody>
      </p:sp>
      <p:graphicFrame>
        <p:nvGraphicFramePr>
          <p:cNvPr id="1347" name="Google Shape;1347;p173"/>
          <p:cNvGraphicFramePr/>
          <p:nvPr/>
        </p:nvGraphicFramePr>
        <p:xfrm>
          <a:off x="1219200" y="2343150"/>
          <a:ext cx="5181600" cy="451500"/>
        </p:xfrm>
        <a:graphic>
          <a:graphicData uri="http://schemas.openxmlformats.org/drawingml/2006/table">
            <a:tbl>
              <a:tblPr>
                <a:noFill/>
                <a:tableStyleId>{C70574C8-F969-49A7-8605-77D3504E23D5}</a:tableStyleId>
              </a:tblPr>
              <a:tblGrid>
                <a:gridCol w="879700">
                  <a:extLst>
                    <a:ext uri="{9D8B030D-6E8A-4147-A177-3AD203B41FA5}">
                      <a16:colId xmlns:a16="http://schemas.microsoft.com/office/drawing/2014/main" val="20000"/>
                    </a:ext>
                  </a:extLst>
                </a:gridCol>
                <a:gridCol w="20159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225750">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AC_PROCESSID</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AC_PARAMETERTAG</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1" i="0" u="none" strike="noStrike" cap="none">
                          <a:solidFill>
                            <a:srgbClr val="0000FF"/>
                          </a:solidFill>
                          <a:latin typeface="Calibri"/>
                          <a:ea typeface="Calibri"/>
                          <a:cs typeface="Calibri"/>
                          <a:sym typeface="Calibri"/>
                        </a:rPr>
                        <a:t>AC_PARAMETERDEFAULTVALUE</a:t>
                      </a:r>
                      <a:endParaRPr sz="1100" b="1" u="none" strike="noStrike" cap="none">
                        <a:solidFill>
                          <a:srgbClr val="0000FF"/>
                        </a:solidFill>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225750">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FOVA</a:t>
                      </a:r>
                      <a:endParaRPr sz="1100" u="none" strike="noStrike" cap="none"/>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u="none" strike="noStrike" cap="none"/>
                        <a:t>RESTRICTIVE_MODE</a:t>
                      </a:r>
                      <a:endParaRPr sz="800" b="0" i="0" u="none" strike="noStrike" cap="none">
                        <a:solidFill>
                          <a:srgbClr val="000000"/>
                        </a:solidFill>
                        <a:latin typeface="Calibri"/>
                        <a:ea typeface="Calibri"/>
                        <a:cs typeface="Calibri"/>
                        <a:sym typeface="Calibri"/>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800"/>
                        <a:buFont typeface="Arial"/>
                        <a:buNone/>
                      </a:pPr>
                      <a:r>
                        <a:rPr lang="en" sz="800" b="0" i="0" u="none" strike="noStrike" cap="none">
                          <a:solidFill>
                            <a:srgbClr val="000000"/>
                          </a:solidFill>
                          <a:latin typeface="Calibri"/>
                          <a:ea typeface="Calibri"/>
                          <a:cs typeface="Calibri"/>
                          <a:sym typeface="Calibri"/>
                        </a:rPr>
                        <a:t>N</a:t>
                      </a:r>
                      <a:endParaRPr sz="800" b="0" i="0" u="none" strike="noStrike" cap="none">
                        <a:solidFill>
                          <a:srgbClr val="000000"/>
                        </a:solidFill>
                        <a:latin typeface="Calibri"/>
                        <a:ea typeface="Calibri"/>
                        <a:cs typeface="Calibri"/>
                        <a:sym typeface="Calibri"/>
                      </a:endParaRPr>
                    </a:p>
                  </a:txBody>
                  <a:tcPr marL="9525" marR="9525" marT="7150"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sp>
        <p:nvSpPr>
          <p:cNvPr id="1348" name="Google Shape;1348;p173"/>
          <p:cNvSpPr txBox="1">
            <a:spLocks noGrp="1"/>
          </p:cNvSpPr>
          <p:nvPr>
            <p:ph type="title"/>
          </p:nvPr>
        </p:nvSpPr>
        <p:spPr>
          <a:xfrm>
            <a:off x="330200" y="53579"/>
            <a:ext cx="82803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SET UP </a:t>
            </a:r>
            <a:r>
              <a:rPr lang="en" sz="3000"/>
              <a:t>PARAMETERS : FOVA &amp; FOVA_PARAMETER </a:t>
            </a:r>
            <a:endParaRPr sz="3000"/>
          </a:p>
        </p:txBody>
      </p:sp>
    </p:spTree>
  </p:cSld>
  <p:clrMapOvr>
    <a:overrideClrMapping bg1="lt1" tx1="dk1" bg2="lt2" tx2="dk2" accent1="accent1" accent2="accent2" accent3="accent3" accent4="accent4" accent5="accent5" accent6="accent6" hlink="hlink" folHlink="folHlink"/>
  </p:clrMapOvr>
</p:sld>
</file>

<file path=ppt/slides/slide12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52"/>
        <p:cNvGrpSpPr/>
        <p:nvPr/>
      </p:nvGrpSpPr>
      <p:grpSpPr>
        <a:xfrm>
          <a:off x="0" y="0"/>
          <a:ext cx="0" cy="0"/>
          <a:chOff x="0" y="0"/>
          <a:chExt cx="0" cy="0"/>
        </a:xfrm>
      </p:grpSpPr>
      <p:sp>
        <p:nvSpPr>
          <p:cNvPr id="1353" name="Google Shape;1353;p174"/>
          <p:cNvSpPr/>
          <p:nvPr/>
        </p:nvSpPr>
        <p:spPr>
          <a:xfrm>
            <a:off x="330300" y="621650"/>
            <a:ext cx="8669100" cy="4425900"/>
          </a:xfrm>
          <a:prstGeom prst="rect">
            <a:avLst/>
          </a:prstGeom>
          <a:noFill/>
          <a:ln>
            <a:noFill/>
          </a:ln>
        </p:spPr>
        <p:txBody>
          <a:bodyPr spcFirstLastPara="1" wrap="square" lIns="91425" tIns="45700" rIns="91425" bIns="45700" anchor="t" anchorCtr="0">
            <a:noAutofit/>
          </a:bodyPr>
          <a:lstStyle/>
          <a:p>
            <a:pPr marL="0" marR="0" lvl="1" indent="0" algn="l" rtl="0">
              <a:lnSpc>
                <a:spcPct val="115000"/>
              </a:lnSpc>
              <a:spcBef>
                <a:spcPts val="0"/>
              </a:spcBef>
              <a:spcAft>
                <a:spcPts val="0"/>
              </a:spcAft>
              <a:buClr>
                <a:srgbClr val="000000"/>
              </a:buClr>
              <a:buSzPts val="1800"/>
              <a:buFont typeface="Arial"/>
              <a:buNone/>
            </a:pPr>
            <a:r>
              <a:rPr lang="en" sz="1200" b="0" i="0" u="none" strike="noStrike" cap="none">
                <a:solidFill>
                  <a:schemeClr val="dk1"/>
                </a:solidFill>
                <a:latin typeface="Arial"/>
                <a:ea typeface="Arial"/>
                <a:cs typeface="Arial"/>
                <a:sym typeface="Arial"/>
              </a:rPr>
              <a:t>This functionality must be use for specific purpose/cases where Operator always marks stores as FOVA OK for specific set of stores/Retailer that are not used in Production or in case a store level validation is not requested because we are already receiving validated data from different platforms.</a:t>
            </a:r>
            <a:endParaRPr sz="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r>
              <a:rPr lang="en" sz="1000" b="0" i="0" u="none" strike="noStrike" cap="none">
                <a:solidFill>
                  <a:schemeClr val="dk1"/>
                </a:solidFill>
                <a:latin typeface="Arial"/>
                <a:ea typeface="Arial"/>
                <a:cs typeface="Arial"/>
                <a:sym typeface="Arial"/>
              </a:rPr>
              <a:t> </a:t>
            </a:r>
            <a:endParaRPr sz="1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 sz="1200" b="1" i="0" u="none" strike="noStrike" cap="none">
                <a:solidFill>
                  <a:schemeClr val="dk1"/>
                </a:solidFill>
                <a:latin typeface="Arial"/>
                <a:ea typeface="Arial"/>
                <a:cs typeface="Arial"/>
                <a:sym typeface="Arial"/>
              </a:rPr>
              <a:t>FORCE_FOVA_OK : </a:t>
            </a:r>
            <a:endParaRPr sz="1200" b="1">
              <a:solidFill>
                <a:schemeClr val="dk1"/>
              </a:solidFill>
            </a:endParaRPr>
          </a:p>
          <a:p>
            <a:pPr marL="0" marR="0" lvl="0" indent="0" algn="l" rtl="0">
              <a:lnSpc>
                <a:spcPct val="115000"/>
              </a:lnSpc>
              <a:spcBef>
                <a:spcPts val="0"/>
              </a:spcBef>
              <a:spcAft>
                <a:spcPts val="0"/>
              </a:spcAft>
              <a:buNone/>
            </a:pPr>
            <a:endParaRPr sz="600" b="1">
              <a:solidFill>
                <a:schemeClr val="dk1"/>
              </a:solidFill>
            </a:endParaRPr>
          </a:p>
          <a:p>
            <a:pPr marL="0" marR="0" lvl="0" indent="0" algn="l" rtl="0">
              <a:lnSpc>
                <a:spcPct val="115000"/>
              </a:lnSpc>
              <a:spcBef>
                <a:spcPts val="0"/>
              </a:spcBef>
              <a:spcAft>
                <a:spcPts val="0"/>
              </a:spcAft>
              <a:buNone/>
            </a:pPr>
            <a:r>
              <a:rPr lang="en" sz="1200" b="0" i="0" u="none" strike="noStrike" cap="none">
                <a:solidFill>
                  <a:schemeClr val="dk1"/>
                </a:solidFill>
                <a:latin typeface="Arial"/>
                <a:ea typeface="Arial"/>
                <a:cs typeface="Arial"/>
                <a:sym typeface="Arial"/>
              </a:rPr>
              <a:t>This is store level parameters which indicates the stores/Retailer to be force fully ok at the end of FOVA process. </a:t>
            </a:r>
            <a:endParaRPr sz="12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 sz="1200" b="0" i="0" u="none" strike="noStrike" cap="none">
                <a:solidFill>
                  <a:schemeClr val="dk1"/>
                </a:solidFill>
                <a:latin typeface="Arial"/>
                <a:ea typeface="Arial"/>
                <a:cs typeface="Arial"/>
                <a:sym typeface="Arial"/>
              </a:rPr>
              <a:t>Such stores will be not thrown in YAFA but can be seen using store monitor using Tag = 336 (DATA_GOOD FORCE OK) . </a:t>
            </a:r>
            <a:endParaRPr sz="12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 sz="1000" b="1" i="0" u="none" strike="noStrike" cap="none">
                <a:solidFill>
                  <a:schemeClr val="dk1"/>
                </a:solidFill>
                <a:latin typeface="Arial"/>
                <a:ea typeface="Arial"/>
                <a:cs typeface="Arial"/>
                <a:sym typeface="Arial"/>
              </a:rPr>
              <a:t>Default parameter is N</a:t>
            </a:r>
            <a:endParaRPr sz="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endParaRPr sz="12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endParaRPr sz="12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endParaRPr sz="12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800"/>
              <a:buFont typeface="Arial"/>
              <a:buNone/>
            </a:pPr>
            <a:endParaRPr sz="1200" b="1"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 sz="1200" b="1" i="0" u="none" strike="noStrike" cap="none">
                <a:solidFill>
                  <a:schemeClr val="dk1"/>
                </a:solidFill>
                <a:latin typeface="Arial"/>
                <a:ea typeface="Arial"/>
                <a:cs typeface="Arial"/>
                <a:sym typeface="Arial"/>
              </a:rPr>
              <a:t>REMOVE_FORCE_FOVA_OK :</a:t>
            </a:r>
            <a:endParaRPr sz="1200" b="1">
              <a:solidFill>
                <a:schemeClr val="dk1"/>
              </a:solidFill>
            </a:endParaRPr>
          </a:p>
          <a:p>
            <a:pPr marL="0" marR="0" lvl="0" indent="0" algn="l" rtl="0">
              <a:lnSpc>
                <a:spcPct val="115000"/>
              </a:lnSpc>
              <a:spcBef>
                <a:spcPts val="0"/>
              </a:spcBef>
              <a:spcAft>
                <a:spcPts val="0"/>
              </a:spcAft>
              <a:buNone/>
            </a:pPr>
            <a:endParaRPr sz="600" b="1">
              <a:solidFill>
                <a:schemeClr val="dk1"/>
              </a:solidFill>
            </a:endParaRPr>
          </a:p>
          <a:p>
            <a:pPr marL="0" marR="0" lvl="0" indent="0" algn="l" rtl="0">
              <a:lnSpc>
                <a:spcPct val="115000"/>
              </a:lnSpc>
              <a:spcBef>
                <a:spcPts val="0"/>
              </a:spcBef>
              <a:spcAft>
                <a:spcPts val="0"/>
              </a:spcAft>
              <a:buNone/>
            </a:pPr>
            <a:r>
              <a:rPr lang="en" sz="1000" b="0" i="0" u="none" strike="noStrike" cap="none">
                <a:solidFill>
                  <a:schemeClr val="dk1"/>
                </a:solidFill>
                <a:latin typeface="Arial"/>
                <a:ea typeface="Arial"/>
                <a:cs typeface="Arial"/>
                <a:sym typeface="Arial"/>
              </a:rPr>
              <a:t>This parameters will be used to exclude forced stores from the Fova Parameters calculations. </a:t>
            </a:r>
            <a:endParaRPr sz="1000" b="0" i="0" u="none" strike="noStrike" cap="none">
              <a:solidFill>
                <a:schemeClr val="dk1"/>
              </a:solidFill>
              <a:latin typeface="Arial"/>
              <a:ea typeface="Arial"/>
              <a:cs typeface="Arial"/>
              <a:sym typeface="Arial"/>
            </a:endParaRPr>
          </a:p>
          <a:p>
            <a:pPr marL="0" marR="0" lvl="0" indent="0" algn="l" rtl="0">
              <a:lnSpc>
                <a:spcPct val="115000"/>
              </a:lnSpc>
              <a:spcBef>
                <a:spcPts val="0"/>
              </a:spcBef>
              <a:spcAft>
                <a:spcPts val="0"/>
              </a:spcAft>
              <a:buNone/>
            </a:pPr>
            <a:r>
              <a:rPr lang="en" sz="1000" b="1" i="0" u="none" strike="noStrike" cap="none">
                <a:solidFill>
                  <a:schemeClr val="dk1"/>
                </a:solidFill>
                <a:latin typeface="Arial"/>
                <a:ea typeface="Arial"/>
                <a:cs typeface="Arial"/>
                <a:sym typeface="Arial"/>
              </a:rPr>
              <a:t>Default parameter is Y.</a:t>
            </a:r>
            <a:endParaRPr sz="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r>
              <a:rPr lang="en" sz="1000" b="0" i="0" u="none" strike="noStrike" cap="none">
                <a:solidFill>
                  <a:schemeClr val="dk1"/>
                </a:solidFill>
                <a:latin typeface="Arial"/>
                <a:ea typeface="Arial"/>
                <a:cs typeface="Arial"/>
                <a:sym typeface="Arial"/>
              </a:rPr>
              <a:t>Where Y = Exclude FOVA OK Forced stores in the calculations,</a:t>
            </a:r>
            <a:endParaRPr sz="800" b="0" i="0" u="none" strike="noStrike" cap="none">
              <a:solidFill>
                <a:srgbClr val="000000"/>
              </a:solidFill>
              <a:latin typeface="Arial"/>
              <a:ea typeface="Arial"/>
              <a:cs typeface="Arial"/>
              <a:sym typeface="Arial"/>
            </a:endParaRPr>
          </a:p>
          <a:p>
            <a:pPr marL="0" marR="0" lvl="0" indent="0" algn="l" rtl="0">
              <a:lnSpc>
                <a:spcPct val="115000"/>
              </a:lnSpc>
              <a:spcBef>
                <a:spcPts val="0"/>
              </a:spcBef>
              <a:spcAft>
                <a:spcPts val="0"/>
              </a:spcAft>
              <a:buClr>
                <a:srgbClr val="000000"/>
              </a:buClr>
              <a:buSzPts val="1600"/>
              <a:buFont typeface="Arial"/>
              <a:buNone/>
            </a:pPr>
            <a:r>
              <a:rPr lang="en" sz="1000" b="0" i="0" u="none" strike="noStrike" cap="none">
                <a:solidFill>
                  <a:schemeClr val="dk1"/>
                </a:solidFill>
                <a:latin typeface="Arial"/>
                <a:ea typeface="Arial"/>
                <a:cs typeface="Arial"/>
                <a:sym typeface="Arial"/>
              </a:rPr>
              <a:t>N = Include FOVA OK Forced stores in the calculations</a:t>
            </a:r>
            <a:endParaRPr sz="1000" b="1" i="0" u="none" strike="noStrike" cap="none">
              <a:solidFill>
                <a:schemeClr val="dk1"/>
              </a:solidFill>
              <a:latin typeface="Arial"/>
              <a:ea typeface="Arial"/>
              <a:cs typeface="Arial"/>
              <a:sym typeface="Arial"/>
            </a:endParaRPr>
          </a:p>
        </p:txBody>
      </p:sp>
      <p:sp>
        <p:nvSpPr>
          <p:cNvPr id="1354" name="Google Shape;1354;p174"/>
          <p:cNvSpPr/>
          <p:nvPr/>
        </p:nvSpPr>
        <p:spPr>
          <a:xfrm>
            <a:off x="7565725" y="133350"/>
            <a:ext cx="917700" cy="4515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b="0" i="0" u="none" strike="noStrike" cap="none">
                <a:solidFill>
                  <a:schemeClr val="lt1"/>
                </a:solidFill>
                <a:latin typeface="Arial"/>
                <a:ea typeface="Arial"/>
                <a:cs typeface="Arial"/>
                <a:sym typeface="Arial"/>
              </a:rPr>
              <a:t>Oct’18 CR</a:t>
            </a:r>
            <a:endParaRPr b="0" i="0" u="none" strike="noStrike" cap="none">
              <a:solidFill>
                <a:schemeClr val="lt1"/>
              </a:solidFill>
              <a:latin typeface="Arial"/>
              <a:ea typeface="Arial"/>
              <a:cs typeface="Arial"/>
              <a:sym typeface="Arial"/>
            </a:endParaRPr>
          </a:p>
        </p:txBody>
      </p:sp>
      <p:pic>
        <p:nvPicPr>
          <p:cNvPr id="1355" name="Google Shape;1355;p174"/>
          <p:cNvPicPr preferRelativeResize="0"/>
          <p:nvPr/>
        </p:nvPicPr>
        <p:blipFill rotWithShape="1">
          <a:blip r:embed="rId4">
            <a:alphaModFix/>
          </a:blip>
          <a:srcRect/>
          <a:stretch/>
        </p:blipFill>
        <p:spPr>
          <a:xfrm>
            <a:off x="1951775" y="2507450"/>
            <a:ext cx="4472050" cy="420225"/>
          </a:xfrm>
          <a:prstGeom prst="rect">
            <a:avLst/>
          </a:prstGeom>
          <a:noFill/>
          <a:ln w="9525" cap="flat" cmpd="sng">
            <a:solidFill>
              <a:srgbClr val="000000"/>
            </a:solidFill>
            <a:prstDash val="solid"/>
            <a:round/>
            <a:headEnd type="none" w="sm" len="sm"/>
            <a:tailEnd type="none" w="sm" len="sm"/>
          </a:ln>
        </p:spPr>
      </p:pic>
      <p:pic>
        <p:nvPicPr>
          <p:cNvPr id="1356" name="Google Shape;1356;p174"/>
          <p:cNvPicPr preferRelativeResize="0"/>
          <p:nvPr/>
        </p:nvPicPr>
        <p:blipFill rotWithShape="1">
          <a:blip r:embed="rId5">
            <a:alphaModFix/>
          </a:blip>
          <a:srcRect/>
          <a:stretch/>
        </p:blipFill>
        <p:spPr>
          <a:xfrm>
            <a:off x="1951775" y="4438650"/>
            <a:ext cx="4472050" cy="383600"/>
          </a:xfrm>
          <a:prstGeom prst="rect">
            <a:avLst/>
          </a:prstGeom>
          <a:noFill/>
          <a:ln w="9525" cap="flat" cmpd="sng">
            <a:solidFill>
              <a:srgbClr val="000000"/>
            </a:solidFill>
            <a:prstDash val="solid"/>
            <a:round/>
            <a:headEnd type="none" w="sm" len="sm"/>
            <a:tailEnd type="none" w="sm" len="sm"/>
          </a:ln>
        </p:spPr>
      </p:pic>
      <p:sp>
        <p:nvSpPr>
          <p:cNvPr id="1357" name="Google Shape;1357;p174"/>
          <p:cNvSpPr txBox="1">
            <a:spLocks noGrp="1"/>
          </p:cNvSpPr>
          <p:nvPr>
            <p:ph type="title"/>
          </p:nvPr>
        </p:nvSpPr>
        <p:spPr>
          <a:xfrm>
            <a:off x="330200" y="53575"/>
            <a:ext cx="71148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600"/>
              <a:t>SET UP PARAMETERS : FOVA &amp; FOVA_PARAMETER</a:t>
            </a:r>
            <a:r>
              <a:rPr lang="en" sz="3000"/>
              <a:t> </a:t>
            </a:r>
            <a:endParaRPr sz="3000"/>
          </a:p>
        </p:txBody>
      </p:sp>
    </p:spTree>
  </p:cSld>
  <p:clrMapOvr>
    <a:overrideClrMapping bg1="lt1" tx1="dk1" bg2="lt2" tx2="dk2" accent1="accent1" accent2="accent2" accent3="accent3" accent4="accent4" accent5="accent5" accent6="accent6" hlink="hlink" folHlink="folHlink"/>
  </p:clrMapOvr>
</p:sld>
</file>

<file path=ppt/slides/slide12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61"/>
        <p:cNvGrpSpPr/>
        <p:nvPr/>
      </p:nvGrpSpPr>
      <p:grpSpPr>
        <a:xfrm>
          <a:off x="0" y="0"/>
          <a:ext cx="0" cy="0"/>
          <a:chOff x="0" y="0"/>
          <a:chExt cx="0" cy="0"/>
        </a:xfrm>
      </p:grpSpPr>
      <p:sp>
        <p:nvSpPr>
          <p:cNvPr id="1362" name="Google Shape;1362;p175"/>
          <p:cNvSpPr txBox="1"/>
          <p:nvPr/>
        </p:nvSpPr>
        <p:spPr>
          <a:xfrm>
            <a:off x="330200" y="732250"/>
            <a:ext cx="7467600" cy="14214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sz="1800">
                <a:solidFill>
                  <a:schemeClr val="dk1"/>
                </a:solidFill>
                <a:latin typeface="Open Sans"/>
                <a:ea typeface="Open Sans"/>
                <a:cs typeface="Open Sans"/>
                <a:sym typeface="Open Sans"/>
              </a:rPr>
              <a:t>Parameters - ‘DAILY DATA’ :</a:t>
            </a:r>
            <a:endParaRPr sz="1800">
              <a:solidFill>
                <a:schemeClr val="dk1"/>
              </a:solidFill>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endParaRPr sz="1800">
              <a:solidFill>
                <a:schemeClr val="dk1"/>
              </a:solidFill>
              <a:latin typeface="Open Sans"/>
              <a:ea typeface="Open Sans"/>
              <a:cs typeface="Open Sans"/>
              <a:sym typeface="Open Sans"/>
            </a:endParaRPr>
          </a:p>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chemeClr val="dk1"/>
                </a:solidFill>
                <a:latin typeface="Arial"/>
                <a:ea typeface="Arial"/>
                <a:cs typeface="Arial"/>
                <a:sym typeface="Arial"/>
              </a:rPr>
              <a:t>This parameter defines that whether daily data will be received or not in the input for a particular country / retailer / channel</a:t>
            </a:r>
            <a:endParaRPr sz="1800" b="0" i="0" u="none" strike="noStrike" cap="none">
              <a:solidFill>
                <a:schemeClr val="dk1"/>
              </a:solidFill>
              <a:latin typeface="Arial"/>
              <a:ea typeface="Arial"/>
              <a:cs typeface="Arial"/>
              <a:sym typeface="Arial"/>
            </a:endParaRPr>
          </a:p>
        </p:txBody>
      </p:sp>
      <p:pic>
        <p:nvPicPr>
          <p:cNvPr id="1363" name="Google Shape;1363;p175"/>
          <p:cNvPicPr preferRelativeResize="0"/>
          <p:nvPr/>
        </p:nvPicPr>
        <p:blipFill rotWithShape="1">
          <a:blip r:embed="rId4">
            <a:alphaModFix/>
          </a:blip>
          <a:srcRect t="26041" r="15447" b="46354"/>
          <a:stretch/>
        </p:blipFill>
        <p:spPr>
          <a:xfrm>
            <a:off x="438150" y="2048754"/>
            <a:ext cx="8458200" cy="1733025"/>
          </a:xfrm>
          <a:prstGeom prst="rect">
            <a:avLst/>
          </a:prstGeom>
          <a:noFill/>
          <a:ln>
            <a:noFill/>
          </a:ln>
        </p:spPr>
      </p:pic>
      <p:sp>
        <p:nvSpPr>
          <p:cNvPr id="1364" name="Google Shape;1364;p175"/>
          <p:cNvSpPr txBox="1">
            <a:spLocks noGrp="1"/>
          </p:cNvSpPr>
          <p:nvPr>
            <p:ph type="title"/>
          </p:nvPr>
        </p:nvSpPr>
        <p:spPr>
          <a:xfrm>
            <a:off x="330200" y="53579"/>
            <a:ext cx="82803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SET UP </a:t>
            </a:r>
            <a:r>
              <a:rPr lang="en" sz="3000"/>
              <a:t>PARAMETERS : FOVA &amp; FOVA_PARAMETER </a:t>
            </a:r>
            <a:endParaRPr sz="3000"/>
          </a:p>
        </p:txBody>
      </p:sp>
    </p:spTree>
  </p:cSld>
  <p:clrMapOvr>
    <a:overrideClrMapping bg1="lt1" tx1="dk1" bg2="lt2" tx2="dk2" accent1="accent1" accent2="accent2" accent3="accent3" accent4="accent4" accent5="accent5" accent6="accent6" hlink="hlink" folHlink="folHlink"/>
  </p:clrMapOvr>
</p:sld>
</file>

<file path=ppt/slides/slide12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68"/>
        <p:cNvGrpSpPr/>
        <p:nvPr/>
      </p:nvGrpSpPr>
      <p:grpSpPr>
        <a:xfrm>
          <a:off x="0" y="0"/>
          <a:ext cx="0" cy="0"/>
          <a:chOff x="0" y="0"/>
          <a:chExt cx="0" cy="0"/>
        </a:xfrm>
      </p:grpSpPr>
      <p:sp>
        <p:nvSpPr>
          <p:cNvPr id="1373" name="Google Shape;1373;p176"/>
          <p:cNvSpPr txBox="1">
            <a:spLocks noGrp="1"/>
          </p:cNvSpPr>
          <p:nvPr>
            <p:ph type="title"/>
          </p:nvPr>
        </p:nvSpPr>
        <p:spPr>
          <a:xfrm>
            <a:off x="330200" y="53579"/>
            <a:ext cx="82803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SET UP </a:t>
            </a:r>
            <a:r>
              <a:rPr lang="en" sz="3000"/>
              <a:t>PARAMETERS : FOVA &amp; FOVA_PARAMETER </a:t>
            </a:r>
            <a:endParaRPr sz="3000"/>
          </a:p>
        </p:txBody>
      </p:sp>
      <p:sp>
        <p:nvSpPr>
          <p:cNvPr id="1369" name="Google Shape;1369;p176"/>
          <p:cNvSpPr txBox="1">
            <a:spLocks noGrp="1"/>
          </p:cNvSpPr>
          <p:nvPr>
            <p:ph type="body" idx="1"/>
          </p:nvPr>
        </p:nvSpPr>
        <p:spPr>
          <a:xfrm>
            <a:off x="330200" y="657225"/>
            <a:ext cx="8040000" cy="9192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None/>
            </a:pPr>
            <a:r>
              <a:rPr lang="en" sz="1500"/>
              <a:t>Parameter - ‘Expected Days’ :</a:t>
            </a:r>
            <a:endParaRPr sz="1500"/>
          </a:p>
          <a:p>
            <a:pPr marL="0" lvl="0" indent="0" algn="l" rtl="0">
              <a:lnSpc>
                <a:spcPct val="115000"/>
              </a:lnSpc>
              <a:spcBef>
                <a:spcPts val="0"/>
              </a:spcBef>
              <a:spcAft>
                <a:spcPts val="0"/>
              </a:spcAft>
              <a:buNone/>
            </a:pPr>
            <a:endParaRPr sz="300"/>
          </a:p>
          <a:p>
            <a:pPr marL="0" lvl="0" indent="0" algn="l" rtl="0">
              <a:lnSpc>
                <a:spcPct val="115000"/>
              </a:lnSpc>
              <a:spcBef>
                <a:spcPts val="0"/>
              </a:spcBef>
              <a:spcAft>
                <a:spcPts val="0"/>
              </a:spcAft>
              <a:buClr>
                <a:schemeClr val="dk1"/>
              </a:buClr>
              <a:buSzPts val="1600"/>
              <a:buFont typeface="Arial"/>
              <a:buNone/>
            </a:pPr>
            <a:r>
              <a:rPr lang="en" sz="1300">
                <a:solidFill>
                  <a:schemeClr val="dk1"/>
                </a:solidFill>
                <a:latin typeface="Arial"/>
                <a:ea typeface="Arial"/>
                <a:cs typeface="Arial"/>
                <a:sym typeface="Arial"/>
              </a:rPr>
              <a:t>This parameter defines that in daily data which days are mandatory to be received. The number reflects the sequence of the day, if Wednesday is normal closure day then sequence will be 1, 2, 4, 5, 6, and 7</a:t>
            </a:r>
            <a:endParaRPr sz="1300">
              <a:solidFill>
                <a:schemeClr val="dk1"/>
              </a:solidFill>
              <a:latin typeface="Arial"/>
              <a:ea typeface="Arial"/>
              <a:cs typeface="Arial"/>
              <a:sym typeface="Arial"/>
            </a:endParaRPr>
          </a:p>
          <a:p>
            <a:pPr marL="0" lvl="0" indent="0" algn="l" rtl="0">
              <a:lnSpc>
                <a:spcPct val="100000"/>
              </a:lnSpc>
              <a:spcBef>
                <a:spcPts val="0"/>
              </a:spcBef>
              <a:spcAft>
                <a:spcPts val="0"/>
              </a:spcAft>
              <a:buNone/>
            </a:pPr>
            <a:endParaRPr/>
          </a:p>
          <a:p>
            <a:pPr marL="169862" lvl="0" indent="-17459" algn="l" rtl="0">
              <a:lnSpc>
                <a:spcPct val="100000"/>
              </a:lnSpc>
              <a:spcBef>
                <a:spcPts val="0"/>
              </a:spcBef>
              <a:spcAft>
                <a:spcPts val="0"/>
              </a:spcAft>
              <a:buSzPts val="2400"/>
              <a:buNone/>
            </a:pPr>
            <a:endParaRPr/>
          </a:p>
          <a:p>
            <a:pPr marL="169862" lvl="0" indent="-17459" algn="l" rtl="0">
              <a:lnSpc>
                <a:spcPct val="100000"/>
              </a:lnSpc>
              <a:spcBef>
                <a:spcPts val="0"/>
              </a:spcBef>
              <a:spcAft>
                <a:spcPts val="0"/>
              </a:spcAft>
              <a:buSzPts val="2400"/>
              <a:buNone/>
            </a:pPr>
            <a:endParaRPr/>
          </a:p>
        </p:txBody>
      </p:sp>
      <p:pic>
        <p:nvPicPr>
          <p:cNvPr id="1370" name="Google Shape;1370;p176"/>
          <p:cNvPicPr preferRelativeResize="0"/>
          <p:nvPr/>
        </p:nvPicPr>
        <p:blipFill rotWithShape="1">
          <a:blip r:embed="rId4">
            <a:alphaModFix/>
          </a:blip>
          <a:srcRect t="26171" r="15668" b="46614"/>
          <a:stretch/>
        </p:blipFill>
        <p:spPr>
          <a:xfrm>
            <a:off x="392125" y="1526150"/>
            <a:ext cx="7297227" cy="1186600"/>
          </a:xfrm>
          <a:prstGeom prst="rect">
            <a:avLst/>
          </a:prstGeom>
          <a:noFill/>
          <a:ln w="9525" cap="flat" cmpd="sng">
            <a:solidFill>
              <a:srgbClr val="000000"/>
            </a:solidFill>
            <a:prstDash val="solid"/>
            <a:round/>
            <a:headEnd type="none" w="sm" len="sm"/>
            <a:tailEnd type="none" w="sm" len="sm"/>
          </a:ln>
        </p:spPr>
      </p:pic>
      <p:sp>
        <p:nvSpPr>
          <p:cNvPr id="1371" name="Google Shape;1371;p176"/>
          <p:cNvSpPr txBox="1"/>
          <p:nvPr/>
        </p:nvSpPr>
        <p:spPr>
          <a:xfrm>
            <a:off x="319225" y="2825350"/>
            <a:ext cx="8102700" cy="413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 sz="1500">
                <a:solidFill>
                  <a:schemeClr val="dk1"/>
                </a:solidFill>
              </a:rPr>
              <a:t>Parameter - </a:t>
            </a:r>
            <a:r>
              <a:rPr lang="en" sz="1500" b="0" i="0" u="none" strike="noStrike" cap="none">
                <a:solidFill>
                  <a:schemeClr val="dk1"/>
                </a:solidFill>
                <a:latin typeface="Arial"/>
                <a:ea typeface="Arial"/>
                <a:cs typeface="Arial"/>
                <a:sym typeface="Arial"/>
              </a:rPr>
              <a:t>‘Number of Periods’ :</a:t>
            </a:r>
            <a:endParaRPr sz="15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None/>
            </a:pPr>
            <a:endParaRPr sz="600">
              <a:solidFill>
                <a:schemeClr val="dk1"/>
              </a:solidFill>
            </a:endParaRPr>
          </a:p>
          <a:p>
            <a:pPr marL="0" lvl="0" indent="0" algn="l" rtl="0">
              <a:spcBef>
                <a:spcPts val="0"/>
              </a:spcBef>
              <a:spcAft>
                <a:spcPts val="0"/>
              </a:spcAft>
              <a:buClr>
                <a:schemeClr val="dk1"/>
              </a:buClr>
              <a:buSzPts val="1600"/>
              <a:buFont typeface="Arial"/>
              <a:buNone/>
            </a:pPr>
            <a:r>
              <a:rPr lang="en" sz="1500">
                <a:solidFill>
                  <a:schemeClr val="dk1"/>
                </a:solidFill>
              </a:rPr>
              <a:t>This parameter defines number of periods to be taken into account for the Trend Value table.  Average will be calculated based on these number of periods</a:t>
            </a:r>
            <a:endParaRPr sz="1500">
              <a:solidFill>
                <a:schemeClr val="dk1"/>
              </a:solidFill>
            </a:endParaRPr>
          </a:p>
          <a:p>
            <a:pPr marL="0" marR="0" lvl="0" indent="0" algn="l" rtl="0">
              <a:lnSpc>
                <a:spcPct val="100000"/>
              </a:lnSpc>
              <a:spcBef>
                <a:spcPts val="0"/>
              </a:spcBef>
              <a:spcAft>
                <a:spcPts val="0"/>
              </a:spcAft>
              <a:buNone/>
            </a:pPr>
            <a:endParaRPr sz="1500">
              <a:solidFill>
                <a:schemeClr val="dk1"/>
              </a:solidFill>
            </a:endParaRPr>
          </a:p>
          <a:p>
            <a:pPr marL="169862" marR="0" lvl="0" indent="-17459" algn="l" rtl="0">
              <a:lnSpc>
                <a:spcPct val="100000"/>
              </a:lnSpc>
              <a:spcBef>
                <a:spcPts val="0"/>
              </a:spcBef>
              <a:spcAft>
                <a:spcPts val="0"/>
              </a:spcAft>
              <a:buClr>
                <a:srgbClr val="0082D1"/>
              </a:buClr>
              <a:buSzPts val="2400"/>
              <a:buFont typeface="Times"/>
              <a:buNone/>
            </a:pPr>
            <a:endParaRPr sz="2400" b="0" i="0" u="none" strike="noStrike" cap="none">
              <a:solidFill>
                <a:schemeClr val="dk1"/>
              </a:solidFill>
              <a:latin typeface="Arial"/>
              <a:ea typeface="Arial"/>
              <a:cs typeface="Arial"/>
              <a:sym typeface="Arial"/>
            </a:endParaRPr>
          </a:p>
        </p:txBody>
      </p:sp>
      <p:pic>
        <p:nvPicPr>
          <p:cNvPr id="1372" name="Google Shape;1372;p176"/>
          <p:cNvPicPr preferRelativeResize="0"/>
          <p:nvPr/>
        </p:nvPicPr>
        <p:blipFill rotWithShape="1">
          <a:blip r:embed="rId5">
            <a:alphaModFix/>
          </a:blip>
          <a:srcRect t="25649" r="14712" b="46876"/>
          <a:stretch/>
        </p:blipFill>
        <p:spPr>
          <a:xfrm>
            <a:off x="392125" y="3801775"/>
            <a:ext cx="7297227" cy="1260324"/>
          </a:xfrm>
          <a:prstGeom prst="rect">
            <a:avLst/>
          </a:prstGeom>
          <a:noFill/>
          <a:ln w="9525" cap="flat" cmpd="sng">
            <a:solidFill>
              <a:srgbClr val="000000"/>
            </a:solidFill>
            <a:prstDash val="solid"/>
            <a:round/>
            <a:headEnd type="none" w="sm" len="sm"/>
            <a:tailEnd type="none" w="sm" len="sm"/>
          </a:ln>
        </p:spPr>
      </p:pic>
    </p:spTree>
  </p:cSld>
  <p:clrMapOvr>
    <a:overrideClrMapping bg1="lt1" tx1="dk1" bg2="lt2" tx2="dk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77"/>
        <p:cNvGrpSpPr/>
        <p:nvPr/>
      </p:nvGrpSpPr>
      <p:grpSpPr>
        <a:xfrm>
          <a:off x="0" y="0"/>
          <a:ext cx="0" cy="0"/>
          <a:chOff x="0" y="0"/>
          <a:chExt cx="0" cy="0"/>
        </a:xfrm>
      </p:grpSpPr>
      <p:sp>
        <p:nvSpPr>
          <p:cNvPr id="1378" name="Google Shape;1378;p177"/>
          <p:cNvSpPr txBox="1">
            <a:spLocks noGrp="1"/>
          </p:cNvSpPr>
          <p:nvPr>
            <p:ph type="title"/>
          </p:nvPr>
        </p:nvSpPr>
        <p:spPr>
          <a:xfrm>
            <a:off x="165225" y="53575"/>
            <a:ext cx="8304000" cy="451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400"/>
              <a:buFont typeface="Arial"/>
              <a:buNone/>
            </a:pPr>
            <a:r>
              <a:rPr lang="en">
                <a:solidFill>
                  <a:schemeClr val="dk1"/>
                </a:solidFill>
              </a:rPr>
              <a:t>SET UP PARAMETERS : FOVA &amp; FOVA_PARAMETER </a:t>
            </a:r>
            <a:endParaRPr>
              <a:solidFill>
                <a:schemeClr val="dk1"/>
              </a:solidFill>
            </a:endParaRPr>
          </a:p>
          <a:p>
            <a:pPr marL="0" lvl="0" indent="0" algn="l" rtl="0">
              <a:spcBef>
                <a:spcPts val="0"/>
              </a:spcBef>
              <a:spcAft>
                <a:spcPts val="0"/>
              </a:spcAft>
              <a:buNone/>
            </a:pPr>
            <a:endParaRPr/>
          </a:p>
        </p:txBody>
      </p:sp>
      <p:sp>
        <p:nvSpPr>
          <p:cNvPr id="1379" name="Google Shape;1379;p177"/>
          <p:cNvSpPr txBox="1">
            <a:spLocks noGrp="1"/>
          </p:cNvSpPr>
          <p:nvPr>
            <p:ph type="body" idx="1"/>
          </p:nvPr>
        </p:nvSpPr>
        <p:spPr>
          <a:xfrm>
            <a:off x="277825" y="539349"/>
            <a:ext cx="8191500" cy="39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1500" b="1"/>
              <a:t>YAFA PARAMETERS </a:t>
            </a:r>
            <a:r>
              <a:rPr lang="en" b="1"/>
              <a:t>: (E-Com Specific)</a:t>
            </a:r>
            <a:endParaRPr b="1"/>
          </a:p>
          <a:p>
            <a:pPr marL="0" lvl="0" indent="0" algn="l" rtl="0">
              <a:spcBef>
                <a:spcPts val="0"/>
              </a:spcBef>
              <a:spcAft>
                <a:spcPts val="0"/>
              </a:spcAft>
              <a:buNone/>
            </a:pPr>
            <a:endParaRPr/>
          </a:p>
        </p:txBody>
      </p:sp>
      <p:graphicFrame>
        <p:nvGraphicFramePr>
          <p:cNvPr id="1380" name="Google Shape;1380;p177"/>
          <p:cNvGraphicFramePr/>
          <p:nvPr/>
        </p:nvGraphicFramePr>
        <p:xfrm>
          <a:off x="396425" y="971550"/>
          <a:ext cx="8606175" cy="3291660"/>
        </p:xfrm>
        <a:graphic>
          <a:graphicData uri="http://schemas.openxmlformats.org/drawingml/2006/table">
            <a:tbl>
              <a:tblPr>
                <a:noFill/>
                <a:tableStyleId>{481650DD-5AA0-454B-87A4-94D10214C890}</a:tableStyleId>
              </a:tblPr>
              <a:tblGrid>
                <a:gridCol w="1250075">
                  <a:extLst>
                    <a:ext uri="{9D8B030D-6E8A-4147-A177-3AD203B41FA5}">
                      <a16:colId xmlns:a16="http://schemas.microsoft.com/office/drawing/2014/main" val="20000"/>
                    </a:ext>
                  </a:extLst>
                </a:gridCol>
                <a:gridCol w="2369950">
                  <a:extLst>
                    <a:ext uri="{9D8B030D-6E8A-4147-A177-3AD203B41FA5}">
                      <a16:colId xmlns:a16="http://schemas.microsoft.com/office/drawing/2014/main" val="20001"/>
                    </a:ext>
                  </a:extLst>
                </a:gridCol>
                <a:gridCol w="3541675">
                  <a:extLst>
                    <a:ext uri="{9D8B030D-6E8A-4147-A177-3AD203B41FA5}">
                      <a16:colId xmlns:a16="http://schemas.microsoft.com/office/drawing/2014/main" val="20002"/>
                    </a:ext>
                  </a:extLst>
                </a:gridCol>
                <a:gridCol w="1444475">
                  <a:extLst>
                    <a:ext uri="{9D8B030D-6E8A-4147-A177-3AD203B41FA5}">
                      <a16:colId xmlns:a16="http://schemas.microsoft.com/office/drawing/2014/main" val="20003"/>
                    </a:ext>
                  </a:extLst>
                </a:gridCol>
              </a:tblGrid>
              <a:tr h="470900">
                <a:tc>
                  <a:txBody>
                    <a:bodyPr/>
                    <a:lstStyle/>
                    <a:p>
                      <a:pPr marL="0" lvl="0" indent="0" algn="l" rtl="0">
                        <a:spcBef>
                          <a:spcPts val="0"/>
                        </a:spcBef>
                        <a:spcAft>
                          <a:spcPts val="0"/>
                        </a:spcAft>
                        <a:buNone/>
                      </a:pPr>
                      <a:r>
                        <a:rPr lang="en" sz="1200"/>
                        <a:t>AC_PROCESSID</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200"/>
                        <a:t>AC_PARAMETERTAG</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200"/>
                        <a:t>AC_PARAMETERDESCRIPTION</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 sz="1200"/>
                        <a:t>AC_PARAMETERDEFAULTVALUE</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370400">
                <a:tc>
                  <a:txBody>
                    <a:bodyPr/>
                    <a:lstStyle/>
                    <a:p>
                      <a:pPr marL="0" lvl="0" indent="0" algn="l" rtl="0">
                        <a:spcBef>
                          <a:spcPts val="0"/>
                        </a:spcBef>
                        <a:spcAft>
                          <a:spcPts val="0"/>
                        </a:spcAft>
                        <a:buClr>
                          <a:schemeClr val="dk1"/>
                        </a:buClr>
                        <a:buSzPts val="1100"/>
                        <a:buFont typeface="Arial"/>
                        <a:buNone/>
                      </a:pPr>
                      <a:r>
                        <a:rPr lang="en" sz="1200">
                          <a:solidFill>
                            <a:schemeClr val="dk1"/>
                          </a:solidFill>
                        </a:rPr>
                        <a:t>YAFA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LEVEL 1</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Column of stores table to filter or aggregate stores data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NULL</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97250">
                <a:tc>
                  <a:txBody>
                    <a:bodyPr/>
                    <a:lstStyle/>
                    <a:p>
                      <a:pPr marL="0" lvl="0" indent="0" algn="l" rtl="0">
                        <a:spcBef>
                          <a:spcPts val="0"/>
                        </a:spcBef>
                        <a:spcAft>
                          <a:spcPts val="0"/>
                        </a:spcAft>
                        <a:buClr>
                          <a:schemeClr val="dk1"/>
                        </a:buClr>
                        <a:buSzPts val="1100"/>
                        <a:buFont typeface="Arial"/>
                        <a:buNone/>
                      </a:pPr>
                      <a:r>
                        <a:rPr lang="en" sz="1200">
                          <a:solidFill>
                            <a:schemeClr val="dk1"/>
                          </a:solidFill>
                        </a:rPr>
                        <a:t>YAFA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LEVEL 2</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Column of stores table to filter or aggregate stores data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NULL</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529000">
                <a:tc>
                  <a:txBody>
                    <a:bodyPr/>
                    <a:lstStyle/>
                    <a:p>
                      <a:pPr marL="0" lvl="0" indent="0" algn="l" rtl="0">
                        <a:spcBef>
                          <a:spcPts val="0"/>
                        </a:spcBef>
                        <a:spcAft>
                          <a:spcPts val="0"/>
                        </a:spcAft>
                        <a:buClr>
                          <a:schemeClr val="dk1"/>
                        </a:buClr>
                        <a:buSzPts val="1100"/>
                        <a:buFont typeface="Arial"/>
                        <a:buNone/>
                      </a:pPr>
                      <a:r>
                        <a:rPr lang="en" sz="1200">
                          <a:solidFill>
                            <a:schemeClr val="dk1"/>
                          </a:solidFill>
                        </a:rPr>
                        <a:t>YAFA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MAX_LOADED_STORE_PERC</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Maximum % of the Loaded Stores over which the row of the retailer to be underlined</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95</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448400">
                <a:tc>
                  <a:txBody>
                    <a:bodyPr/>
                    <a:lstStyle/>
                    <a:p>
                      <a:pPr marL="0" lvl="0" indent="0" algn="l" rtl="0">
                        <a:spcBef>
                          <a:spcPts val="0"/>
                        </a:spcBef>
                        <a:spcAft>
                          <a:spcPts val="0"/>
                        </a:spcAft>
                        <a:buClr>
                          <a:schemeClr val="dk1"/>
                        </a:buClr>
                        <a:buSzPts val="1100"/>
                        <a:buFont typeface="Arial"/>
                        <a:buNone/>
                      </a:pPr>
                      <a:r>
                        <a:rPr lang="en" sz="1200">
                          <a:solidFill>
                            <a:schemeClr val="dk1"/>
                          </a:solidFill>
                        </a:rPr>
                        <a:t>YAFA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MAX_STORE_NOTOK_PERC</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Maximum % of the  Stores not ok over which the row of the retailer to be underlined</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3</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515575">
                <a:tc>
                  <a:txBody>
                    <a:bodyPr/>
                    <a:lstStyle/>
                    <a:p>
                      <a:pPr marL="0" lvl="0" indent="0" algn="l" rtl="0">
                        <a:spcBef>
                          <a:spcPts val="0"/>
                        </a:spcBef>
                        <a:spcAft>
                          <a:spcPts val="0"/>
                        </a:spcAft>
                        <a:buClr>
                          <a:schemeClr val="dk1"/>
                        </a:buClr>
                        <a:buSzPts val="1100"/>
                        <a:buFont typeface="Arial"/>
                        <a:buNone/>
                      </a:pPr>
                      <a:r>
                        <a:rPr lang="en" sz="1200">
                          <a:solidFill>
                            <a:schemeClr val="dk1"/>
                          </a:solidFill>
                        </a:rPr>
                        <a:t>YAFA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NUMBER_OF_PERIODS</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Default number of periods to use into YAFA graphics for ecommerce data</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8</a:t>
                      </a:r>
                      <a:endParaRPr sz="1200"/>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2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84"/>
        <p:cNvGrpSpPr/>
        <p:nvPr/>
      </p:nvGrpSpPr>
      <p:grpSpPr>
        <a:xfrm>
          <a:off x="0" y="0"/>
          <a:ext cx="0" cy="0"/>
          <a:chOff x="0" y="0"/>
          <a:chExt cx="0" cy="0"/>
        </a:xfrm>
      </p:grpSpPr>
      <p:sp>
        <p:nvSpPr>
          <p:cNvPr id="1385" name="Google Shape;1385;p178"/>
          <p:cNvSpPr txBox="1">
            <a:spLocks noGrp="1"/>
          </p:cNvSpPr>
          <p:nvPr>
            <p:ph type="title"/>
          </p:nvPr>
        </p:nvSpPr>
        <p:spPr>
          <a:xfrm>
            <a:off x="285750" y="53578"/>
            <a:ext cx="7918500" cy="4515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a:t>SET UP PARAMETER : NEW STATUS “EXPECTED”</a:t>
            </a:r>
            <a:endParaRPr/>
          </a:p>
        </p:txBody>
      </p:sp>
      <p:sp>
        <p:nvSpPr>
          <p:cNvPr id="1386" name="Google Shape;1386;p178"/>
          <p:cNvSpPr txBox="1">
            <a:spLocks noGrp="1"/>
          </p:cNvSpPr>
          <p:nvPr>
            <p:ph type="body" idx="1"/>
          </p:nvPr>
        </p:nvSpPr>
        <p:spPr>
          <a:xfrm>
            <a:off x="285750" y="615550"/>
            <a:ext cx="8412300" cy="42771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 sz="1500">
                <a:latin typeface="Arial"/>
                <a:ea typeface="Arial"/>
                <a:cs typeface="Arial"/>
                <a:sym typeface="Arial"/>
              </a:rPr>
              <a:t>Parameters: 'FORCE_STATUS' :</a:t>
            </a:r>
            <a:endParaRPr sz="1500">
              <a:latin typeface="Arial"/>
              <a:ea typeface="Arial"/>
              <a:cs typeface="Arial"/>
              <a:sym typeface="Arial"/>
            </a:endParaRPr>
          </a:p>
          <a:p>
            <a:pPr marL="0" lvl="0" indent="0" algn="l" rtl="0">
              <a:spcBef>
                <a:spcPts val="0"/>
              </a:spcBef>
              <a:spcAft>
                <a:spcPts val="0"/>
              </a:spcAft>
              <a:buNone/>
            </a:pPr>
            <a:endParaRPr sz="1500">
              <a:latin typeface="Arial"/>
              <a:ea typeface="Arial"/>
              <a:cs typeface="Arial"/>
              <a:sym typeface="Arial"/>
            </a:endParaRPr>
          </a:p>
          <a:p>
            <a:pPr marL="0" lvl="0" indent="0" algn="l" rtl="0">
              <a:spcBef>
                <a:spcPts val="0"/>
              </a:spcBef>
              <a:spcAft>
                <a:spcPts val="0"/>
              </a:spcAft>
              <a:buNone/>
            </a:pPr>
            <a:endParaRPr sz="1500">
              <a:latin typeface="Arial"/>
              <a:ea typeface="Arial"/>
              <a:cs typeface="Arial"/>
              <a:sym typeface="Arial"/>
            </a:endParaRPr>
          </a:p>
          <a:p>
            <a:pPr marL="0" lvl="0" indent="0" algn="l" rtl="0">
              <a:spcBef>
                <a:spcPts val="0"/>
              </a:spcBef>
              <a:spcAft>
                <a:spcPts val="0"/>
              </a:spcAft>
              <a:buNone/>
            </a:pPr>
            <a:endParaRPr sz="1500">
              <a:latin typeface="Arial"/>
              <a:ea typeface="Arial"/>
              <a:cs typeface="Arial"/>
              <a:sym typeface="Arial"/>
            </a:endParaRPr>
          </a:p>
        </p:txBody>
      </p:sp>
      <p:graphicFrame>
        <p:nvGraphicFramePr>
          <p:cNvPr id="1387" name="Google Shape;1387;p178"/>
          <p:cNvGraphicFramePr/>
          <p:nvPr/>
        </p:nvGraphicFramePr>
        <p:xfrm>
          <a:off x="647700" y="1047750"/>
          <a:ext cx="7239000" cy="792420"/>
        </p:xfrm>
        <a:graphic>
          <a:graphicData uri="http://schemas.openxmlformats.org/drawingml/2006/table">
            <a:tbl>
              <a:tblPr>
                <a:noFill/>
                <a:tableStyleId>{481650DD-5AA0-454B-87A4-94D10214C890}</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55900">
                <a:tc>
                  <a:txBody>
                    <a:bodyPr/>
                    <a:lstStyle/>
                    <a:p>
                      <a:pPr marL="0" lvl="0" indent="0" algn="l" rtl="0">
                        <a:spcBef>
                          <a:spcPts val="0"/>
                        </a:spcBef>
                        <a:spcAft>
                          <a:spcPts val="0"/>
                        </a:spcAft>
                        <a:buNone/>
                      </a:pPr>
                      <a:r>
                        <a:rPr lang="en"/>
                        <a:t>Process ID</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Parametertag</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Parameter Default value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RWLD</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FORCE_STATUS</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a:t>N= Do not force</a:t>
                      </a:r>
                      <a:endParaRPr/>
                    </a:p>
                  </a:txBody>
                  <a:tcPr marL="91425" marR="91425" marT="91425" marB="91425">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p:pic>
        <p:nvPicPr>
          <p:cNvPr id="1388" name="Google Shape;1388;p178"/>
          <p:cNvPicPr preferRelativeResize="0"/>
          <p:nvPr/>
        </p:nvPicPr>
        <p:blipFill>
          <a:blip r:embed="rId4">
            <a:alphaModFix/>
          </a:blip>
          <a:stretch>
            <a:fillRect/>
          </a:stretch>
        </p:blipFill>
        <p:spPr>
          <a:xfrm>
            <a:off x="476250" y="1853675"/>
            <a:ext cx="4790100" cy="308980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2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394"/>
        <p:cNvGrpSpPr/>
        <p:nvPr/>
      </p:nvGrpSpPr>
      <p:grpSpPr>
        <a:xfrm>
          <a:off x="0" y="0"/>
          <a:ext cx="0" cy="0"/>
          <a:chOff x="0" y="0"/>
          <a:chExt cx="0" cy="0"/>
        </a:xfrm>
      </p:grpSpPr>
      <p:sp>
        <p:nvSpPr>
          <p:cNvPr id="1395" name="Google Shape;1395;p179"/>
          <p:cNvSpPr/>
          <p:nvPr/>
        </p:nvSpPr>
        <p:spPr>
          <a:xfrm>
            <a:off x="6173787" y="4270177"/>
            <a:ext cx="823800" cy="14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396" name="Google Shape;1396;p179"/>
          <p:cNvSpPr/>
          <p:nvPr/>
        </p:nvSpPr>
        <p:spPr>
          <a:xfrm>
            <a:off x="502775" y="814388"/>
            <a:ext cx="7913700" cy="33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397" name="Google Shape;1397;p179"/>
          <p:cNvSpPr txBox="1"/>
          <p:nvPr/>
        </p:nvSpPr>
        <p:spPr>
          <a:xfrm>
            <a:off x="277625" y="503250"/>
            <a:ext cx="8675400" cy="4389600"/>
          </a:xfrm>
          <a:prstGeom prst="rect">
            <a:avLst/>
          </a:prstGeom>
          <a:noFill/>
          <a:ln w="9525" cap="sq" cmpd="sng">
            <a:solidFill>
              <a:srgbClr val="FFFFFF"/>
            </a:solidFill>
            <a:prstDash val="solid"/>
            <a:round/>
            <a:headEnd type="none" w="sm" len="sm"/>
            <a:tailEnd type="none" w="sm" len="sm"/>
          </a:ln>
        </p:spPr>
        <p:txBody>
          <a:bodyPr spcFirstLastPara="1" wrap="square" lIns="90000" tIns="46800" rIns="90000" bIns="46800" anchor="t" anchorCtr="0">
            <a:noAutofit/>
          </a:bodyPr>
          <a:lstStyle/>
          <a:p>
            <a:pPr marL="400050" marR="0" lvl="0" indent="-266700" algn="l" rtl="0">
              <a:lnSpc>
                <a:spcPct val="100000"/>
              </a:lnSpc>
              <a:spcBef>
                <a:spcPts val="0"/>
              </a:spcBef>
              <a:spcAft>
                <a:spcPts val="0"/>
              </a:spcAft>
              <a:buClr>
                <a:srgbClr val="5F5F5F"/>
              </a:buClr>
              <a:buSzPts val="1500"/>
              <a:buFont typeface="Arial"/>
              <a:buChar char="•"/>
            </a:pPr>
            <a:r>
              <a:rPr lang="en" sz="1500">
                <a:latin typeface="Calibri"/>
                <a:ea typeface="Calibri"/>
                <a:cs typeface="Calibri"/>
                <a:sym typeface="Calibri"/>
              </a:rPr>
              <a:t>The Fova process currently evaluates data in the Long Trend algorithm as OK even when the trend is too low or high. Due to this reason it was agreed to provide a solution that will limit the range of the possible trend factor. The same logic will also be applied to the Store Usability long trend algorithm.</a:t>
            </a:r>
            <a:endParaRPr sz="1500">
              <a:latin typeface="Calibri"/>
              <a:ea typeface="Calibri"/>
              <a:cs typeface="Calibri"/>
              <a:sym typeface="Calibri"/>
            </a:endParaRPr>
          </a:p>
          <a:p>
            <a:pPr marL="457200" marR="0" lvl="0" indent="0" algn="l" rtl="0">
              <a:lnSpc>
                <a:spcPct val="100000"/>
              </a:lnSpc>
              <a:spcBef>
                <a:spcPts val="0"/>
              </a:spcBef>
              <a:spcAft>
                <a:spcPts val="0"/>
              </a:spcAft>
              <a:buNone/>
            </a:pPr>
            <a:endParaRPr sz="1500">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a:latin typeface="Calibri"/>
                <a:ea typeface="Calibri"/>
                <a:cs typeface="Calibri"/>
                <a:sym typeface="Calibri"/>
              </a:rPr>
              <a:t>For LT Trend, if we have a single record in the current period and some records in the previous period (huge variations) and vise versa. So in that case LT trend may consider it as ok. So to handle this kind of scenario there is a slight modification needed in the SU LT trend and in the Fova as well. </a:t>
            </a:r>
            <a:endParaRPr sz="1500">
              <a:latin typeface="Calibri"/>
              <a:ea typeface="Calibri"/>
              <a:cs typeface="Calibri"/>
              <a:sym typeface="Calibri"/>
            </a:endParaRPr>
          </a:p>
          <a:p>
            <a:pPr marL="457200" marR="0" lvl="0" indent="0" algn="l" rtl="0">
              <a:lnSpc>
                <a:spcPct val="100000"/>
              </a:lnSpc>
              <a:spcBef>
                <a:spcPts val="0"/>
              </a:spcBef>
              <a:spcAft>
                <a:spcPts val="0"/>
              </a:spcAft>
              <a:buNone/>
            </a:pPr>
            <a:endParaRPr sz="1500">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a:latin typeface="Calibri"/>
                <a:ea typeface="Calibri"/>
                <a:cs typeface="Calibri"/>
                <a:sym typeface="Calibri"/>
              </a:rPr>
              <a:t>So for this proposed enhancement will be to provide parameters that will define the allowable range of the trend during the Long Trend calculation. This change is applied to the Store Usability and FOVA processes.</a:t>
            </a:r>
            <a:endParaRPr sz="1500">
              <a:latin typeface="Calibri"/>
              <a:ea typeface="Calibri"/>
              <a:cs typeface="Calibri"/>
              <a:sym typeface="Calibri"/>
            </a:endParaRPr>
          </a:p>
          <a:p>
            <a:pPr marL="0" marR="0" lvl="0" indent="0" algn="l" rtl="0">
              <a:lnSpc>
                <a:spcPct val="100000"/>
              </a:lnSpc>
              <a:spcBef>
                <a:spcPts val="0"/>
              </a:spcBef>
              <a:spcAft>
                <a:spcPts val="0"/>
              </a:spcAft>
              <a:buNone/>
            </a:pPr>
            <a:endParaRPr sz="1500">
              <a:latin typeface="Calibri"/>
              <a:ea typeface="Calibri"/>
              <a:cs typeface="Calibri"/>
              <a:sym typeface="Calibri"/>
            </a:endParaRPr>
          </a:p>
          <a:p>
            <a:pPr marL="0" marR="0" lvl="0" indent="0" algn="l" rtl="0">
              <a:lnSpc>
                <a:spcPct val="100000"/>
              </a:lnSpc>
              <a:spcBef>
                <a:spcPts val="0"/>
              </a:spcBef>
              <a:spcAft>
                <a:spcPts val="0"/>
              </a:spcAft>
              <a:buNone/>
            </a:pPr>
            <a:r>
              <a:rPr lang="en" sz="1500" b="1">
                <a:latin typeface="Calibri"/>
                <a:ea typeface="Calibri"/>
                <a:cs typeface="Calibri"/>
                <a:sym typeface="Calibri"/>
              </a:rPr>
              <a:t>Parameters : </a:t>
            </a:r>
            <a:endParaRPr sz="1500" b="1">
              <a:latin typeface="Calibri"/>
              <a:ea typeface="Calibri"/>
              <a:cs typeface="Calibri"/>
              <a:sym typeface="Calibri"/>
            </a:endParaRPr>
          </a:p>
          <a:p>
            <a:pPr marL="0" marR="0" lvl="0" indent="0" algn="l" rtl="0">
              <a:lnSpc>
                <a:spcPct val="100000"/>
              </a:lnSpc>
              <a:spcBef>
                <a:spcPts val="0"/>
              </a:spcBef>
              <a:spcAft>
                <a:spcPts val="0"/>
              </a:spcAft>
              <a:buNone/>
            </a:pPr>
            <a:endParaRPr sz="1500">
              <a:latin typeface="Calibri"/>
              <a:ea typeface="Calibri"/>
              <a:cs typeface="Calibri"/>
              <a:sym typeface="Calibri"/>
            </a:endParaRPr>
          </a:p>
          <a:p>
            <a:pPr marL="0" marR="0" lvl="0" indent="0" algn="l" rtl="0">
              <a:lnSpc>
                <a:spcPct val="100000"/>
              </a:lnSpc>
              <a:spcBef>
                <a:spcPts val="0"/>
              </a:spcBef>
              <a:spcAft>
                <a:spcPts val="0"/>
              </a:spcAft>
              <a:buNone/>
            </a:pPr>
            <a:endParaRPr sz="1500">
              <a:latin typeface="Calibri"/>
              <a:ea typeface="Calibri"/>
              <a:cs typeface="Calibri"/>
              <a:sym typeface="Calibri"/>
            </a:endParaRPr>
          </a:p>
          <a:p>
            <a:pPr marL="0" marR="0" lvl="0" indent="0" algn="l" rtl="0">
              <a:lnSpc>
                <a:spcPct val="100000"/>
              </a:lnSpc>
              <a:spcBef>
                <a:spcPts val="0"/>
              </a:spcBef>
              <a:spcAft>
                <a:spcPts val="0"/>
              </a:spcAft>
              <a:buNone/>
            </a:pPr>
            <a:endParaRPr sz="1500">
              <a:latin typeface="Calibri"/>
              <a:ea typeface="Calibri"/>
              <a:cs typeface="Calibri"/>
              <a:sym typeface="Calibri"/>
            </a:endParaRPr>
          </a:p>
          <a:p>
            <a:pPr marL="457200" marR="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1398" name="Google Shape;1398;p179"/>
          <p:cNvSpPr txBox="1"/>
          <p:nvPr/>
        </p:nvSpPr>
        <p:spPr>
          <a:xfrm>
            <a:off x="277630" y="52550"/>
            <a:ext cx="37875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a:solidFill>
                  <a:srgbClr val="0082D1"/>
                </a:solidFill>
                <a:latin typeface="Calibri"/>
                <a:ea typeface="Calibri"/>
                <a:cs typeface="Calibri"/>
                <a:sym typeface="Calibri"/>
              </a:rPr>
              <a:t>FOVA LT Bounds Limits</a:t>
            </a:r>
            <a:endParaRPr sz="2400" b="0" i="0" u="none" strike="noStrike" cap="none">
              <a:solidFill>
                <a:srgbClr val="000000"/>
              </a:solidFill>
              <a:latin typeface="Calibri"/>
              <a:ea typeface="Calibri"/>
              <a:cs typeface="Calibri"/>
              <a:sym typeface="Calibri"/>
            </a:endParaRPr>
          </a:p>
        </p:txBody>
      </p:sp>
      <p:sp>
        <p:nvSpPr>
          <p:cNvPr id="1399" name="Google Shape;1399;p179"/>
          <p:cNvSpPr/>
          <p:nvPr/>
        </p:nvSpPr>
        <p:spPr>
          <a:xfrm>
            <a:off x="7062200" y="78950"/>
            <a:ext cx="14826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a:solidFill>
                  <a:schemeClr val="lt1"/>
                </a:solidFill>
              </a:rPr>
              <a:t>Oct </a:t>
            </a:r>
            <a:r>
              <a:rPr lang="en" sz="1800" b="0" i="0" u="none" strike="noStrike" cap="none">
                <a:solidFill>
                  <a:schemeClr val="lt1"/>
                </a:solidFill>
                <a:latin typeface="Arial"/>
                <a:ea typeface="Arial"/>
                <a:cs typeface="Arial"/>
                <a:sym typeface="Arial"/>
              </a:rPr>
              <a:t>’</a:t>
            </a:r>
            <a:r>
              <a:rPr lang="en" sz="1800">
                <a:solidFill>
                  <a:schemeClr val="lt1"/>
                </a:solidFill>
              </a:rPr>
              <a:t>21</a:t>
            </a:r>
            <a:r>
              <a:rPr lang="en" sz="1800" b="0" i="0" u="none" strike="noStrike" cap="none">
                <a:solidFill>
                  <a:schemeClr val="lt1"/>
                </a:solidFill>
                <a:latin typeface="Arial"/>
                <a:ea typeface="Arial"/>
                <a:cs typeface="Arial"/>
                <a:sym typeface="Arial"/>
              </a:rPr>
              <a:t> CR</a:t>
            </a:r>
            <a:endParaRPr sz="1800" b="0" i="0" u="none" strike="noStrike" cap="none">
              <a:solidFill>
                <a:schemeClr val="lt1"/>
              </a:solidFill>
              <a:latin typeface="Arial"/>
              <a:ea typeface="Arial"/>
              <a:cs typeface="Arial"/>
              <a:sym typeface="Arial"/>
            </a:endParaRPr>
          </a:p>
        </p:txBody>
      </p:sp>
      <p:graphicFrame>
        <p:nvGraphicFramePr>
          <p:cNvPr id="1400" name="Google Shape;1400;p179"/>
          <p:cNvGraphicFramePr/>
          <p:nvPr/>
        </p:nvGraphicFramePr>
        <p:xfrm>
          <a:off x="952500" y="3790950"/>
          <a:ext cx="7239000" cy="1195560"/>
        </p:xfrm>
        <a:graphic>
          <a:graphicData uri="http://schemas.openxmlformats.org/drawingml/2006/table">
            <a:tbl>
              <a:tblPr>
                <a:noFill/>
                <a:tableStyleId>{481650DD-5AA0-454B-87A4-94D10214C890}</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ctr" rtl="0">
                        <a:spcBef>
                          <a:spcPts val="0"/>
                        </a:spcBef>
                        <a:spcAft>
                          <a:spcPts val="0"/>
                        </a:spcAft>
                        <a:buNone/>
                      </a:pPr>
                      <a:r>
                        <a:rPr lang="en" sz="1100" b="1">
                          <a:latin typeface="Calibri"/>
                          <a:ea typeface="Calibri"/>
                          <a:cs typeface="Calibri"/>
                          <a:sym typeface="Calibri"/>
                        </a:rPr>
                        <a:t>Process</a:t>
                      </a:r>
                      <a:endParaRPr sz="1100" b="1">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1100" b="1">
                          <a:latin typeface="Calibri"/>
                          <a:ea typeface="Calibri"/>
                          <a:cs typeface="Calibri"/>
                          <a:sym typeface="Calibri"/>
                        </a:rPr>
                        <a:t>Parameter Name</a:t>
                      </a:r>
                      <a:endParaRPr sz="1100" b="1">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CFE2F3"/>
                    </a:solidFill>
                  </a:tcPr>
                </a:tc>
                <a:tc>
                  <a:txBody>
                    <a:bodyPr/>
                    <a:lstStyle/>
                    <a:p>
                      <a:pPr marL="0" lvl="0" indent="0" algn="ctr" rtl="0">
                        <a:spcBef>
                          <a:spcPts val="0"/>
                        </a:spcBef>
                        <a:spcAft>
                          <a:spcPts val="0"/>
                        </a:spcAft>
                        <a:buNone/>
                      </a:pPr>
                      <a:r>
                        <a:rPr lang="en" sz="1100" b="1">
                          <a:latin typeface="Calibri"/>
                          <a:ea typeface="Calibri"/>
                          <a:cs typeface="Calibri"/>
                          <a:sym typeface="Calibri"/>
                        </a:rPr>
                        <a:t>Description</a:t>
                      </a:r>
                      <a:endParaRPr sz="1100" b="1">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solidFill>
                      <a:srgbClr val="CFE2F3"/>
                    </a:solidFill>
                  </a:tcPr>
                </a:tc>
                <a:extLst>
                  <a:ext uri="{0D108BD9-81ED-4DB2-BD59-A6C34878D82A}">
                    <a16:rowId xmlns:a16="http://schemas.microsoft.com/office/drawing/2014/main" val="10000"/>
                  </a:ext>
                </a:extLst>
              </a:tr>
              <a:tr h="381000">
                <a:tc>
                  <a:txBody>
                    <a:bodyPr/>
                    <a:lstStyle/>
                    <a:p>
                      <a:pPr marL="0" lvl="0" indent="0" algn="ctr" rtl="0">
                        <a:spcBef>
                          <a:spcPts val="0"/>
                        </a:spcBef>
                        <a:spcAft>
                          <a:spcPts val="0"/>
                        </a:spcAft>
                        <a:buNone/>
                      </a:pPr>
                      <a:r>
                        <a:rPr lang="en" sz="1100" b="1">
                          <a:solidFill>
                            <a:srgbClr val="0070C0"/>
                          </a:solidFill>
                          <a:latin typeface="Calibri"/>
                          <a:ea typeface="Calibri"/>
                          <a:cs typeface="Calibri"/>
                          <a:sym typeface="Calibri"/>
                        </a:rPr>
                        <a:t>FOVA</a:t>
                      </a:r>
                      <a:endParaRPr sz="1100" b="1">
                        <a:solidFill>
                          <a:srgbClr val="0070C0"/>
                        </a:solidFill>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0070C0"/>
                          </a:solidFill>
                          <a:latin typeface="Calibri"/>
                          <a:ea typeface="Calibri"/>
                          <a:cs typeface="Calibri"/>
                          <a:sym typeface="Calibri"/>
                        </a:rPr>
                        <a:t>TREND_W_LOW_LIMIT</a:t>
                      </a:r>
                      <a:endParaRPr sz="1100" b="1">
                        <a:solidFill>
                          <a:srgbClr val="0070C0"/>
                        </a:solidFill>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Calibri"/>
                          <a:ea typeface="Calibri"/>
                          <a:cs typeface="Calibri"/>
                          <a:sym typeface="Calibri"/>
                        </a:rPr>
                        <a:t>Limit for Minimum value for LT Trend Weekly</a:t>
                      </a:r>
                      <a:endParaRPr sz="1100">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lvl="0" indent="0" algn="ctr" rtl="0">
                        <a:spcBef>
                          <a:spcPts val="0"/>
                        </a:spcBef>
                        <a:spcAft>
                          <a:spcPts val="0"/>
                        </a:spcAft>
                        <a:buNone/>
                      </a:pPr>
                      <a:r>
                        <a:rPr lang="en" sz="1100" b="1">
                          <a:solidFill>
                            <a:srgbClr val="0070C0"/>
                          </a:solidFill>
                          <a:latin typeface="Calibri"/>
                          <a:ea typeface="Calibri"/>
                          <a:cs typeface="Calibri"/>
                          <a:sym typeface="Calibri"/>
                        </a:rPr>
                        <a:t>FOVA</a:t>
                      </a:r>
                      <a:endParaRPr sz="1100" b="1">
                        <a:solidFill>
                          <a:srgbClr val="0070C0"/>
                        </a:solidFill>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b="1">
                          <a:solidFill>
                            <a:srgbClr val="0070C0"/>
                          </a:solidFill>
                          <a:latin typeface="Calibri"/>
                          <a:ea typeface="Calibri"/>
                          <a:cs typeface="Calibri"/>
                          <a:sym typeface="Calibri"/>
                        </a:rPr>
                        <a:t>TREND_W_HIGH_LIMIT</a:t>
                      </a:r>
                      <a:endParaRPr sz="1100" b="1">
                        <a:solidFill>
                          <a:srgbClr val="0070C0"/>
                        </a:solidFill>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100">
                          <a:latin typeface="Calibri"/>
                          <a:ea typeface="Calibri"/>
                          <a:cs typeface="Calibri"/>
                          <a:sym typeface="Calibri"/>
                        </a:rPr>
                        <a:t>Limit for Maximum value for LT Trend Weekly</a:t>
                      </a:r>
                      <a:endParaRPr sz="1100">
                        <a:latin typeface="Calibri"/>
                        <a:ea typeface="Calibri"/>
                        <a:cs typeface="Calibri"/>
                        <a:sym typeface="Calibri"/>
                      </a:endParaRPr>
                    </a:p>
                  </a:txBody>
                  <a:tcPr marL="36000" marR="36000" marT="36000" marB="36000" anchor="ctr">
                    <a:lnL w="6350" cap="flat" cmpd="sng">
                      <a:solidFill>
                        <a:srgbClr val="000000"/>
                      </a:solidFill>
                      <a:prstDash val="solid"/>
                      <a:round/>
                      <a:headEnd type="none" w="sm" len="sm"/>
                      <a:tailEnd type="none" w="sm" len="sm"/>
                    </a:lnL>
                    <a:lnR w="63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lnB w="6350"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06"/>
        <p:cNvGrpSpPr/>
        <p:nvPr/>
      </p:nvGrpSpPr>
      <p:grpSpPr>
        <a:xfrm>
          <a:off x="0" y="0"/>
          <a:ext cx="0" cy="0"/>
          <a:chOff x="0" y="0"/>
          <a:chExt cx="0" cy="0"/>
        </a:xfrm>
      </p:grpSpPr>
      <p:sp>
        <p:nvSpPr>
          <p:cNvPr id="1407" name="Google Shape;1407;p180"/>
          <p:cNvSpPr/>
          <p:nvPr/>
        </p:nvSpPr>
        <p:spPr>
          <a:xfrm>
            <a:off x="6173787" y="4270177"/>
            <a:ext cx="823800" cy="14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408" name="Google Shape;1408;p180"/>
          <p:cNvSpPr/>
          <p:nvPr/>
        </p:nvSpPr>
        <p:spPr>
          <a:xfrm>
            <a:off x="502775" y="814388"/>
            <a:ext cx="7913700" cy="33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409" name="Google Shape;1409;p180"/>
          <p:cNvSpPr txBox="1"/>
          <p:nvPr/>
        </p:nvSpPr>
        <p:spPr>
          <a:xfrm>
            <a:off x="277625" y="503250"/>
            <a:ext cx="8675400" cy="4389600"/>
          </a:xfrm>
          <a:prstGeom prst="rect">
            <a:avLst/>
          </a:prstGeom>
          <a:noFill/>
          <a:ln w="9525" cap="sq" cmpd="sng">
            <a:solidFill>
              <a:srgbClr val="FFFFFF"/>
            </a:solidFill>
            <a:prstDash val="solid"/>
            <a:round/>
            <a:headEnd type="none" w="sm" len="sm"/>
            <a:tailEnd type="none" w="sm" len="sm"/>
          </a:ln>
        </p:spPr>
        <p:txBody>
          <a:bodyPr spcFirstLastPara="1" wrap="square" lIns="90000" tIns="46800" rIns="90000" bIns="46800" anchor="t" anchorCtr="0">
            <a:noAutofit/>
          </a:bodyPr>
          <a:lstStyle/>
          <a:p>
            <a:pPr marL="1080000" lvl="0" indent="0" algn="just" rtl="0">
              <a:spcBef>
                <a:spcPts val="0"/>
              </a:spcBef>
              <a:spcAft>
                <a:spcPts val="0"/>
              </a:spcAft>
              <a:buClr>
                <a:schemeClr val="dk1"/>
              </a:buClr>
              <a:buSzPts val="1100"/>
              <a:buFont typeface="Arial"/>
              <a:buNone/>
            </a:pPr>
            <a:endParaRPr sz="11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100">
              <a:solidFill>
                <a:schemeClr val="dk1"/>
              </a:solidFill>
              <a:latin typeface="Book Antiqua"/>
              <a:ea typeface="Book Antiqua"/>
              <a:cs typeface="Book Antiqua"/>
              <a:sym typeface="Book Antiqua"/>
            </a:endParaRPr>
          </a:p>
          <a:p>
            <a:pPr marL="1080000" lvl="0" indent="0" algn="just" rtl="0">
              <a:spcBef>
                <a:spcPts val="0"/>
              </a:spcBef>
              <a:spcAft>
                <a:spcPts val="0"/>
              </a:spcAft>
              <a:buClr>
                <a:schemeClr val="dk1"/>
              </a:buClr>
              <a:buSzPts val="1100"/>
              <a:buFont typeface="Arial"/>
              <a:buNone/>
            </a:pPr>
            <a:endParaRPr sz="1100">
              <a:solidFill>
                <a:schemeClr val="dk1"/>
              </a:solidFill>
              <a:latin typeface="Calibri"/>
              <a:ea typeface="Calibri"/>
              <a:cs typeface="Calibri"/>
              <a:sym typeface="Calibri"/>
            </a:endParaRPr>
          </a:p>
          <a:p>
            <a:pPr marL="165600" lvl="0" indent="0" algn="just"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It is defined in the VLDSYSTEM.PARAMETERS with :</a:t>
            </a:r>
            <a:endParaRPr sz="1100">
              <a:solidFill>
                <a:schemeClr val="dk1"/>
              </a:solidFill>
              <a:latin typeface="Calibri"/>
              <a:ea typeface="Calibri"/>
              <a:cs typeface="Calibri"/>
              <a:sym typeface="Calibri"/>
            </a:endParaRPr>
          </a:p>
          <a:p>
            <a:pPr marL="525599" lvl="0" indent="-249849" algn="l" rtl="0">
              <a:spcBef>
                <a:spcPts val="100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Description: </a:t>
            </a:r>
            <a:r>
              <a:rPr lang="en" sz="1100" b="1">
                <a:solidFill>
                  <a:srgbClr val="0070C0"/>
                </a:solidFill>
                <a:latin typeface="Calibri"/>
                <a:ea typeface="Calibri"/>
                <a:cs typeface="Calibri"/>
                <a:sym typeface="Calibri"/>
              </a:rPr>
              <a:t>Limit for Minimum value for LT Trend (Weekly)</a:t>
            </a:r>
            <a:endParaRPr sz="1100" b="1">
              <a:solidFill>
                <a:schemeClr val="dk1"/>
              </a:solidFill>
              <a:latin typeface="Calibri"/>
              <a:ea typeface="Calibri"/>
              <a:cs typeface="Calibri"/>
              <a:sym typeface="Calibri"/>
            </a:endParaRPr>
          </a:p>
          <a:p>
            <a:pPr marL="525599" lvl="0" indent="-249849"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Comment: </a:t>
            </a:r>
            <a:endParaRPr sz="1100" b="1">
              <a:solidFill>
                <a:srgbClr val="0070C0"/>
              </a:solidFill>
              <a:latin typeface="Calibri"/>
              <a:ea typeface="Calibri"/>
              <a:cs typeface="Calibri"/>
              <a:sym typeface="Calibri"/>
            </a:endParaRPr>
          </a:p>
          <a:p>
            <a:pPr marL="525599" lvl="0" indent="-249849"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Default value = </a:t>
            </a:r>
            <a:r>
              <a:rPr lang="en" sz="1100" b="1">
                <a:solidFill>
                  <a:srgbClr val="0070C0"/>
                </a:solidFill>
                <a:latin typeface="Calibri"/>
                <a:ea typeface="Calibri"/>
                <a:cs typeface="Calibri"/>
                <a:sym typeface="Calibri"/>
              </a:rPr>
              <a:t>0.2</a:t>
            </a:r>
            <a:endParaRPr sz="1100" b="1">
              <a:solidFill>
                <a:srgbClr val="FF0000"/>
              </a:solidFill>
              <a:latin typeface="Calibri"/>
              <a:ea typeface="Calibri"/>
              <a:cs typeface="Calibri"/>
              <a:sym typeface="Calibri"/>
            </a:endParaRPr>
          </a:p>
          <a:p>
            <a:pPr marL="525599" lvl="0" indent="-249849" algn="l" rtl="0">
              <a:spcBef>
                <a:spcPts val="0"/>
              </a:spcBef>
              <a:spcAft>
                <a:spcPts val="0"/>
              </a:spcAft>
              <a:buClr>
                <a:schemeClr val="dk1"/>
              </a:buClr>
              <a:buSzPts val="1100"/>
              <a:buFont typeface="Calibri"/>
              <a:buChar char="●"/>
            </a:pPr>
            <a:r>
              <a:rPr lang="en" sz="1100">
                <a:solidFill>
                  <a:schemeClr val="dk1"/>
                </a:solidFill>
                <a:latin typeface="Calibri"/>
                <a:ea typeface="Calibri"/>
                <a:cs typeface="Calibri"/>
                <a:sym typeface="Calibri"/>
              </a:rPr>
              <a:t>Valid</a:t>
            </a:r>
            <a:r>
              <a:rPr lang="en" sz="1100" b="1">
                <a:solidFill>
                  <a:srgbClr val="FF0000"/>
                </a:solidFill>
                <a:latin typeface="Calibri"/>
                <a:ea typeface="Calibri"/>
                <a:cs typeface="Calibri"/>
                <a:sym typeface="Calibri"/>
              </a:rPr>
              <a:t> </a:t>
            </a:r>
            <a:r>
              <a:rPr lang="en" sz="1100">
                <a:solidFill>
                  <a:schemeClr val="dk1"/>
                </a:solidFill>
                <a:latin typeface="Calibri"/>
                <a:ea typeface="Calibri"/>
                <a:cs typeface="Calibri"/>
                <a:sym typeface="Calibri"/>
              </a:rPr>
              <a:t>values</a:t>
            </a:r>
            <a:r>
              <a:rPr lang="en" sz="1100" b="1">
                <a:solidFill>
                  <a:srgbClr val="FF0000"/>
                </a:solidFill>
                <a:latin typeface="Calibri"/>
                <a:ea typeface="Calibri"/>
                <a:cs typeface="Calibri"/>
                <a:sym typeface="Calibri"/>
              </a:rPr>
              <a:t> </a:t>
            </a:r>
            <a:r>
              <a:rPr lang="en" sz="1100">
                <a:solidFill>
                  <a:schemeClr val="dk1"/>
                </a:solidFill>
                <a:latin typeface="Calibri"/>
                <a:ea typeface="Calibri"/>
                <a:cs typeface="Calibri"/>
                <a:sym typeface="Calibri"/>
              </a:rPr>
              <a:t>are:  </a:t>
            </a:r>
            <a:r>
              <a:rPr lang="en" sz="1100" b="1">
                <a:solidFill>
                  <a:srgbClr val="0070C0"/>
                </a:solidFill>
                <a:latin typeface="Calibri"/>
                <a:ea typeface="Calibri"/>
                <a:cs typeface="Calibri"/>
                <a:sym typeface="Calibri"/>
              </a:rPr>
              <a:t>Any numeric value</a:t>
            </a:r>
            <a:endParaRPr sz="1100" b="1">
              <a:solidFill>
                <a:srgbClr val="0070C0"/>
              </a:solidFill>
              <a:latin typeface="Calibri"/>
              <a:ea typeface="Calibri"/>
              <a:cs typeface="Calibri"/>
              <a:sym typeface="Calibri"/>
            </a:endParaRPr>
          </a:p>
          <a:p>
            <a:pPr marL="457200" lvl="0" indent="0" algn="just" rtl="0">
              <a:spcBef>
                <a:spcPts val="0"/>
              </a:spcBef>
              <a:spcAft>
                <a:spcPts val="0"/>
              </a:spcAft>
              <a:buClr>
                <a:schemeClr val="dk1"/>
              </a:buClr>
              <a:buSzPts val="1100"/>
              <a:buFont typeface="Arial"/>
              <a:buNone/>
            </a:pPr>
            <a:endParaRPr sz="11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1100"/>
              <a:buFont typeface="Arial"/>
              <a:buNone/>
            </a:pPr>
            <a:endParaRPr sz="1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000">
              <a:solidFill>
                <a:schemeClr val="dk1"/>
              </a:solidFill>
              <a:latin typeface="Times New Roman"/>
              <a:ea typeface="Times New Roman"/>
              <a:cs typeface="Times New Roman"/>
              <a:sym typeface="Times New Roman"/>
            </a:endParaRPr>
          </a:p>
          <a:p>
            <a:pPr marL="0" lvl="0" indent="0" algn="l" rtl="0">
              <a:spcBef>
                <a:spcPts val="0"/>
              </a:spcBef>
              <a:spcAft>
                <a:spcPts val="0"/>
              </a:spcAft>
              <a:buClr>
                <a:schemeClr val="dk1"/>
              </a:buClr>
              <a:buSzPts val="1100"/>
              <a:buFont typeface="Arial"/>
              <a:buNone/>
            </a:pPr>
            <a:endParaRPr sz="1100">
              <a:solidFill>
                <a:schemeClr val="dk1"/>
              </a:solidFill>
              <a:latin typeface="Book Antiqua"/>
              <a:ea typeface="Book Antiqua"/>
              <a:cs typeface="Book Antiqua"/>
              <a:sym typeface="Book Antiqua"/>
            </a:endParaRPr>
          </a:p>
          <a:p>
            <a:pPr marL="1080000" lvl="0" indent="0" algn="just" rtl="0">
              <a:spcBef>
                <a:spcPts val="0"/>
              </a:spcBef>
              <a:spcAft>
                <a:spcPts val="0"/>
              </a:spcAft>
              <a:buClr>
                <a:schemeClr val="dk1"/>
              </a:buClr>
              <a:buSzPts val="1100"/>
              <a:buFont typeface="Arial"/>
              <a:buNone/>
            </a:pPr>
            <a:endParaRPr sz="1100">
              <a:solidFill>
                <a:schemeClr val="dk1"/>
              </a:solidFill>
              <a:latin typeface="Calibri"/>
              <a:ea typeface="Calibri"/>
              <a:cs typeface="Calibri"/>
              <a:sym typeface="Calibri"/>
            </a:endParaRPr>
          </a:p>
          <a:p>
            <a:pPr marL="165600" lvl="0" indent="0" algn="just" rtl="0">
              <a:spcBef>
                <a:spcPts val="0"/>
              </a:spcBef>
              <a:spcAft>
                <a:spcPts val="0"/>
              </a:spcAft>
              <a:buClr>
                <a:schemeClr val="dk1"/>
              </a:buClr>
              <a:buSzPts val="1100"/>
              <a:buFont typeface="Arial"/>
              <a:buNone/>
            </a:pPr>
            <a:r>
              <a:rPr lang="en" sz="1100">
                <a:solidFill>
                  <a:schemeClr val="dk1"/>
                </a:solidFill>
                <a:latin typeface="Calibri"/>
                <a:ea typeface="Calibri"/>
                <a:cs typeface="Calibri"/>
                <a:sym typeface="Calibri"/>
              </a:rPr>
              <a:t>It is defined in the VLDSYSTEM.PARAMETERS with :</a:t>
            </a:r>
            <a:endParaRPr sz="1100">
              <a:solidFill>
                <a:schemeClr val="dk1"/>
              </a:solidFill>
              <a:latin typeface="Calibri"/>
              <a:ea typeface="Calibri"/>
              <a:cs typeface="Calibri"/>
              <a:sym typeface="Calibri"/>
            </a:endParaRPr>
          </a:p>
          <a:p>
            <a:pPr marL="525599" lvl="0" indent="-243499" algn="l" rtl="0">
              <a:spcBef>
                <a:spcPts val="1000"/>
              </a:spcBef>
              <a:spcAft>
                <a:spcPts val="0"/>
              </a:spcAft>
              <a:buClr>
                <a:schemeClr val="dk1"/>
              </a:buClr>
              <a:buSzPts val="1000"/>
              <a:buFont typeface="Calibri"/>
              <a:buChar char="●"/>
            </a:pPr>
            <a:r>
              <a:rPr lang="en" sz="1100">
                <a:solidFill>
                  <a:schemeClr val="dk1"/>
                </a:solidFill>
                <a:latin typeface="Calibri"/>
                <a:ea typeface="Calibri"/>
                <a:cs typeface="Calibri"/>
                <a:sym typeface="Calibri"/>
              </a:rPr>
              <a:t>Description: </a:t>
            </a:r>
            <a:r>
              <a:rPr lang="en" sz="1100" b="1">
                <a:solidFill>
                  <a:srgbClr val="0070C0"/>
                </a:solidFill>
                <a:latin typeface="Calibri"/>
                <a:ea typeface="Calibri"/>
                <a:cs typeface="Calibri"/>
                <a:sym typeface="Calibri"/>
              </a:rPr>
              <a:t>Limit for Maximum value for LT Trend (Weekly)</a:t>
            </a:r>
            <a:endParaRPr sz="1100" b="1">
              <a:solidFill>
                <a:schemeClr val="dk1"/>
              </a:solidFill>
              <a:latin typeface="Calibri"/>
              <a:ea typeface="Calibri"/>
              <a:cs typeface="Calibri"/>
              <a:sym typeface="Calibri"/>
            </a:endParaRPr>
          </a:p>
          <a:p>
            <a:pPr marL="525599" lvl="0" indent="-243499" algn="l" rtl="0">
              <a:spcBef>
                <a:spcPts val="0"/>
              </a:spcBef>
              <a:spcAft>
                <a:spcPts val="0"/>
              </a:spcAft>
              <a:buClr>
                <a:schemeClr val="dk1"/>
              </a:buClr>
              <a:buSzPts val="1000"/>
              <a:buFont typeface="Calibri"/>
              <a:buChar char="●"/>
            </a:pPr>
            <a:r>
              <a:rPr lang="en" sz="1100">
                <a:solidFill>
                  <a:schemeClr val="dk1"/>
                </a:solidFill>
                <a:latin typeface="Calibri"/>
                <a:ea typeface="Calibri"/>
                <a:cs typeface="Calibri"/>
                <a:sym typeface="Calibri"/>
              </a:rPr>
              <a:t>Comment: </a:t>
            </a:r>
            <a:endParaRPr sz="1100" b="1">
              <a:solidFill>
                <a:srgbClr val="0070C0"/>
              </a:solidFill>
              <a:latin typeface="Calibri"/>
              <a:ea typeface="Calibri"/>
              <a:cs typeface="Calibri"/>
              <a:sym typeface="Calibri"/>
            </a:endParaRPr>
          </a:p>
          <a:p>
            <a:pPr marL="525599" lvl="0" indent="-243499" algn="l" rtl="0">
              <a:spcBef>
                <a:spcPts val="0"/>
              </a:spcBef>
              <a:spcAft>
                <a:spcPts val="0"/>
              </a:spcAft>
              <a:buClr>
                <a:schemeClr val="dk1"/>
              </a:buClr>
              <a:buSzPts val="1000"/>
              <a:buFont typeface="Calibri"/>
              <a:buChar char="●"/>
            </a:pPr>
            <a:r>
              <a:rPr lang="en" sz="1100">
                <a:solidFill>
                  <a:schemeClr val="dk1"/>
                </a:solidFill>
                <a:latin typeface="Calibri"/>
                <a:ea typeface="Calibri"/>
                <a:cs typeface="Calibri"/>
                <a:sym typeface="Calibri"/>
              </a:rPr>
              <a:t>Default value = </a:t>
            </a:r>
            <a:r>
              <a:rPr lang="en" sz="1100" b="1">
                <a:solidFill>
                  <a:srgbClr val="0070C0"/>
                </a:solidFill>
                <a:latin typeface="Calibri"/>
                <a:ea typeface="Calibri"/>
                <a:cs typeface="Calibri"/>
                <a:sym typeface="Calibri"/>
              </a:rPr>
              <a:t>5</a:t>
            </a:r>
            <a:endParaRPr sz="1100" b="1">
              <a:solidFill>
                <a:srgbClr val="FF0000"/>
              </a:solidFill>
              <a:latin typeface="Calibri"/>
              <a:ea typeface="Calibri"/>
              <a:cs typeface="Calibri"/>
              <a:sym typeface="Calibri"/>
            </a:endParaRPr>
          </a:p>
          <a:p>
            <a:pPr marL="525599" lvl="0" indent="-243499" algn="l" rtl="0">
              <a:spcBef>
                <a:spcPts val="0"/>
              </a:spcBef>
              <a:spcAft>
                <a:spcPts val="0"/>
              </a:spcAft>
              <a:buClr>
                <a:schemeClr val="dk1"/>
              </a:buClr>
              <a:buSzPts val="1000"/>
              <a:buFont typeface="Calibri"/>
              <a:buChar char="●"/>
            </a:pPr>
            <a:r>
              <a:rPr lang="en" sz="1100">
                <a:solidFill>
                  <a:schemeClr val="dk1"/>
                </a:solidFill>
                <a:latin typeface="Calibri"/>
                <a:ea typeface="Calibri"/>
                <a:cs typeface="Calibri"/>
                <a:sym typeface="Calibri"/>
              </a:rPr>
              <a:t>Valid</a:t>
            </a:r>
            <a:r>
              <a:rPr lang="en" sz="1100" b="1">
                <a:solidFill>
                  <a:srgbClr val="FF0000"/>
                </a:solidFill>
                <a:latin typeface="Calibri"/>
                <a:ea typeface="Calibri"/>
                <a:cs typeface="Calibri"/>
                <a:sym typeface="Calibri"/>
              </a:rPr>
              <a:t> </a:t>
            </a:r>
            <a:r>
              <a:rPr lang="en" sz="1100">
                <a:solidFill>
                  <a:schemeClr val="dk1"/>
                </a:solidFill>
                <a:latin typeface="Calibri"/>
                <a:ea typeface="Calibri"/>
                <a:cs typeface="Calibri"/>
                <a:sym typeface="Calibri"/>
              </a:rPr>
              <a:t>values</a:t>
            </a:r>
            <a:r>
              <a:rPr lang="en" sz="1100" b="1">
                <a:solidFill>
                  <a:srgbClr val="FF0000"/>
                </a:solidFill>
                <a:latin typeface="Calibri"/>
                <a:ea typeface="Calibri"/>
                <a:cs typeface="Calibri"/>
                <a:sym typeface="Calibri"/>
              </a:rPr>
              <a:t> </a:t>
            </a:r>
            <a:r>
              <a:rPr lang="en" sz="1100">
                <a:solidFill>
                  <a:schemeClr val="dk1"/>
                </a:solidFill>
                <a:latin typeface="Calibri"/>
                <a:ea typeface="Calibri"/>
                <a:cs typeface="Calibri"/>
                <a:sym typeface="Calibri"/>
              </a:rPr>
              <a:t>are:  </a:t>
            </a:r>
            <a:r>
              <a:rPr lang="en" sz="1100" b="1">
                <a:solidFill>
                  <a:srgbClr val="0070C0"/>
                </a:solidFill>
                <a:latin typeface="Calibri"/>
                <a:ea typeface="Calibri"/>
                <a:cs typeface="Calibri"/>
                <a:sym typeface="Calibri"/>
              </a:rPr>
              <a:t>Any numeric value</a:t>
            </a:r>
            <a:endParaRPr sz="1600">
              <a:solidFill>
                <a:schemeClr val="dk1"/>
              </a:solidFill>
              <a:latin typeface="Calibri"/>
              <a:ea typeface="Calibri"/>
              <a:cs typeface="Calibri"/>
              <a:sym typeface="Calibri"/>
            </a:endParaRPr>
          </a:p>
          <a:p>
            <a:pPr marL="457200" marR="0" lvl="0" indent="0" algn="l" rtl="0">
              <a:lnSpc>
                <a:spcPct val="100000"/>
              </a:lnSpc>
              <a:spcBef>
                <a:spcPts val="0"/>
              </a:spcBef>
              <a:spcAft>
                <a:spcPts val="0"/>
              </a:spcAft>
              <a:buNone/>
            </a:pPr>
            <a:endParaRPr sz="1500">
              <a:latin typeface="Calibri"/>
              <a:ea typeface="Calibri"/>
              <a:cs typeface="Calibri"/>
              <a:sym typeface="Calibri"/>
            </a:endParaRPr>
          </a:p>
        </p:txBody>
      </p:sp>
      <p:sp>
        <p:nvSpPr>
          <p:cNvPr id="1410" name="Google Shape;1410;p180"/>
          <p:cNvSpPr txBox="1"/>
          <p:nvPr/>
        </p:nvSpPr>
        <p:spPr>
          <a:xfrm>
            <a:off x="277630" y="52550"/>
            <a:ext cx="37875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a:solidFill>
                  <a:srgbClr val="0082D1"/>
                </a:solidFill>
                <a:latin typeface="Calibri"/>
                <a:ea typeface="Calibri"/>
                <a:cs typeface="Calibri"/>
                <a:sym typeface="Calibri"/>
              </a:rPr>
              <a:t>FOVA LT Bounds Limits</a:t>
            </a:r>
            <a:endParaRPr sz="2400" b="0" i="0" u="none" strike="noStrike" cap="none">
              <a:solidFill>
                <a:srgbClr val="000000"/>
              </a:solidFill>
              <a:latin typeface="Calibri"/>
              <a:ea typeface="Calibri"/>
              <a:cs typeface="Calibri"/>
              <a:sym typeface="Calibri"/>
            </a:endParaRPr>
          </a:p>
        </p:txBody>
      </p:sp>
      <p:sp>
        <p:nvSpPr>
          <p:cNvPr id="1411" name="Google Shape;1411;p180"/>
          <p:cNvSpPr/>
          <p:nvPr/>
        </p:nvSpPr>
        <p:spPr>
          <a:xfrm>
            <a:off x="7062200" y="78950"/>
            <a:ext cx="14826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a:solidFill>
                  <a:schemeClr val="lt1"/>
                </a:solidFill>
              </a:rPr>
              <a:t>Oct </a:t>
            </a:r>
            <a:r>
              <a:rPr lang="en" sz="1800" b="0" i="0" u="none" strike="noStrike" cap="none">
                <a:solidFill>
                  <a:schemeClr val="lt1"/>
                </a:solidFill>
                <a:latin typeface="Arial"/>
                <a:ea typeface="Arial"/>
                <a:cs typeface="Arial"/>
                <a:sym typeface="Arial"/>
              </a:rPr>
              <a:t>’</a:t>
            </a:r>
            <a:r>
              <a:rPr lang="en" sz="1800">
                <a:solidFill>
                  <a:schemeClr val="lt1"/>
                </a:solidFill>
              </a:rPr>
              <a:t>21</a:t>
            </a:r>
            <a:r>
              <a:rPr lang="en" sz="1800" b="0" i="0" u="none" strike="noStrike" cap="none">
                <a:solidFill>
                  <a:schemeClr val="lt1"/>
                </a:solidFill>
                <a:latin typeface="Arial"/>
                <a:ea typeface="Arial"/>
                <a:cs typeface="Arial"/>
                <a:sym typeface="Arial"/>
              </a:rPr>
              <a:t> CR</a:t>
            </a:r>
            <a:endParaRPr sz="1800" b="0" i="0" u="none" strike="noStrike" cap="none">
              <a:solidFill>
                <a:schemeClr val="lt1"/>
              </a:solidFill>
              <a:latin typeface="Arial"/>
              <a:ea typeface="Arial"/>
              <a:cs typeface="Arial"/>
              <a:sym typeface="Arial"/>
            </a:endParaRPr>
          </a:p>
        </p:txBody>
      </p:sp>
      <p:sp>
        <p:nvSpPr>
          <p:cNvPr id="1412" name="Google Shape;1412;p180"/>
          <p:cNvSpPr/>
          <p:nvPr/>
        </p:nvSpPr>
        <p:spPr>
          <a:xfrm>
            <a:off x="359425" y="718850"/>
            <a:ext cx="7238100" cy="223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1"/>
              </a:buClr>
              <a:buSzPts val="1100"/>
              <a:buFont typeface="Arial"/>
              <a:buNone/>
            </a:pPr>
            <a:r>
              <a:rPr lang="en" sz="1100" b="1">
                <a:solidFill>
                  <a:srgbClr val="0070C0"/>
                </a:solidFill>
                <a:latin typeface="Calibri"/>
                <a:ea typeface="Calibri"/>
                <a:cs typeface="Calibri"/>
                <a:sym typeface="Calibri"/>
              </a:rPr>
              <a:t>Process FOVA - TREND_W_LOW_LIMIT</a:t>
            </a:r>
            <a:endParaRPr/>
          </a:p>
        </p:txBody>
      </p:sp>
      <p:sp>
        <p:nvSpPr>
          <p:cNvPr id="1413" name="Google Shape;1413;p180"/>
          <p:cNvSpPr/>
          <p:nvPr/>
        </p:nvSpPr>
        <p:spPr>
          <a:xfrm>
            <a:off x="449850" y="2523913"/>
            <a:ext cx="7238100" cy="223200"/>
          </a:xfrm>
          <a:prstGeom prst="rect">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rgbClr val="0070C0"/>
                </a:solidFill>
                <a:latin typeface="Calibri"/>
                <a:ea typeface="Calibri"/>
                <a:cs typeface="Calibri"/>
                <a:sym typeface="Calibri"/>
              </a:rPr>
              <a:t>Process FOVA - TREND_W_HIGH_LIMIT</a:t>
            </a:r>
            <a:endParaRPr/>
          </a:p>
        </p:txBody>
      </p:sp>
    </p:spTree>
  </p:cSld>
  <p:clrMapOvr>
    <a:overrideClrMapping bg1="lt1" tx1="dk1" bg2="lt2" tx2="dk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17"/>
        <p:cNvGrpSpPr/>
        <p:nvPr/>
      </p:nvGrpSpPr>
      <p:grpSpPr>
        <a:xfrm>
          <a:off x="0" y="0"/>
          <a:ext cx="0" cy="0"/>
          <a:chOff x="0" y="0"/>
          <a:chExt cx="0" cy="0"/>
        </a:xfrm>
      </p:grpSpPr>
      <p:sp>
        <p:nvSpPr>
          <p:cNvPr id="1418" name="Google Shape;1418;p181"/>
          <p:cNvSpPr txBox="1">
            <a:spLocks noGrp="1"/>
          </p:cNvSpPr>
          <p:nvPr>
            <p:ph type="title"/>
          </p:nvPr>
        </p:nvSpPr>
        <p:spPr>
          <a:xfrm>
            <a:off x="365125" y="228005"/>
            <a:ext cx="8166000" cy="3216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Clr>
                <a:schemeClr val="dk1"/>
              </a:buClr>
              <a:buFont typeface="Arial"/>
              <a:buNone/>
            </a:pPr>
            <a:r>
              <a:rPr lang="en">
                <a:solidFill>
                  <a:schemeClr val="dk1"/>
                </a:solidFill>
              </a:rPr>
              <a:t>APPENDIX</a:t>
            </a:r>
            <a:endParaRPr sz="3000" i="0" u="none" strike="noStrike" cap="none">
              <a:solidFill>
                <a:schemeClr val="dk2"/>
              </a:solidFill>
            </a:endParaRPr>
          </a:p>
        </p:txBody>
      </p:sp>
      <p:sp>
        <p:nvSpPr>
          <p:cNvPr id="1419" name="Google Shape;1419;p181"/>
          <p:cNvSpPr txBox="1"/>
          <p:nvPr/>
        </p:nvSpPr>
        <p:spPr>
          <a:xfrm>
            <a:off x="365125" y="606850"/>
            <a:ext cx="7863000" cy="4392600"/>
          </a:xfrm>
          <a:prstGeom prst="rect">
            <a:avLst/>
          </a:prstGeom>
          <a:noFill/>
          <a:ln>
            <a:noFill/>
          </a:ln>
        </p:spPr>
        <p:txBody>
          <a:bodyPr spcFirstLastPara="1" wrap="square" lIns="91425" tIns="45700" rIns="91425" bIns="45700" anchor="t" anchorCtr="0">
            <a:noAutofit/>
          </a:bodyPr>
          <a:lstStyle/>
          <a:p>
            <a:pPr>
              <a:lnSpc>
                <a:spcPct val="115000"/>
              </a:lnSpc>
              <a:spcBef>
                <a:spcPts val="700"/>
              </a:spcBef>
            </a:pPr>
            <a:r>
              <a:rPr lang="en" sz="1200">
                <a:latin typeface="Open Sans"/>
                <a:ea typeface="Open Sans"/>
                <a:cs typeface="Open Sans"/>
                <a:sym typeface="Open Sans"/>
              </a:rPr>
              <a:t>Useful Links </a:t>
            </a:r>
            <a:endParaRPr sz="1200">
              <a:latin typeface="Open Sans"/>
              <a:ea typeface="Open Sans"/>
              <a:cs typeface="Open Sans"/>
              <a:sym typeface="Open Sans"/>
            </a:endParaRPr>
          </a:p>
          <a:p>
            <a:pPr marL="0" lvl="0" indent="0" algn="l" rtl="0">
              <a:lnSpc>
                <a:spcPct val="115000"/>
              </a:lnSpc>
              <a:spcBef>
                <a:spcPts val="1000"/>
              </a:spcBef>
              <a:spcAft>
                <a:spcPts val="0"/>
              </a:spcAft>
              <a:buNone/>
            </a:pPr>
            <a:r>
              <a:rPr lang="en" u="sng">
                <a:solidFill>
                  <a:schemeClr val="hlink"/>
                </a:solidFill>
                <a:latin typeface="Open Sans"/>
                <a:ea typeface="Open Sans"/>
                <a:cs typeface="Open Sans"/>
                <a:sym typeface="Open Sans"/>
                <a:hlinkClick r:id="rId4"/>
              </a:rPr>
              <a:t>Job Scheduler</a:t>
            </a:r>
            <a:endParaRPr>
              <a:solidFill>
                <a:schemeClr val="hlink"/>
              </a:solidFill>
              <a:latin typeface="Open Sans"/>
              <a:ea typeface="Open Sans"/>
              <a:cs typeface="Open Sans"/>
              <a:sym typeface="Open Sans"/>
              <a:hlinkClick r:id="rId4"/>
            </a:endParaRPr>
          </a:p>
          <a:p>
            <a:pPr marL="0" lvl="0" indent="0" algn="l" rtl="0">
              <a:spcBef>
                <a:spcPts val="1000"/>
              </a:spcBef>
              <a:spcAft>
                <a:spcPts val="0"/>
              </a:spcAft>
              <a:buNone/>
            </a:pPr>
            <a:r>
              <a:rPr lang="en" u="sng">
                <a:solidFill>
                  <a:schemeClr val="accent2"/>
                </a:solidFill>
                <a:latin typeface="Open Sans"/>
                <a:ea typeface="Open Sans"/>
                <a:cs typeface="Open Sans"/>
                <a:sym typeface="Open Sans"/>
                <a:hlinkClick r:id="rId5"/>
              </a:rPr>
              <a:t>Specification for dynamic calculation of FoVa parameters</a:t>
            </a:r>
            <a:endParaRPr>
              <a:solidFill>
                <a:schemeClr val="accent2"/>
              </a:solidFill>
              <a:latin typeface="Open Sans"/>
              <a:ea typeface="Open Sans"/>
              <a:cs typeface="Open Sans"/>
              <a:sym typeface="Open Sans"/>
              <a:hlinkClick r:id="rId5"/>
            </a:endParaRPr>
          </a:p>
          <a:p>
            <a:pPr marL="0" lvl="0" indent="0" algn="l" rtl="0">
              <a:spcBef>
                <a:spcPts val="0"/>
              </a:spcBef>
              <a:spcAft>
                <a:spcPts val="0"/>
              </a:spcAft>
              <a:buNone/>
            </a:pPr>
            <a:endParaRPr>
              <a:latin typeface="Open Sans"/>
              <a:ea typeface="Open Sans"/>
              <a:cs typeface="Open Sans"/>
              <a:sym typeface="Open Sans"/>
            </a:endParaRPr>
          </a:p>
          <a:p>
            <a:pPr marL="0" lvl="0" indent="0" algn="l" rtl="0">
              <a:spcBef>
                <a:spcPts val="0"/>
              </a:spcBef>
              <a:spcAft>
                <a:spcPts val="0"/>
              </a:spcAft>
              <a:buClr>
                <a:schemeClr val="dk1"/>
              </a:buClr>
              <a:buSzPts val="1100"/>
              <a:buFont typeface="Arial"/>
              <a:buNone/>
            </a:pPr>
            <a:r>
              <a:rPr lang="en" u="sng">
                <a:solidFill>
                  <a:schemeClr val="accent2"/>
                </a:solidFill>
                <a:latin typeface="Open Sans"/>
                <a:ea typeface="Open Sans"/>
                <a:cs typeface="Open Sans"/>
                <a:sym typeface="Open Sans"/>
                <a:hlinkClick r:id="rId6"/>
              </a:rPr>
              <a:t>Formal Validation for Volumetric data</a:t>
            </a:r>
            <a:endParaRPr>
              <a:solidFill>
                <a:schemeClr val="accent2"/>
              </a:solidFill>
              <a:latin typeface="Open Sans"/>
              <a:ea typeface="Open Sans"/>
              <a:cs typeface="Open Sans"/>
              <a:sym typeface="Open Sans"/>
              <a:hlinkClick r:id="rId6"/>
            </a:endParaRPr>
          </a:p>
          <a:p>
            <a:pPr marL="0" lvl="0" indent="0" algn="l">
              <a:spcAft>
                <a:spcPts val="0"/>
              </a:spcAft>
              <a:buSzPts val="1100"/>
              <a:buNone/>
            </a:pPr>
            <a:endParaRPr lang="en" u="sng">
              <a:solidFill>
                <a:schemeClr val="accent2"/>
              </a:solidFill>
              <a:latin typeface="Open Sans"/>
              <a:ea typeface="Open Sans"/>
              <a:cs typeface="Open Sans"/>
            </a:endParaRPr>
          </a:p>
          <a:p>
            <a:pPr>
              <a:buSzPts val="1100"/>
            </a:pPr>
            <a:r>
              <a:rPr lang="en" u="sng">
                <a:solidFill>
                  <a:schemeClr val="accent2"/>
                </a:solidFill>
                <a:latin typeface="Open Sans"/>
                <a:ea typeface="Open Sans"/>
                <a:cs typeface="Open Sans"/>
                <a:hlinkClick r:id="rId7"/>
              </a:rPr>
              <a:t>Store Validation Guideline</a:t>
            </a:r>
          </a:p>
          <a:p>
            <a:pPr marL="0" lvl="0" indent="0" algn="l" rtl="0">
              <a:lnSpc>
                <a:spcPct val="115000"/>
              </a:lnSpc>
              <a:spcBef>
                <a:spcPts val="700"/>
              </a:spcBef>
              <a:spcAft>
                <a:spcPts val="0"/>
              </a:spcAft>
              <a:buNone/>
            </a:pPr>
            <a:endParaRPr sz="1200">
              <a:latin typeface="Open Sans"/>
              <a:ea typeface="Open Sans"/>
              <a:cs typeface="Open Sans"/>
            </a:endParaRPr>
          </a:p>
          <a:p>
            <a:pPr marL="0" lvl="0" indent="0" algn="l" rtl="0">
              <a:lnSpc>
                <a:spcPct val="115000"/>
              </a:lnSpc>
              <a:spcBef>
                <a:spcPts val="1000"/>
              </a:spcBef>
              <a:spcAft>
                <a:spcPts val="0"/>
              </a:spcAft>
              <a:buClr>
                <a:schemeClr val="dk1"/>
              </a:buClr>
              <a:buFont typeface="Arial"/>
              <a:buNone/>
            </a:pPr>
            <a:endParaRPr sz="1200">
              <a:latin typeface="Open Sans"/>
              <a:ea typeface="Open Sans"/>
              <a:cs typeface="Open Sans"/>
            </a:endParaRPr>
          </a:p>
          <a:p>
            <a:pPr marL="0" lvl="0" indent="0" algn="l" rtl="0">
              <a:spcBef>
                <a:spcPts val="1000"/>
              </a:spcBef>
              <a:spcAft>
                <a:spcPts val="0"/>
              </a:spcAft>
              <a:buClr>
                <a:schemeClr val="dk1"/>
              </a:buClr>
              <a:buSzPts val="1100"/>
              <a:buFont typeface="Arial"/>
              <a:buNone/>
            </a:pPr>
            <a:endParaRPr sz="1200">
              <a:latin typeface="Open Sans"/>
              <a:ea typeface="Open Sans"/>
              <a:cs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Clr>
                <a:schemeClr val="dk1"/>
              </a:buClr>
              <a:buSzPts val="1100"/>
              <a:buFont typeface="Arial"/>
              <a:buNone/>
            </a:pPr>
            <a:endParaRPr sz="1200">
              <a:latin typeface="Open Sans"/>
              <a:ea typeface="Open Sans"/>
              <a:cs typeface="Open Sans"/>
              <a:sym typeface="Open Sans"/>
            </a:endParaRPr>
          </a:p>
          <a:p>
            <a:pPr marL="0" lvl="0" indent="0" algn="l" rtl="0">
              <a:spcBef>
                <a:spcPts val="700"/>
              </a:spcBef>
              <a:spcAft>
                <a:spcPts val="0"/>
              </a:spcAft>
              <a:buSzPts val="1100"/>
              <a:buNone/>
            </a:pPr>
            <a:endParaRPr sz="1200">
              <a:latin typeface="Open Sans"/>
              <a:ea typeface="Open Sans"/>
              <a:cs typeface="Open Sans"/>
            </a:endParaRPr>
          </a:p>
          <a:p>
            <a:pPr>
              <a:spcBef>
                <a:spcPts val="700"/>
              </a:spcBef>
            </a:pPr>
            <a:endParaRPr lang="en-US" sz="1200">
              <a:latin typeface="Open Sans"/>
              <a:ea typeface="Open Sans"/>
              <a:cs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3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25"/>
        <p:cNvGrpSpPr/>
        <p:nvPr/>
      </p:nvGrpSpPr>
      <p:grpSpPr>
        <a:xfrm>
          <a:off x="0" y="0"/>
          <a:ext cx="0" cy="0"/>
          <a:chOff x="0" y="0"/>
          <a:chExt cx="0" cy="0"/>
        </a:xfrm>
      </p:grpSpPr>
      <p:sp>
        <p:nvSpPr>
          <p:cNvPr id="1426" name="Google Shape;1426;p182"/>
          <p:cNvSpPr/>
          <p:nvPr/>
        </p:nvSpPr>
        <p:spPr>
          <a:xfrm>
            <a:off x="6173787" y="4270177"/>
            <a:ext cx="823800" cy="14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427" name="Google Shape;1427;p182"/>
          <p:cNvSpPr/>
          <p:nvPr/>
        </p:nvSpPr>
        <p:spPr>
          <a:xfrm>
            <a:off x="502775" y="814388"/>
            <a:ext cx="7913700" cy="33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428" name="Google Shape;1428;p182"/>
          <p:cNvSpPr txBox="1"/>
          <p:nvPr/>
        </p:nvSpPr>
        <p:spPr>
          <a:xfrm>
            <a:off x="277625" y="492467"/>
            <a:ext cx="8675400" cy="4389600"/>
          </a:xfrm>
          <a:prstGeom prst="rect">
            <a:avLst/>
          </a:prstGeom>
          <a:noFill/>
          <a:ln w="9525" cap="sq" cmpd="sng">
            <a:solidFill>
              <a:srgbClr val="FFFFFF"/>
            </a:solidFill>
            <a:prstDash val="solid"/>
            <a:round/>
            <a:headEnd type="none" w="sm" len="sm"/>
            <a:tailEnd type="none" w="sm" len="sm"/>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500" b="1" i="0" u="none" strike="noStrike" cap="none">
                <a:latin typeface="Calibri"/>
                <a:ea typeface="Calibri"/>
                <a:cs typeface="Calibri"/>
                <a:sym typeface="Calibri"/>
              </a:rPr>
              <a:t>Introduction </a:t>
            </a:r>
            <a:r>
              <a:rPr lang="en" sz="1500" b="1" i="0" u="none" strike="noStrike" cap="none">
                <a:solidFill>
                  <a:srgbClr val="5F5F5F"/>
                </a:solidFill>
                <a:latin typeface="Calibri"/>
                <a:ea typeface="Calibri"/>
                <a:cs typeface="Calibri"/>
                <a:sym typeface="Calibri"/>
              </a:rPr>
              <a:t>:</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1200" b="1" i="0" u="none" strike="noStrike" cap="none">
              <a:solidFill>
                <a:srgbClr val="5F5F5F"/>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Small Store FOVA validation process is the newly introduced validation process within existing FOVA process.</a:t>
            </a:r>
            <a:endParaRPr sz="1100" b="0"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rgbClr val="5F5F5F"/>
              </a:buClr>
              <a:buSzPts val="1800"/>
              <a:buFont typeface="Arial"/>
              <a:buNone/>
            </a:pPr>
            <a:endParaRPr sz="1500" b="0" i="0" u="none" strike="noStrike" cap="none">
              <a:solidFill>
                <a:srgbClr val="28292A"/>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It Includes enhancement on validation for ‘Small Stores’ (parametric driven – refer slide 28) &amp; enhancement on existing FOVA process.</a:t>
            </a:r>
            <a:endParaRPr sz="1100" b="0"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rgbClr val="5F5F5F"/>
              </a:buClr>
              <a:buSzPts val="1800"/>
              <a:buFont typeface="Arial"/>
              <a:buNone/>
            </a:pPr>
            <a:endParaRPr sz="1500" b="0" i="0" u="none" strike="noStrike" cap="none">
              <a:solidFill>
                <a:srgbClr val="28292A"/>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This enhancement performs validation by using the New LT Trend Test which is updated version of existing Trend Check (New </a:t>
            </a:r>
            <a:r>
              <a:rPr lang="en" sz="1500" b="0" i="0" u="none" strike="noStrike" cap="none" err="1">
                <a:solidFill>
                  <a:srgbClr val="28292A"/>
                </a:solidFill>
                <a:latin typeface="Calibri"/>
                <a:ea typeface="Calibri"/>
                <a:cs typeface="Calibri"/>
                <a:sym typeface="Calibri"/>
              </a:rPr>
              <a:t>Fova</a:t>
            </a:r>
            <a:r>
              <a:rPr lang="en" sz="1500" b="0" i="0" u="none" strike="noStrike" cap="none">
                <a:solidFill>
                  <a:srgbClr val="28292A"/>
                </a:solidFill>
                <a:latin typeface="Calibri"/>
                <a:ea typeface="Calibri"/>
                <a:cs typeface="Calibri"/>
                <a:sym typeface="Calibri"/>
              </a:rPr>
              <a:t> Algorithm).</a:t>
            </a:r>
            <a:endParaRPr sz="1100" b="0"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rgbClr val="5F5F5F"/>
              </a:buClr>
              <a:buSzPts val="1800"/>
              <a:buFont typeface="Arial"/>
              <a:buNone/>
            </a:pPr>
            <a:endParaRPr sz="1500" b="0" i="0" u="none" strike="noStrike" cap="none">
              <a:solidFill>
                <a:srgbClr val="28292A"/>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New LT Trend Test can work only if country is using New </a:t>
            </a:r>
            <a:r>
              <a:rPr lang="en" sz="1500" b="0" i="0" u="none" strike="noStrike" cap="none" err="1">
                <a:solidFill>
                  <a:srgbClr val="28292A"/>
                </a:solidFill>
                <a:latin typeface="Calibri"/>
                <a:ea typeface="Calibri"/>
                <a:cs typeface="Calibri"/>
                <a:sym typeface="Calibri"/>
              </a:rPr>
              <a:t>Fova</a:t>
            </a:r>
            <a:r>
              <a:rPr lang="en" sz="1500" b="0" i="0" u="none" strike="noStrike" cap="none">
                <a:solidFill>
                  <a:srgbClr val="28292A"/>
                </a:solidFill>
                <a:latin typeface="Calibri"/>
                <a:ea typeface="Calibri"/>
                <a:cs typeface="Calibri"/>
                <a:sym typeface="Calibri"/>
              </a:rPr>
              <a:t>.</a:t>
            </a:r>
            <a:endParaRPr sz="1100" b="0"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rgbClr val="5F5F5F"/>
              </a:buClr>
              <a:buSzPts val="1800"/>
              <a:buFont typeface="Arial"/>
              <a:buNone/>
            </a:pPr>
            <a:endParaRPr sz="1500" b="0" i="0" u="none" strike="noStrike" cap="none">
              <a:solidFill>
                <a:srgbClr val="28292A"/>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It uses data populated by “FOVA </a:t>
            </a:r>
            <a:r>
              <a:rPr lang="en" sz="1500">
                <a:solidFill>
                  <a:srgbClr val="28292A"/>
                </a:solidFill>
                <a:latin typeface="Calibri"/>
                <a:ea typeface="Calibri"/>
                <a:cs typeface="Calibri"/>
                <a:sym typeface="Calibri"/>
              </a:rPr>
              <a:t>Parameter</a:t>
            </a:r>
            <a:r>
              <a:rPr lang="en" sz="1500" b="0" i="0" u="none" strike="noStrike" cap="none">
                <a:solidFill>
                  <a:srgbClr val="28292A"/>
                </a:solidFill>
                <a:latin typeface="Calibri"/>
                <a:ea typeface="Calibri"/>
                <a:cs typeface="Calibri"/>
                <a:sym typeface="Calibri"/>
              </a:rPr>
              <a:t> LT” &amp; “FOVA parameters”.</a:t>
            </a:r>
            <a:endParaRPr sz="1100" b="0"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rgbClr val="5F5F5F"/>
              </a:buClr>
              <a:buSzPts val="1800"/>
              <a:buFont typeface="Arial"/>
              <a:buNone/>
            </a:pPr>
            <a:endParaRPr sz="1500" b="0" i="0" u="none" strike="noStrike" cap="none">
              <a:solidFill>
                <a:srgbClr val="28292A"/>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LT Trend Test uses 2 Years of </a:t>
            </a:r>
            <a:r>
              <a:rPr lang="en" sz="1500" b="0" i="0" u="none" strike="noStrike" cap="none" err="1">
                <a:solidFill>
                  <a:srgbClr val="28292A"/>
                </a:solidFill>
                <a:latin typeface="Calibri"/>
                <a:ea typeface="Calibri"/>
                <a:cs typeface="Calibri"/>
                <a:sym typeface="Calibri"/>
              </a:rPr>
              <a:t>backdata</a:t>
            </a:r>
            <a:r>
              <a:rPr lang="en" sz="1500" b="0" i="0" u="none" strike="noStrike" cap="none">
                <a:solidFill>
                  <a:srgbClr val="28292A"/>
                </a:solidFill>
                <a:latin typeface="Calibri"/>
                <a:ea typeface="Calibri"/>
                <a:cs typeface="Calibri"/>
                <a:sym typeface="Calibri"/>
              </a:rPr>
              <a:t> to validate the store and hence for country implementing this </a:t>
            </a:r>
            <a:r>
              <a:rPr lang="en" sz="1500">
                <a:solidFill>
                  <a:srgbClr val="28292A"/>
                </a:solidFill>
                <a:latin typeface="Calibri"/>
                <a:ea typeface="Calibri"/>
                <a:cs typeface="Calibri"/>
                <a:sym typeface="Calibri"/>
              </a:rPr>
              <a:t>enhancement</a:t>
            </a:r>
            <a:r>
              <a:rPr lang="en" sz="1500" b="0" i="0" u="none" strike="noStrike" cap="none">
                <a:solidFill>
                  <a:srgbClr val="28292A"/>
                </a:solidFill>
                <a:latin typeface="Calibri"/>
                <a:ea typeface="Calibri"/>
                <a:cs typeface="Calibri"/>
                <a:sym typeface="Calibri"/>
              </a:rPr>
              <a:t> freshly should run FOVA Parameter LT for 104 back periods.</a:t>
            </a:r>
            <a:endParaRPr sz="1100" b="0" i="0" u="none" strike="noStrike" cap="none">
              <a:solidFill>
                <a:srgbClr val="000000"/>
              </a:solidFill>
              <a:latin typeface="Arial"/>
              <a:ea typeface="Arial"/>
              <a:cs typeface="Arial"/>
              <a:sym typeface="Arial"/>
            </a:endParaRPr>
          </a:p>
          <a:p>
            <a:pPr marL="400050" marR="0" lvl="0" indent="-171450" algn="l" rtl="0">
              <a:lnSpc>
                <a:spcPct val="100000"/>
              </a:lnSpc>
              <a:spcBef>
                <a:spcPts val="0"/>
              </a:spcBef>
              <a:spcAft>
                <a:spcPts val="0"/>
              </a:spcAft>
              <a:buClr>
                <a:srgbClr val="5F5F5F"/>
              </a:buClr>
              <a:buSzPts val="1800"/>
              <a:buFont typeface="Arial"/>
              <a:buNone/>
            </a:pPr>
            <a:endParaRPr sz="1500" b="0" i="0" u="none" strike="noStrike" cap="none">
              <a:solidFill>
                <a:srgbClr val="28292A"/>
              </a:solidFill>
              <a:latin typeface="Calibri"/>
              <a:ea typeface="Calibri"/>
              <a:cs typeface="Calibri"/>
              <a:sym typeface="Calibri"/>
            </a:endParaRPr>
          </a:p>
          <a:p>
            <a:pPr marL="400050" marR="0" lvl="0" indent="-266700" algn="l" rtl="0">
              <a:lnSpc>
                <a:spcPct val="100000"/>
              </a:lnSpc>
              <a:spcBef>
                <a:spcPts val="0"/>
              </a:spcBef>
              <a:spcAft>
                <a:spcPts val="0"/>
              </a:spcAft>
              <a:buClr>
                <a:srgbClr val="5F5F5F"/>
              </a:buClr>
              <a:buSzPts val="1500"/>
              <a:buFont typeface="Arial"/>
              <a:buChar char="•"/>
            </a:pPr>
            <a:r>
              <a:rPr lang="en" sz="1500" b="0" i="0" u="none" strike="noStrike" cap="none">
                <a:solidFill>
                  <a:srgbClr val="28292A"/>
                </a:solidFill>
                <a:latin typeface="Calibri"/>
                <a:ea typeface="Calibri"/>
                <a:cs typeface="Calibri"/>
                <a:sym typeface="Calibri"/>
              </a:rPr>
              <a:t>FOVA parameter LT uses data from RWDL table &amp; New LT Trend Check is performed based on Values.</a:t>
            </a:r>
            <a:endParaRPr sz="1500" b="1" i="0" u="none" strike="noStrike" cap="none">
              <a:solidFill>
                <a:srgbClr val="5F5F5F"/>
              </a:solidFill>
              <a:latin typeface="Arial"/>
              <a:ea typeface="Arial"/>
              <a:cs typeface="Arial"/>
              <a:sym typeface="Arial"/>
            </a:endParaRPr>
          </a:p>
        </p:txBody>
      </p:sp>
      <p:sp>
        <p:nvSpPr>
          <p:cNvPr id="1429" name="Google Shape;1429;p182"/>
          <p:cNvSpPr txBox="1"/>
          <p:nvPr/>
        </p:nvSpPr>
        <p:spPr>
          <a:xfrm>
            <a:off x="277630" y="52550"/>
            <a:ext cx="37875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82D1"/>
                </a:solidFill>
                <a:latin typeface="Calibri"/>
                <a:ea typeface="Calibri"/>
                <a:cs typeface="Calibri"/>
                <a:sym typeface="Calibri"/>
              </a:rPr>
              <a:t>Small Store FOVA Validation</a:t>
            </a:r>
            <a:endParaRPr sz="2400" b="0" i="0" u="none" strike="noStrike" cap="none">
              <a:solidFill>
                <a:srgbClr val="000000"/>
              </a:solidFill>
              <a:latin typeface="Calibri"/>
              <a:ea typeface="Calibri"/>
              <a:cs typeface="Calibri"/>
              <a:sym typeface="Calibri"/>
            </a:endParaRPr>
          </a:p>
        </p:txBody>
      </p:sp>
      <p:sp>
        <p:nvSpPr>
          <p:cNvPr id="1430" name="Google Shape;1430;p182"/>
          <p:cNvSpPr/>
          <p:nvPr/>
        </p:nvSpPr>
        <p:spPr>
          <a:xfrm>
            <a:off x="7062200" y="78950"/>
            <a:ext cx="14826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3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36"/>
        <p:cNvGrpSpPr/>
        <p:nvPr/>
      </p:nvGrpSpPr>
      <p:grpSpPr>
        <a:xfrm>
          <a:off x="0" y="0"/>
          <a:ext cx="0" cy="0"/>
          <a:chOff x="0" y="0"/>
          <a:chExt cx="0" cy="0"/>
        </a:xfrm>
      </p:grpSpPr>
      <p:sp>
        <p:nvSpPr>
          <p:cNvPr id="1437" name="Google Shape;1437;p183"/>
          <p:cNvSpPr/>
          <p:nvPr/>
        </p:nvSpPr>
        <p:spPr>
          <a:xfrm>
            <a:off x="6173787" y="4270177"/>
            <a:ext cx="823800" cy="1419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438" name="Google Shape;1438;p183"/>
          <p:cNvSpPr/>
          <p:nvPr/>
        </p:nvSpPr>
        <p:spPr>
          <a:xfrm>
            <a:off x="502775" y="814388"/>
            <a:ext cx="7913700" cy="3387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rgbClr val="FFFFFF"/>
              </a:solidFill>
              <a:latin typeface="Arial"/>
              <a:ea typeface="Arial"/>
              <a:cs typeface="Arial"/>
              <a:sym typeface="Arial"/>
            </a:endParaRPr>
          </a:p>
        </p:txBody>
      </p:sp>
      <p:sp>
        <p:nvSpPr>
          <p:cNvPr id="1439" name="Google Shape;1439;p183"/>
          <p:cNvSpPr txBox="1"/>
          <p:nvPr/>
        </p:nvSpPr>
        <p:spPr>
          <a:xfrm>
            <a:off x="353825" y="457525"/>
            <a:ext cx="8599200" cy="4506900"/>
          </a:xfrm>
          <a:prstGeom prst="rect">
            <a:avLst/>
          </a:prstGeom>
          <a:noFill/>
          <a:ln w="9525" cap="sq" cmpd="sng">
            <a:solidFill>
              <a:srgbClr val="FFFFFF"/>
            </a:solidFill>
            <a:prstDash val="solid"/>
            <a:round/>
            <a:headEnd type="none" w="sm" len="sm"/>
            <a:tailEnd type="none" w="sm" len="sm"/>
          </a:ln>
        </p:spPr>
        <p:txBody>
          <a:bodyPr spcFirstLastPara="1" wrap="square" lIns="90000" tIns="46800" rIns="90000" bIns="46800" anchor="t" anchorCtr="0">
            <a:noAutofit/>
          </a:bodyPr>
          <a:lstStyle/>
          <a:p>
            <a:pPr marL="285750" marR="0" lvl="0" indent="-231775" algn="l" rtl="0">
              <a:lnSpc>
                <a:spcPct val="100000"/>
              </a:lnSpc>
              <a:spcBef>
                <a:spcPts val="0"/>
              </a:spcBef>
              <a:spcAft>
                <a:spcPts val="0"/>
              </a:spcAft>
              <a:buClr>
                <a:srgbClr val="009DD9"/>
              </a:buClr>
              <a:buSzPts val="1550"/>
              <a:buFont typeface="Arial"/>
              <a:buChar char="•"/>
            </a:pPr>
            <a:r>
              <a:rPr lang="en" sz="1550" b="0" i="0" u="none" strike="noStrike" cap="none">
                <a:solidFill>
                  <a:srgbClr val="28292A"/>
                </a:solidFill>
                <a:latin typeface="Calibri"/>
                <a:ea typeface="Calibri"/>
                <a:cs typeface="Calibri"/>
                <a:sym typeface="Calibri"/>
              </a:rPr>
              <a:t>User can submit both the process i.e. FOVA Parameters &amp; FOVA Parameter LT in any order required as there is no dependency for the same.</a:t>
            </a:r>
            <a:endParaRPr sz="155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550" b="0" i="0" u="none" strike="noStrike" cap="none">
              <a:solidFill>
                <a:srgbClr val="28292A"/>
              </a:solidFill>
              <a:latin typeface="Calibri"/>
              <a:ea typeface="Calibri"/>
              <a:cs typeface="Calibri"/>
              <a:sym typeface="Calibri"/>
            </a:endParaRPr>
          </a:p>
          <a:p>
            <a:pPr marL="285750" marR="0" lvl="0" indent="-231775" algn="l" rtl="0">
              <a:lnSpc>
                <a:spcPct val="100000"/>
              </a:lnSpc>
              <a:spcBef>
                <a:spcPts val="0"/>
              </a:spcBef>
              <a:spcAft>
                <a:spcPts val="0"/>
              </a:spcAft>
              <a:buClr>
                <a:srgbClr val="009DD9"/>
              </a:buClr>
              <a:buSzPts val="1550"/>
              <a:buFont typeface="Arial"/>
              <a:buChar char="•"/>
            </a:pPr>
            <a:r>
              <a:rPr lang="en" sz="1550" b="0" i="0" u="none" strike="noStrike" cap="none">
                <a:solidFill>
                  <a:srgbClr val="28292A"/>
                </a:solidFill>
                <a:latin typeface="Calibri"/>
                <a:ea typeface="Calibri"/>
                <a:cs typeface="Calibri"/>
                <a:sym typeface="Calibri"/>
              </a:rPr>
              <a:t>Fova Parameter LT process will populate 2 tables which is used for performing New LT Trend Check:</a:t>
            </a:r>
            <a:endParaRPr sz="1550" b="0" i="0" u="none" strike="noStrike" cap="none">
              <a:solidFill>
                <a:srgbClr val="000000"/>
              </a:solidFill>
              <a:latin typeface="Arial"/>
              <a:ea typeface="Arial"/>
              <a:cs typeface="Arial"/>
              <a:sym typeface="Arial"/>
            </a:endParaRPr>
          </a:p>
          <a:p>
            <a:pPr marL="457200" marR="0" lvl="0" indent="-228600" algn="l" rtl="0">
              <a:lnSpc>
                <a:spcPct val="100000"/>
              </a:lnSpc>
              <a:spcBef>
                <a:spcPts val="0"/>
              </a:spcBef>
              <a:spcAft>
                <a:spcPts val="0"/>
              </a:spcAft>
              <a:buClr>
                <a:srgbClr val="5F5F5F"/>
              </a:buClr>
              <a:buSzPts val="1800"/>
              <a:buFont typeface="Calibri"/>
              <a:buNone/>
            </a:pPr>
            <a:endParaRPr sz="1550" b="0" i="0" u="none" strike="noStrike" cap="none">
              <a:solidFill>
                <a:srgbClr val="28292A"/>
              </a:solidFill>
              <a:latin typeface="Calibri"/>
              <a:ea typeface="Calibri"/>
              <a:cs typeface="Calibri"/>
              <a:sym typeface="Calibri"/>
            </a:endParaRPr>
          </a:p>
          <a:p>
            <a:pPr marL="114300" marR="0" lvl="0" indent="0" algn="l" rtl="0">
              <a:lnSpc>
                <a:spcPct val="100000"/>
              </a:lnSpc>
              <a:spcBef>
                <a:spcPts val="0"/>
              </a:spcBef>
              <a:spcAft>
                <a:spcPts val="0"/>
              </a:spcAft>
              <a:buClr>
                <a:srgbClr val="000000"/>
              </a:buClr>
              <a:buSzPts val="1800"/>
              <a:buFont typeface="Arial"/>
              <a:buNone/>
            </a:pPr>
            <a:r>
              <a:rPr lang="en" sz="1550" b="0" i="0" u="none" strike="noStrike" cap="none">
                <a:solidFill>
                  <a:srgbClr val="28292A"/>
                </a:solidFill>
                <a:latin typeface="Calibri"/>
                <a:ea typeface="Calibri"/>
                <a:cs typeface="Calibri"/>
                <a:sym typeface="Calibri"/>
              </a:rPr>
              <a:t>1. FOVA_SALESV – Store level Trend information</a:t>
            </a:r>
            <a:endParaRPr sz="155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1800"/>
              <a:buFont typeface="Arial"/>
              <a:buNone/>
            </a:pPr>
            <a:r>
              <a:rPr lang="en" sz="1550" b="0" i="0" u="none" strike="noStrike" cap="none">
                <a:solidFill>
                  <a:srgbClr val="28292A"/>
                </a:solidFill>
                <a:latin typeface="Calibri"/>
                <a:ea typeface="Calibri"/>
                <a:cs typeface="Calibri"/>
                <a:sym typeface="Calibri"/>
              </a:rPr>
              <a:t>2. FOVA_IBD_STATS – IBD level Trend information</a:t>
            </a:r>
            <a:endParaRPr sz="155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1800"/>
              <a:buFont typeface="Arial"/>
              <a:buNone/>
            </a:pPr>
            <a:endParaRPr sz="1550" b="0" i="0" u="none" strike="noStrike" cap="none">
              <a:solidFill>
                <a:srgbClr val="28292A"/>
              </a:solidFill>
              <a:latin typeface="Calibri"/>
              <a:ea typeface="Calibri"/>
              <a:cs typeface="Calibri"/>
              <a:sym typeface="Calibri"/>
            </a:endParaRPr>
          </a:p>
          <a:p>
            <a:pPr marL="114300" marR="0" lvl="0" indent="0" algn="l" rtl="0">
              <a:lnSpc>
                <a:spcPct val="100000"/>
              </a:lnSpc>
              <a:spcBef>
                <a:spcPts val="0"/>
              </a:spcBef>
              <a:spcAft>
                <a:spcPts val="0"/>
              </a:spcAft>
              <a:buClr>
                <a:srgbClr val="000000"/>
              </a:buClr>
              <a:buSzPts val="1800"/>
              <a:buFont typeface="Arial"/>
              <a:buNone/>
            </a:pPr>
            <a:r>
              <a:rPr lang="en" sz="1550" b="0" i="0" u="none" strike="noStrike" cap="none">
                <a:solidFill>
                  <a:srgbClr val="28292A"/>
                </a:solidFill>
                <a:latin typeface="Calibri"/>
                <a:ea typeface="Calibri"/>
                <a:cs typeface="Calibri"/>
                <a:sym typeface="Calibri"/>
              </a:rPr>
              <a:t>For Implementing New LT trend check user has to populate above tables using FOVA Parameters LT process.</a:t>
            </a:r>
            <a:endParaRPr sz="155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1800"/>
              <a:buFont typeface="Arial"/>
              <a:buNone/>
            </a:pPr>
            <a:endParaRPr sz="1550" b="0" i="0" u="none" strike="noStrike" cap="none">
              <a:solidFill>
                <a:srgbClr val="28292A"/>
              </a:solidFill>
              <a:latin typeface="Calibri"/>
              <a:ea typeface="Calibri"/>
              <a:cs typeface="Calibri"/>
              <a:sym typeface="Calibri"/>
            </a:endParaRPr>
          </a:p>
          <a:p>
            <a:pPr marL="114300" marR="0" lvl="0" indent="0" algn="l" rtl="0">
              <a:lnSpc>
                <a:spcPct val="100000"/>
              </a:lnSpc>
              <a:spcBef>
                <a:spcPts val="0"/>
              </a:spcBef>
              <a:spcAft>
                <a:spcPts val="0"/>
              </a:spcAft>
              <a:buClr>
                <a:srgbClr val="000000"/>
              </a:buClr>
              <a:buSzPts val="1800"/>
              <a:buFont typeface="Arial"/>
              <a:buNone/>
            </a:pPr>
            <a:r>
              <a:rPr lang="en" sz="1550" b="0" i="0" u="none" strike="noStrike" cap="none">
                <a:solidFill>
                  <a:srgbClr val="28292A"/>
                </a:solidFill>
                <a:latin typeface="Calibri"/>
                <a:ea typeface="Calibri"/>
                <a:cs typeface="Calibri"/>
                <a:sym typeface="Calibri"/>
              </a:rPr>
              <a:t>FOVA Parameters LT process is to be ran on 104 weeks in chunks of 25weeks to get those table populated fully before activating NEW LT Trend Check.</a:t>
            </a:r>
            <a:endParaRPr sz="155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1800"/>
              <a:buFont typeface="Arial"/>
              <a:buNone/>
            </a:pPr>
            <a:endParaRPr sz="1550" b="0" i="0" u="none" strike="noStrike" cap="none">
              <a:solidFill>
                <a:srgbClr val="28292A"/>
              </a:solidFill>
              <a:latin typeface="Calibri"/>
              <a:ea typeface="Calibri"/>
              <a:cs typeface="Calibri"/>
              <a:sym typeface="Calibri"/>
            </a:endParaRPr>
          </a:p>
          <a:p>
            <a:pPr marL="114300" marR="0" lvl="0" indent="0" algn="l" rtl="0">
              <a:lnSpc>
                <a:spcPct val="100000"/>
              </a:lnSpc>
              <a:spcBef>
                <a:spcPts val="0"/>
              </a:spcBef>
              <a:spcAft>
                <a:spcPts val="0"/>
              </a:spcAft>
              <a:buClr>
                <a:srgbClr val="000000"/>
              </a:buClr>
              <a:buSzPts val="1800"/>
              <a:buFont typeface="Arial"/>
              <a:buNone/>
            </a:pPr>
            <a:r>
              <a:rPr lang="en" sz="1550" b="0" i="0" u="none" strike="noStrike" cap="none">
                <a:solidFill>
                  <a:srgbClr val="28292A"/>
                </a:solidFill>
                <a:latin typeface="Calibri"/>
                <a:ea typeface="Calibri"/>
                <a:cs typeface="Calibri"/>
                <a:sym typeface="Calibri"/>
              </a:rPr>
              <a:t>Change parameter – MAX_NO_PERIOD_BACK for FOVA Parameters LT from “13” to “25” for running it in chunks of 25 weeks.</a:t>
            </a:r>
            <a:endParaRPr sz="1550" b="0" i="0" u="none" strike="noStrike" cap="none">
              <a:solidFill>
                <a:srgbClr val="000000"/>
              </a:solidFill>
              <a:latin typeface="Arial"/>
              <a:ea typeface="Arial"/>
              <a:cs typeface="Arial"/>
              <a:sym typeface="Arial"/>
            </a:endParaRPr>
          </a:p>
          <a:p>
            <a:pPr marL="114300" marR="0" lvl="0" indent="0" algn="l" rtl="0">
              <a:lnSpc>
                <a:spcPct val="100000"/>
              </a:lnSpc>
              <a:spcBef>
                <a:spcPts val="0"/>
              </a:spcBef>
              <a:spcAft>
                <a:spcPts val="0"/>
              </a:spcAft>
              <a:buClr>
                <a:srgbClr val="000000"/>
              </a:buClr>
              <a:buSzPts val="1800"/>
              <a:buFont typeface="Arial"/>
              <a:buNone/>
            </a:pPr>
            <a:endParaRPr sz="1550" b="0" i="0" u="none" strike="noStrike" cap="none">
              <a:solidFill>
                <a:srgbClr val="28292A"/>
              </a:solidFill>
              <a:latin typeface="Calibri"/>
              <a:ea typeface="Calibri"/>
              <a:cs typeface="Calibri"/>
              <a:sym typeface="Calibri"/>
            </a:endParaRPr>
          </a:p>
          <a:p>
            <a:pPr marL="114300" marR="0" lvl="0" indent="0" algn="l" rtl="0">
              <a:lnSpc>
                <a:spcPct val="100000"/>
              </a:lnSpc>
              <a:spcBef>
                <a:spcPts val="0"/>
              </a:spcBef>
              <a:spcAft>
                <a:spcPts val="0"/>
              </a:spcAft>
              <a:buClr>
                <a:srgbClr val="000000"/>
              </a:buClr>
              <a:buSzPts val="1800"/>
              <a:buFont typeface="Arial"/>
              <a:buNone/>
            </a:pPr>
            <a:r>
              <a:rPr lang="en" sz="1550" b="0" i="0" u="none" strike="noStrike" cap="none">
                <a:solidFill>
                  <a:srgbClr val="28292A"/>
                </a:solidFill>
                <a:latin typeface="Calibri"/>
                <a:ea typeface="Calibri"/>
                <a:cs typeface="Calibri"/>
                <a:sym typeface="Calibri"/>
              </a:rPr>
              <a:t>There are multiple parameters driving the process which are shared in next slides.</a:t>
            </a:r>
            <a:endParaRPr sz="1550" b="1" i="0" u="none" strike="noStrike" cap="none">
              <a:solidFill>
                <a:srgbClr val="5F5F5F"/>
              </a:solidFill>
              <a:latin typeface="Arial"/>
              <a:ea typeface="Arial"/>
              <a:cs typeface="Arial"/>
              <a:sym typeface="Arial"/>
            </a:endParaRPr>
          </a:p>
        </p:txBody>
      </p:sp>
      <p:sp>
        <p:nvSpPr>
          <p:cNvPr id="1440" name="Google Shape;1440;p183"/>
          <p:cNvSpPr txBox="1"/>
          <p:nvPr/>
        </p:nvSpPr>
        <p:spPr>
          <a:xfrm>
            <a:off x="353825" y="29150"/>
            <a:ext cx="3820200" cy="3978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82D1"/>
                </a:solidFill>
                <a:latin typeface="Calibri"/>
                <a:ea typeface="Calibri"/>
                <a:cs typeface="Calibri"/>
                <a:sym typeface="Calibri"/>
              </a:rPr>
              <a:t>Small Store FOVA Validation</a:t>
            </a:r>
            <a:endParaRPr sz="2400" b="0" i="0" u="none" strike="noStrike" cap="none">
              <a:solidFill>
                <a:srgbClr val="000000"/>
              </a:solidFill>
              <a:latin typeface="Calibri"/>
              <a:ea typeface="Calibri"/>
              <a:cs typeface="Calibri"/>
              <a:sym typeface="Calibri"/>
            </a:endParaRPr>
          </a:p>
        </p:txBody>
      </p:sp>
      <p:sp>
        <p:nvSpPr>
          <p:cNvPr id="1441" name="Google Shape;1441;p183"/>
          <p:cNvSpPr/>
          <p:nvPr/>
        </p:nvSpPr>
        <p:spPr>
          <a:xfrm>
            <a:off x="7155950" y="57150"/>
            <a:ext cx="13785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3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45"/>
        <p:cNvGrpSpPr/>
        <p:nvPr/>
      </p:nvGrpSpPr>
      <p:grpSpPr>
        <a:xfrm>
          <a:off x="0" y="0"/>
          <a:ext cx="0" cy="0"/>
          <a:chOff x="0" y="0"/>
          <a:chExt cx="0" cy="0"/>
        </a:xfrm>
      </p:grpSpPr>
      <p:sp>
        <p:nvSpPr>
          <p:cNvPr id="1446" name="Google Shape;1446;p184"/>
          <p:cNvSpPr txBox="1">
            <a:spLocks noGrp="1"/>
          </p:cNvSpPr>
          <p:nvPr>
            <p:ph type="title"/>
          </p:nvPr>
        </p:nvSpPr>
        <p:spPr>
          <a:xfrm>
            <a:off x="330200" y="53579"/>
            <a:ext cx="8280300" cy="4515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a:t>How to Implement - </a:t>
            </a:r>
            <a:r>
              <a:rPr lang="en" sz="2400">
                <a:solidFill>
                  <a:srgbClr val="0082D1"/>
                </a:solidFill>
                <a:latin typeface="Calibri"/>
                <a:ea typeface="Calibri"/>
                <a:cs typeface="Calibri"/>
                <a:sym typeface="Calibri"/>
              </a:rPr>
              <a:t>Small Store FOVA Validation</a:t>
            </a:r>
            <a:endParaRPr sz="2400" b="0">
              <a:solidFill>
                <a:schemeClr val="dk1"/>
              </a:solidFill>
              <a:latin typeface="Calibri"/>
              <a:ea typeface="Calibri"/>
              <a:cs typeface="Calibri"/>
              <a:sym typeface="Calibri"/>
            </a:endParaRPr>
          </a:p>
          <a:p>
            <a:pPr marL="0" lvl="0" indent="0" algn="l" rtl="0">
              <a:lnSpc>
                <a:spcPct val="95000"/>
              </a:lnSpc>
              <a:spcBef>
                <a:spcPts val="0"/>
              </a:spcBef>
              <a:spcAft>
                <a:spcPts val="0"/>
              </a:spcAft>
              <a:buSzPts val="1400"/>
              <a:buNone/>
            </a:pPr>
            <a:endParaRPr/>
          </a:p>
        </p:txBody>
      </p:sp>
      <p:sp>
        <p:nvSpPr>
          <p:cNvPr id="1447" name="Google Shape;1447;p184"/>
          <p:cNvSpPr txBox="1"/>
          <p:nvPr/>
        </p:nvSpPr>
        <p:spPr>
          <a:xfrm>
            <a:off x="214625" y="599450"/>
            <a:ext cx="8769900" cy="4477500"/>
          </a:xfrm>
          <a:prstGeom prst="rect">
            <a:avLst/>
          </a:prstGeom>
          <a:noFill/>
          <a:ln>
            <a:noFill/>
          </a:ln>
        </p:spPr>
        <p:txBody>
          <a:bodyPr spcFirstLastPara="1" wrap="square" lIns="91425" tIns="91425" rIns="91425" bIns="91425" anchor="t" anchorCtr="0">
            <a:noAutofit/>
          </a:bodyPr>
          <a:lstStyle/>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User/Country have to run FOVA PARAMETER LT process for 104 back period ( Keep chunk of 4 at least. Also suggesting to run 1st with 10 periods and check run time and based on that divide other periods in chunk but not more then 25 in 1 chunk). </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User/Country have to create/update parameter tag called 'MAX_NO_PERIODS_BACK' as per your requirement to run process for back periods. Default value is 12.</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It is Suggested to run FOVA PARAMETER LT process over weekend.</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After successful run of FOVA PARAMETER LT process, User / Country need to activate the parameter FOVA_NEW_TREND_TEST = FB.</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After performing the above steps, country can use new fova process but before starting just to have clear below points with you.</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Do you want to enable validation for all stores or small stores only?</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Do you want to use the default threshold to be identify the small stores which is 300 ( in records) or more then it?</a:t>
            </a:r>
            <a:endParaRPr sz="1250">
              <a:latin typeface="Open Sans"/>
              <a:ea typeface="Open Sans"/>
              <a:cs typeface="Open Sans"/>
              <a:sym typeface="Open Sans"/>
            </a:endParaRPr>
          </a:p>
          <a:p>
            <a:pPr marL="457200" lvl="0" indent="-307975" algn="l" rtl="0">
              <a:lnSpc>
                <a:spcPct val="150000"/>
              </a:lnSpc>
              <a:spcBef>
                <a:spcPts val="0"/>
              </a:spcBef>
              <a:spcAft>
                <a:spcPts val="0"/>
              </a:spcAft>
              <a:buSzPts val="1250"/>
              <a:buFont typeface="Open Sans"/>
              <a:buChar char="●"/>
            </a:pPr>
            <a:r>
              <a:rPr lang="en" sz="1250">
                <a:latin typeface="Open Sans"/>
                <a:ea typeface="Open Sans"/>
                <a:cs typeface="Open Sans"/>
                <a:sym typeface="Open Sans"/>
              </a:rPr>
              <a:t>Do you want to use parameter value other then default for the parameter belongs to this enhancement ?</a:t>
            </a:r>
            <a:endParaRPr sz="1250">
              <a:latin typeface="Open Sans"/>
              <a:ea typeface="Open Sans"/>
              <a:cs typeface="Open Sans"/>
              <a:sym typeface="Open Sans"/>
            </a:endParaRPr>
          </a:p>
        </p:txBody>
      </p:sp>
    </p:spTree>
  </p:cSld>
  <p:clrMapOvr>
    <a:overrideClrMapping bg1="lt1" tx1="dk1" bg2="lt2" tx2="dk2" accent1="accent1" accent2="accent2" accent3="accent3" accent4="accent4" accent5="accent5" accent6="accent6" hlink="hlink" folHlink="folHlink"/>
  </p:clrMapOvr>
</p:sld>
</file>

<file path=ppt/slides/slide13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51"/>
        <p:cNvGrpSpPr/>
        <p:nvPr/>
      </p:nvGrpSpPr>
      <p:grpSpPr>
        <a:xfrm>
          <a:off x="0" y="0"/>
          <a:ext cx="0" cy="0"/>
          <a:chOff x="0" y="0"/>
          <a:chExt cx="0" cy="0"/>
        </a:xfrm>
      </p:grpSpPr>
      <p:sp>
        <p:nvSpPr>
          <p:cNvPr id="1452" name="Google Shape;1452;p185"/>
          <p:cNvSpPr txBox="1"/>
          <p:nvPr/>
        </p:nvSpPr>
        <p:spPr>
          <a:xfrm>
            <a:off x="284849" y="7700"/>
            <a:ext cx="4133400" cy="284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9DD9"/>
                </a:solidFill>
                <a:latin typeface="Calibri"/>
                <a:ea typeface="Calibri"/>
                <a:cs typeface="Calibri"/>
                <a:sym typeface="Calibri"/>
              </a:rPr>
              <a:t>Parameters with default value</a:t>
            </a:r>
            <a:endParaRPr sz="2400" b="1" i="0" u="none" strike="noStrike" cap="none">
              <a:solidFill>
                <a:srgbClr val="009DD9"/>
              </a:solidFill>
              <a:latin typeface="Calibri"/>
              <a:ea typeface="Calibri"/>
              <a:cs typeface="Calibri"/>
              <a:sym typeface="Calibri"/>
            </a:endParaRPr>
          </a:p>
          <a:p>
            <a:pPr marL="285750" marR="0" lvl="0" indent="-240982" algn="l" rtl="0">
              <a:lnSpc>
                <a:spcPct val="100000"/>
              </a:lnSpc>
              <a:spcBef>
                <a:spcPts val="0"/>
              </a:spcBef>
              <a:spcAft>
                <a:spcPts val="0"/>
              </a:spcAft>
              <a:buClr>
                <a:srgbClr val="5F5F5F"/>
              </a:buClr>
              <a:buSzPts val="630"/>
              <a:buFont typeface="Arial"/>
              <a:buNone/>
            </a:pPr>
            <a:endParaRPr sz="1400" b="0" i="0" u="none" strike="noStrike" cap="none">
              <a:solidFill>
                <a:srgbClr val="000000"/>
              </a:solidFill>
              <a:latin typeface="Arial"/>
              <a:ea typeface="Arial"/>
              <a:cs typeface="Arial"/>
              <a:sym typeface="Arial"/>
            </a:endParaRPr>
          </a:p>
          <a:p>
            <a:pPr marL="285750" marR="0" lvl="0" indent="-280987"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p:txBody>
      </p:sp>
      <p:graphicFrame>
        <p:nvGraphicFramePr>
          <p:cNvPr id="1453" name="Google Shape;1453;p185"/>
          <p:cNvGraphicFramePr/>
          <p:nvPr>
            <p:extLst>
              <p:ext uri="{D42A27DB-BD31-4B8C-83A1-F6EECF244321}">
                <p14:modId xmlns:p14="http://schemas.microsoft.com/office/powerpoint/2010/main" val="167048054"/>
              </p:ext>
            </p:extLst>
          </p:nvPr>
        </p:nvGraphicFramePr>
        <p:xfrm>
          <a:off x="439036" y="688911"/>
          <a:ext cx="8309150" cy="4091080"/>
        </p:xfrm>
        <a:graphic>
          <a:graphicData uri="http://schemas.openxmlformats.org/drawingml/2006/table">
            <a:tbl>
              <a:tblPr>
                <a:noFill/>
                <a:tableStyleId>{C70574C8-F969-49A7-8605-77D3504E23D5}</a:tableStyleId>
              </a:tblPr>
              <a:tblGrid>
                <a:gridCol w="1110675">
                  <a:extLst>
                    <a:ext uri="{9D8B030D-6E8A-4147-A177-3AD203B41FA5}">
                      <a16:colId xmlns:a16="http://schemas.microsoft.com/office/drawing/2014/main" val="20000"/>
                    </a:ext>
                  </a:extLst>
                </a:gridCol>
                <a:gridCol w="2065200">
                  <a:extLst>
                    <a:ext uri="{9D8B030D-6E8A-4147-A177-3AD203B41FA5}">
                      <a16:colId xmlns:a16="http://schemas.microsoft.com/office/drawing/2014/main" val="20001"/>
                    </a:ext>
                  </a:extLst>
                </a:gridCol>
                <a:gridCol w="2525475">
                  <a:extLst>
                    <a:ext uri="{9D8B030D-6E8A-4147-A177-3AD203B41FA5}">
                      <a16:colId xmlns:a16="http://schemas.microsoft.com/office/drawing/2014/main" val="20002"/>
                    </a:ext>
                  </a:extLst>
                </a:gridCol>
                <a:gridCol w="1303900">
                  <a:extLst>
                    <a:ext uri="{9D8B030D-6E8A-4147-A177-3AD203B41FA5}">
                      <a16:colId xmlns:a16="http://schemas.microsoft.com/office/drawing/2014/main" val="20003"/>
                    </a:ext>
                  </a:extLst>
                </a:gridCol>
                <a:gridCol w="1303900">
                  <a:extLst>
                    <a:ext uri="{9D8B030D-6E8A-4147-A177-3AD203B41FA5}">
                      <a16:colId xmlns:a16="http://schemas.microsoft.com/office/drawing/2014/main" val="20004"/>
                    </a:ext>
                  </a:extLst>
                </a:gridCol>
              </a:tblGrid>
              <a:tr h="685625">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PROCESS ID</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PARAMETER TAG</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DESCRIPTION</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SPECIFICITY</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PARAMETER DEFAULT VALUE</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4824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SMALL_STORES_LIMIT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Threshold to be used to identify small stores.</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STORE</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300</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7971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GENERAL</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FOVA_NEW_TREND_TEST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Parameter that enables the calculation of the New Trend Test Parameters into Fova Parameters process.</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GENERAL</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N</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69702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FOVA_LT_TREND_MODE</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Small store validation into FOVA has to be enabled for SMALL STORES or ALL STORES</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STORE</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NO</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69702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LT_TREND_OVERRIDE</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Comma separated list of fova conditions to override if new lt trend test is ok</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STORE</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301,313,314,315,319,327,332</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63982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FOVA_MIN_SALES_VALUE</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Flag as questionable any store with sales less than defined value.</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STORE</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FF0000"/>
                          </a:solidFill>
                          <a:latin typeface="Calibri"/>
                          <a:ea typeface="Calibri"/>
                          <a:cs typeface="Calibri"/>
                          <a:sym typeface="Calibri"/>
                        </a:rPr>
                        <a:t>1</a:t>
                      </a:r>
                      <a:endParaRPr sz="12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1454" name="Google Shape;1454;p185"/>
          <p:cNvSpPr/>
          <p:nvPr/>
        </p:nvSpPr>
        <p:spPr>
          <a:xfrm>
            <a:off x="7126900" y="57150"/>
            <a:ext cx="14073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3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58"/>
        <p:cNvGrpSpPr/>
        <p:nvPr/>
      </p:nvGrpSpPr>
      <p:grpSpPr>
        <a:xfrm>
          <a:off x="0" y="0"/>
          <a:ext cx="0" cy="0"/>
          <a:chOff x="0" y="0"/>
          <a:chExt cx="0" cy="0"/>
        </a:xfrm>
      </p:grpSpPr>
      <p:graphicFrame>
        <p:nvGraphicFramePr>
          <p:cNvPr id="1459" name="Google Shape;1459;p186"/>
          <p:cNvGraphicFramePr/>
          <p:nvPr>
            <p:extLst>
              <p:ext uri="{D42A27DB-BD31-4B8C-83A1-F6EECF244321}">
                <p14:modId xmlns:p14="http://schemas.microsoft.com/office/powerpoint/2010/main" val="1690980522"/>
              </p:ext>
            </p:extLst>
          </p:nvPr>
        </p:nvGraphicFramePr>
        <p:xfrm>
          <a:off x="437247" y="635832"/>
          <a:ext cx="8454525" cy="4117350"/>
        </p:xfrm>
        <a:graphic>
          <a:graphicData uri="http://schemas.openxmlformats.org/drawingml/2006/table">
            <a:tbl>
              <a:tblPr>
                <a:noFill/>
                <a:tableStyleId>{C70574C8-F969-49A7-8605-77D3504E23D5}</a:tableStyleId>
              </a:tblPr>
              <a:tblGrid>
                <a:gridCol w="974850">
                  <a:extLst>
                    <a:ext uri="{9D8B030D-6E8A-4147-A177-3AD203B41FA5}">
                      <a16:colId xmlns:a16="http://schemas.microsoft.com/office/drawing/2014/main" val="20000"/>
                    </a:ext>
                  </a:extLst>
                </a:gridCol>
                <a:gridCol w="1939750">
                  <a:extLst>
                    <a:ext uri="{9D8B030D-6E8A-4147-A177-3AD203B41FA5}">
                      <a16:colId xmlns:a16="http://schemas.microsoft.com/office/drawing/2014/main" val="20001"/>
                    </a:ext>
                  </a:extLst>
                </a:gridCol>
                <a:gridCol w="3330825">
                  <a:extLst>
                    <a:ext uri="{9D8B030D-6E8A-4147-A177-3AD203B41FA5}">
                      <a16:colId xmlns:a16="http://schemas.microsoft.com/office/drawing/2014/main" val="20002"/>
                    </a:ext>
                  </a:extLst>
                </a:gridCol>
                <a:gridCol w="979100">
                  <a:extLst>
                    <a:ext uri="{9D8B030D-6E8A-4147-A177-3AD203B41FA5}">
                      <a16:colId xmlns:a16="http://schemas.microsoft.com/office/drawing/2014/main" val="20003"/>
                    </a:ext>
                  </a:extLst>
                </a:gridCol>
                <a:gridCol w="1230000">
                  <a:extLst>
                    <a:ext uri="{9D8B030D-6E8A-4147-A177-3AD203B41FA5}">
                      <a16:colId xmlns:a16="http://schemas.microsoft.com/office/drawing/2014/main" val="20004"/>
                    </a:ext>
                  </a:extLst>
                </a:gridCol>
              </a:tblGrid>
              <a:tr h="940925">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PROCESS ID</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PARAMETER TAG</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DESCRIPTION</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chemeClr val="dk1"/>
                        </a:buClr>
                        <a:buSzPts val="800"/>
                        <a:buFont typeface="Arial"/>
                        <a:buNone/>
                      </a:pPr>
                      <a:r>
                        <a:rPr lang="en" sz="1200" b="1" u="none" strike="noStrike" cap="none">
                          <a:solidFill>
                            <a:srgbClr val="28292A"/>
                          </a:solidFill>
                          <a:latin typeface="Calibri"/>
                          <a:ea typeface="Calibri"/>
                          <a:cs typeface="Calibri"/>
                          <a:sym typeface="Calibri"/>
                        </a:rPr>
                        <a:t>SPECIFICITY</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PARAMETER DEFAULT VALUE</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495900">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FOVA</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TRUNCATE_VARIATION_LIMIT</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28292A"/>
                          </a:solidFill>
                          <a:latin typeface="Calibri"/>
                          <a:ea typeface="Calibri"/>
                          <a:cs typeface="Calibri"/>
                          <a:sym typeface="Calibri"/>
                        </a:rPr>
                        <a:t>It is used to set acceptable variation limit in store’s assortment. If Store’s assortment changes more then defined limit it will be thrown as exception.</a:t>
                      </a:r>
                      <a:endParaRPr sz="1100" b="0" i="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STORE</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Arial"/>
                        <a:buNone/>
                      </a:pPr>
                      <a:r>
                        <a:rPr lang="en" sz="1100" b="1" u="none" strike="noStrike" cap="none">
                          <a:solidFill>
                            <a:srgbClr val="FF0000"/>
                          </a:solidFill>
                          <a:latin typeface="Calibri"/>
                          <a:ea typeface="Calibri"/>
                          <a:cs typeface="Calibri"/>
                          <a:sym typeface="Calibri"/>
                        </a:rPr>
                        <a:t>30</a:t>
                      </a:r>
                      <a:endParaRPr sz="1100" u="none" strike="noStrike" cap="none">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470275">
                <a:tc>
                  <a:txBody>
                    <a:bodyPr/>
                    <a:lstStyle/>
                    <a:p>
                      <a:pPr marL="0" marR="0" lvl="0" indent="0" algn="ctr" rtl="0">
                        <a:lnSpc>
                          <a:spcPct val="100000"/>
                        </a:lnSpc>
                        <a:spcBef>
                          <a:spcPts val="0"/>
                        </a:spcBef>
                        <a:spcAft>
                          <a:spcPts val="0"/>
                        </a:spcAft>
                        <a:buClr>
                          <a:schemeClr val="dk1"/>
                        </a:buClr>
                        <a:buSzPts val="800"/>
                        <a:buFont typeface="Arial"/>
                        <a:buNone/>
                      </a:pPr>
                      <a:r>
                        <a:rPr lang="en" sz="1100" u="none" strike="noStrike" cap="none">
                          <a:solidFill>
                            <a:srgbClr val="28292A"/>
                          </a:solidFill>
                          <a:latin typeface="Calibri"/>
                          <a:ea typeface="Calibri"/>
                          <a:cs typeface="Calibri"/>
                          <a:sym typeface="Calibri"/>
                        </a:rPr>
                        <a:t>FOVA</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FOVA_LT_CONF_LEVEL</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Confidence level used to retrieve the value of </a:t>
                      </a:r>
                      <a:r>
                        <a:rPr lang="en" sz="1100" u="none" strike="noStrike" cap="none" err="1">
                          <a:solidFill>
                            <a:srgbClr val="28292A"/>
                          </a:solidFill>
                          <a:latin typeface="Calibri"/>
                          <a:ea typeface="Calibri"/>
                          <a:cs typeface="Calibri"/>
                          <a:sym typeface="Calibri"/>
                        </a:rPr>
                        <a:t>tvalue</a:t>
                      </a:r>
                      <a:r>
                        <a:rPr lang="en" sz="1100" u="none" strike="noStrike" cap="none">
                          <a:solidFill>
                            <a:srgbClr val="28292A"/>
                          </a:solidFill>
                          <a:latin typeface="Calibri"/>
                          <a:ea typeface="Calibri"/>
                          <a:cs typeface="Calibri"/>
                          <a:sym typeface="Calibri"/>
                        </a:rPr>
                        <a:t>. (</a:t>
                      </a:r>
                      <a:r>
                        <a:rPr lang="en" sz="1100" u="none" strike="noStrike" cap="none" err="1">
                          <a:solidFill>
                            <a:srgbClr val="28292A"/>
                          </a:solidFill>
                          <a:latin typeface="Calibri"/>
                          <a:ea typeface="Calibri"/>
                          <a:cs typeface="Calibri"/>
                          <a:sym typeface="Calibri"/>
                        </a:rPr>
                        <a:t>Dsci</a:t>
                      </a:r>
                      <a:r>
                        <a:rPr lang="en" sz="1100" u="none" strike="noStrike" cap="none">
                          <a:solidFill>
                            <a:srgbClr val="28292A"/>
                          </a:solidFill>
                          <a:latin typeface="Calibri"/>
                          <a:ea typeface="Calibri"/>
                          <a:cs typeface="Calibri"/>
                          <a:sym typeface="Calibri"/>
                        </a:rPr>
                        <a:t> Decision)</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PERIODSET</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0.99</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431075">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FOVA</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rPr>
                        <a:t>    </a:t>
                      </a:r>
                      <a:r>
                        <a:rPr lang="en" sz="1100" u="none" strike="noStrike" cap="none">
                          <a:solidFill>
                            <a:srgbClr val="28292A"/>
                          </a:solidFill>
                          <a:latin typeface="Calibri"/>
                          <a:ea typeface="Calibri"/>
                          <a:cs typeface="Calibri"/>
                          <a:sym typeface="Calibri"/>
                        </a:rPr>
                        <a:t> FOVA_CHAR_CONTENT</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To display the Char content in </a:t>
                      </a:r>
                      <a:r>
                        <a:rPr lang="en" sz="1100" u="none" strike="noStrike" cap="none" err="1">
                          <a:solidFill>
                            <a:srgbClr val="28292A"/>
                          </a:solidFill>
                          <a:latin typeface="Calibri"/>
                          <a:ea typeface="Calibri"/>
                          <a:cs typeface="Calibri"/>
                          <a:sym typeface="Calibri"/>
                        </a:rPr>
                        <a:t>Fova</a:t>
                      </a:r>
                      <a:r>
                        <a:rPr lang="en" sz="1100" u="none" strike="noStrike" cap="none">
                          <a:solidFill>
                            <a:srgbClr val="28292A"/>
                          </a:solidFill>
                          <a:latin typeface="Calibri"/>
                          <a:ea typeface="Calibri"/>
                          <a:cs typeface="Calibri"/>
                          <a:sym typeface="Calibri"/>
                        </a:rPr>
                        <a:t> Report</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800"/>
                        <a:buFont typeface="Arial"/>
                        <a:buNone/>
                      </a:pPr>
                      <a:r>
                        <a:rPr lang="en" sz="1100" b="1" u="none" strike="noStrike" cap="none">
                          <a:solidFill>
                            <a:srgbClr val="FF0000"/>
                          </a:solidFill>
                          <a:latin typeface="Calibri"/>
                          <a:ea typeface="Calibri"/>
                          <a:cs typeface="Calibri"/>
                          <a:sym typeface="Calibri"/>
                        </a:rPr>
                        <a:t>GENERAL</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(null)</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535575">
                <a:tc>
                  <a:txBody>
                    <a:bodyPr/>
                    <a:lstStyle/>
                    <a:p>
                      <a:pPr marL="0" marR="0" lvl="0" indent="0" algn="ctr" rtl="0">
                        <a:lnSpc>
                          <a:spcPct val="100000"/>
                        </a:lnSpc>
                        <a:spcBef>
                          <a:spcPts val="0"/>
                        </a:spcBef>
                        <a:spcAft>
                          <a:spcPts val="0"/>
                        </a:spcAft>
                        <a:buClr>
                          <a:schemeClr val="dk1"/>
                        </a:buClr>
                        <a:buSzPts val="800"/>
                        <a:buFont typeface="Arial"/>
                        <a:buNone/>
                      </a:pPr>
                      <a:r>
                        <a:rPr lang="en" sz="1100" u="none" strike="noStrike" cap="none">
                          <a:solidFill>
                            <a:srgbClr val="28292A"/>
                          </a:solidFill>
                          <a:latin typeface="Calibri"/>
                          <a:ea typeface="Calibri"/>
                          <a:cs typeface="Calibri"/>
                          <a:sym typeface="Calibri"/>
                        </a:rPr>
                        <a:t>FOVA</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FOVA_LT_CONF_LEVEL_W</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Confidence level used to retrieve the value of </a:t>
                      </a:r>
                      <a:r>
                        <a:rPr lang="en" sz="1100" u="none" strike="noStrike" cap="none" err="1">
                          <a:solidFill>
                            <a:srgbClr val="28292A"/>
                          </a:solidFill>
                          <a:latin typeface="Calibri"/>
                          <a:ea typeface="Calibri"/>
                          <a:cs typeface="Calibri"/>
                          <a:sym typeface="Calibri"/>
                        </a:rPr>
                        <a:t>tvalue</a:t>
                      </a:r>
                      <a:r>
                        <a:rPr lang="en" sz="1100" u="none" strike="noStrike" cap="none">
                          <a:solidFill>
                            <a:srgbClr val="28292A"/>
                          </a:solidFill>
                          <a:latin typeface="Calibri"/>
                          <a:ea typeface="Calibri"/>
                          <a:cs typeface="Calibri"/>
                          <a:sym typeface="Calibri"/>
                        </a:rPr>
                        <a:t> for weekly. (</a:t>
                      </a:r>
                      <a:r>
                        <a:rPr lang="en" sz="1100" u="none" strike="noStrike" cap="none" err="1">
                          <a:solidFill>
                            <a:srgbClr val="28292A"/>
                          </a:solidFill>
                          <a:latin typeface="Calibri"/>
                          <a:ea typeface="Calibri"/>
                          <a:cs typeface="Calibri"/>
                          <a:sym typeface="Calibri"/>
                        </a:rPr>
                        <a:t>Dsci</a:t>
                      </a:r>
                      <a:r>
                        <a:rPr lang="en" sz="1100" u="none" strike="noStrike" cap="none">
                          <a:solidFill>
                            <a:srgbClr val="28292A"/>
                          </a:solidFill>
                          <a:latin typeface="Calibri"/>
                          <a:ea typeface="Calibri"/>
                          <a:cs typeface="Calibri"/>
                          <a:sym typeface="Calibri"/>
                        </a:rPr>
                        <a:t> Decision)</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PERIODSET</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0.99</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515975">
                <a:tc>
                  <a:txBody>
                    <a:bodyPr/>
                    <a:lstStyle/>
                    <a:p>
                      <a:pPr marL="0" marR="0" lvl="0" indent="0" algn="ctr" rtl="0">
                        <a:lnSpc>
                          <a:spcPct val="100000"/>
                        </a:lnSpc>
                        <a:spcBef>
                          <a:spcPts val="0"/>
                        </a:spcBef>
                        <a:spcAft>
                          <a:spcPts val="0"/>
                        </a:spcAft>
                        <a:buClr>
                          <a:schemeClr val="dk1"/>
                        </a:buClr>
                        <a:buSzPts val="800"/>
                        <a:buFont typeface="Arial"/>
                        <a:buNone/>
                      </a:pPr>
                      <a:r>
                        <a:rPr lang="en" sz="1100" u="none" strike="noStrike" cap="none">
                          <a:solidFill>
                            <a:srgbClr val="28292A"/>
                          </a:solidFill>
                          <a:latin typeface="Calibri"/>
                          <a:ea typeface="Calibri"/>
                          <a:cs typeface="Calibri"/>
                          <a:sym typeface="Calibri"/>
                        </a:rPr>
                        <a:t>FOVA</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FOVA_LT_CONF_LEVEL_BW</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Confidence level used to retrieve the value of </a:t>
                      </a:r>
                      <a:r>
                        <a:rPr lang="en" sz="1100" u="none" strike="noStrike" cap="none" err="1">
                          <a:solidFill>
                            <a:srgbClr val="28292A"/>
                          </a:solidFill>
                          <a:latin typeface="Calibri"/>
                          <a:ea typeface="Calibri"/>
                          <a:cs typeface="Calibri"/>
                          <a:sym typeface="Calibri"/>
                        </a:rPr>
                        <a:t>tvalue</a:t>
                      </a:r>
                      <a:r>
                        <a:rPr lang="en" sz="1100" u="none" strike="noStrike" cap="none">
                          <a:solidFill>
                            <a:srgbClr val="28292A"/>
                          </a:solidFill>
                          <a:latin typeface="Calibri"/>
                          <a:ea typeface="Calibri"/>
                          <a:cs typeface="Calibri"/>
                          <a:sym typeface="Calibri"/>
                        </a:rPr>
                        <a:t> for bi-weekly. (</a:t>
                      </a:r>
                      <a:r>
                        <a:rPr lang="en" sz="1100" u="none" strike="noStrike" cap="none" err="1">
                          <a:solidFill>
                            <a:srgbClr val="28292A"/>
                          </a:solidFill>
                          <a:latin typeface="Calibri"/>
                          <a:ea typeface="Calibri"/>
                          <a:cs typeface="Calibri"/>
                          <a:sym typeface="Calibri"/>
                        </a:rPr>
                        <a:t>Dsci</a:t>
                      </a:r>
                      <a:r>
                        <a:rPr lang="en" sz="1100" u="none" strike="noStrike" cap="none">
                          <a:solidFill>
                            <a:srgbClr val="28292A"/>
                          </a:solidFill>
                          <a:latin typeface="Calibri"/>
                          <a:ea typeface="Calibri"/>
                          <a:cs typeface="Calibri"/>
                          <a:sym typeface="Calibri"/>
                        </a:rPr>
                        <a:t> Decision)</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PERIODSET</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0.95</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581300">
                <a:tc>
                  <a:txBody>
                    <a:bodyPr/>
                    <a:lstStyle/>
                    <a:p>
                      <a:pPr marL="0" marR="0" lvl="0" indent="0" algn="ctr" rtl="0">
                        <a:lnSpc>
                          <a:spcPct val="100000"/>
                        </a:lnSpc>
                        <a:spcBef>
                          <a:spcPts val="0"/>
                        </a:spcBef>
                        <a:spcAft>
                          <a:spcPts val="0"/>
                        </a:spcAft>
                        <a:buClr>
                          <a:schemeClr val="dk1"/>
                        </a:buClr>
                        <a:buSzPts val="800"/>
                        <a:buFont typeface="Arial"/>
                        <a:buNone/>
                      </a:pPr>
                      <a:r>
                        <a:rPr lang="en" sz="1100" u="none" strike="noStrike" cap="none">
                          <a:solidFill>
                            <a:srgbClr val="28292A"/>
                          </a:solidFill>
                          <a:latin typeface="Calibri"/>
                          <a:ea typeface="Calibri"/>
                          <a:cs typeface="Calibri"/>
                          <a:sym typeface="Calibri"/>
                        </a:rPr>
                        <a:t>FOVA</a:t>
                      </a:r>
                      <a:endParaRPr sz="1100" u="none" strike="noStrike" cap="none"/>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FOVA_ON_SMALL_STORES</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u="none" strike="noStrike" cap="none">
                          <a:solidFill>
                            <a:srgbClr val="28292A"/>
                          </a:solidFill>
                          <a:latin typeface="Calibri"/>
                          <a:ea typeface="Calibri"/>
                          <a:cs typeface="Calibri"/>
                          <a:sym typeface="Calibri"/>
                        </a:rPr>
                        <a:t>Small store validation into FOVA has to be enabled or not</a:t>
                      </a:r>
                      <a:endParaRPr sz="11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GENERAL</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00"/>
                        <a:buFont typeface="Arial"/>
                        <a:buNone/>
                      </a:pPr>
                      <a:r>
                        <a:rPr lang="en" sz="1100" b="1" u="none" strike="noStrike" cap="none">
                          <a:solidFill>
                            <a:srgbClr val="FF0000"/>
                          </a:solidFill>
                          <a:latin typeface="Calibri"/>
                          <a:ea typeface="Calibri"/>
                          <a:cs typeface="Calibri"/>
                          <a:sym typeface="Calibri"/>
                        </a:rPr>
                        <a:t>N</a:t>
                      </a:r>
                      <a:endParaRPr sz="1100" b="1" u="none" strike="noStrike" cap="none">
                        <a:solidFill>
                          <a:srgbClr val="FF0000"/>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bl>
          </a:graphicData>
        </a:graphic>
      </p:graphicFrame>
      <p:sp>
        <p:nvSpPr>
          <p:cNvPr id="1460" name="Google Shape;1460;p186"/>
          <p:cNvSpPr txBox="1"/>
          <p:nvPr/>
        </p:nvSpPr>
        <p:spPr>
          <a:xfrm>
            <a:off x="284847" y="42959"/>
            <a:ext cx="4158600" cy="284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9DD9"/>
                </a:solidFill>
                <a:latin typeface="Calibri"/>
                <a:ea typeface="Calibri"/>
                <a:cs typeface="Calibri"/>
                <a:sym typeface="Calibri"/>
              </a:rPr>
              <a:t>Parameters with default value</a:t>
            </a:r>
            <a:endParaRPr sz="2400" b="1" i="0" u="none" strike="noStrike" cap="none">
              <a:solidFill>
                <a:srgbClr val="009DD9"/>
              </a:solidFill>
              <a:latin typeface="Calibri"/>
              <a:ea typeface="Calibri"/>
              <a:cs typeface="Calibri"/>
              <a:sym typeface="Calibri"/>
            </a:endParaRPr>
          </a:p>
          <a:p>
            <a:pPr marL="285750" marR="0" lvl="0" indent="-240982" algn="l" rtl="0">
              <a:lnSpc>
                <a:spcPct val="100000"/>
              </a:lnSpc>
              <a:spcBef>
                <a:spcPts val="0"/>
              </a:spcBef>
              <a:spcAft>
                <a:spcPts val="0"/>
              </a:spcAft>
              <a:buClr>
                <a:srgbClr val="5F5F5F"/>
              </a:buClr>
              <a:buSzPts val="630"/>
              <a:buFont typeface="Arial"/>
              <a:buNone/>
            </a:pPr>
            <a:endParaRPr sz="1400" b="0" i="0" u="none" strike="noStrike" cap="none">
              <a:solidFill>
                <a:srgbClr val="000000"/>
              </a:solidFill>
              <a:latin typeface="Arial"/>
              <a:ea typeface="Arial"/>
              <a:cs typeface="Arial"/>
              <a:sym typeface="Arial"/>
            </a:endParaRPr>
          </a:p>
          <a:p>
            <a:pPr marL="285750" marR="0" lvl="0" indent="-280987"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p:txBody>
      </p:sp>
      <p:sp>
        <p:nvSpPr>
          <p:cNvPr id="1461" name="Google Shape;1461;p186"/>
          <p:cNvSpPr/>
          <p:nvPr/>
        </p:nvSpPr>
        <p:spPr>
          <a:xfrm>
            <a:off x="7126900" y="57150"/>
            <a:ext cx="14076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3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65"/>
        <p:cNvGrpSpPr/>
        <p:nvPr/>
      </p:nvGrpSpPr>
      <p:grpSpPr>
        <a:xfrm>
          <a:off x="0" y="0"/>
          <a:ext cx="0" cy="0"/>
          <a:chOff x="0" y="0"/>
          <a:chExt cx="0" cy="0"/>
        </a:xfrm>
      </p:grpSpPr>
      <p:graphicFrame>
        <p:nvGraphicFramePr>
          <p:cNvPr id="1466" name="Google Shape;1466;p187"/>
          <p:cNvGraphicFramePr/>
          <p:nvPr>
            <p:extLst>
              <p:ext uri="{D42A27DB-BD31-4B8C-83A1-F6EECF244321}">
                <p14:modId xmlns:p14="http://schemas.microsoft.com/office/powerpoint/2010/main" val="1739134238"/>
              </p:ext>
            </p:extLst>
          </p:nvPr>
        </p:nvGraphicFramePr>
        <p:xfrm>
          <a:off x="762035" y="689402"/>
          <a:ext cx="7549450" cy="1439675"/>
        </p:xfrm>
        <a:graphic>
          <a:graphicData uri="http://schemas.openxmlformats.org/drawingml/2006/table">
            <a:tbl>
              <a:tblPr>
                <a:noFill/>
                <a:tableStyleId>{C70574C8-F969-49A7-8605-77D3504E23D5}</a:tableStyleId>
              </a:tblPr>
              <a:tblGrid>
                <a:gridCol w="1555375">
                  <a:extLst>
                    <a:ext uri="{9D8B030D-6E8A-4147-A177-3AD203B41FA5}">
                      <a16:colId xmlns:a16="http://schemas.microsoft.com/office/drawing/2014/main" val="20000"/>
                    </a:ext>
                  </a:extLst>
                </a:gridCol>
                <a:gridCol w="5994075">
                  <a:extLst>
                    <a:ext uri="{9D8B030D-6E8A-4147-A177-3AD203B41FA5}">
                      <a16:colId xmlns:a16="http://schemas.microsoft.com/office/drawing/2014/main" val="20001"/>
                    </a:ext>
                  </a:extLst>
                </a:gridCol>
              </a:tblGrid>
              <a:tr h="394025">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MONITOR TAG</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b="1" u="none" strike="noStrike" cap="none">
                          <a:solidFill>
                            <a:srgbClr val="28292A"/>
                          </a:solidFill>
                          <a:latin typeface="Calibri"/>
                          <a:ea typeface="Calibri"/>
                          <a:cs typeface="Calibri"/>
                          <a:sym typeface="Calibri"/>
                        </a:rPr>
                        <a:t>DESCRIPTION</a:t>
                      </a:r>
                      <a:endParaRPr sz="12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3485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351</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DATA_GOOD - NEW LT TREND OK</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485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352</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ESTIMATION PROPOSED - NEW LT TREND NOT OK</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4855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353</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SMALL STORE TRUNCATE STRUCTURE</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1467" name="Google Shape;1467;p187"/>
          <p:cNvSpPr txBox="1"/>
          <p:nvPr/>
        </p:nvSpPr>
        <p:spPr>
          <a:xfrm>
            <a:off x="357331" y="3775"/>
            <a:ext cx="33252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82D1"/>
                </a:solidFill>
                <a:latin typeface="Calibri"/>
                <a:ea typeface="Calibri"/>
                <a:cs typeface="Calibri"/>
                <a:sym typeface="Calibri"/>
              </a:rPr>
              <a:t>New FOVA Monitor Tag</a:t>
            </a:r>
            <a:endParaRPr sz="2400" b="0" i="0" u="none" strike="noStrike" cap="none">
              <a:solidFill>
                <a:srgbClr val="000000"/>
              </a:solidFill>
              <a:latin typeface="Calibri"/>
              <a:ea typeface="Calibri"/>
              <a:cs typeface="Calibri"/>
              <a:sym typeface="Calibri"/>
            </a:endParaRPr>
          </a:p>
        </p:txBody>
      </p:sp>
      <p:sp>
        <p:nvSpPr>
          <p:cNvPr id="1468" name="Google Shape;1468;p187"/>
          <p:cNvSpPr/>
          <p:nvPr/>
        </p:nvSpPr>
        <p:spPr>
          <a:xfrm>
            <a:off x="7156500" y="57150"/>
            <a:ext cx="13779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
        <p:nvSpPr>
          <p:cNvPr id="1469" name="Google Shape;1469;p187"/>
          <p:cNvSpPr txBox="1"/>
          <p:nvPr/>
        </p:nvSpPr>
        <p:spPr>
          <a:xfrm>
            <a:off x="762035" y="2351314"/>
            <a:ext cx="7485000" cy="3924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Note: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endParaRPr sz="600"/>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Small Store validation process is recommended for Weekly Periodicity because of data availability for Trend Calculations via FOVA PARAMETERS LT process. </a:t>
            </a:r>
            <a:endParaRPr sz="1400" b="0" i="0" u="none" strike="noStrike" cap="none">
              <a:solidFill>
                <a:srgbClr val="000000"/>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3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73"/>
        <p:cNvGrpSpPr/>
        <p:nvPr/>
      </p:nvGrpSpPr>
      <p:grpSpPr>
        <a:xfrm>
          <a:off x="0" y="0"/>
          <a:ext cx="0" cy="0"/>
          <a:chOff x="0" y="0"/>
          <a:chExt cx="0" cy="0"/>
        </a:xfrm>
      </p:grpSpPr>
      <p:graphicFrame>
        <p:nvGraphicFramePr>
          <p:cNvPr id="1474" name="Google Shape;1474;p188"/>
          <p:cNvGraphicFramePr/>
          <p:nvPr>
            <p:extLst>
              <p:ext uri="{D42A27DB-BD31-4B8C-83A1-F6EECF244321}">
                <p14:modId xmlns:p14="http://schemas.microsoft.com/office/powerpoint/2010/main" val="2100495106"/>
              </p:ext>
            </p:extLst>
          </p:nvPr>
        </p:nvGraphicFramePr>
        <p:xfrm>
          <a:off x="383126" y="507656"/>
          <a:ext cx="8561025" cy="4510900"/>
        </p:xfrm>
        <a:graphic>
          <a:graphicData uri="http://schemas.openxmlformats.org/drawingml/2006/table">
            <a:tbl>
              <a:tblPr>
                <a:noFill/>
                <a:tableStyleId>{C70574C8-F969-49A7-8605-77D3504E23D5}</a:tableStyleId>
              </a:tblPr>
              <a:tblGrid>
                <a:gridCol w="2193975">
                  <a:extLst>
                    <a:ext uri="{9D8B030D-6E8A-4147-A177-3AD203B41FA5}">
                      <a16:colId xmlns:a16="http://schemas.microsoft.com/office/drawing/2014/main" val="20000"/>
                    </a:ext>
                  </a:extLst>
                </a:gridCol>
                <a:gridCol w="2343925">
                  <a:extLst>
                    <a:ext uri="{9D8B030D-6E8A-4147-A177-3AD203B41FA5}">
                      <a16:colId xmlns:a16="http://schemas.microsoft.com/office/drawing/2014/main" val="20001"/>
                    </a:ext>
                  </a:extLst>
                </a:gridCol>
                <a:gridCol w="4023125">
                  <a:extLst>
                    <a:ext uri="{9D8B030D-6E8A-4147-A177-3AD203B41FA5}">
                      <a16:colId xmlns:a16="http://schemas.microsoft.com/office/drawing/2014/main" val="20002"/>
                    </a:ext>
                  </a:extLst>
                </a:gridCol>
              </a:tblGrid>
              <a:tr h="337325">
                <a:tc>
                  <a:txBody>
                    <a:bodyPr/>
                    <a:lstStyle/>
                    <a:p>
                      <a:pPr marL="0" marR="0" lvl="0" indent="0" algn="ctr" rtl="0">
                        <a:lnSpc>
                          <a:spcPct val="100000"/>
                        </a:lnSpc>
                        <a:spcBef>
                          <a:spcPts val="0"/>
                        </a:spcBef>
                        <a:spcAft>
                          <a:spcPts val="0"/>
                        </a:spcAft>
                        <a:buClr>
                          <a:schemeClr val="dk1"/>
                        </a:buClr>
                        <a:buSzPts val="800"/>
                        <a:buFont typeface="Arial"/>
                        <a:buNone/>
                      </a:pPr>
                      <a:r>
                        <a:rPr lang="en" sz="1400" b="1" u="none" strike="noStrike" cap="none">
                          <a:solidFill>
                            <a:srgbClr val="28292A"/>
                          </a:solidFill>
                          <a:latin typeface="Calibri"/>
                          <a:ea typeface="Calibri"/>
                          <a:cs typeface="Calibri"/>
                          <a:sym typeface="Calibri"/>
                        </a:rPr>
                        <a:t>PROCESS ID</a:t>
                      </a:r>
                      <a:endParaRPr sz="15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28292A"/>
                          </a:solidFill>
                          <a:latin typeface="Calibri"/>
                          <a:ea typeface="Calibri"/>
                          <a:cs typeface="Calibri"/>
                          <a:sym typeface="Calibri"/>
                        </a:rPr>
                        <a:t>STATISTIC TAGS</a:t>
                      </a:r>
                      <a:endParaRPr sz="14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28292A"/>
                          </a:solidFill>
                          <a:latin typeface="Calibri"/>
                          <a:ea typeface="Calibri"/>
                          <a:cs typeface="Calibri"/>
                          <a:sym typeface="Calibri"/>
                        </a:rPr>
                        <a:t>DESCRIPTION</a:t>
                      </a:r>
                      <a:endParaRPr sz="1400" b="1"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C9DAF8"/>
                    </a:solidFill>
                  </a:tcPr>
                </a:tc>
                <a:extLst>
                  <a:ext uri="{0D108BD9-81ED-4DB2-BD59-A6C34878D82A}">
                    <a16:rowId xmlns:a16="http://schemas.microsoft.com/office/drawing/2014/main" val="10000"/>
                  </a:ext>
                </a:extLst>
              </a:tr>
              <a:tr h="3113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370</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EVALUATION</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1"/>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371</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WEEKLY TREND</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2"/>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372</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BI WEEKLY TREND</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3"/>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373</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SALES VALUE</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4"/>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374</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SALES VALUE PREV</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5"/>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375</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SALES MIN 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6"/>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376</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SALES MAX 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7"/>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377</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WEEKLY TREND MIN 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8"/>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378</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WEEKLY TREND MAX 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09"/>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379</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BI WEEKLY TREND MIN 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10"/>
                  </a:ext>
                </a:extLst>
              </a:tr>
              <a:tr h="311375">
                <a:tc>
                  <a:txBody>
                    <a:bodyPr/>
                    <a:lstStyle/>
                    <a:p>
                      <a:pPr marL="0" marR="0" lvl="0" indent="0" algn="ctr" rtl="0">
                        <a:lnSpc>
                          <a:spcPct val="100000"/>
                        </a:lnSpc>
                        <a:spcBef>
                          <a:spcPts val="0"/>
                        </a:spcBef>
                        <a:spcAft>
                          <a:spcPts val="0"/>
                        </a:spcAft>
                        <a:buClr>
                          <a:schemeClr val="dk1"/>
                        </a:buClr>
                        <a:buSzPts val="8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380</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BI WEEKLY TREND MAX LIMIT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11"/>
                  </a:ext>
                </a:extLst>
              </a:tr>
              <a:tr h="3113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381</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NREC CURRENT</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12"/>
                  </a:ext>
                </a:extLst>
              </a:tr>
              <a:tr h="3113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FOVA</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382</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8292A"/>
                          </a:solidFill>
                          <a:latin typeface="Calibri"/>
                          <a:ea typeface="Calibri"/>
                          <a:cs typeface="Calibri"/>
                          <a:sym typeface="Calibri"/>
                        </a:rPr>
                        <a:t>LT NREC LGP</a:t>
                      </a:r>
                      <a:endParaRPr sz="1200" u="none" strike="noStrike" cap="none">
                        <a:solidFill>
                          <a:srgbClr val="28292A"/>
                        </a:solidFill>
                        <a:latin typeface="Calibri"/>
                        <a:ea typeface="Calibri"/>
                        <a:cs typeface="Calibri"/>
                        <a:sym typeface="Calibri"/>
                      </a:endParaRPr>
                    </a:p>
                  </a:txBody>
                  <a:tcPr marL="91425" marR="91425" marT="68575" marB="68575" anchor="ctr">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tcPr>
                </a:tc>
                <a:extLst>
                  <a:ext uri="{0D108BD9-81ED-4DB2-BD59-A6C34878D82A}">
                    <a16:rowId xmlns:a16="http://schemas.microsoft.com/office/drawing/2014/main" val="10013"/>
                  </a:ext>
                </a:extLst>
              </a:tr>
            </a:tbl>
          </a:graphicData>
        </a:graphic>
      </p:graphicFrame>
      <p:sp>
        <p:nvSpPr>
          <p:cNvPr id="1475" name="Google Shape;1475;p188"/>
          <p:cNvSpPr txBox="1"/>
          <p:nvPr/>
        </p:nvSpPr>
        <p:spPr>
          <a:xfrm>
            <a:off x="281127" y="3775"/>
            <a:ext cx="67443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82D1"/>
                </a:solidFill>
                <a:latin typeface="Calibri"/>
                <a:ea typeface="Calibri"/>
                <a:cs typeface="Calibri"/>
                <a:sym typeface="Calibri"/>
              </a:rPr>
              <a:t>New Parameter tags introduced in </a:t>
            </a:r>
            <a:r>
              <a:rPr lang="en" sz="2400" b="1" i="0" u="none" strike="noStrike" cap="none" err="1">
                <a:solidFill>
                  <a:srgbClr val="0082D1"/>
                </a:solidFill>
                <a:latin typeface="Calibri"/>
                <a:ea typeface="Calibri"/>
                <a:cs typeface="Calibri"/>
                <a:sym typeface="Calibri"/>
              </a:rPr>
              <a:t>Storestats</a:t>
            </a:r>
            <a:r>
              <a:rPr lang="en" sz="2400" b="1" i="0" u="none" strike="noStrike" cap="none">
                <a:solidFill>
                  <a:srgbClr val="0082D1"/>
                </a:solidFill>
                <a:latin typeface="Calibri"/>
                <a:ea typeface="Calibri"/>
                <a:cs typeface="Calibri"/>
                <a:sym typeface="Calibri"/>
              </a:rPr>
              <a:t> table</a:t>
            </a:r>
            <a:endParaRPr sz="2400" b="0" i="0" u="none" strike="noStrike" cap="none">
              <a:solidFill>
                <a:srgbClr val="000000"/>
              </a:solidFill>
              <a:latin typeface="Calibri"/>
              <a:ea typeface="Calibri"/>
              <a:cs typeface="Calibri"/>
              <a:sym typeface="Calibri"/>
            </a:endParaRPr>
          </a:p>
        </p:txBody>
      </p:sp>
      <p:sp>
        <p:nvSpPr>
          <p:cNvPr id="1476" name="Google Shape;1476;p188"/>
          <p:cNvSpPr/>
          <p:nvPr/>
        </p:nvSpPr>
        <p:spPr>
          <a:xfrm>
            <a:off x="7156500" y="133350"/>
            <a:ext cx="13779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3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80"/>
        <p:cNvGrpSpPr/>
        <p:nvPr/>
      </p:nvGrpSpPr>
      <p:grpSpPr>
        <a:xfrm>
          <a:off x="0" y="0"/>
          <a:ext cx="0" cy="0"/>
          <a:chOff x="0" y="0"/>
          <a:chExt cx="0" cy="0"/>
        </a:xfrm>
      </p:grpSpPr>
      <p:sp>
        <p:nvSpPr>
          <p:cNvPr id="1481" name="Google Shape;1481;p189"/>
          <p:cNvSpPr txBox="1"/>
          <p:nvPr/>
        </p:nvSpPr>
        <p:spPr>
          <a:xfrm>
            <a:off x="725750" y="831388"/>
            <a:ext cx="7252500" cy="4728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latin typeface="Calibri"/>
                <a:ea typeface="Calibri"/>
                <a:cs typeface="Calibri"/>
                <a:sym typeface="Calibri"/>
              </a:rPr>
              <a:t>Result Report Section</a:t>
            </a:r>
            <a:endParaRPr sz="1800" b="1" i="0" u="none" strike="noStrike" cap="none">
              <a:latin typeface="Calibri"/>
              <a:ea typeface="Calibri"/>
              <a:cs typeface="Calibri"/>
              <a:sym typeface="Calibri"/>
            </a:endParaRPr>
          </a:p>
          <a:p>
            <a:pPr marL="285750" marR="0" lvl="0" indent="-240982" algn="l" rtl="0">
              <a:lnSpc>
                <a:spcPct val="100000"/>
              </a:lnSpc>
              <a:spcBef>
                <a:spcPts val="0"/>
              </a:spcBef>
              <a:spcAft>
                <a:spcPts val="0"/>
              </a:spcAft>
              <a:buClr>
                <a:srgbClr val="5F5F5F"/>
              </a:buClr>
              <a:buSzPts val="630"/>
              <a:buFont typeface="Arial"/>
              <a:buNone/>
            </a:pPr>
            <a:endParaRPr sz="1400" b="0" i="0" u="none" strike="noStrike" cap="none">
              <a:solidFill>
                <a:srgbClr val="000000"/>
              </a:solidFill>
              <a:latin typeface="Arial"/>
              <a:ea typeface="Arial"/>
              <a:cs typeface="Arial"/>
              <a:sym typeface="Arial"/>
            </a:endParaRPr>
          </a:p>
          <a:p>
            <a:pPr marL="285750" marR="0" lvl="0" indent="-280987"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p:txBody>
      </p:sp>
      <p:pic>
        <p:nvPicPr>
          <p:cNvPr id="1482" name="Google Shape;1482;p189"/>
          <p:cNvPicPr preferRelativeResize="0"/>
          <p:nvPr/>
        </p:nvPicPr>
        <p:blipFill rotWithShape="1">
          <a:blip r:embed="rId4">
            <a:alphaModFix/>
          </a:blip>
          <a:srcRect/>
          <a:stretch/>
        </p:blipFill>
        <p:spPr>
          <a:xfrm>
            <a:off x="801950" y="1304199"/>
            <a:ext cx="6849576" cy="3412851"/>
          </a:xfrm>
          <a:prstGeom prst="rect">
            <a:avLst/>
          </a:prstGeom>
          <a:noFill/>
          <a:ln>
            <a:noFill/>
          </a:ln>
        </p:spPr>
      </p:pic>
      <p:sp>
        <p:nvSpPr>
          <p:cNvPr id="1483" name="Google Shape;1483;p189"/>
          <p:cNvSpPr txBox="1"/>
          <p:nvPr/>
        </p:nvSpPr>
        <p:spPr>
          <a:xfrm>
            <a:off x="357331" y="79975"/>
            <a:ext cx="38136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82D1"/>
                </a:solidFill>
                <a:latin typeface="Calibri"/>
                <a:ea typeface="Calibri"/>
                <a:cs typeface="Calibri"/>
                <a:sym typeface="Calibri"/>
              </a:rPr>
              <a:t>Small Store FOVA Validation</a:t>
            </a:r>
            <a:endParaRPr sz="2400" b="0" i="0" u="none" strike="noStrike" cap="none">
              <a:solidFill>
                <a:srgbClr val="000000"/>
              </a:solidFill>
              <a:latin typeface="Calibri"/>
              <a:ea typeface="Calibri"/>
              <a:cs typeface="Calibri"/>
              <a:sym typeface="Calibri"/>
            </a:endParaRPr>
          </a:p>
        </p:txBody>
      </p:sp>
      <p:sp>
        <p:nvSpPr>
          <p:cNvPr id="1484" name="Google Shape;1484;p189"/>
          <p:cNvSpPr/>
          <p:nvPr/>
        </p:nvSpPr>
        <p:spPr>
          <a:xfrm>
            <a:off x="7193500" y="57150"/>
            <a:ext cx="13410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88"/>
        <p:cNvGrpSpPr/>
        <p:nvPr/>
      </p:nvGrpSpPr>
      <p:grpSpPr>
        <a:xfrm>
          <a:off x="0" y="0"/>
          <a:ext cx="0" cy="0"/>
          <a:chOff x="0" y="0"/>
          <a:chExt cx="0" cy="0"/>
        </a:xfrm>
      </p:grpSpPr>
      <p:sp>
        <p:nvSpPr>
          <p:cNvPr id="1489" name="Google Shape;1489;p190"/>
          <p:cNvSpPr txBox="1"/>
          <p:nvPr/>
        </p:nvSpPr>
        <p:spPr>
          <a:xfrm>
            <a:off x="571450" y="981553"/>
            <a:ext cx="7252500" cy="4728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latin typeface="Calibri"/>
                <a:ea typeface="Calibri"/>
                <a:cs typeface="Calibri"/>
                <a:sym typeface="Calibri"/>
              </a:rPr>
              <a:t>Result Report Section : (Daily data Store)</a:t>
            </a:r>
            <a:endParaRPr sz="1800" b="1" i="0" u="none" strike="noStrike" cap="none">
              <a:latin typeface="Calibri"/>
              <a:ea typeface="Calibri"/>
              <a:cs typeface="Calibri"/>
              <a:sym typeface="Calibri"/>
            </a:endParaRPr>
          </a:p>
          <a:p>
            <a:pPr marL="285750" marR="0" lvl="0" indent="-240982" algn="l" rtl="0">
              <a:lnSpc>
                <a:spcPct val="100000"/>
              </a:lnSpc>
              <a:spcBef>
                <a:spcPts val="0"/>
              </a:spcBef>
              <a:spcAft>
                <a:spcPts val="0"/>
              </a:spcAft>
              <a:buClr>
                <a:srgbClr val="5F5F5F"/>
              </a:buClr>
              <a:buSzPts val="630"/>
              <a:buFont typeface="Arial"/>
              <a:buNone/>
            </a:pPr>
            <a:endParaRPr sz="1400" b="0" i="0" u="none" strike="noStrike" cap="none">
              <a:solidFill>
                <a:srgbClr val="000000"/>
              </a:solidFill>
              <a:latin typeface="Arial"/>
              <a:ea typeface="Arial"/>
              <a:cs typeface="Arial"/>
              <a:sym typeface="Arial"/>
            </a:endParaRPr>
          </a:p>
          <a:p>
            <a:pPr marL="285750" marR="0" lvl="0" indent="-280987"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000000"/>
              </a:solidFill>
              <a:latin typeface="Calibri"/>
              <a:ea typeface="Calibri"/>
              <a:cs typeface="Calibri"/>
              <a:sym typeface="Calibri"/>
            </a:endParaRPr>
          </a:p>
        </p:txBody>
      </p:sp>
      <p:pic>
        <p:nvPicPr>
          <p:cNvPr id="1490" name="Google Shape;1490;p190"/>
          <p:cNvPicPr preferRelativeResize="0"/>
          <p:nvPr/>
        </p:nvPicPr>
        <p:blipFill rotWithShape="1">
          <a:blip r:embed="rId4">
            <a:alphaModFix/>
          </a:blip>
          <a:srcRect/>
          <a:stretch/>
        </p:blipFill>
        <p:spPr>
          <a:xfrm>
            <a:off x="665150" y="1400322"/>
            <a:ext cx="7779824" cy="3365750"/>
          </a:xfrm>
          <a:prstGeom prst="rect">
            <a:avLst/>
          </a:prstGeom>
          <a:noFill/>
          <a:ln>
            <a:noFill/>
          </a:ln>
        </p:spPr>
      </p:pic>
      <p:sp>
        <p:nvSpPr>
          <p:cNvPr id="1491" name="Google Shape;1491;p190"/>
          <p:cNvSpPr txBox="1"/>
          <p:nvPr/>
        </p:nvSpPr>
        <p:spPr>
          <a:xfrm>
            <a:off x="357331" y="79975"/>
            <a:ext cx="3776700" cy="338700"/>
          </a:xfrm>
          <a:prstGeom prst="rect">
            <a:avLst/>
          </a:prstGeom>
          <a:noFill/>
          <a:ln>
            <a:noFill/>
          </a:ln>
        </p:spPr>
        <p:txBody>
          <a:bodyPr spcFirstLastPara="1" wrap="square" lIns="90000" tIns="46800" rIns="90000" bIns="468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 sz="2400" b="1" i="0" u="none" strike="noStrike" cap="none">
                <a:solidFill>
                  <a:srgbClr val="0082D1"/>
                </a:solidFill>
                <a:latin typeface="Calibri"/>
                <a:ea typeface="Calibri"/>
                <a:cs typeface="Calibri"/>
                <a:sym typeface="Calibri"/>
              </a:rPr>
              <a:t>Small Store FOVA Validation</a:t>
            </a:r>
            <a:endParaRPr sz="2400" b="0" i="0" u="none" strike="noStrike" cap="none">
              <a:solidFill>
                <a:srgbClr val="000000"/>
              </a:solidFill>
              <a:latin typeface="Calibri"/>
              <a:ea typeface="Calibri"/>
              <a:cs typeface="Calibri"/>
              <a:sym typeface="Calibri"/>
            </a:endParaRPr>
          </a:p>
        </p:txBody>
      </p:sp>
      <p:sp>
        <p:nvSpPr>
          <p:cNvPr id="1492" name="Google Shape;1492;p190"/>
          <p:cNvSpPr/>
          <p:nvPr/>
        </p:nvSpPr>
        <p:spPr>
          <a:xfrm>
            <a:off x="7097300" y="57150"/>
            <a:ext cx="14370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chemeClr val="lt1"/>
                </a:solidFill>
                <a:latin typeface="Arial"/>
                <a:ea typeface="Arial"/>
                <a:cs typeface="Arial"/>
                <a:sym typeface="Arial"/>
              </a:rPr>
              <a:t>Nov’19 CR</a:t>
            </a:r>
            <a:endParaRPr sz="18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496"/>
        <p:cNvGrpSpPr/>
        <p:nvPr/>
      </p:nvGrpSpPr>
      <p:grpSpPr>
        <a:xfrm>
          <a:off x="0" y="0"/>
          <a:ext cx="0" cy="0"/>
          <a:chOff x="0" y="0"/>
          <a:chExt cx="0" cy="0"/>
        </a:xfrm>
      </p:grpSpPr>
      <p:sp>
        <p:nvSpPr>
          <p:cNvPr id="1497" name="Google Shape;1497;p191"/>
          <p:cNvSpPr txBox="1">
            <a:spLocks noGrp="1"/>
          </p:cNvSpPr>
          <p:nvPr>
            <p:ph type="title"/>
          </p:nvPr>
        </p:nvSpPr>
        <p:spPr>
          <a:xfrm>
            <a:off x="304800" y="63113"/>
            <a:ext cx="6999000" cy="3369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400"/>
              <a:t>US Validation, FOVA: Store format change identification</a:t>
            </a:r>
            <a:endParaRPr sz="2400"/>
          </a:p>
        </p:txBody>
      </p:sp>
      <p:sp>
        <p:nvSpPr>
          <p:cNvPr id="1498" name="Google Shape;1498;p191"/>
          <p:cNvSpPr txBox="1">
            <a:spLocks noGrp="1"/>
          </p:cNvSpPr>
          <p:nvPr>
            <p:ph type="body" idx="1"/>
          </p:nvPr>
        </p:nvSpPr>
        <p:spPr>
          <a:xfrm>
            <a:off x="228600" y="658669"/>
            <a:ext cx="8763000" cy="4370700"/>
          </a:xfrm>
          <a:prstGeom prst="rect">
            <a:avLst/>
          </a:prstGeom>
          <a:noFill/>
          <a:ln>
            <a:noFill/>
          </a:ln>
        </p:spPr>
        <p:txBody>
          <a:bodyPr spcFirstLastPara="1" wrap="square" lIns="91425" tIns="45700" rIns="91425" bIns="45700" anchor="t" anchorCtr="0">
            <a:noAutofit/>
          </a:bodyPr>
          <a:lstStyle/>
          <a:p>
            <a:pPr marL="457200" lvl="0" indent="-311150" algn="l" rtl="0">
              <a:lnSpc>
                <a:spcPct val="100000"/>
              </a:lnSpc>
              <a:spcBef>
                <a:spcPts val="0"/>
              </a:spcBef>
              <a:spcAft>
                <a:spcPts val="0"/>
              </a:spcAft>
              <a:buSzPts val="1300"/>
              <a:buChar char="•"/>
            </a:pPr>
            <a:r>
              <a:rPr lang="en" sz="1300"/>
              <a:t>FOVA Store format change identification is a set of be enhancements put in existing FOVA process for detecting better changes inside Store format.</a:t>
            </a:r>
            <a:endParaRPr sz="1500"/>
          </a:p>
          <a:p>
            <a:pPr marL="457200" lvl="0" indent="0" algn="l" rtl="0">
              <a:lnSpc>
                <a:spcPct val="100000"/>
              </a:lnSpc>
              <a:spcBef>
                <a:spcPts val="0"/>
              </a:spcBef>
              <a:spcAft>
                <a:spcPts val="0"/>
              </a:spcAft>
              <a:buNone/>
            </a:pPr>
            <a:endParaRPr sz="1300"/>
          </a:p>
          <a:p>
            <a:pPr marL="457200" lvl="0" indent="-311150" algn="l" rtl="0">
              <a:lnSpc>
                <a:spcPct val="100000"/>
              </a:lnSpc>
              <a:spcBef>
                <a:spcPts val="0"/>
              </a:spcBef>
              <a:spcAft>
                <a:spcPts val="0"/>
              </a:spcAft>
              <a:buSzPts val="1300"/>
              <a:buChar char="•"/>
            </a:pPr>
            <a:r>
              <a:rPr lang="en" sz="1300"/>
              <a:t>Process will now work on Supergroup FOVA test, which is now enhanced to work on number of modules instead of number of records. </a:t>
            </a:r>
            <a:endParaRPr sz="1300"/>
          </a:p>
          <a:p>
            <a:pPr marL="457200" lvl="0" indent="0" algn="l" rtl="0">
              <a:lnSpc>
                <a:spcPct val="100000"/>
              </a:lnSpc>
              <a:spcBef>
                <a:spcPts val="0"/>
              </a:spcBef>
              <a:spcAft>
                <a:spcPts val="0"/>
              </a:spcAft>
              <a:buNone/>
            </a:pPr>
            <a:endParaRPr sz="1300"/>
          </a:p>
          <a:p>
            <a:pPr marL="457200" lvl="0" indent="-311150" algn="l" rtl="0">
              <a:lnSpc>
                <a:spcPct val="100000"/>
              </a:lnSpc>
              <a:spcBef>
                <a:spcPts val="0"/>
              </a:spcBef>
              <a:spcAft>
                <a:spcPts val="0"/>
              </a:spcAft>
              <a:buSzPts val="1300"/>
              <a:buChar char="•"/>
            </a:pPr>
            <a:r>
              <a:rPr lang="en" sz="1300"/>
              <a:t>After look inside each individual Supergroup, process will first detect if the test is out of parameters to see if we have outlier there.</a:t>
            </a:r>
            <a:endParaRPr sz="1500"/>
          </a:p>
          <a:p>
            <a:pPr marL="457200" lvl="0" indent="0" algn="l" rtl="0">
              <a:lnSpc>
                <a:spcPct val="100000"/>
              </a:lnSpc>
              <a:spcBef>
                <a:spcPts val="0"/>
              </a:spcBef>
              <a:spcAft>
                <a:spcPts val="0"/>
              </a:spcAft>
              <a:buNone/>
            </a:pPr>
            <a:endParaRPr sz="1300"/>
          </a:p>
          <a:p>
            <a:pPr marL="457200" lvl="0" indent="-311150" algn="l" rtl="0">
              <a:lnSpc>
                <a:spcPct val="100000"/>
              </a:lnSpc>
              <a:spcBef>
                <a:spcPts val="0"/>
              </a:spcBef>
              <a:spcAft>
                <a:spcPts val="0"/>
              </a:spcAft>
              <a:buSzPts val="1300"/>
              <a:buChar char="•"/>
            </a:pPr>
            <a:r>
              <a:rPr lang="en" sz="1300"/>
              <a:t>Below are the changes made in </a:t>
            </a:r>
            <a:r>
              <a:rPr lang="en" sz="1300" err="1"/>
              <a:t>Fova_Parameters</a:t>
            </a:r>
            <a:r>
              <a:rPr lang="en" sz="1300"/>
              <a:t> &amp; </a:t>
            </a:r>
            <a:r>
              <a:rPr lang="en" sz="1300" err="1"/>
              <a:t>Fova</a:t>
            </a:r>
            <a:r>
              <a:rPr lang="en" sz="1300"/>
              <a:t> process</a:t>
            </a:r>
            <a:endParaRPr sz="1500"/>
          </a:p>
          <a:p>
            <a:pPr marL="0" lvl="0" indent="0" algn="l" rtl="0">
              <a:lnSpc>
                <a:spcPct val="100000"/>
              </a:lnSpc>
              <a:spcBef>
                <a:spcPts val="0"/>
              </a:spcBef>
              <a:spcAft>
                <a:spcPts val="0"/>
              </a:spcAft>
              <a:buSzPts val="1600"/>
              <a:buNone/>
            </a:pPr>
            <a:endParaRPr sz="1300"/>
          </a:p>
          <a:p>
            <a:pPr marL="457200" lvl="0" indent="-311150" algn="l" rtl="0">
              <a:lnSpc>
                <a:spcPct val="100000"/>
              </a:lnSpc>
              <a:spcBef>
                <a:spcPts val="0"/>
              </a:spcBef>
              <a:spcAft>
                <a:spcPts val="0"/>
              </a:spcAft>
              <a:buSzPts val="1300"/>
              <a:buChar char="•"/>
            </a:pPr>
            <a:r>
              <a:rPr lang="en" sz="1300" b="1" u="sng"/>
              <a:t>FOVA_PARAMETERS:</a:t>
            </a:r>
            <a:endParaRPr sz="1300"/>
          </a:p>
          <a:p>
            <a:pPr marL="0" lvl="0" indent="0" algn="l" rtl="0">
              <a:lnSpc>
                <a:spcPct val="100000"/>
              </a:lnSpc>
              <a:spcBef>
                <a:spcPts val="0"/>
              </a:spcBef>
              <a:spcAft>
                <a:spcPts val="0"/>
              </a:spcAft>
              <a:buSzPts val="1600"/>
              <a:buNone/>
            </a:pPr>
            <a:endParaRPr sz="1300"/>
          </a:p>
          <a:p>
            <a:pPr marL="457200" lvl="0" indent="-311150" algn="l" rtl="0">
              <a:lnSpc>
                <a:spcPct val="100000"/>
              </a:lnSpc>
              <a:spcBef>
                <a:spcPts val="0"/>
              </a:spcBef>
              <a:spcAft>
                <a:spcPts val="0"/>
              </a:spcAft>
              <a:buSzPts val="1300"/>
              <a:buChar char="•"/>
            </a:pPr>
            <a:r>
              <a:rPr lang="en" sz="1300"/>
              <a:t>New process will generate a new permanent table that holds the number of modules having sales and total sales by SG within each shop - “FOVA_STORE_SG table”.</a:t>
            </a:r>
            <a:endParaRPr sz="1500"/>
          </a:p>
          <a:p>
            <a:pPr marL="457200" lvl="0" indent="0" algn="l" rtl="0">
              <a:lnSpc>
                <a:spcPct val="100000"/>
              </a:lnSpc>
              <a:spcBef>
                <a:spcPts val="0"/>
              </a:spcBef>
              <a:spcAft>
                <a:spcPts val="0"/>
              </a:spcAft>
              <a:buNone/>
            </a:pPr>
            <a:endParaRPr sz="1300"/>
          </a:p>
          <a:p>
            <a:pPr marL="457200" lvl="0" indent="-311150" algn="l" rtl="0">
              <a:lnSpc>
                <a:spcPct val="100000"/>
              </a:lnSpc>
              <a:spcBef>
                <a:spcPts val="0"/>
              </a:spcBef>
              <a:spcAft>
                <a:spcPts val="0"/>
              </a:spcAft>
              <a:buSzPts val="1300"/>
              <a:buChar char="•"/>
            </a:pPr>
            <a:r>
              <a:rPr lang="en" sz="1300"/>
              <a:t>Table is structured by Period, Store &amp; Supergroup.</a:t>
            </a:r>
            <a:endParaRPr sz="1500"/>
          </a:p>
          <a:p>
            <a:pPr marL="457200" lvl="0" indent="0" algn="l" rtl="0">
              <a:lnSpc>
                <a:spcPct val="100000"/>
              </a:lnSpc>
              <a:spcBef>
                <a:spcPts val="0"/>
              </a:spcBef>
              <a:spcAft>
                <a:spcPts val="0"/>
              </a:spcAft>
              <a:buNone/>
            </a:pPr>
            <a:endParaRPr sz="1300"/>
          </a:p>
          <a:p>
            <a:pPr marL="457200" lvl="0" indent="-311150" algn="l" rtl="0">
              <a:lnSpc>
                <a:spcPct val="100000"/>
              </a:lnSpc>
              <a:spcBef>
                <a:spcPts val="0"/>
              </a:spcBef>
              <a:spcAft>
                <a:spcPts val="0"/>
              </a:spcAft>
              <a:buSzPts val="1300"/>
              <a:buChar char="•"/>
            </a:pPr>
            <a:r>
              <a:rPr lang="en" sz="1300"/>
              <a:t>Table is partitioned by period and sub-partitioned by hash on Store Id.</a:t>
            </a:r>
            <a:endParaRPr sz="1500"/>
          </a:p>
          <a:p>
            <a:pPr marL="457200" lvl="0" indent="0" algn="l" rtl="0">
              <a:lnSpc>
                <a:spcPct val="100000"/>
              </a:lnSpc>
              <a:spcBef>
                <a:spcPts val="0"/>
              </a:spcBef>
              <a:spcAft>
                <a:spcPts val="0"/>
              </a:spcAft>
              <a:buNone/>
            </a:pPr>
            <a:endParaRPr sz="1300"/>
          </a:p>
          <a:p>
            <a:pPr marL="457200" lvl="0" indent="-311150" algn="l" rtl="0">
              <a:lnSpc>
                <a:spcPct val="100000"/>
              </a:lnSpc>
              <a:spcBef>
                <a:spcPts val="0"/>
              </a:spcBef>
              <a:spcAft>
                <a:spcPts val="0"/>
              </a:spcAft>
              <a:buSzPts val="1300"/>
              <a:buChar char="•"/>
            </a:pPr>
            <a:r>
              <a:rPr lang="en" sz="1300"/>
              <a:t>A new calculation is introduced to calculate the new Alpha parameter by module.</a:t>
            </a:r>
            <a:endParaRPr sz="1300"/>
          </a:p>
        </p:txBody>
      </p:sp>
      <p:sp>
        <p:nvSpPr>
          <p:cNvPr id="1499" name="Google Shape;1499;p191"/>
          <p:cNvSpPr/>
          <p:nvPr/>
        </p:nvSpPr>
        <p:spPr>
          <a:xfrm>
            <a:off x="7239000" y="114300"/>
            <a:ext cx="12192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Jan’20 CR</a:t>
            </a:r>
            <a:endParaRPr sz="16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4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503"/>
        <p:cNvGrpSpPr/>
        <p:nvPr/>
      </p:nvGrpSpPr>
      <p:grpSpPr>
        <a:xfrm>
          <a:off x="0" y="0"/>
          <a:ext cx="0" cy="0"/>
          <a:chOff x="0" y="0"/>
          <a:chExt cx="0" cy="0"/>
        </a:xfrm>
      </p:grpSpPr>
      <p:sp>
        <p:nvSpPr>
          <p:cNvPr id="1504" name="Google Shape;1504;p192"/>
          <p:cNvSpPr txBox="1">
            <a:spLocks noGrp="1"/>
          </p:cNvSpPr>
          <p:nvPr>
            <p:ph type="title"/>
          </p:nvPr>
        </p:nvSpPr>
        <p:spPr>
          <a:xfrm>
            <a:off x="304800" y="63113"/>
            <a:ext cx="6821400" cy="3369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000"/>
              <a:t>US Validation, FOVA: Store format change identification (Cont..)</a:t>
            </a:r>
            <a:endParaRPr sz="2000"/>
          </a:p>
        </p:txBody>
      </p:sp>
      <p:sp>
        <p:nvSpPr>
          <p:cNvPr id="1505" name="Google Shape;1505;p192"/>
          <p:cNvSpPr txBox="1">
            <a:spLocks noGrp="1"/>
          </p:cNvSpPr>
          <p:nvPr>
            <p:ph type="body" idx="1"/>
          </p:nvPr>
        </p:nvSpPr>
        <p:spPr>
          <a:xfrm>
            <a:off x="228600" y="514350"/>
            <a:ext cx="8763000" cy="4514700"/>
          </a:xfrm>
          <a:prstGeom prst="rect">
            <a:avLst/>
          </a:prstGeom>
          <a:noFill/>
          <a:ln>
            <a:noFill/>
          </a:ln>
        </p:spPr>
        <p:txBody>
          <a:bodyPr spcFirstLastPara="1" wrap="square" lIns="91425" tIns="45700" rIns="91425" bIns="45700" anchor="t" anchorCtr="0">
            <a:noAutofit/>
          </a:bodyPr>
          <a:lstStyle/>
          <a:p>
            <a:pPr marL="169862" lvl="0" indent="-150812" algn="l" rtl="0">
              <a:lnSpc>
                <a:spcPct val="100000"/>
              </a:lnSpc>
              <a:spcBef>
                <a:spcPts val="0"/>
              </a:spcBef>
              <a:spcAft>
                <a:spcPts val="0"/>
              </a:spcAft>
              <a:buSzPts val="1100"/>
              <a:buChar char="•"/>
            </a:pPr>
            <a:r>
              <a:rPr lang="en" sz="1100" b="1" u="sng"/>
              <a:t>FOVA:</a:t>
            </a:r>
            <a:r>
              <a:rPr lang="en" sz="1100"/>
              <a:t> </a:t>
            </a:r>
            <a:endParaRPr sz="1500"/>
          </a:p>
          <a:p>
            <a:pPr marL="0" lvl="0" indent="0" algn="l" rtl="0">
              <a:lnSpc>
                <a:spcPct val="100000"/>
              </a:lnSpc>
              <a:spcBef>
                <a:spcPts val="0"/>
              </a:spcBef>
              <a:spcAft>
                <a:spcPts val="0"/>
              </a:spcAft>
              <a:buSzPts val="1400"/>
              <a:buNone/>
            </a:pPr>
            <a:endParaRPr sz="1100"/>
          </a:p>
          <a:p>
            <a:pPr marL="169862" lvl="0" indent="-150812" algn="l" rtl="0">
              <a:lnSpc>
                <a:spcPct val="100000"/>
              </a:lnSpc>
              <a:spcBef>
                <a:spcPts val="0"/>
              </a:spcBef>
              <a:spcAft>
                <a:spcPts val="0"/>
              </a:spcAft>
              <a:buSzPts val="1100"/>
              <a:buChar char="•"/>
            </a:pPr>
            <a:r>
              <a:rPr lang="en" sz="1100"/>
              <a:t>A new tag is added into STORESTATS table to hold the number of modules treated in the store by period.</a:t>
            </a:r>
            <a:endParaRPr sz="1500"/>
          </a:p>
          <a:p>
            <a:pPr marL="0" lvl="0" indent="0" algn="l" rtl="0">
              <a:lnSpc>
                <a:spcPct val="100000"/>
              </a:lnSpc>
              <a:spcBef>
                <a:spcPts val="0"/>
              </a:spcBef>
              <a:spcAft>
                <a:spcPts val="0"/>
              </a:spcAft>
              <a:buSzPts val="1400"/>
              <a:buNone/>
            </a:pPr>
            <a:endParaRPr sz="1100"/>
          </a:p>
          <a:p>
            <a:pPr marL="169862" lvl="0" indent="-150812" algn="l" rtl="0">
              <a:lnSpc>
                <a:spcPct val="100000"/>
              </a:lnSpc>
              <a:spcBef>
                <a:spcPts val="0"/>
              </a:spcBef>
              <a:spcAft>
                <a:spcPts val="0"/>
              </a:spcAft>
              <a:buSzPts val="1100"/>
              <a:buChar char="•"/>
            </a:pPr>
            <a:r>
              <a:rPr lang="en" sz="1100"/>
              <a:t>AC_PROCESSID – ‘FOVA’</a:t>
            </a:r>
            <a:endParaRPr sz="1500"/>
          </a:p>
          <a:p>
            <a:pPr marL="169862" lvl="0" indent="-150812" algn="l" rtl="0">
              <a:lnSpc>
                <a:spcPct val="100000"/>
              </a:lnSpc>
              <a:spcBef>
                <a:spcPts val="0"/>
              </a:spcBef>
              <a:spcAft>
                <a:spcPts val="0"/>
              </a:spcAft>
              <a:buSzPts val="1100"/>
              <a:buChar char="•"/>
            </a:pPr>
            <a:r>
              <a:rPr lang="en" sz="1100"/>
              <a:t>AC_STATTAG – ‘383’</a:t>
            </a:r>
            <a:endParaRPr sz="1500"/>
          </a:p>
          <a:p>
            <a:pPr marL="169862" lvl="0" indent="-150812" algn="l" rtl="0">
              <a:lnSpc>
                <a:spcPct val="100000"/>
              </a:lnSpc>
              <a:spcBef>
                <a:spcPts val="0"/>
              </a:spcBef>
              <a:spcAft>
                <a:spcPts val="0"/>
              </a:spcAft>
              <a:buSzPts val="1100"/>
              <a:buChar char="•"/>
            </a:pPr>
            <a:r>
              <a:rPr lang="en" sz="1100"/>
              <a:t>AC_STATTAGDESCRIPTION – ‘Total Number of Modules’</a:t>
            </a:r>
            <a:endParaRPr sz="1500"/>
          </a:p>
          <a:p>
            <a:pPr marL="0" lvl="0" indent="0" algn="l" rtl="0">
              <a:lnSpc>
                <a:spcPct val="100000"/>
              </a:lnSpc>
              <a:spcBef>
                <a:spcPts val="0"/>
              </a:spcBef>
              <a:spcAft>
                <a:spcPts val="0"/>
              </a:spcAft>
              <a:buSzPts val="1400"/>
              <a:buNone/>
            </a:pPr>
            <a:endParaRPr sz="1100"/>
          </a:p>
          <a:p>
            <a:pPr marL="169862" lvl="0" indent="-150812" algn="l" rtl="0">
              <a:lnSpc>
                <a:spcPct val="100000"/>
              </a:lnSpc>
              <a:spcBef>
                <a:spcPts val="0"/>
              </a:spcBef>
              <a:spcAft>
                <a:spcPts val="0"/>
              </a:spcAft>
              <a:buSzPts val="1100"/>
              <a:buChar char="•"/>
            </a:pPr>
            <a:r>
              <a:rPr lang="en" sz="1100"/>
              <a:t>A new calculation is introduced at the backend algorithm to generate new indicators to display into the report (section SUPERGROUPFREQ).</a:t>
            </a:r>
            <a:endParaRPr sz="1100"/>
          </a:p>
          <a:p>
            <a:pPr marL="169862" lvl="0" indent="-150812" algn="l" rtl="0">
              <a:lnSpc>
                <a:spcPct val="100000"/>
              </a:lnSpc>
              <a:spcBef>
                <a:spcPts val="1000"/>
              </a:spcBef>
              <a:spcAft>
                <a:spcPts val="0"/>
              </a:spcAft>
              <a:buSzPts val="1100"/>
              <a:buChar char="•"/>
            </a:pPr>
            <a:r>
              <a:rPr lang="en" sz="1100"/>
              <a:t>New indicators are based on number of modules having data within an SG and total Store SG sales.</a:t>
            </a:r>
            <a:endParaRPr sz="1500"/>
          </a:p>
          <a:p>
            <a:pPr marL="169862" lvl="0" indent="-150812" algn="l" rtl="0">
              <a:lnSpc>
                <a:spcPct val="100000"/>
              </a:lnSpc>
              <a:spcBef>
                <a:spcPts val="0"/>
              </a:spcBef>
              <a:spcAft>
                <a:spcPts val="0"/>
              </a:spcAft>
              <a:buSzPts val="1100"/>
              <a:buChar char="•"/>
            </a:pPr>
            <a:r>
              <a:rPr lang="en" sz="1100"/>
              <a:t>A new test is also introduced to calculate the final FOVA status.</a:t>
            </a:r>
            <a:endParaRPr sz="1500"/>
          </a:p>
          <a:p>
            <a:pPr marL="169862" lvl="0" indent="-80962" algn="l" rtl="0">
              <a:lnSpc>
                <a:spcPct val="100000"/>
              </a:lnSpc>
              <a:spcBef>
                <a:spcPts val="0"/>
              </a:spcBef>
              <a:spcAft>
                <a:spcPts val="0"/>
              </a:spcAft>
              <a:buSzPts val="1400"/>
              <a:buNone/>
            </a:pPr>
            <a:endParaRPr sz="1100"/>
          </a:p>
          <a:p>
            <a:pPr marL="169862" lvl="0" indent="-80962" algn="l" rtl="0">
              <a:lnSpc>
                <a:spcPct val="100000"/>
              </a:lnSpc>
              <a:spcBef>
                <a:spcPts val="0"/>
              </a:spcBef>
              <a:spcAft>
                <a:spcPts val="0"/>
              </a:spcAft>
              <a:buSzPts val="1400"/>
              <a:buNone/>
            </a:pPr>
            <a:endParaRPr sz="1100"/>
          </a:p>
          <a:p>
            <a:pPr marL="169862" lvl="0" indent="-80962" algn="l" rtl="0">
              <a:lnSpc>
                <a:spcPct val="100000"/>
              </a:lnSpc>
              <a:spcBef>
                <a:spcPts val="0"/>
              </a:spcBef>
              <a:spcAft>
                <a:spcPts val="0"/>
              </a:spcAft>
              <a:buSzPts val="1400"/>
              <a:buNone/>
            </a:pPr>
            <a:endParaRPr sz="1100"/>
          </a:p>
        </p:txBody>
      </p:sp>
      <p:sp>
        <p:nvSpPr>
          <p:cNvPr id="1506" name="Google Shape;1506;p192"/>
          <p:cNvSpPr/>
          <p:nvPr/>
        </p:nvSpPr>
        <p:spPr>
          <a:xfrm>
            <a:off x="7315200" y="114300"/>
            <a:ext cx="12192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Jan’20 CR</a:t>
            </a:r>
            <a:endParaRPr sz="1600" b="0" i="0" u="none" strike="noStrike" cap="none">
              <a:solidFill>
                <a:schemeClr val="lt1"/>
              </a:solidFill>
              <a:latin typeface="Arial"/>
              <a:ea typeface="Arial"/>
              <a:cs typeface="Arial"/>
              <a:sym typeface="Arial"/>
            </a:endParaRPr>
          </a:p>
        </p:txBody>
      </p:sp>
    </p:spTree>
  </p:cSld>
  <p:clrMapOvr>
    <a:overrideClrMapping bg1="lt1" tx1="dk1" bg2="lt2" tx2="dk2" accent1="accent1" accent2="accent2" accent3="accent3" accent4="accent4" accent5="accent5" accent6="accent6" hlink="hlink" folHlink="folHlink"/>
  </p:clrMapOvr>
</p:sld>
</file>

<file path=ppt/slides/slide14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510"/>
        <p:cNvGrpSpPr/>
        <p:nvPr/>
      </p:nvGrpSpPr>
      <p:grpSpPr>
        <a:xfrm>
          <a:off x="0" y="0"/>
          <a:ext cx="0" cy="0"/>
          <a:chOff x="0" y="0"/>
          <a:chExt cx="0" cy="0"/>
        </a:xfrm>
      </p:grpSpPr>
      <p:sp>
        <p:nvSpPr>
          <p:cNvPr id="1511" name="Google Shape;1511;p193"/>
          <p:cNvSpPr txBox="1">
            <a:spLocks noGrp="1"/>
          </p:cNvSpPr>
          <p:nvPr>
            <p:ph type="title"/>
          </p:nvPr>
        </p:nvSpPr>
        <p:spPr>
          <a:xfrm>
            <a:off x="304800" y="63113"/>
            <a:ext cx="6821400" cy="3369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000"/>
              <a:t>US Validation, FOVA: Store format change identification (Cont..)</a:t>
            </a:r>
            <a:endParaRPr sz="2000"/>
          </a:p>
        </p:txBody>
      </p:sp>
      <p:sp>
        <p:nvSpPr>
          <p:cNvPr id="1512" name="Google Shape;1512;p193"/>
          <p:cNvSpPr txBox="1">
            <a:spLocks noGrp="1"/>
          </p:cNvSpPr>
          <p:nvPr>
            <p:ph type="body" idx="1"/>
          </p:nvPr>
        </p:nvSpPr>
        <p:spPr>
          <a:xfrm>
            <a:off x="228600" y="514350"/>
            <a:ext cx="8763000" cy="4514700"/>
          </a:xfrm>
          <a:prstGeom prst="rect">
            <a:avLst/>
          </a:prstGeom>
          <a:noFill/>
          <a:ln>
            <a:noFill/>
          </a:ln>
        </p:spPr>
        <p:txBody>
          <a:bodyPr spcFirstLastPara="1" wrap="square" lIns="91425" tIns="45700" rIns="91425" bIns="45700" anchor="t" anchorCtr="0">
            <a:noAutofit/>
          </a:bodyPr>
          <a:lstStyle/>
          <a:p>
            <a:pPr marL="169862" lvl="0" indent="-80962" algn="l" rtl="0">
              <a:lnSpc>
                <a:spcPct val="100000"/>
              </a:lnSpc>
              <a:spcBef>
                <a:spcPts val="0"/>
              </a:spcBef>
              <a:spcAft>
                <a:spcPts val="0"/>
              </a:spcAft>
              <a:buSzPts val="1400"/>
              <a:buNone/>
            </a:pPr>
            <a:endParaRPr sz="1100"/>
          </a:p>
        </p:txBody>
      </p:sp>
      <p:sp>
        <p:nvSpPr>
          <p:cNvPr id="1513" name="Google Shape;1513;p193"/>
          <p:cNvSpPr/>
          <p:nvPr/>
        </p:nvSpPr>
        <p:spPr>
          <a:xfrm>
            <a:off x="7315200" y="114300"/>
            <a:ext cx="12192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Jan’20 CR</a:t>
            </a:r>
            <a:endParaRPr sz="1600" b="0" i="0" u="none" strike="noStrike" cap="none">
              <a:solidFill>
                <a:schemeClr val="lt1"/>
              </a:solidFill>
              <a:latin typeface="Arial"/>
              <a:ea typeface="Arial"/>
              <a:cs typeface="Arial"/>
              <a:sym typeface="Arial"/>
            </a:endParaRPr>
          </a:p>
        </p:txBody>
      </p:sp>
      <p:pic>
        <p:nvPicPr>
          <p:cNvPr id="1514" name="Google Shape;1514;p193"/>
          <p:cNvPicPr preferRelativeResize="0"/>
          <p:nvPr/>
        </p:nvPicPr>
        <p:blipFill>
          <a:blip r:embed="rId4">
            <a:alphaModFix/>
          </a:blip>
          <a:stretch>
            <a:fillRect/>
          </a:stretch>
        </p:blipFill>
        <p:spPr>
          <a:xfrm>
            <a:off x="304800" y="888204"/>
            <a:ext cx="8585525" cy="3601347"/>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4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518"/>
        <p:cNvGrpSpPr/>
        <p:nvPr/>
      </p:nvGrpSpPr>
      <p:grpSpPr>
        <a:xfrm>
          <a:off x="0" y="0"/>
          <a:ext cx="0" cy="0"/>
          <a:chOff x="0" y="0"/>
          <a:chExt cx="0" cy="0"/>
        </a:xfrm>
      </p:grpSpPr>
      <p:sp>
        <p:nvSpPr>
          <p:cNvPr id="1522" name="Google Shape;1522;p194"/>
          <p:cNvSpPr txBox="1">
            <a:spLocks noGrp="1"/>
          </p:cNvSpPr>
          <p:nvPr>
            <p:ph type="title"/>
          </p:nvPr>
        </p:nvSpPr>
        <p:spPr>
          <a:xfrm>
            <a:off x="304800" y="63113"/>
            <a:ext cx="6821400" cy="3369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000"/>
              <a:t>US Validation, FOVA: Store format change identification (Cont..)</a:t>
            </a:r>
            <a:endParaRPr sz="2000"/>
          </a:p>
        </p:txBody>
      </p:sp>
      <p:sp>
        <p:nvSpPr>
          <p:cNvPr id="1519" name="Google Shape;1519;p194"/>
          <p:cNvSpPr txBox="1">
            <a:spLocks noGrp="1"/>
          </p:cNvSpPr>
          <p:nvPr>
            <p:ph type="body" idx="1"/>
          </p:nvPr>
        </p:nvSpPr>
        <p:spPr>
          <a:xfrm>
            <a:off x="228600" y="466250"/>
            <a:ext cx="8763000" cy="4562700"/>
          </a:xfrm>
          <a:prstGeom prst="rect">
            <a:avLst/>
          </a:prstGeom>
          <a:noFill/>
          <a:ln>
            <a:noFill/>
          </a:ln>
        </p:spPr>
        <p:txBody>
          <a:bodyPr spcFirstLastPara="1" wrap="square" lIns="91425" tIns="45700" rIns="91425" bIns="45700" anchor="t" anchorCtr="0">
            <a:noAutofit/>
          </a:bodyPr>
          <a:lstStyle/>
          <a:p>
            <a:pPr marL="169862" lvl="0" indent="-169862" algn="l" rtl="0">
              <a:lnSpc>
                <a:spcPct val="100000"/>
              </a:lnSpc>
              <a:spcBef>
                <a:spcPts val="0"/>
              </a:spcBef>
              <a:spcAft>
                <a:spcPts val="0"/>
              </a:spcAft>
              <a:buSzPts val="1400"/>
              <a:buChar char="•"/>
            </a:pPr>
            <a:r>
              <a:rPr lang="en" sz="1400"/>
              <a:t>Below set of Parameters is used to manage this enhancement:</a:t>
            </a: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p:txBody>
      </p:sp>
      <p:sp>
        <p:nvSpPr>
          <p:cNvPr id="1520" name="Google Shape;1520;p194"/>
          <p:cNvSpPr/>
          <p:nvPr/>
        </p:nvSpPr>
        <p:spPr>
          <a:xfrm>
            <a:off x="7315200" y="57150"/>
            <a:ext cx="12192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Jan’20 CR</a:t>
            </a:r>
            <a:endParaRPr sz="1600" b="0" i="0" u="none" strike="noStrike" cap="none">
              <a:solidFill>
                <a:schemeClr val="lt1"/>
              </a:solidFill>
              <a:latin typeface="Arial"/>
              <a:ea typeface="Arial"/>
              <a:cs typeface="Arial"/>
              <a:sym typeface="Arial"/>
            </a:endParaRPr>
          </a:p>
        </p:txBody>
      </p:sp>
      <p:pic>
        <p:nvPicPr>
          <p:cNvPr id="1521" name="Google Shape;1521;p194"/>
          <p:cNvPicPr preferRelativeResize="0"/>
          <p:nvPr/>
        </p:nvPicPr>
        <p:blipFill rotWithShape="1">
          <a:blip r:embed="rId4">
            <a:alphaModFix/>
          </a:blip>
          <a:srcRect l="37452" t="15005" r="27489" b="9891"/>
          <a:stretch/>
        </p:blipFill>
        <p:spPr>
          <a:xfrm>
            <a:off x="395425" y="819400"/>
            <a:ext cx="4469050" cy="4285999"/>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4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526"/>
        <p:cNvGrpSpPr/>
        <p:nvPr/>
      </p:nvGrpSpPr>
      <p:grpSpPr>
        <a:xfrm>
          <a:off x="0" y="0"/>
          <a:ext cx="0" cy="0"/>
          <a:chOff x="0" y="0"/>
          <a:chExt cx="0" cy="0"/>
        </a:xfrm>
      </p:grpSpPr>
      <p:sp>
        <p:nvSpPr>
          <p:cNvPr id="1529" name="Google Shape;1529;p195"/>
          <p:cNvSpPr txBox="1">
            <a:spLocks noGrp="1"/>
          </p:cNvSpPr>
          <p:nvPr>
            <p:ph type="title"/>
          </p:nvPr>
        </p:nvSpPr>
        <p:spPr>
          <a:xfrm>
            <a:off x="304800" y="63113"/>
            <a:ext cx="6821400" cy="3369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000"/>
              <a:t>US Validation, FOVA: Store format change identification (Cont..)</a:t>
            </a:r>
            <a:endParaRPr sz="2000"/>
          </a:p>
        </p:txBody>
      </p:sp>
      <p:sp>
        <p:nvSpPr>
          <p:cNvPr id="1527" name="Google Shape;1527;p195"/>
          <p:cNvSpPr txBox="1">
            <a:spLocks noGrp="1"/>
          </p:cNvSpPr>
          <p:nvPr>
            <p:ph type="body" idx="1"/>
          </p:nvPr>
        </p:nvSpPr>
        <p:spPr>
          <a:xfrm>
            <a:off x="228600" y="466250"/>
            <a:ext cx="8763000" cy="4562700"/>
          </a:xfrm>
          <a:prstGeom prst="rect">
            <a:avLst/>
          </a:prstGeom>
          <a:noFill/>
          <a:ln>
            <a:noFill/>
          </a:ln>
        </p:spPr>
        <p:txBody>
          <a:bodyPr spcFirstLastPara="1" wrap="square" lIns="91425" tIns="45700" rIns="91425" bIns="45700" anchor="t" anchorCtr="0">
            <a:noAutofit/>
          </a:bodyPr>
          <a:lstStyle/>
          <a:p>
            <a:pPr marL="169862" lvl="0" indent="-169862" algn="l" rtl="0">
              <a:lnSpc>
                <a:spcPct val="100000"/>
              </a:lnSpc>
              <a:spcBef>
                <a:spcPts val="0"/>
              </a:spcBef>
              <a:spcAft>
                <a:spcPts val="0"/>
              </a:spcAft>
              <a:buSzPts val="1400"/>
              <a:buChar char="•"/>
            </a:pPr>
            <a:r>
              <a:rPr lang="en" sz="1400"/>
              <a:t>Below set of Parameters is used to manage this enhancement:</a:t>
            </a: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p:txBody>
      </p:sp>
      <p:sp>
        <p:nvSpPr>
          <p:cNvPr id="1528" name="Google Shape;1528;p195"/>
          <p:cNvSpPr/>
          <p:nvPr/>
        </p:nvSpPr>
        <p:spPr>
          <a:xfrm>
            <a:off x="7315200" y="57150"/>
            <a:ext cx="12192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Jan’20 CR</a:t>
            </a:r>
            <a:endParaRPr sz="1600" b="0" i="0" u="none" strike="noStrike" cap="none">
              <a:solidFill>
                <a:schemeClr val="lt1"/>
              </a:solidFill>
              <a:latin typeface="Arial"/>
              <a:ea typeface="Arial"/>
              <a:cs typeface="Arial"/>
              <a:sym typeface="Arial"/>
            </a:endParaRPr>
          </a:p>
        </p:txBody>
      </p:sp>
      <p:pic>
        <p:nvPicPr>
          <p:cNvPr id="1530" name="Google Shape;1530;p195"/>
          <p:cNvPicPr preferRelativeResize="0"/>
          <p:nvPr/>
        </p:nvPicPr>
        <p:blipFill>
          <a:blip r:embed="rId4">
            <a:alphaModFix/>
          </a:blip>
          <a:stretch>
            <a:fillRect/>
          </a:stretch>
        </p:blipFill>
        <p:spPr>
          <a:xfrm>
            <a:off x="456999" y="882075"/>
            <a:ext cx="3535750" cy="4261425"/>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4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534"/>
        <p:cNvGrpSpPr/>
        <p:nvPr/>
      </p:nvGrpSpPr>
      <p:grpSpPr>
        <a:xfrm>
          <a:off x="0" y="0"/>
          <a:ext cx="0" cy="0"/>
          <a:chOff x="0" y="0"/>
          <a:chExt cx="0" cy="0"/>
        </a:xfrm>
      </p:grpSpPr>
      <p:sp>
        <p:nvSpPr>
          <p:cNvPr id="1537" name="Google Shape;1537;p196"/>
          <p:cNvSpPr txBox="1">
            <a:spLocks noGrp="1"/>
          </p:cNvSpPr>
          <p:nvPr>
            <p:ph type="title"/>
          </p:nvPr>
        </p:nvSpPr>
        <p:spPr>
          <a:xfrm>
            <a:off x="304800" y="63113"/>
            <a:ext cx="6821400" cy="336900"/>
          </a:xfrm>
          <a:prstGeom prst="rect">
            <a:avLst/>
          </a:prstGeom>
          <a:noFill/>
          <a:ln>
            <a:noFill/>
          </a:ln>
        </p:spPr>
        <p:txBody>
          <a:bodyPr spcFirstLastPara="1" wrap="square" lIns="91425" tIns="45700" rIns="91425" bIns="45700" anchor="t" anchorCtr="0">
            <a:noAutofit/>
          </a:bodyPr>
          <a:lstStyle/>
          <a:p>
            <a:pPr marL="0" lvl="0" indent="0" algn="l" rtl="0">
              <a:lnSpc>
                <a:spcPct val="95000"/>
              </a:lnSpc>
              <a:spcBef>
                <a:spcPts val="0"/>
              </a:spcBef>
              <a:spcAft>
                <a:spcPts val="0"/>
              </a:spcAft>
              <a:buSzPts val="1400"/>
              <a:buNone/>
            </a:pPr>
            <a:r>
              <a:rPr lang="en" sz="2000"/>
              <a:t>US Validation, FOVA: Store format change identification (Cont..)</a:t>
            </a:r>
            <a:endParaRPr sz="2000"/>
          </a:p>
        </p:txBody>
      </p:sp>
      <p:sp>
        <p:nvSpPr>
          <p:cNvPr id="1535" name="Google Shape;1535;p196"/>
          <p:cNvSpPr txBox="1">
            <a:spLocks noGrp="1"/>
          </p:cNvSpPr>
          <p:nvPr>
            <p:ph type="body" idx="1"/>
          </p:nvPr>
        </p:nvSpPr>
        <p:spPr>
          <a:xfrm>
            <a:off x="228600" y="466250"/>
            <a:ext cx="8763000" cy="4562700"/>
          </a:xfrm>
          <a:prstGeom prst="rect">
            <a:avLst/>
          </a:prstGeom>
          <a:noFill/>
          <a:ln>
            <a:noFill/>
          </a:ln>
        </p:spPr>
        <p:txBody>
          <a:bodyPr spcFirstLastPara="1" wrap="square" lIns="91425" tIns="45700" rIns="91425" bIns="45700" anchor="t" anchorCtr="0">
            <a:noAutofit/>
          </a:bodyPr>
          <a:lstStyle/>
          <a:p>
            <a:pPr marL="169862" lvl="0" indent="-169862" algn="l" rtl="0">
              <a:lnSpc>
                <a:spcPct val="100000"/>
              </a:lnSpc>
              <a:spcBef>
                <a:spcPts val="0"/>
              </a:spcBef>
              <a:spcAft>
                <a:spcPts val="0"/>
              </a:spcAft>
              <a:buSzPts val="1400"/>
              <a:buChar char="•"/>
            </a:pPr>
            <a:r>
              <a:rPr lang="en" sz="1400"/>
              <a:t>Below set of Parameters is used to manage this enhancement:</a:t>
            </a: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a:p>
            <a:pPr marL="169862" lvl="0" indent="-80962" algn="l" rtl="0">
              <a:lnSpc>
                <a:spcPct val="100000"/>
              </a:lnSpc>
              <a:spcBef>
                <a:spcPts val="0"/>
              </a:spcBef>
              <a:spcAft>
                <a:spcPts val="0"/>
              </a:spcAft>
              <a:buSzPts val="1400"/>
              <a:buNone/>
            </a:pPr>
            <a:endParaRPr sz="1400"/>
          </a:p>
        </p:txBody>
      </p:sp>
      <p:sp>
        <p:nvSpPr>
          <p:cNvPr id="1536" name="Google Shape;1536;p196"/>
          <p:cNvSpPr/>
          <p:nvPr/>
        </p:nvSpPr>
        <p:spPr>
          <a:xfrm>
            <a:off x="7315200" y="57150"/>
            <a:ext cx="1219200" cy="285900"/>
          </a:xfrm>
          <a:prstGeom prst="roundRect">
            <a:avLst>
              <a:gd name="adj" fmla="val 16667"/>
            </a:avLst>
          </a:prstGeom>
          <a:solidFill>
            <a:srgbClr val="B1D780"/>
          </a:solidFill>
          <a:ln w="25400" cap="flat" cmpd="sng">
            <a:solidFill>
              <a:srgbClr val="46484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chemeClr val="lt1"/>
                </a:solidFill>
                <a:latin typeface="Arial"/>
                <a:ea typeface="Arial"/>
                <a:cs typeface="Arial"/>
                <a:sym typeface="Arial"/>
              </a:rPr>
              <a:t>Jan’20 CR</a:t>
            </a:r>
            <a:endParaRPr sz="1600" b="0" i="0" u="none" strike="noStrike" cap="none">
              <a:solidFill>
                <a:schemeClr val="lt1"/>
              </a:solidFill>
              <a:latin typeface="Arial"/>
              <a:ea typeface="Arial"/>
              <a:cs typeface="Arial"/>
              <a:sym typeface="Arial"/>
            </a:endParaRPr>
          </a:p>
        </p:txBody>
      </p:sp>
      <p:pic>
        <p:nvPicPr>
          <p:cNvPr id="1538" name="Google Shape;1538;p196"/>
          <p:cNvPicPr preferRelativeResize="0"/>
          <p:nvPr/>
        </p:nvPicPr>
        <p:blipFill>
          <a:blip r:embed="rId4">
            <a:alphaModFix/>
          </a:blip>
          <a:stretch>
            <a:fillRect/>
          </a:stretch>
        </p:blipFill>
        <p:spPr>
          <a:xfrm>
            <a:off x="314325" y="828675"/>
            <a:ext cx="4552950" cy="1504950"/>
          </a:xfrm>
          <a:prstGeom prst="rect">
            <a:avLst/>
          </a:prstGeom>
          <a:noFill/>
          <a:ln>
            <a:noFill/>
          </a:ln>
        </p:spPr>
      </p:pic>
    </p:spTree>
  </p:cSld>
  <p:clrMapOvr>
    <a:overrideClrMapping bg1="lt1" tx1="dk1" bg2="lt2" tx2="dk2" accent1="accent1" accent2="accent2" accent3="accent3" accent4="accent4" accent5="accent5" accent6="accent6" hlink="hlink" folHlink="folHlink"/>
  </p:clrMapOvr>
</p:sld>
</file>

<file path=ppt/slides/slide14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Shape 1543"/>
        <p:cNvGrpSpPr/>
        <p:nvPr/>
      </p:nvGrpSpPr>
      <p:grpSpPr>
        <a:xfrm>
          <a:off x="0" y="0"/>
          <a:ext cx="0" cy="0"/>
          <a:chOff x="0" y="0"/>
          <a:chExt cx="0" cy="0"/>
        </a:xfrm>
      </p:grpSpPr>
      <p:sp>
        <p:nvSpPr>
          <p:cNvPr id="1544" name="Google Shape;1544;p197"/>
          <p:cNvSpPr txBox="1"/>
          <p:nvPr/>
        </p:nvSpPr>
        <p:spPr>
          <a:xfrm>
            <a:off x="518160" y="277283"/>
            <a:ext cx="8166600" cy="433800"/>
          </a:xfrm>
          <a:prstGeom prst="rect">
            <a:avLst/>
          </a:prstGeom>
          <a:noFill/>
          <a:ln>
            <a:noFill/>
          </a:ln>
        </p:spPr>
        <p:txBody>
          <a:bodyPr spcFirstLastPara="1" wrap="square" lIns="91425" tIns="0" rIns="91425" bIns="0" anchor="b" anchorCtr="0">
            <a:noAutofit/>
          </a:bodyPr>
          <a:lstStyle/>
          <a:p>
            <a:pPr marL="0" lvl="0" indent="0" algn="l" rtl="0">
              <a:spcBef>
                <a:spcPts val="0"/>
              </a:spcBef>
              <a:spcAft>
                <a:spcPts val="0"/>
              </a:spcAft>
              <a:buNone/>
            </a:pPr>
            <a:r>
              <a:rPr lang="en" sz="3000" b="1">
                <a:latin typeface="Archivo Narrow"/>
                <a:ea typeface="Archivo Narrow"/>
                <a:cs typeface="Archivo Narrow"/>
                <a:sym typeface="Archivo Narrow"/>
              </a:rPr>
              <a:t>REVISION DETAILS</a:t>
            </a:r>
            <a:endParaRPr sz="3000" b="1">
              <a:latin typeface="Archivo Narrow"/>
              <a:ea typeface="Archivo Narrow"/>
              <a:cs typeface="Archivo Narrow"/>
              <a:sym typeface="Archivo Narrow"/>
            </a:endParaRPr>
          </a:p>
        </p:txBody>
      </p:sp>
      <p:graphicFrame>
        <p:nvGraphicFramePr>
          <p:cNvPr id="1545" name="Google Shape;1545;p197"/>
          <p:cNvGraphicFramePr/>
          <p:nvPr>
            <p:extLst>
              <p:ext uri="{D42A27DB-BD31-4B8C-83A1-F6EECF244321}">
                <p14:modId xmlns:p14="http://schemas.microsoft.com/office/powerpoint/2010/main" val="26515984"/>
              </p:ext>
            </p:extLst>
          </p:nvPr>
        </p:nvGraphicFramePr>
        <p:xfrm>
          <a:off x="518150" y="959700"/>
          <a:ext cx="8223672" cy="3139200"/>
        </p:xfrm>
        <a:graphic>
          <a:graphicData uri="http://schemas.openxmlformats.org/drawingml/2006/table">
            <a:tbl>
              <a:tblPr>
                <a:noFill/>
                <a:tableStyleId>{481650DD-5AA0-454B-87A4-94D10214C890}</a:tableStyleId>
              </a:tblPr>
              <a:tblGrid>
                <a:gridCol w="476749">
                  <a:extLst>
                    <a:ext uri="{9D8B030D-6E8A-4147-A177-3AD203B41FA5}">
                      <a16:colId xmlns:a16="http://schemas.microsoft.com/office/drawing/2014/main" val="20000"/>
                    </a:ext>
                  </a:extLst>
                </a:gridCol>
                <a:gridCol w="1092302">
                  <a:extLst>
                    <a:ext uri="{9D8B030D-6E8A-4147-A177-3AD203B41FA5}">
                      <a16:colId xmlns:a16="http://schemas.microsoft.com/office/drawing/2014/main" val="20001"/>
                    </a:ext>
                  </a:extLst>
                </a:gridCol>
                <a:gridCol w="1339197">
                  <a:extLst>
                    <a:ext uri="{9D8B030D-6E8A-4147-A177-3AD203B41FA5}">
                      <a16:colId xmlns:a16="http://schemas.microsoft.com/office/drawing/2014/main" val="20002"/>
                    </a:ext>
                  </a:extLst>
                </a:gridCol>
                <a:gridCol w="1046375">
                  <a:extLst>
                    <a:ext uri="{9D8B030D-6E8A-4147-A177-3AD203B41FA5}">
                      <a16:colId xmlns:a16="http://schemas.microsoft.com/office/drawing/2014/main" val="20003"/>
                    </a:ext>
                  </a:extLst>
                </a:gridCol>
                <a:gridCol w="4269049">
                  <a:extLst>
                    <a:ext uri="{9D8B030D-6E8A-4147-A177-3AD203B41FA5}">
                      <a16:colId xmlns:a16="http://schemas.microsoft.com/office/drawing/2014/main" val="20004"/>
                    </a:ext>
                  </a:extLst>
                </a:gridCol>
              </a:tblGrid>
              <a:tr h="282125">
                <a:tc>
                  <a:txBody>
                    <a:bodyPr/>
                    <a:lstStyle/>
                    <a:p>
                      <a:pPr marL="0" lvl="0" indent="0" algn="l" rtl="0">
                        <a:spcBef>
                          <a:spcPts val="0"/>
                        </a:spcBef>
                        <a:spcAft>
                          <a:spcPts val="0"/>
                        </a:spcAft>
                        <a:buNone/>
                      </a:pPr>
                      <a:r>
                        <a:rPr lang="en" sz="1000" b="1" dirty="0">
                          <a:solidFill>
                            <a:srgbClr val="F3F3F3"/>
                          </a:solidFill>
                        </a:rPr>
                        <a:t>Rev</a:t>
                      </a:r>
                      <a:endParaRPr sz="1000" b="1" dirty="0">
                        <a:solidFill>
                          <a:srgbClr val="F3F3F3"/>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AEEF"/>
                    </a:solidFill>
                  </a:tcPr>
                </a:tc>
                <a:tc>
                  <a:txBody>
                    <a:bodyPr/>
                    <a:lstStyle/>
                    <a:p>
                      <a:pPr marL="0" lvl="0" indent="0" algn="l" rtl="0">
                        <a:spcBef>
                          <a:spcPts val="0"/>
                        </a:spcBef>
                        <a:spcAft>
                          <a:spcPts val="0"/>
                        </a:spcAft>
                        <a:buNone/>
                      </a:pPr>
                      <a:r>
                        <a:rPr lang="en" sz="1000" b="1" dirty="0">
                          <a:solidFill>
                            <a:srgbClr val="F3F3F3"/>
                          </a:solidFill>
                        </a:rPr>
                        <a:t>Date</a:t>
                      </a:r>
                      <a:endParaRPr sz="1000" b="1" dirty="0">
                        <a:solidFill>
                          <a:srgbClr val="F3F3F3"/>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AEEF"/>
                    </a:solidFill>
                  </a:tcPr>
                </a:tc>
                <a:tc>
                  <a:txBody>
                    <a:bodyPr/>
                    <a:lstStyle/>
                    <a:p>
                      <a:pPr marL="0" lvl="0" indent="0" algn="l" rtl="0">
                        <a:spcBef>
                          <a:spcPts val="0"/>
                        </a:spcBef>
                        <a:spcAft>
                          <a:spcPts val="0"/>
                        </a:spcAft>
                        <a:buNone/>
                      </a:pPr>
                      <a:r>
                        <a:rPr lang="en" sz="1000" b="1" dirty="0">
                          <a:solidFill>
                            <a:srgbClr val="F3F3F3"/>
                          </a:solidFill>
                        </a:rPr>
                        <a:t>Author</a:t>
                      </a:r>
                      <a:endParaRPr sz="1000" b="1" dirty="0">
                        <a:solidFill>
                          <a:srgbClr val="F3F3F3"/>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AEEF"/>
                    </a:solidFill>
                  </a:tcPr>
                </a:tc>
                <a:tc>
                  <a:txBody>
                    <a:bodyPr/>
                    <a:lstStyle/>
                    <a:p>
                      <a:pPr marL="0" lvl="0" indent="0" algn="l" rtl="0">
                        <a:spcBef>
                          <a:spcPts val="0"/>
                        </a:spcBef>
                        <a:spcAft>
                          <a:spcPts val="0"/>
                        </a:spcAft>
                        <a:buNone/>
                      </a:pPr>
                      <a:r>
                        <a:rPr lang="en" sz="1000" b="1" dirty="0">
                          <a:solidFill>
                            <a:srgbClr val="F3F3F3"/>
                          </a:solidFill>
                        </a:rPr>
                        <a:t>CR</a:t>
                      </a:r>
                      <a:endParaRPr sz="1000" b="1" dirty="0">
                        <a:solidFill>
                          <a:srgbClr val="F3F3F3"/>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AEEF"/>
                    </a:solidFill>
                  </a:tcPr>
                </a:tc>
                <a:tc>
                  <a:txBody>
                    <a:bodyPr/>
                    <a:lstStyle/>
                    <a:p>
                      <a:pPr marL="0" lvl="0" indent="0" algn="l" rtl="0">
                        <a:spcBef>
                          <a:spcPts val="0"/>
                        </a:spcBef>
                        <a:spcAft>
                          <a:spcPts val="0"/>
                        </a:spcAft>
                        <a:buNone/>
                      </a:pPr>
                      <a:r>
                        <a:rPr lang="en" sz="1000" b="1" dirty="0">
                          <a:solidFill>
                            <a:srgbClr val="F3F3F3"/>
                          </a:solidFill>
                        </a:rPr>
                        <a:t>Comment</a:t>
                      </a:r>
                      <a:endParaRPr sz="1000" b="1" dirty="0">
                        <a:solidFill>
                          <a:srgbClr val="F3F3F3"/>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00AEEF"/>
                    </a:solidFill>
                  </a:tcPr>
                </a:tc>
                <a:extLst>
                  <a:ext uri="{0D108BD9-81ED-4DB2-BD59-A6C34878D82A}">
                    <a16:rowId xmlns:a16="http://schemas.microsoft.com/office/drawing/2014/main" val="10000"/>
                  </a:ext>
                </a:extLst>
              </a:tr>
              <a:tr h="319525">
                <a:tc>
                  <a:txBody>
                    <a:bodyPr/>
                    <a:lstStyle/>
                    <a:p>
                      <a:pPr marL="0" lvl="0" indent="0" algn="l" rtl="0">
                        <a:spcBef>
                          <a:spcPts val="0"/>
                        </a:spcBef>
                        <a:spcAft>
                          <a:spcPts val="0"/>
                        </a:spcAft>
                        <a:buNone/>
                      </a:pPr>
                      <a:r>
                        <a:rPr lang="en" sz="1000" dirty="0"/>
                        <a:t>0</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Sept 2013</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Dhara Patel, </a:t>
                      </a:r>
                      <a:endParaRPr sz="1000" dirty="0"/>
                    </a:p>
                    <a:p>
                      <a:pPr marL="0" lvl="0" indent="0" algn="l" rtl="0">
                        <a:spcBef>
                          <a:spcPts val="0"/>
                        </a:spcBef>
                        <a:spcAft>
                          <a:spcPts val="0"/>
                        </a:spcAft>
                        <a:buNone/>
                      </a:pPr>
                      <a:r>
                        <a:rPr lang="en" sz="1000" dirty="0"/>
                        <a:t>Greet </a:t>
                      </a:r>
                      <a:r>
                        <a:rPr lang="en" sz="1000" dirty="0" err="1"/>
                        <a:t>Verryckt</a:t>
                      </a:r>
                      <a:r>
                        <a:rPr lang="en" sz="1000" dirty="0"/>
                        <a:t>, </a:t>
                      </a:r>
                      <a:endParaRPr sz="1000" dirty="0"/>
                    </a:p>
                    <a:p>
                      <a:pPr marL="0" lvl="0" indent="0" algn="l" rtl="0">
                        <a:spcBef>
                          <a:spcPts val="0"/>
                        </a:spcBef>
                        <a:spcAft>
                          <a:spcPts val="0"/>
                        </a:spcAft>
                        <a:buNone/>
                      </a:pPr>
                      <a:r>
                        <a:rPr lang="en" sz="1000" dirty="0"/>
                        <a:t>Ferraro Roberto</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No</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First version of document</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extLst>
                  <a:ext uri="{0D108BD9-81ED-4DB2-BD59-A6C34878D82A}">
                    <a16:rowId xmlns:a16="http://schemas.microsoft.com/office/drawing/2014/main" val="10001"/>
                  </a:ext>
                </a:extLst>
              </a:tr>
              <a:tr h="319525">
                <a:tc>
                  <a:txBody>
                    <a:bodyPr/>
                    <a:lstStyle/>
                    <a:p>
                      <a:pPr marL="0" lvl="0" indent="0" algn="l" rtl="0">
                        <a:spcBef>
                          <a:spcPts val="0"/>
                        </a:spcBef>
                        <a:spcAft>
                          <a:spcPts val="0"/>
                        </a:spcAft>
                        <a:buNone/>
                      </a:pPr>
                      <a:r>
                        <a:rPr lang="en" sz="1000" dirty="0"/>
                        <a:t>1</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27th Aug 2020</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Clr>
                          <a:schemeClr val="dk1"/>
                        </a:buClr>
                        <a:buSzPts val="1100"/>
                        <a:buFont typeface="Arial"/>
                        <a:buNone/>
                      </a:pPr>
                      <a:r>
                        <a:rPr lang="en" sz="1000" dirty="0"/>
                        <a:t>Rohan Jani</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No</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Changes coming due to: new approach for documentation (split to basic and detailed)</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E7F0FF"/>
                    </a:solidFill>
                  </a:tcPr>
                </a:tc>
                <a:extLst>
                  <a:ext uri="{0D108BD9-81ED-4DB2-BD59-A6C34878D82A}">
                    <a16:rowId xmlns:a16="http://schemas.microsoft.com/office/drawing/2014/main" val="10002"/>
                  </a:ext>
                </a:extLst>
              </a:tr>
              <a:tr h="319525">
                <a:tc>
                  <a:txBody>
                    <a:bodyPr/>
                    <a:lstStyle/>
                    <a:p>
                      <a:pPr marL="0" lvl="0" indent="0" algn="l" rtl="0">
                        <a:spcBef>
                          <a:spcPts val="0"/>
                        </a:spcBef>
                        <a:spcAft>
                          <a:spcPts val="0"/>
                        </a:spcAft>
                        <a:buNone/>
                      </a:pPr>
                      <a:r>
                        <a:rPr lang="en" sz="1000" dirty="0"/>
                        <a:t>2</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6th Oct 2021</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b="0" i="0" u="none" strike="noStrike" noProof="0" dirty="0" err="1">
                          <a:solidFill>
                            <a:srgbClr val="000000"/>
                          </a:solidFill>
                          <a:latin typeface="Arial"/>
                        </a:rPr>
                        <a:t>Adarshkumar</a:t>
                      </a:r>
                      <a:r>
                        <a:rPr lang="en" sz="1000" b="0" i="0" u="none" strike="noStrike" noProof="0" dirty="0">
                          <a:solidFill>
                            <a:srgbClr val="000000"/>
                          </a:solidFill>
                          <a:latin typeface="Arial"/>
                        </a:rPr>
                        <a:t> Gajjar</a:t>
                      </a:r>
                      <a:endParaRPr b="0" i="0" u="none" strike="noStrike" noProof="0" dirty="0">
                        <a:solidFill>
                          <a:srgbClr val="000000"/>
                        </a:solidFill>
                        <a:latin typeface="Aria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Yes</a:t>
                      </a: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rtl="0">
                        <a:spcBef>
                          <a:spcPts val="0"/>
                        </a:spcBef>
                        <a:spcAft>
                          <a:spcPts val="0"/>
                        </a:spcAft>
                        <a:buNone/>
                      </a:pPr>
                      <a:r>
                        <a:rPr lang="en" sz="1000" dirty="0"/>
                        <a:t>Changes coming due to Oct’21 CR</a:t>
                      </a:r>
                      <a:endParaRPr sz="10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extLst>
                  <a:ext uri="{0D108BD9-81ED-4DB2-BD59-A6C34878D82A}">
                    <a16:rowId xmlns:a16="http://schemas.microsoft.com/office/drawing/2014/main" val="10003"/>
                  </a:ext>
                </a:extLst>
              </a:tr>
              <a:tr h="319524">
                <a:tc>
                  <a:txBody>
                    <a:bodyPr/>
                    <a:lstStyle/>
                    <a:p>
                      <a:pPr marL="0" lvl="0" indent="0" algn="l">
                        <a:spcBef>
                          <a:spcPts val="0"/>
                        </a:spcBef>
                        <a:spcAft>
                          <a:spcPts val="0"/>
                        </a:spcAft>
                        <a:buNone/>
                      </a:pPr>
                      <a:r>
                        <a:rPr lang="en" sz="1000" dirty="0"/>
                        <a:t>3</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1st Dec 2022</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b="0" i="0" u="none" strike="noStrike" noProof="0" dirty="0" err="1">
                          <a:solidFill>
                            <a:srgbClr val="000000"/>
                          </a:solidFill>
                          <a:latin typeface="Arial"/>
                        </a:rPr>
                        <a:t>Adarshkumar</a:t>
                      </a:r>
                      <a:r>
                        <a:rPr lang="en" sz="1000" b="0" i="0" u="none" strike="noStrike" noProof="0" dirty="0">
                          <a:solidFill>
                            <a:srgbClr val="000000"/>
                          </a:solidFill>
                          <a:latin typeface="Arial"/>
                        </a:rPr>
                        <a:t> Gajjar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Yes</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Changes coming due to Dec'22 CR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extLst>
                  <a:ext uri="{0D108BD9-81ED-4DB2-BD59-A6C34878D82A}">
                    <a16:rowId xmlns:a16="http://schemas.microsoft.com/office/drawing/2014/main" val="737391995"/>
                  </a:ext>
                </a:extLst>
              </a:tr>
              <a:tr h="319524">
                <a:tc>
                  <a:txBody>
                    <a:bodyPr/>
                    <a:lstStyle/>
                    <a:p>
                      <a:pPr marL="0" lvl="0" indent="0" algn="l">
                        <a:spcBef>
                          <a:spcPts val="0"/>
                        </a:spcBef>
                        <a:spcAft>
                          <a:spcPts val="0"/>
                        </a:spcAft>
                        <a:buNone/>
                      </a:pPr>
                      <a:r>
                        <a:rPr lang="en" sz="1000" dirty="0"/>
                        <a:t>4</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24th Jan 2023</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b="0" i="0" u="none" strike="noStrike" noProof="0" dirty="0" err="1">
                          <a:solidFill>
                            <a:srgbClr val="000000"/>
                          </a:solidFill>
                          <a:latin typeface="Arial"/>
                        </a:rPr>
                        <a:t>Adarshkumar</a:t>
                      </a:r>
                      <a:r>
                        <a:rPr lang="en" sz="1000" b="0" i="0" u="none" strike="noStrike" noProof="0" dirty="0">
                          <a:solidFill>
                            <a:srgbClr val="000000"/>
                          </a:solidFill>
                          <a:latin typeface="Arial"/>
                        </a:rPr>
                        <a:t> Gajjar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Yes</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Changes coming due to Jan'23 CR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extLst>
                  <a:ext uri="{0D108BD9-81ED-4DB2-BD59-A6C34878D82A}">
                    <a16:rowId xmlns:a16="http://schemas.microsoft.com/office/drawing/2014/main" val="172091874"/>
                  </a:ext>
                </a:extLst>
              </a:tr>
              <a:tr h="319524">
                <a:tc>
                  <a:txBody>
                    <a:bodyPr/>
                    <a:lstStyle/>
                    <a:p>
                      <a:pPr marL="0" lvl="0" indent="0" algn="l">
                        <a:spcBef>
                          <a:spcPts val="0"/>
                        </a:spcBef>
                        <a:spcAft>
                          <a:spcPts val="0"/>
                        </a:spcAft>
                        <a:buNone/>
                      </a:pPr>
                      <a:r>
                        <a:rPr lang="en" sz="1000" dirty="0"/>
                        <a:t>5</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12th Jun 2023</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b="0" i="0" u="none" strike="noStrike" noProof="0" dirty="0" err="1">
                          <a:solidFill>
                            <a:srgbClr val="000000"/>
                          </a:solidFill>
                          <a:latin typeface="Arial"/>
                        </a:rPr>
                        <a:t>Adarshkumar</a:t>
                      </a:r>
                      <a:r>
                        <a:rPr lang="en" sz="1000" b="0" i="0" u="none" strike="noStrike" noProof="0" dirty="0">
                          <a:solidFill>
                            <a:srgbClr val="000000"/>
                          </a:solidFill>
                          <a:latin typeface="Arial"/>
                        </a:rPr>
                        <a:t> Gajjar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Yes</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tc>
                  <a:txBody>
                    <a:bodyPr/>
                    <a:lstStyle/>
                    <a:p>
                      <a:pPr marL="0" lvl="0" indent="0" algn="l">
                        <a:spcBef>
                          <a:spcPts val="0"/>
                        </a:spcBef>
                        <a:spcAft>
                          <a:spcPts val="0"/>
                        </a:spcAft>
                        <a:buNone/>
                      </a:pPr>
                      <a:r>
                        <a:rPr lang="en" sz="1000" dirty="0"/>
                        <a:t>Changes coming due to Jun'23 CR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5" cap="flat" cmpd="sng" algn="ctr">
                      <a:solidFill>
                        <a:srgbClr val="FFFFFF"/>
                      </a:solidFill>
                      <a:prstDash val="solid"/>
                      <a:round/>
                      <a:headEnd type="none" w="sm" len="sm"/>
                      <a:tailEnd type="none" w="sm" len="sm"/>
                    </a:lnB>
                    <a:solidFill>
                      <a:srgbClr val="E7F0FF"/>
                    </a:solidFill>
                  </a:tcPr>
                </a:tc>
                <a:extLst>
                  <a:ext uri="{0D108BD9-81ED-4DB2-BD59-A6C34878D82A}">
                    <a16:rowId xmlns:a16="http://schemas.microsoft.com/office/drawing/2014/main" val="2048791239"/>
                  </a:ext>
                </a:extLst>
              </a:tr>
              <a:tr h="319524">
                <a:tc>
                  <a:txBody>
                    <a:bodyPr/>
                    <a:lstStyle/>
                    <a:p>
                      <a:pPr marL="0" lvl="0" indent="0" algn="l">
                        <a:spcBef>
                          <a:spcPts val="0"/>
                        </a:spcBef>
                        <a:spcAft>
                          <a:spcPts val="0"/>
                        </a:spcAft>
                        <a:buNone/>
                      </a:pPr>
                      <a:r>
                        <a:rPr lang="en" sz="1000" dirty="0"/>
                        <a:t>6</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4">
                      <a:solidFill>
                        <a:srgbClr val="FFFFFF"/>
                      </a:solidFill>
                    </a:lnB>
                    <a:solidFill>
                      <a:srgbClr val="E7F0FF"/>
                    </a:solidFill>
                  </a:tcPr>
                </a:tc>
                <a:tc>
                  <a:txBody>
                    <a:bodyPr/>
                    <a:lstStyle/>
                    <a:p>
                      <a:pPr marL="0" lvl="0" indent="0" algn="l">
                        <a:spcBef>
                          <a:spcPts val="0"/>
                        </a:spcBef>
                        <a:spcAft>
                          <a:spcPts val="0"/>
                        </a:spcAft>
                        <a:buNone/>
                      </a:pPr>
                      <a:r>
                        <a:rPr lang="en" sz="1000" dirty="0"/>
                        <a:t>10th Jul 2023</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4">
                      <a:solidFill>
                        <a:srgbClr val="FFFFFF"/>
                      </a:solidFill>
                    </a:lnB>
                    <a:solidFill>
                      <a:srgbClr val="E7F0FF"/>
                    </a:solidFill>
                  </a:tcPr>
                </a:tc>
                <a:tc>
                  <a:txBody>
                    <a:bodyPr/>
                    <a:lstStyle/>
                    <a:p>
                      <a:pPr marL="0" lvl="0" indent="0" algn="l">
                        <a:spcBef>
                          <a:spcPts val="0"/>
                        </a:spcBef>
                        <a:spcAft>
                          <a:spcPts val="0"/>
                        </a:spcAft>
                        <a:buNone/>
                      </a:pPr>
                      <a:r>
                        <a:rPr lang="en" sz="1000" dirty="0" err="1"/>
                        <a:t>Adarshkumar</a:t>
                      </a:r>
                      <a:r>
                        <a:rPr lang="en" sz="1000" dirty="0"/>
                        <a:t> Gajjar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4">
                      <a:solidFill>
                        <a:srgbClr val="FFFFFF"/>
                      </a:solidFill>
                    </a:lnB>
                    <a:solidFill>
                      <a:srgbClr val="E7F0FF"/>
                    </a:solidFill>
                  </a:tcPr>
                </a:tc>
                <a:tc>
                  <a:txBody>
                    <a:bodyPr/>
                    <a:lstStyle/>
                    <a:p>
                      <a:pPr marL="0" lvl="0" indent="0" algn="l">
                        <a:spcBef>
                          <a:spcPts val="0"/>
                        </a:spcBef>
                        <a:spcAft>
                          <a:spcPts val="0"/>
                        </a:spcAft>
                        <a:buNone/>
                      </a:pPr>
                      <a:r>
                        <a:rPr lang="en" sz="1000" dirty="0"/>
                        <a:t>Yes</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4">
                      <a:solidFill>
                        <a:srgbClr val="FFFFFF"/>
                      </a:solidFill>
                    </a:lnB>
                    <a:solidFill>
                      <a:srgbClr val="E7F0FF"/>
                    </a:solidFill>
                  </a:tcPr>
                </a:tc>
                <a:tc>
                  <a:txBody>
                    <a:bodyPr/>
                    <a:lstStyle/>
                    <a:p>
                      <a:pPr marL="0" lvl="0" indent="0" algn="l">
                        <a:spcBef>
                          <a:spcPts val="0"/>
                        </a:spcBef>
                        <a:spcAft>
                          <a:spcPts val="0"/>
                        </a:spcAft>
                        <a:buNone/>
                      </a:pPr>
                      <a:r>
                        <a:rPr lang="en" sz="1000" dirty="0"/>
                        <a:t>Changes coming due to Jul 23 CR</a:t>
                      </a:r>
                    </a:p>
                  </a:txBody>
                  <a:tcPr marL="91425" marR="91425" marT="91425" marB="91425">
                    <a:lnL w="9524">
                      <a:solidFill>
                        <a:srgbClr val="FFFFFF"/>
                      </a:solidFill>
                    </a:lnL>
                    <a:lnR w="9524">
                      <a:solidFill>
                        <a:srgbClr val="FFFFFF"/>
                      </a:solidFill>
                    </a:lnR>
                    <a:lnT w="9525" cap="flat" cmpd="sng" algn="ctr">
                      <a:solidFill>
                        <a:srgbClr val="FFFFFF"/>
                      </a:solidFill>
                      <a:prstDash val="solid"/>
                      <a:round/>
                      <a:headEnd type="none" w="sm" len="sm"/>
                      <a:tailEnd type="none" w="sm" len="sm"/>
                    </a:lnT>
                    <a:lnB w="9524">
                      <a:solidFill>
                        <a:srgbClr val="FFFFFF"/>
                      </a:solidFill>
                    </a:lnB>
                    <a:solidFill>
                      <a:srgbClr val="E7F0FF"/>
                    </a:solidFill>
                  </a:tcPr>
                </a:tc>
                <a:extLst>
                  <a:ext uri="{0D108BD9-81ED-4DB2-BD59-A6C34878D82A}">
                    <a16:rowId xmlns:a16="http://schemas.microsoft.com/office/drawing/2014/main" val="591144351"/>
                  </a:ext>
                </a:extLst>
              </a:tr>
            </a:tbl>
          </a:graphicData>
        </a:graphic>
      </p:graphicFrame>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Nielsen Standard Texture 1">
  <a:themeElements>
    <a:clrScheme name="Custom 2">
      <a:dk1>
        <a:srgbClr val="000000"/>
      </a:dk1>
      <a:lt1>
        <a:srgbClr val="FFFFFF"/>
      </a:lt1>
      <a:dk2>
        <a:srgbClr val="000000"/>
      </a:dk2>
      <a:lt2>
        <a:srgbClr val="707276"/>
      </a:lt2>
      <a:accent1>
        <a:srgbClr val="00AEEF"/>
      </a:accent1>
      <a:accent2>
        <a:srgbClr val="B21DAC"/>
      </a:accent2>
      <a:accent3>
        <a:srgbClr val="8DC63F"/>
      </a:accent3>
      <a:accent4>
        <a:srgbClr val="FFB100"/>
      </a:accent4>
      <a:accent5>
        <a:srgbClr val="DC0015"/>
      </a:accent5>
      <a:accent6>
        <a:srgbClr val="000000"/>
      </a:accent6>
      <a:hlink>
        <a:srgbClr val="B21DAC"/>
      </a:hlink>
      <a:folHlink>
        <a:srgbClr val="DC001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NIQ-GfK">
  <a:themeElements>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45720" rIns="45720" rtlCol="0" anchor="ctr"/>
      <a:lstStyle>
        <a:defPPr algn="ctr">
          <a:spcAft>
            <a:spcPts val="600"/>
          </a:spcAft>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noAutofit/>
      </a:bodyPr>
      <a:lstStyle>
        <a:defPPr algn="l">
          <a:spcAft>
            <a:spcPts val="600"/>
          </a:spcAft>
          <a:defRPr sz="1600" dirty="0"/>
        </a:defPPr>
      </a:lstStyle>
    </a:txDef>
  </a:objectDefaults>
  <a:extraClrSchemeLst/>
  <a:custClrLst>
    <a:custClr name="Cat 01">
      <a:srgbClr val="675895"/>
    </a:custClr>
    <a:custClr name="Cat 02">
      <a:srgbClr val="4697E2"/>
    </a:custClr>
    <a:custClr name="Cat 03">
      <a:srgbClr val="CB4B7A"/>
    </a:custClr>
    <a:custClr name="Cat 04">
      <a:srgbClr val="FFB500"/>
    </a:custClr>
    <a:custClr name="Cat 05">
      <a:srgbClr val="204188"/>
    </a:custClr>
    <a:custClr name="Cat 06">
      <a:srgbClr val="F06E2D"/>
    </a:custClr>
    <a:custClr name="Cat 07">
      <a:srgbClr val="03A577"/>
    </a:custClr>
    <a:custClr name="Cat 08">
      <a:srgbClr val="3265D2"/>
    </a:custClr>
    <a:custClr name="Cat 09">
      <a:srgbClr val="CA5113"/>
    </a:custClr>
    <a:custClr name="Cat 10">
      <a:srgbClr val="0C644A"/>
    </a:custClr>
    <a:custClr name="Cat 11">
      <a:srgbClr val="A082F3"/>
    </a:custClr>
    <a:custClr name="Cat 12">
      <a:srgbClr val="B37F01"/>
    </a:custClr>
    <a:custClr name="Cat 13">
      <a:srgbClr val="83304E"/>
    </a:custClr>
    <a:custClr name="Cat 14">
      <a:srgbClr val="23A9B2"/>
    </a:custClr>
    <a:custClr name="Cat 15">
      <a:srgbClr val="2B2F61"/>
    </a:custClr>
    <a:custClr name="Cat 16">
      <a:srgbClr val="4D9300"/>
    </a:custClr>
  </a:custClrLst>
</a:theme>
</file>

<file path=ppt/theme/theme3.xml><?xml version="1.0" encoding="utf-8"?>
<a:theme xmlns:a="http://schemas.openxmlformats.org/drawingml/2006/main" name="1_NIQ-GfK">
  <a:themeElements>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lIns="45720" rIns="45720" rtlCol="0" anchor="ctr"/>
      <a:lstStyle>
        <a:defPPr algn="ctr">
          <a:spcAft>
            <a:spcPts val="600"/>
          </a:spcAft>
          <a:defRPr sz="1600" dirty="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rIns="0" rtlCol="0">
        <a:noAutofit/>
      </a:bodyPr>
      <a:lstStyle>
        <a:defPPr algn="l">
          <a:spcAft>
            <a:spcPts val="600"/>
          </a:spcAft>
          <a:defRPr sz="1600" dirty="0"/>
        </a:defPPr>
      </a:lstStyle>
    </a:txDef>
  </a:objectDefaults>
  <a:extraClrSchemeLst/>
  <a:custClrLst>
    <a:custClr name="Cat 01">
      <a:srgbClr val="675895"/>
    </a:custClr>
    <a:custClr name="Cat 02">
      <a:srgbClr val="4697E2"/>
    </a:custClr>
    <a:custClr name="Cat 03">
      <a:srgbClr val="CB4B7A"/>
    </a:custClr>
    <a:custClr name="Cat 04">
      <a:srgbClr val="FFB500"/>
    </a:custClr>
    <a:custClr name="Cat 05">
      <a:srgbClr val="204188"/>
    </a:custClr>
    <a:custClr name="Cat 06">
      <a:srgbClr val="F06E2D"/>
    </a:custClr>
    <a:custClr name="Cat 07">
      <a:srgbClr val="03A577"/>
    </a:custClr>
    <a:custClr name="Cat 08">
      <a:srgbClr val="3265D2"/>
    </a:custClr>
    <a:custClr name="Cat 09">
      <a:srgbClr val="CA5113"/>
    </a:custClr>
    <a:custClr name="Cat 10">
      <a:srgbClr val="0C644A"/>
    </a:custClr>
    <a:custClr name="Cat 11">
      <a:srgbClr val="A082F3"/>
    </a:custClr>
    <a:custClr name="Cat 12">
      <a:srgbClr val="B37F01"/>
    </a:custClr>
    <a:custClr name="Cat 13">
      <a:srgbClr val="83304E"/>
    </a:custClr>
    <a:custClr name="Cat 14">
      <a:srgbClr val="23A9B2"/>
    </a:custClr>
    <a:custClr name="Cat 15">
      <a:srgbClr val="2B2F61"/>
    </a:custClr>
    <a:custClr name="Cat 16">
      <a:srgbClr val="4D9300"/>
    </a:custClr>
  </a:custClr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2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3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4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5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6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7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8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9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0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1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2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7.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8.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39.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0.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1.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2.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3.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4.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5.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ppt/theme/themeOverride146.xml><?xml version="1.0" encoding="utf-8"?>
<a:themeOverride xmlns:a="http://schemas.openxmlformats.org/drawingml/2006/main">
  <a:clrScheme name="Custom 2">
    <a:dk1>
      <a:srgbClr val="555555"/>
    </a:dk1>
    <a:lt1>
      <a:srgbClr val="FFFFFF"/>
    </a:lt1>
    <a:dk2>
      <a:srgbClr val="060A45"/>
    </a:dk2>
    <a:lt2>
      <a:srgbClr val="2C6DF6"/>
    </a:lt2>
    <a:accent1>
      <a:srgbClr val="30D1FF"/>
    </a:accent1>
    <a:accent2>
      <a:srgbClr val="EF5F17"/>
    </a:accent2>
    <a:accent3>
      <a:srgbClr val="A3A9F5"/>
    </a:accent3>
    <a:accent4>
      <a:srgbClr val="787CA9"/>
    </a:accent4>
    <a:accent5>
      <a:srgbClr val="59AD00"/>
    </a:accent5>
    <a:accent6>
      <a:srgbClr val="EF5890"/>
    </a:accent6>
    <a:hlink>
      <a:srgbClr val="2C6DF6"/>
    </a:hlink>
    <a:folHlink>
      <a:srgbClr val="30D1FF"/>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C3A903CD5A65F4AB6931C61B205CA70" ma:contentTypeVersion="10" ma:contentTypeDescription="Create a new document." ma:contentTypeScope="" ma:versionID="2a8abb8f2921898ae3e632237b92a764">
  <xsd:schema xmlns:xsd="http://www.w3.org/2001/XMLSchema" xmlns:xs="http://www.w3.org/2001/XMLSchema" xmlns:p="http://schemas.microsoft.com/office/2006/metadata/properties" xmlns:ns2="fcfdb695-d491-4a5a-bfa2-0b4babec3df0" xmlns:ns3="39437101-0617-438d-91df-ea2ddc88b41b" targetNamespace="http://schemas.microsoft.com/office/2006/metadata/properties" ma:root="true" ma:fieldsID="7ccd48d6a38a11e9ea5f2ea167690cbb" ns2:_="" ns3:_="">
    <xsd:import namespace="fcfdb695-d491-4a5a-bfa2-0b4babec3df0"/>
    <xsd:import namespace="39437101-0617-438d-91df-ea2ddc88b41b"/>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DateTaken" minOccurs="0"/>
                <xsd:element ref="ns2:MediaLengthInSeconds" minOccurs="0"/>
                <xsd:element ref="ns2:MediaServiceAutoKeyPoints" minOccurs="0"/>
                <xsd:element ref="ns2:MediaServiceKeyPoints" minOccurs="0"/>
                <xsd:element ref="ns3:SharedWithUsers" minOccurs="0"/>
                <xsd:element ref="ns3:SharedWithDetail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db695-d491-4a5a-bfa2-0b4babec3df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DateTaken" ma:index="11" nillable="true" ma:displayName="MediaServiceDateTaken" ma:hidden="true" ma:internalName="MediaServiceDateTaken" ma:readOnly="true">
      <xsd:simpleType>
        <xsd:restriction base="dms:Text"/>
      </xsd:simpleType>
    </xsd:element>
    <xsd:element name="MediaLengthInSeconds" ma:index="12" nillable="true" ma:displayName="MediaLengthInSeconds" ma:hidden="true"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9437101-0617-438d-91df-ea2ddc88b41b"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39437101-0617-438d-91df-ea2ddc88b41b">
      <UserInfo>
        <DisplayName>Citlalli Jimenez</DisplayName>
        <AccountId>289</AccountId>
        <AccountType/>
      </UserInfo>
      <UserInfo>
        <DisplayName>Michal Idziakowski</DisplayName>
        <AccountId>910</AccountId>
        <AccountType/>
      </UserInfo>
      <UserInfo>
        <DisplayName>May Fung</DisplayName>
        <AccountId>922</AccountId>
        <AccountType/>
      </UserInfo>
      <UserInfo>
        <DisplayName>Jorge Arturo Sosa</DisplayName>
        <AccountId>395</AccountId>
        <AccountType/>
      </UserInfo>
      <UserInfo>
        <DisplayName>ALEJANDRO NABOR</DisplayName>
        <AccountId>4307</AccountId>
        <AccountType/>
      </UserInfo>
      <UserInfo>
        <DisplayName>FRANCISCO JAVIER GOMEZ</DisplayName>
        <AccountId>4308</AccountId>
        <AccountType/>
      </UserInfo>
      <UserInfo>
        <DisplayName>NAHUM CONTRERAS</DisplayName>
        <AccountId>4309</AccountId>
        <AccountType/>
      </UserInfo>
      <UserInfo>
        <DisplayName>MIGUEL IVAN LOPEZ</DisplayName>
        <AccountId>4310</AccountId>
        <AccountType/>
      </UserInfo>
      <UserInfo>
        <DisplayName>JOSEFINA MONSERRAT RAMIREZ</DisplayName>
        <AccountId>1958</AccountId>
        <AccountType/>
      </UserInfo>
      <UserInfo>
        <DisplayName>DANIELA GOMEZ</DisplayName>
        <AccountId>1448</AccountId>
        <AccountType/>
      </UserInfo>
      <UserInfo>
        <DisplayName>Alexander Castro</DisplayName>
        <AccountId>1255</AccountId>
        <AccountType/>
      </UserInfo>
      <UserInfo>
        <DisplayName>DIONISIO GONZALEZ</DisplayName>
        <AccountId>3601</AccountId>
        <AccountType/>
      </UserInfo>
      <UserInfo>
        <DisplayName>Leonardo Chavez Escobar</DisplayName>
        <AccountId>4750</AccountId>
        <AccountType/>
      </UserInfo>
      <UserInfo>
        <DisplayName>Kim Lanting</DisplayName>
        <AccountId>121</AccountId>
        <AccountType/>
      </UserInfo>
      <UserInfo>
        <DisplayName>Jaimin Pandya</DisplayName>
        <AccountId>2887</AccountId>
        <AccountType/>
      </UserInfo>
      <UserInfo>
        <DisplayName>Donnovan Rinomhota</DisplayName>
        <AccountId>3172</AccountId>
        <AccountType/>
      </UserInfo>
      <UserInfo>
        <DisplayName>Yagizcan Olek</DisplayName>
        <AccountId>944</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1009D0-312C-4864-B33E-63F624E10A7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fdb695-d491-4a5a-bfa2-0b4babec3df0"/>
    <ds:schemaRef ds:uri="39437101-0617-438d-91df-ea2ddc88b41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6369B936-80BB-41EC-8434-B3ECEBFFCF05}">
  <ds:schemaRefs>
    <ds:schemaRef ds:uri="39437101-0617-438d-91df-ea2ddc88b41b"/>
    <ds:schemaRef ds:uri="fcfdb695-d491-4a5a-bfa2-0b4babec3df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F466553-D463-42D9-A347-692EE34637E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19540</Words>
  <Application>Microsoft Office PowerPoint</Application>
  <PresentationFormat>On-screen Show (16:9)</PresentationFormat>
  <Paragraphs>2370</Paragraphs>
  <Slides>147</Slides>
  <Notes>140</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147</vt:i4>
      </vt:variant>
    </vt:vector>
  </HeadingPairs>
  <TitlesOfParts>
    <vt:vector size="164" baseType="lpstr">
      <vt:lpstr>Times New Roman</vt:lpstr>
      <vt:lpstr>Times</vt:lpstr>
      <vt:lpstr>Symbol,Sans-Serif</vt:lpstr>
      <vt:lpstr>Open Sans</vt:lpstr>
      <vt:lpstr>Book Antiqua</vt:lpstr>
      <vt:lpstr>System Font Regular</vt:lpstr>
      <vt:lpstr>Roboto</vt:lpstr>
      <vt:lpstr>Arial</vt:lpstr>
      <vt:lpstr>Calibri</vt:lpstr>
      <vt:lpstr>Symbol</vt:lpstr>
      <vt:lpstr>Wingdings</vt:lpstr>
      <vt:lpstr>Arial,Sans-Serif</vt:lpstr>
      <vt:lpstr>Archivo Narrow</vt:lpstr>
      <vt:lpstr>Noto Sans Symbols</vt:lpstr>
      <vt:lpstr>Nielsen Standard Texture 1</vt:lpstr>
      <vt:lpstr>NIQ-GfK</vt:lpstr>
      <vt:lpstr>1_NIQ-GfK</vt:lpstr>
      <vt:lpstr>DEFINITION</vt:lpstr>
      <vt:lpstr>FOVA Handling – Starters training</vt:lpstr>
      <vt:lpstr>PowerPoint Presentation</vt:lpstr>
      <vt:lpstr>PowerPoint Presentation</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 - FOVA Report Tables </vt:lpstr>
      <vt:lpstr>HOW THE PROCESS WORKS - FOVA Report Tables </vt:lpstr>
      <vt:lpstr>HOW THE PROCESS WORKS - FOVA Report Tables </vt:lpstr>
      <vt:lpstr>HOW THE PROCESS WORKS - FOVA Report Tables </vt:lpstr>
      <vt:lpstr>HOW THE PROCESS WORKS - FOVA Report Tables </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HOW THE PROCESS WORKS</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24442 - FOVA Price Change Enhancement:</vt:lpstr>
      <vt:lpstr>DM 25211 FOVA Missing Days Enhancement: </vt:lpstr>
      <vt:lpstr>DM 25211 FOVA Missing Days Enhancement: </vt:lpstr>
      <vt:lpstr>DM 25211 FOVA Missing Days Enhancement: </vt:lpstr>
      <vt:lpstr>DM 25211 FOVA Missing Days Enhancement: </vt:lpstr>
      <vt:lpstr>DM 25211 FOVA Missing Days Enhancement: </vt:lpstr>
      <vt:lpstr>DM 26031 - FOVA Missing days Enhancement phase 2:</vt:lpstr>
      <vt:lpstr>DM 26031 - FOVA Missing days Enhancement phase 2:</vt:lpstr>
      <vt:lpstr>DM 25211 FOVA Missing Days Enhancement: </vt:lpstr>
      <vt:lpstr>DM 25211 FOVA Missing Days Enhancement: </vt:lpstr>
      <vt:lpstr>DM 25211 FOVA Missing Days Enhancement: </vt:lpstr>
      <vt:lpstr>DM 25211 FOVA Missing Days Enhancement: </vt:lpstr>
      <vt:lpstr>NEW STATUS “EXPECTED”</vt:lpstr>
      <vt:lpstr>FOVA HANDLING - YAFA</vt:lpstr>
      <vt:lpstr>YAFA - Enhanced Loading Stats</vt:lpstr>
      <vt:lpstr>YAFA - Enhanced Loading Stats</vt:lpstr>
      <vt:lpstr>YAFA - Retailer Info</vt:lpstr>
      <vt:lpstr>YAFA - Reception Details</vt:lpstr>
      <vt:lpstr>YAFA - Reception Details</vt:lpstr>
      <vt:lpstr>YAFA - Reception Details</vt:lpstr>
      <vt:lpstr>YAFA - Reception Details</vt:lpstr>
      <vt:lpstr>YAFA - Reception Details</vt:lpstr>
      <vt:lpstr>YAFA - FOVA Graphs</vt:lpstr>
      <vt:lpstr>YAFA - FOVA Graphs (Cont..)</vt:lpstr>
      <vt:lpstr>YAFA General Overview</vt:lpstr>
      <vt:lpstr>YAFA General Overview</vt:lpstr>
      <vt:lpstr>YAFA Retailer Info</vt:lpstr>
      <vt:lpstr>YAFA Retailer Info</vt:lpstr>
      <vt:lpstr>YAFA Retailer Info</vt:lpstr>
      <vt:lpstr>YAFA FOVA To Do Browser</vt:lpstr>
      <vt:lpstr>YAFA FOVA Report Browser</vt:lpstr>
      <vt:lpstr>YAFA FOVA Statistic Browser</vt:lpstr>
      <vt:lpstr>Basic checks for Questionable stores</vt:lpstr>
      <vt:lpstr>Fova process Flow</vt:lpstr>
      <vt:lpstr>Basic checks for Questionable stores</vt:lpstr>
      <vt:lpstr>Basic checks for Questionable stores</vt:lpstr>
      <vt:lpstr>DAILY DATA CHECK</vt:lpstr>
      <vt:lpstr>Scope of Daily Data Check</vt:lpstr>
      <vt:lpstr>Rules &amp; Restriction - Priority for FOVA reports</vt:lpstr>
      <vt:lpstr>Rules &amp; Restriction - Validate stores</vt:lpstr>
      <vt:lpstr>Rules &amp; Restriction - Validate stores</vt:lpstr>
      <vt:lpstr>Additional Store Validation Guidance</vt:lpstr>
      <vt:lpstr>Additional Store Validation Guidance</vt:lpstr>
      <vt:lpstr>Additional Store Validation Guidance</vt:lpstr>
      <vt:lpstr>Additional Store Validation Guidance</vt:lpstr>
      <vt:lpstr>Additional Store Validation Guidance</vt:lpstr>
      <vt:lpstr>Additional Store Validation Guidance</vt:lpstr>
      <vt:lpstr>Rules &amp; Restriction - General</vt:lpstr>
      <vt:lpstr>Rules &amp; Restriction - Retailer Specific</vt:lpstr>
      <vt:lpstr>Rules &amp; Restriction - Census Specific</vt:lpstr>
      <vt:lpstr>Rules &amp; Restriction - Sample Specific</vt:lpstr>
      <vt:lpstr>Rules &amp; Restriction - Trend Table</vt:lpstr>
      <vt:lpstr>Rules &amp; Restriction - Daily Data</vt:lpstr>
      <vt:lpstr>Rules &amp; Restriction - Daily Data</vt:lpstr>
      <vt:lpstr>Smart way of FOVA checking</vt:lpstr>
      <vt:lpstr>Smart way of FOVA checking</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DM 25641 FOVA Automation Rule:</vt:lpstr>
      <vt:lpstr>Detailed explanation for each Test of FOVA</vt:lpstr>
      <vt:lpstr>Force Fova Ok Changes :</vt:lpstr>
      <vt:lpstr>Force Fova Ok Changes (Cont..) :</vt:lpstr>
      <vt:lpstr>SET UP PARAMETERS : FOVA &amp; FOVA_PARAMETER </vt:lpstr>
      <vt:lpstr>SET UP PARAMETERS : FOVA &amp; FOVA_PARAMETER </vt:lpstr>
      <vt:lpstr>SET UP PARAMETERS : FOVA &amp; FOVA_PARAMETER </vt:lpstr>
      <vt:lpstr>SET UP PARAMETERS : FOVA &amp; FOVA_PARAMETER </vt:lpstr>
      <vt:lpstr>SET UP PARAMETERS : FOVA &amp; FOVA_PARAMETER </vt:lpstr>
      <vt:lpstr>SET UP PARAMETERS : FOVA &amp; FOVA_PARAMETER </vt:lpstr>
      <vt:lpstr>SET UP PARAMETERS : FOVA &amp; FOVA_PARAMETER  </vt:lpstr>
      <vt:lpstr>SET UP PARAMETER : NEW STATUS “EXPECTED”</vt:lpstr>
      <vt:lpstr>PowerPoint Presentation</vt:lpstr>
      <vt:lpstr>PowerPoint Presentation</vt:lpstr>
      <vt:lpstr>APPENDIX</vt:lpstr>
      <vt:lpstr>PowerPoint Presentation</vt:lpstr>
      <vt:lpstr>PowerPoint Presentation</vt:lpstr>
      <vt:lpstr>How to Implement - Small Store FOVA Validation </vt:lpstr>
      <vt:lpstr>PowerPoint Presentation</vt:lpstr>
      <vt:lpstr>PowerPoint Presentation</vt:lpstr>
      <vt:lpstr>PowerPoint Presentation</vt:lpstr>
      <vt:lpstr>PowerPoint Presentation</vt:lpstr>
      <vt:lpstr>PowerPoint Presentation</vt:lpstr>
      <vt:lpstr>PowerPoint Presentation</vt:lpstr>
      <vt:lpstr>US Validation, FOVA: Store format change identification</vt:lpstr>
      <vt:lpstr>US Validation, FOVA: Store format change identification (Cont..)</vt:lpstr>
      <vt:lpstr>US Validation, FOVA: Store format change identification (Cont..)</vt:lpstr>
      <vt:lpstr>US Validation, FOVA: Store format change identification (Cont..)</vt:lpstr>
      <vt:lpstr>US Validation, FOVA: Store format change identification (Cont..)</vt:lpstr>
      <vt:lpstr>US Validation, FOVA: Store format change identification (Cont..)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FOVA Handling – Starters training</dc:title>
  <cp:lastModifiedBy>Abel Lain</cp:lastModifiedBy>
  <cp:revision>127</cp:revision>
  <dcterms:modified xsi:type="dcterms:W3CDTF">2023-07-19T09:11:35Z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0x010100BC3A903CD5A65F4AB6931C61B205CA70</vt:lpwstr>
  </property>
  <property fmtid="{D5CDD505-2E9C-101B-9397-08002B2CF9AE}" pid="3" name="Order">
    <vt:r8>2800</vt:r8>
  </property>
</Properties>
</file>