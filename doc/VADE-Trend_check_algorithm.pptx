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44" r:id="rId4"/>
  </p:sldMasterIdLst>
  <p:notesMasterIdLst>
    <p:notesMasterId r:id="rId33"/>
  </p:notesMasterIdLst>
  <p:handoutMasterIdLst>
    <p:handoutMasterId r:id="rId34"/>
  </p:handoutMasterIdLst>
  <p:sldIdLst>
    <p:sldId id="274" r:id="rId5"/>
    <p:sldId id="277" r:id="rId6"/>
    <p:sldId id="279" r:id="rId7"/>
    <p:sldId id="282" r:id="rId8"/>
    <p:sldId id="278" r:id="rId9"/>
    <p:sldId id="281" r:id="rId10"/>
    <p:sldId id="264" r:id="rId11"/>
    <p:sldId id="285" r:id="rId12"/>
    <p:sldId id="280" r:id="rId13"/>
    <p:sldId id="266" r:id="rId14"/>
    <p:sldId id="286" r:id="rId15"/>
    <p:sldId id="287" r:id="rId16"/>
    <p:sldId id="288" r:id="rId17"/>
    <p:sldId id="289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302" r:id="rId27"/>
    <p:sldId id="301" r:id="rId28"/>
    <p:sldId id="300" r:id="rId29"/>
    <p:sldId id="304" r:id="rId30"/>
    <p:sldId id="303" r:id="rId31"/>
    <p:sldId id="306" r:id="rId32"/>
  </p:sldIdLst>
  <p:sldSz cx="9144000" cy="5143500" type="screen16x9"/>
  <p:notesSz cx="6805613" cy="994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">
          <p15:clr>
            <a:srgbClr val="A4A3A4"/>
          </p15:clr>
        </p15:guide>
        <p15:guide id="2" orient="horz" pos="511">
          <p15:clr>
            <a:srgbClr val="A4A3A4"/>
          </p15:clr>
        </p15:guide>
        <p15:guide id="3" orient="horz" pos="2802">
          <p15:clr>
            <a:srgbClr val="A4A3A4"/>
          </p15:clr>
        </p15:guide>
        <p15:guide id="4" orient="horz" pos="2292">
          <p15:clr>
            <a:srgbClr val="A4A3A4"/>
          </p15:clr>
        </p15:guide>
        <p15:guide id="5" orient="horz" pos="3168">
          <p15:clr>
            <a:srgbClr val="A4A3A4"/>
          </p15:clr>
        </p15:guide>
        <p15:guide id="6" pos="374">
          <p15:clr>
            <a:srgbClr val="A4A3A4"/>
          </p15:clr>
        </p15:guide>
        <p15:guide id="7" pos="5308">
          <p15:clr>
            <a:srgbClr val="A4A3A4"/>
          </p15:clr>
        </p15:guide>
        <p15:guide id="8" pos="768">
          <p15:clr>
            <a:srgbClr val="A4A3A4"/>
          </p15:clr>
        </p15:guide>
        <p15:guide id="9" pos="1213">
          <p15:clr>
            <a:srgbClr val="A4A3A4"/>
          </p15:clr>
        </p15:guide>
        <p15:guide id="10" pos="2891">
          <p15:clr>
            <a:srgbClr val="A4A3A4"/>
          </p15:clr>
        </p15:guide>
        <p15:guide id="11" pos="1841">
          <p15:clr>
            <a:srgbClr val="A4A3A4"/>
          </p15:clr>
        </p15:guide>
        <p15:guide id="12" pos="5005">
          <p15:clr>
            <a:srgbClr val="A4A3A4"/>
          </p15:clr>
        </p15:guide>
        <p15:guide id="13" pos="4477">
          <p15:clr>
            <a:srgbClr val="A4A3A4"/>
          </p15:clr>
        </p15:guide>
        <p15:guide id="14" pos="3408">
          <p15:clr>
            <a:srgbClr val="A4A3A4"/>
          </p15:clr>
        </p15:guide>
        <p15:guide id="15" pos="3840">
          <p15:clr>
            <a:srgbClr val="A4A3A4"/>
          </p15:clr>
        </p15:guide>
        <p15:guide id="16" pos="235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ma01" initials="" lastIdx="142" clrIdx="0"/>
  <p:cmAuthor id="1" name="x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21E"/>
    <a:srgbClr val="21572B"/>
    <a:srgbClr val="761114"/>
    <a:srgbClr val="DC0115"/>
    <a:srgbClr val="BC0011"/>
    <a:srgbClr val="5D0B69"/>
    <a:srgbClr val="00409D"/>
    <a:srgbClr val="A30000"/>
    <a:srgbClr val="FFEFCC"/>
    <a:srgbClr val="FA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7836" autoAdjust="0"/>
  </p:normalViewPr>
  <p:slideViewPr>
    <p:cSldViewPr showGuides="1">
      <p:cViewPr varScale="1">
        <p:scale>
          <a:sx n="78" d="100"/>
          <a:sy n="78" d="100"/>
        </p:scale>
        <p:origin x="960" y="84"/>
      </p:cViewPr>
      <p:guideLst>
        <p:guide orient="horz" pos="223"/>
        <p:guide orient="horz" pos="511"/>
        <p:guide orient="horz" pos="2802"/>
        <p:guide orient="horz" pos="2292"/>
        <p:guide orient="horz" pos="3168"/>
        <p:guide pos="374"/>
        <p:guide pos="5308"/>
        <p:guide pos="768"/>
        <p:guide pos="1213"/>
        <p:guide pos="2891"/>
        <p:guide pos="1841"/>
        <p:guide pos="5005"/>
        <p:guide pos="4477"/>
        <p:guide pos="3408"/>
        <p:guide pos="3840"/>
        <p:guide pos="23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A6DBC7-2EE7-463D-BA1E-1FCB9AC3E69C}" type="doc">
      <dgm:prSet loTypeId="urn:microsoft.com/office/officeart/2005/8/layout/bProcess3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GB"/>
        </a:p>
      </dgm:t>
    </dgm:pt>
    <dgm:pt modelId="{6F238889-AF60-4430-BC8C-F9BE6194EE88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Build regression model</a:t>
          </a:r>
          <a:endParaRPr lang="en-GB" dirty="0">
            <a:solidFill>
              <a:schemeClr val="tx1"/>
            </a:solidFill>
          </a:endParaRPr>
        </a:p>
      </dgm:t>
    </dgm:pt>
    <dgm:pt modelId="{EC09551F-9424-4D5D-A2AB-E5C35231EDEB}" type="parTrans" cxnId="{93DBECFC-1F15-4343-AA22-68172B88CE74}">
      <dgm:prSet/>
      <dgm:spPr/>
      <dgm:t>
        <a:bodyPr/>
        <a:lstStyle/>
        <a:p>
          <a:endParaRPr lang="en-GB"/>
        </a:p>
      </dgm:t>
    </dgm:pt>
    <dgm:pt modelId="{23B9B404-CCFF-4837-8B07-DF6AB2D294A7}" type="sibTrans" cxnId="{93DBECFC-1F15-4343-AA22-68172B88CE74}">
      <dgm:prSet/>
      <dgm:spPr/>
      <dgm:t>
        <a:bodyPr/>
        <a:lstStyle/>
        <a:p>
          <a:endParaRPr lang="en-GB"/>
        </a:p>
      </dgm:t>
    </dgm:pt>
    <dgm:pt modelId="{9273A4EC-1B6B-4A10-882A-96A522C429A7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Exclude regression effect from original series</a:t>
          </a:r>
          <a:endParaRPr lang="en-GB" dirty="0">
            <a:solidFill>
              <a:schemeClr val="tx1"/>
            </a:solidFill>
          </a:endParaRPr>
        </a:p>
      </dgm:t>
    </dgm:pt>
    <dgm:pt modelId="{822DE0A7-66E6-4913-A3D9-D882871E060B}" type="parTrans" cxnId="{89EE1D88-7E79-45C5-BEF1-CD93E9B07CEB}">
      <dgm:prSet/>
      <dgm:spPr/>
      <dgm:t>
        <a:bodyPr/>
        <a:lstStyle/>
        <a:p>
          <a:endParaRPr lang="en-GB"/>
        </a:p>
      </dgm:t>
    </dgm:pt>
    <dgm:pt modelId="{BF15C6CB-A92F-40A8-A9AA-113382D969CF}" type="sibTrans" cxnId="{89EE1D88-7E79-45C5-BEF1-CD93E9B07CEB}">
      <dgm:prSet/>
      <dgm:spPr/>
      <dgm:t>
        <a:bodyPr/>
        <a:lstStyle/>
        <a:p>
          <a:endParaRPr lang="en-GB"/>
        </a:p>
      </dgm:t>
    </dgm:pt>
    <dgm:pt modelId="{524A605C-A3AF-466A-9018-8B7C219086B0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Initialize Exponential smoothing </a:t>
          </a:r>
          <a:endParaRPr lang="en-GB" dirty="0">
            <a:solidFill>
              <a:schemeClr val="tx1"/>
            </a:solidFill>
          </a:endParaRPr>
        </a:p>
      </dgm:t>
    </dgm:pt>
    <dgm:pt modelId="{07DED842-91F7-401F-A180-922D027D6167}" type="parTrans" cxnId="{627C7CBC-E4F8-460E-AB80-D68D074DFAB2}">
      <dgm:prSet/>
      <dgm:spPr/>
      <dgm:t>
        <a:bodyPr/>
        <a:lstStyle/>
        <a:p>
          <a:endParaRPr lang="en-GB"/>
        </a:p>
      </dgm:t>
    </dgm:pt>
    <dgm:pt modelId="{7D1CCEB9-9C51-494B-88F5-CC26C7B42917}" type="sibTrans" cxnId="{627C7CBC-E4F8-460E-AB80-D68D074DFAB2}">
      <dgm:prSet/>
      <dgm:spPr/>
      <dgm:t>
        <a:bodyPr/>
        <a:lstStyle/>
        <a:p>
          <a:endParaRPr lang="en-GB"/>
        </a:p>
      </dgm:t>
    </dgm:pt>
    <dgm:pt modelId="{FBFA64E9-3928-414F-AC29-3139DB1EBB46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Run Exponential smoothing </a:t>
          </a:r>
          <a:endParaRPr lang="en-GB" dirty="0">
            <a:solidFill>
              <a:schemeClr val="tx1"/>
            </a:solidFill>
          </a:endParaRPr>
        </a:p>
      </dgm:t>
    </dgm:pt>
    <dgm:pt modelId="{7A40D9B8-CF1A-4B93-9AD1-D0B9DDD5D174}" type="parTrans" cxnId="{28018590-D30A-4E72-8710-580EF14B4C5C}">
      <dgm:prSet/>
      <dgm:spPr/>
      <dgm:t>
        <a:bodyPr/>
        <a:lstStyle/>
        <a:p>
          <a:endParaRPr lang="en-GB"/>
        </a:p>
      </dgm:t>
    </dgm:pt>
    <dgm:pt modelId="{D967B3B1-A215-4081-9040-588F71C373A0}" type="sibTrans" cxnId="{28018590-D30A-4E72-8710-580EF14B4C5C}">
      <dgm:prSet/>
      <dgm:spPr/>
      <dgm:t>
        <a:bodyPr/>
        <a:lstStyle/>
        <a:p>
          <a:endParaRPr lang="en-GB"/>
        </a:p>
      </dgm:t>
    </dgm:pt>
    <dgm:pt modelId="{5A70F761-692E-422B-AAA6-2B2211D0E129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Predict back periods based on combined model</a:t>
          </a:r>
          <a:endParaRPr lang="en-GB" dirty="0">
            <a:solidFill>
              <a:schemeClr val="tx1"/>
            </a:solidFill>
          </a:endParaRPr>
        </a:p>
      </dgm:t>
    </dgm:pt>
    <dgm:pt modelId="{A374550D-95B4-4094-BFAA-A76D3A5C08FF}" type="parTrans" cxnId="{3F511C00-8167-41BD-AECB-0F29B6FBBFBA}">
      <dgm:prSet/>
      <dgm:spPr/>
      <dgm:t>
        <a:bodyPr/>
        <a:lstStyle/>
        <a:p>
          <a:endParaRPr lang="en-GB"/>
        </a:p>
      </dgm:t>
    </dgm:pt>
    <dgm:pt modelId="{8FA25BBF-02D0-431B-B6B9-995FB307EAE5}" type="sibTrans" cxnId="{3F511C00-8167-41BD-AECB-0F29B6FBBFBA}">
      <dgm:prSet/>
      <dgm:spPr/>
      <dgm:t>
        <a:bodyPr/>
        <a:lstStyle/>
        <a:p>
          <a:endParaRPr lang="en-GB"/>
        </a:p>
      </dgm:t>
    </dgm:pt>
    <dgm:pt modelId="{1197676D-1DE2-41B5-84B9-36D3AF5432F8}">
      <dgm:prSet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Assess model precision </a:t>
          </a:r>
          <a:endParaRPr lang="en-GB" dirty="0">
            <a:solidFill>
              <a:schemeClr val="tx1"/>
            </a:solidFill>
          </a:endParaRPr>
        </a:p>
      </dgm:t>
    </dgm:pt>
    <dgm:pt modelId="{7CE3447F-ACD6-4663-AA13-9BD2F82560C9}" type="parTrans" cxnId="{977333C0-936D-43CA-B372-D952F3AAA6B5}">
      <dgm:prSet/>
      <dgm:spPr/>
      <dgm:t>
        <a:bodyPr/>
        <a:lstStyle/>
        <a:p>
          <a:endParaRPr lang="en-GB"/>
        </a:p>
      </dgm:t>
    </dgm:pt>
    <dgm:pt modelId="{7C100CBA-0BF5-4566-A928-BFB449D5F0D1}" type="sibTrans" cxnId="{977333C0-936D-43CA-B372-D952F3AAA6B5}">
      <dgm:prSet/>
      <dgm:spPr/>
      <dgm:t>
        <a:bodyPr/>
        <a:lstStyle/>
        <a:p>
          <a:endParaRPr lang="en-GB"/>
        </a:p>
      </dgm:t>
    </dgm:pt>
    <dgm:pt modelId="{3AF2311A-1198-43AB-9BD2-CB1C07CA4865}" type="pres">
      <dgm:prSet presAssocID="{11A6DBC7-2EE7-463D-BA1E-1FCB9AC3E69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0F24A6D-3F34-4061-8B9A-F9BD83C39992}" type="pres">
      <dgm:prSet presAssocID="{6F238889-AF60-4430-BC8C-F9BE6194EE8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E30B272-DD20-4CB2-AB4C-B45766F2CBD9}" type="pres">
      <dgm:prSet presAssocID="{23B9B404-CCFF-4837-8B07-DF6AB2D294A7}" presName="sibTrans" presStyleLbl="sibTrans1D1" presStyleIdx="0" presStyleCnt="5"/>
      <dgm:spPr/>
      <dgm:t>
        <a:bodyPr/>
        <a:lstStyle/>
        <a:p>
          <a:endParaRPr lang="en-GB"/>
        </a:p>
      </dgm:t>
    </dgm:pt>
    <dgm:pt modelId="{3915E078-2A7F-4149-AC41-C9956E91B865}" type="pres">
      <dgm:prSet presAssocID="{23B9B404-CCFF-4837-8B07-DF6AB2D294A7}" presName="connectorText" presStyleLbl="sibTrans1D1" presStyleIdx="0" presStyleCnt="5"/>
      <dgm:spPr/>
      <dgm:t>
        <a:bodyPr/>
        <a:lstStyle/>
        <a:p>
          <a:endParaRPr lang="en-GB"/>
        </a:p>
      </dgm:t>
    </dgm:pt>
    <dgm:pt modelId="{93A72D82-8977-488F-9FED-AF76795D550C}" type="pres">
      <dgm:prSet presAssocID="{9273A4EC-1B6B-4A10-882A-96A522C429A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ED85D09-EF94-4B7C-B7BD-ECB5B5177703}" type="pres">
      <dgm:prSet presAssocID="{BF15C6CB-A92F-40A8-A9AA-113382D969CF}" presName="sibTrans" presStyleLbl="sibTrans1D1" presStyleIdx="1" presStyleCnt="5"/>
      <dgm:spPr/>
      <dgm:t>
        <a:bodyPr/>
        <a:lstStyle/>
        <a:p>
          <a:endParaRPr lang="en-GB"/>
        </a:p>
      </dgm:t>
    </dgm:pt>
    <dgm:pt modelId="{903D6A00-62F4-4923-B6F6-EC796BEAA19B}" type="pres">
      <dgm:prSet presAssocID="{BF15C6CB-A92F-40A8-A9AA-113382D969CF}" presName="connectorText" presStyleLbl="sibTrans1D1" presStyleIdx="1" presStyleCnt="5"/>
      <dgm:spPr/>
      <dgm:t>
        <a:bodyPr/>
        <a:lstStyle/>
        <a:p>
          <a:endParaRPr lang="en-GB"/>
        </a:p>
      </dgm:t>
    </dgm:pt>
    <dgm:pt modelId="{3B564F65-92CB-4E08-9E65-822128195B28}" type="pres">
      <dgm:prSet presAssocID="{524A605C-A3AF-466A-9018-8B7C219086B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F5B1CE2-70C1-4186-8DF2-3C8CBF2D308A}" type="pres">
      <dgm:prSet presAssocID="{7D1CCEB9-9C51-494B-88F5-CC26C7B42917}" presName="sibTrans" presStyleLbl="sibTrans1D1" presStyleIdx="2" presStyleCnt="5"/>
      <dgm:spPr/>
      <dgm:t>
        <a:bodyPr/>
        <a:lstStyle/>
        <a:p>
          <a:endParaRPr lang="en-GB"/>
        </a:p>
      </dgm:t>
    </dgm:pt>
    <dgm:pt modelId="{9DC07A02-58D2-442C-AD07-EDBBB1E1090F}" type="pres">
      <dgm:prSet presAssocID="{7D1CCEB9-9C51-494B-88F5-CC26C7B42917}" presName="connectorText" presStyleLbl="sibTrans1D1" presStyleIdx="2" presStyleCnt="5"/>
      <dgm:spPr/>
      <dgm:t>
        <a:bodyPr/>
        <a:lstStyle/>
        <a:p>
          <a:endParaRPr lang="en-GB"/>
        </a:p>
      </dgm:t>
    </dgm:pt>
    <dgm:pt modelId="{79CF6FBB-C052-414F-93C6-9FB7B60556B6}" type="pres">
      <dgm:prSet presAssocID="{FBFA64E9-3928-414F-AC29-3139DB1EBB46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6022389-9AE0-4B57-B402-6A28A5A1E318}" type="pres">
      <dgm:prSet presAssocID="{D967B3B1-A215-4081-9040-588F71C373A0}" presName="sibTrans" presStyleLbl="sibTrans1D1" presStyleIdx="3" presStyleCnt="5"/>
      <dgm:spPr/>
      <dgm:t>
        <a:bodyPr/>
        <a:lstStyle/>
        <a:p>
          <a:endParaRPr lang="en-GB"/>
        </a:p>
      </dgm:t>
    </dgm:pt>
    <dgm:pt modelId="{058EC064-4197-47FB-81B0-AA1C9D95CAEE}" type="pres">
      <dgm:prSet presAssocID="{D967B3B1-A215-4081-9040-588F71C373A0}" presName="connectorText" presStyleLbl="sibTrans1D1" presStyleIdx="3" presStyleCnt="5"/>
      <dgm:spPr/>
      <dgm:t>
        <a:bodyPr/>
        <a:lstStyle/>
        <a:p>
          <a:endParaRPr lang="en-GB"/>
        </a:p>
      </dgm:t>
    </dgm:pt>
    <dgm:pt modelId="{093DD396-C75A-4B64-8EF1-9986AE983B9A}" type="pres">
      <dgm:prSet presAssocID="{5A70F761-692E-422B-AAA6-2B2211D0E12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F018EE7-7ED2-4B89-88F0-7A6DC3FEFFF0}" type="pres">
      <dgm:prSet presAssocID="{8FA25BBF-02D0-431B-B6B9-995FB307EAE5}" presName="sibTrans" presStyleLbl="sibTrans1D1" presStyleIdx="4" presStyleCnt="5"/>
      <dgm:spPr/>
      <dgm:t>
        <a:bodyPr/>
        <a:lstStyle/>
        <a:p>
          <a:endParaRPr lang="en-GB"/>
        </a:p>
      </dgm:t>
    </dgm:pt>
    <dgm:pt modelId="{B50D419A-8041-44A3-93B4-8D0CAD209C7D}" type="pres">
      <dgm:prSet presAssocID="{8FA25BBF-02D0-431B-B6B9-995FB307EAE5}" presName="connectorText" presStyleLbl="sibTrans1D1" presStyleIdx="4" presStyleCnt="5"/>
      <dgm:spPr/>
      <dgm:t>
        <a:bodyPr/>
        <a:lstStyle/>
        <a:p>
          <a:endParaRPr lang="en-GB"/>
        </a:p>
      </dgm:t>
    </dgm:pt>
    <dgm:pt modelId="{82E6582A-EAB0-4E8C-A4AF-E87418B7A0D9}" type="pres">
      <dgm:prSet presAssocID="{1197676D-1DE2-41B5-84B9-36D3AF5432F8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8DEC3FB6-F4E9-4BAA-A095-BF59A6177A17}" type="presOf" srcId="{7D1CCEB9-9C51-494B-88F5-CC26C7B42917}" destId="{9DC07A02-58D2-442C-AD07-EDBBB1E1090F}" srcOrd="1" destOrd="0" presId="urn:microsoft.com/office/officeart/2005/8/layout/bProcess3"/>
    <dgm:cxn modelId="{627C7CBC-E4F8-460E-AB80-D68D074DFAB2}" srcId="{11A6DBC7-2EE7-463D-BA1E-1FCB9AC3E69C}" destId="{524A605C-A3AF-466A-9018-8B7C219086B0}" srcOrd="2" destOrd="0" parTransId="{07DED842-91F7-401F-A180-922D027D6167}" sibTransId="{7D1CCEB9-9C51-494B-88F5-CC26C7B42917}"/>
    <dgm:cxn modelId="{25249D56-E7C8-4B16-BE30-81118BCA0E6E}" type="presOf" srcId="{8FA25BBF-02D0-431B-B6B9-995FB307EAE5}" destId="{B50D419A-8041-44A3-93B4-8D0CAD209C7D}" srcOrd="1" destOrd="0" presId="urn:microsoft.com/office/officeart/2005/8/layout/bProcess3"/>
    <dgm:cxn modelId="{0BE8A70A-728A-4061-8F10-12AA0BAD6B25}" type="presOf" srcId="{7D1CCEB9-9C51-494B-88F5-CC26C7B42917}" destId="{7F5B1CE2-70C1-4186-8DF2-3C8CBF2D308A}" srcOrd="0" destOrd="0" presId="urn:microsoft.com/office/officeart/2005/8/layout/bProcess3"/>
    <dgm:cxn modelId="{D3012BDD-0936-4B61-A837-FBBDD7749382}" type="presOf" srcId="{1197676D-1DE2-41B5-84B9-36D3AF5432F8}" destId="{82E6582A-EAB0-4E8C-A4AF-E87418B7A0D9}" srcOrd="0" destOrd="0" presId="urn:microsoft.com/office/officeart/2005/8/layout/bProcess3"/>
    <dgm:cxn modelId="{64A03222-F1F4-4049-9C62-A70009FACE75}" type="presOf" srcId="{11A6DBC7-2EE7-463D-BA1E-1FCB9AC3E69C}" destId="{3AF2311A-1198-43AB-9BD2-CB1C07CA4865}" srcOrd="0" destOrd="0" presId="urn:microsoft.com/office/officeart/2005/8/layout/bProcess3"/>
    <dgm:cxn modelId="{C0766D79-8949-40A6-A3E9-1282AC053138}" type="presOf" srcId="{BF15C6CB-A92F-40A8-A9AA-113382D969CF}" destId="{DED85D09-EF94-4B7C-B7BD-ECB5B5177703}" srcOrd="0" destOrd="0" presId="urn:microsoft.com/office/officeart/2005/8/layout/bProcess3"/>
    <dgm:cxn modelId="{D1C38D30-B53A-46F2-9CC9-0A0F66606674}" type="presOf" srcId="{D967B3B1-A215-4081-9040-588F71C373A0}" destId="{56022389-9AE0-4B57-B402-6A28A5A1E318}" srcOrd="0" destOrd="0" presId="urn:microsoft.com/office/officeart/2005/8/layout/bProcess3"/>
    <dgm:cxn modelId="{C748EB7E-DE92-4359-94F4-BA8A8ADD92B1}" type="presOf" srcId="{23B9B404-CCFF-4837-8B07-DF6AB2D294A7}" destId="{3915E078-2A7F-4149-AC41-C9956E91B865}" srcOrd="1" destOrd="0" presId="urn:microsoft.com/office/officeart/2005/8/layout/bProcess3"/>
    <dgm:cxn modelId="{93DBECFC-1F15-4343-AA22-68172B88CE74}" srcId="{11A6DBC7-2EE7-463D-BA1E-1FCB9AC3E69C}" destId="{6F238889-AF60-4430-BC8C-F9BE6194EE88}" srcOrd="0" destOrd="0" parTransId="{EC09551F-9424-4D5D-A2AB-E5C35231EDEB}" sibTransId="{23B9B404-CCFF-4837-8B07-DF6AB2D294A7}"/>
    <dgm:cxn modelId="{28018590-D30A-4E72-8710-580EF14B4C5C}" srcId="{11A6DBC7-2EE7-463D-BA1E-1FCB9AC3E69C}" destId="{FBFA64E9-3928-414F-AC29-3139DB1EBB46}" srcOrd="3" destOrd="0" parTransId="{7A40D9B8-CF1A-4B93-9AD1-D0B9DDD5D174}" sibTransId="{D967B3B1-A215-4081-9040-588F71C373A0}"/>
    <dgm:cxn modelId="{3F511C00-8167-41BD-AECB-0F29B6FBBFBA}" srcId="{11A6DBC7-2EE7-463D-BA1E-1FCB9AC3E69C}" destId="{5A70F761-692E-422B-AAA6-2B2211D0E129}" srcOrd="4" destOrd="0" parTransId="{A374550D-95B4-4094-BFAA-A76D3A5C08FF}" sibTransId="{8FA25BBF-02D0-431B-B6B9-995FB307EAE5}"/>
    <dgm:cxn modelId="{FD16D535-82A2-4BDC-B9FE-9432CA461641}" type="presOf" srcId="{524A605C-A3AF-466A-9018-8B7C219086B0}" destId="{3B564F65-92CB-4E08-9E65-822128195B28}" srcOrd="0" destOrd="0" presId="urn:microsoft.com/office/officeart/2005/8/layout/bProcess3"/>
    <dgm:cxn modelId="{A9249792-8758-4643-A5F0-8E1EEDDCCBA4}" type="presOf" srcId="{BF15C6CB-A92F-40A8-A9AA-113382D969CF}" destId="{903D6A00-62F4-4923-B6F6-EC796BEAA19B}" srcOrd="1" destOrd="0" presId="urn:microsoft.com/office/officeart/2005/8/layout/bProcess3"/>
    <dgm:cxn modelId="{C3E58AAA-90D9-4351-ACDB-2631DC12611D}" type="presOf" srcId="{D967B3B1-A215-4081-9040-588F71C373A0}" destId="{058EC064-4197-47FB-81B0-AA1C9D95CAEE}" srcOrd="1" destOrd="0" presId="urn:microsoft.com/office/officeart/2005/8/layout/bProcess3"/>
    <dgm:cxn modelId="{F91E1895-3252-4EA2-96B8-4C18D00988FA}" type="presOf" srcId="{9273A4EC-1B6B-4A10-882A-96A522C429A7}" destId="{93A72D82-8977-488F-9FED-AF76795D550C}" srcOrd="0" destOrd="0" presId="urn:microsoft.com/office/officeart/2005/8/layout/bProcess3"/>
    <dgm:cxn modelId="{977333C0-936D-43CA-B372-D952F3AAA6B5}" srcId="{11A6DBC7-2EE7-463D-BA1E-1FCB9AC3E69C}" destId="{1197676D-1DE2-41B5-84B9-36D3AF5432F8}" srcOrd="5" destOrd="0" parTransId="{7CE3447F-ACD6-4663-AA13-9BD2F82560C9}" sibTransId="{7C100CBA-0BF5-4566-A928-BFB449D5F0D1}"/>
    <dgm:cxn modelId="{25BE9B8E-4721-44C2-BCA8-1D3A24310C53}" type="presOf" srcId="{23B9B404-CCFF-4837-8B07-DF6AB2D294A7}" destId="{FE30B272-DD20-4CB2-AB4C-B45766F2CBD9}" srcOrd="0" destOrd="0" presId="urn:microsoft.com/office/officeart/2005/8/layout/bProcess3"/>
    <dgm:cxn modelId="{D22C48B0-4866-4530-A431-94486FBCAD1A}" type="presOf" srcId="{6F238889-AF60-4430-BC8C-F9BE6194EE88}" destId="{70F24A6D-3F34-4061-8B9A-F9BD83C39992}" srcOrd="0" destOrd="0" presId="urn:microsoft.com/office/officeart/2005/8/layout/bProcess3"/>
    <dgm:cxn modelId="{96478B40-404B-4F3B-8312-C500D13A72E3}" type="presOf" srcId="{FBFA64E9-3928-414F-AC29-3139DB1EBB46}" destId="{79CF6FBB-C052-414F-93C6-9FB7B60556B6}" srcOrd="0" destOrd="0" presId="urn:microsoft.com/office/officeart/2005/8/layout/bProcess3"/>
    <dgm:cxn modelId="{C4CB7C23-D0EA-44D0-B27A-507BDC62B9F9}" type="presOf" srcId="{5A70F761-692E-422B-AAA6-2B2211D0E129}" destId="{093DD396-C75A-4B64-8EF1-9986AE983B9A}" srcOrd="0" destOrd="0" presId="urn:microsoft.com/office/officeart/2005/8/layout/bProcess3"/>
    <dgm:cxn modelId="{9A6DDA1F-A5ED-46C1-9539-699A2DFE1843}" type="presOf" srcId="{8FA25BBF-02D0-431B-B6B9-995FB307EAE5}" destId="{BF018EE7-7ED2-4B89-88F0-7A6DC3FEFFF0}" srcOrd="0" destOrd="0" presId="urn:microsoft.com/office/officeart/2005/8/layout/bProcess3"/>
    <dgm:cxn modelId="{89EE1D88-7E79-45C5-BEF1-CD93E9B07CEB}" srcId="{11A6DBC7-2EE7-463D-BA1E-1FCB9AC3E69C}" destId="{9273A4EC-1B6B-4A10-882A-96A522C429A7}" srcOrd="1" destOrd="0" parTransId="{822DE0A7-66E6-4913-A3D9-D882871E060B}" sibTransId="{BF15C6CB-A92F-40A8-A9AA-113382D969CF}"/>
    <dgm:cxn modelId="{562326A5-FB88-46D2-B8CB-CF2D461C344B}" type="presParOf" srcId="{3AF2311A-1198-43AB-9BD2-CB1C07CA4865}" destId="{70F24A6D-3F34-4061-8B9A-F9BD83C39992}" srcOrd="0" destOrd="0" presId="urn:microsoft.com/office/officeart/2005/8/layout/bProcess3"/>
    <dgm:cxn modelId="{501007DB-6CF7-4AD6-A7BB-16B8878DA2BA}" type="presParOf" srcId="{3AF2311A-1198-43AB-9BD2-CB1C07CA4865}" destId="{FE30B272-DD20-4CB2-AB4C-B45766F2CBD9}" srcOrd="1" destOrd="0" presId="urn:microsoft.com/office/officeart/2005/8/layout/bProcess3"/>
    <dgm:cxn modelId="{D2E8C621-09BC-4B5F-A400-B3E2861178D7}" type="presParOf" srcId="{FE30B272-DD20-4CB2-AB4C-B45766F2CBD9}" destId="{3915E078-2A7F-4149-AC41-C9956E91B865}" srcOrd="0" destOrd="0" presId="urn:microsoft.com/office/officeart/2005/8/layout/bProcess3"/>
    <dgm:cxn modelId="{B952528A-CAC4-43F6-B806-D0CFC9A33A22}" type="presParOf" srcId="{3AF2311A-1198-43AB-9BD2-CB1C07CA4865}" destId="{93A72D82-8977-488F-9FED-AF76795D550C}" srcOrd="2" destOrd="0" presId="urn:microsoft.com/office/officeart/2005/8/layout/bProcess3"/>
    <dgm:cxn modelId="{F4DBAEBC-C254-4D76-A96B-D3A42D8402F9}" type="presParOf" srcId="{3AF2311A-1198-43AB-9BD2-CB1C07CA4865}" destId="{DED85D09-EF94-4B7C-B7BD-ECB5B5177703}" srcOrd="3" destOrd="0" presId="urn:microsoft.com/office/officeart/2005/8/layout/bProcess3"/>
    <dgm:cxn modelId="{0D124A08-6E52-4805-B489-DBC32312ECFD}" type="presParOf" srcId="{DED85D09-EF94-4B7C-B7BD-ECB5B5177703}" destId="{903D6A00-62F4-4923-B6F6-EC796BEAA19B}" srcOrd="0" destOrd="0" presId="urn:microsoft.com/office/officeart/2005/8/layout/bProcess3"/>
    <dgm:cxn modelId="{03FE8684-6C76-416D-9D65-2EE23057D4DB}" type="presParOf" srcId="{3AF2311A-1198-43AB-9BD2-CB1C07CA4865}" destId="{3B564F65-92CB-4E08-9E65-822128195B28}" srcOrd="4" destOrd="0" presId="urn:microsoft.com/office/officeart/2005/8/layout/bProcess3"/>
    <dgm:cxn modelId="{DA1F995E-883E-46BE-8367-DD50A6580A12}" type="presParOf" srcId="{3AF2311A-1198-43AB-9BD2-CB1C07CA4865}" destId="{7F5B1CE2-70C1-4186-8DF2-3C8CBF2D308A}" srcOrd="5" destOrd="0" presId="urn:microsoft.com/office/officeart/2005/8/layout/bProcess3"/>
    <dgm:cxn modelId="{9ECAFA37-BE14-4758-9931-492B522CE731}" type="presParOf" srcId="{7F5B1CE2-70C1-4186-8DF2-3C8CBF2D308A}" destId="{9DC07A02-58D2-442C-AD07-EDBBB1E1090F}" srcOrd="0" destOrd="0" presId="urn:microsoft.com/office/officeart/2005/8/layout/bProcess3"/>
    <dgm:cxn modelId="{6E294DAD-14FA-4849-98C6-789ABB6E5FE9}" type="presParOf" srcId="{3AF2311A-1198-43AB-9BD2-CB1C07CA4865}" destId="{79CF6FBB-C052-414F-93C6-9FB7B60556B6}" srcOrd="6" destOrd="0" presId="urn:microsoft.com/office/officeart/2005/8/layout/bProcess3"/>
    <dgm:cxn modelId="{1F6494B9-1272-4AC7-9899-D691D28C63DF}" type="presParOf" srcId="{3AF2311A-1198-43AB-9BD2-CB1C07CA4865}" destId="{56022389-9AE0-4B57-B402-6A28A5A1E318}" srcOrd="7" destOrd="0" presId="urn:microsoft.com/office/officeart/2005/8/layout/bProcess3"/>
    <dgm:cxn modelId="{ED231A45-D749-4D0C-BB49-FFE8B516A313}" type="presParOf" srcId="{56022389-9AE0-4B57-B402-6A28A5A1E318}" destId="{058EC064-4197-47FB-81B0-AA1C9D95CAEE}" srcOrd="0" destOrd="0" presId="urn:microsoft.com/office/officeart/2005/8/layout/bProcess3"/>
    <dgm:cxn modelId="{45FE787C-BF96-4698-A415-500F164A523E}" type="presParOf" srcId="{3AF2311A-1198-43AB-9BD2-CB1C07CA4865}" destId="{093DD396-C75A-4B64-8EF1-9986AE983B9A}" srcOrd="8" destOrd="0" presId="urn:microsoft.com/office/officeart/2005/8/layout/bProcess3"/>
    <dgm:cxn modelId="{36D17EB1-7C80-4B50-9631-7457D06EF72F}" type="presParOf" srcId="{3AF2311A-1198-43AB-9BD2-CB1C07CA4865}" destId="{BF018EE7-7ED2-4B89-88F0-7A6DC3FEFFF0}" srcOrd="9" destOrd="0" presId="urn:microsoft.com/office/officeart/2005/8/layout/bProcess3"/>
    <dgm:cxn modelId="{AF907ED0-4704-4C57-91BB-98DDA88A9516}" type="presParOf" srcId="{BF018EE7-7ED2-4B89-88F0-7A6DC3FEFFF0}" destId="{B50D419A-8041-44A3-93B4-8D0CAD209C7D}" srcOrd="0" destOrd="0" presId="urn:microsoft.com/office/officeart/2005/8/layout/bProcess3"/>
    <dgm:cxn modelId="{9F993802-EC9B-4362-93E6-1B2FBB89C651}" type="presParOf" srcId="{3AF2311A-1198-43AB-9BD2-CB1C07CA4865}" destId="{82E6582A-EAB0-4E8C-A4AF-E87418B7A0D9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A6DBC7-2EE7-463D-BA1E-1FCB9AC3E69C}" type="doc">
      <dgm:prSet loTypeId="urn:microsoft.com/office/officeart/2005/8/layout/bProcess3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GB"/>
        </a:p>
      </dgm:t>
    </dgm:pt>
    <dgm:pt modelId="{6F238889-AF60-4430-BC8C-F9BE6194EE88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tx1"/>
              </a:solidFill>
            </a:rPr>
            <a:t>Predict new periods </a:t>
          </a:r>
          <a:endParaRPr lang="en-GB" sz="1600" dirty="0">
            <a:solidFill>
              <a:schemeClr val="tx1"/>
            </a:solidFill>
          </a:endParaRPr>
        </a:p>
      </dgm:t>
    </dgm:pt>
    <dgm:pt modelId="{EC09551F-9424-4D5D-A2AB-E5C35231EDEB}" type="parTrans" cxnId="{93DBECFC-1F15-4343-AA22-68172B88CE74}">
      <dgm:prSet/>
      <dgm:spPr/>
      <dgm:t>
        <a:bodyPr/>
        <a:lstStyle/>
        <a:p>
          <a:endParaRPr lang="en-GB"/>
        </a:p>
      </dgm:t>
    </dgm:pt>
    <dgm:pt modelId="{23B9B404-CCFF-4837-8B07-DF6AB2D294A7}" type="sibTrans" cxnId="{93DBECFC-1F15-4343-AA22-68172B88CE74}">
      <dgm:prSet/>
      <dgm:spPr/>
      <dgm:t>
        <a:bodyPr/>
        <a:lstStyle/>
        <a:p>
          <a:endParaRPr lang="en-GB"/>
        </a:p>
      </dgm:t>
    </dgm:pt>
    <dgm:pt modelId="{9273A4EC-1B6B-4A10-882A-96A522C429A7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tx1"/>
              </a:solidFill>
            </a:rPr>
            <a:t>Construct tolerance bounds</a:t>
          </a:r>
          <a:endParaRPr lang="en-GB" sz="1600" dirty="0">
            <a:solidFill>
              <a:schemeClr val="tx1"/>
            </a:solidFill>
          </a:endParaRPr>
        </a:p>
      </dgm:t>
    </dgm:pt>
    <dgm:pt modelId="{822DE0A7-66E6-4913-A3D9-D882871E060B}" type="parTrans" cxnId="{89EE1D88-7E79-45C5-BEF1-CD93E9B07CEB}">
      <dgm:prSet/>
      <dgm:spPr/>
      <dgm:t>
        <a:bodyPr/>
        <a:lstStyle/>
        <a:p>
          <a:endParaRPr lang="en-GB"/>
        </a:p>
      </dgm:t>
    </dgm:pt>
    <dgm:pt modelId="{BF15C6CB-A92F-40A8-A9AA-113382D969CF}" type="sibTrans" cxnId="{89EE1D88-7E79-45C5-BEF1-CD93E9B07CEB}">
      <dgm:prSet/>
      <dgm:spPr/>
      <dgm:t>
        <a:bodyPr/>
        <a:lstStyle/>
        <a:p>
          <a:endParaRPr lang="en-GB"/>
        </a:p>
      </dgm:t>
    </dgm:pt>
    <dgm:pt modelId="{524A605C-A3AF-466A-9018-8B7C219086B0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tx1"/>
              </a:solidFill>
            </a:rPr>
            <a:t>Validate new period data</a:t>
          </a:r>
          <a:endParaRPr lang="en-GB" sz="1600" dirty="0">
            <a:solidFill>
              <a:schemeClr val="tx1"/>
            </a:solidFill>
          </a:endParaRPr>
        </a:p>
      </dgm:t>
    </dgm:pt>
    <dgm:pt modelId="{07DED842-91F7-401F-A180-922D027D6167}" type="parTrans" cxnId="{627C7CBC-E4F8-460E-AB80-D68D074DFAB2}">
      <dgm:prSet/>
      <dgm:spPr/>
      <dgm:t>
        <a:bodyPr/>
        <a:lstStyle/>
        <a:p>
          <a:endParaRPr lang="en-GB"/>
        </a:p>
      </dgm:t>
    </dgm:pt>
    <dgm:pt modelId="{7D1CCEB9-9C51-494B-88F5-CC26C7B42917}" type="sibTrans" cxnId="{627C7CBC-E4F8-460E-AB80-D68D074DFAB2}">
      <dgm:prSet/>
      <dgm:spPr/>
      <dgm:t>
        <a:bodyPr/>
        <a:lstStyle/>
        <a:p>
          <a:endParaRPr lang="en-GB"/>
        </a:p>
      </dgm:t>
    </dgm:pt>
    <dgm:pt modelId="{3AF2311A-1198-43AB-9BD2-CB1C07CA4865}" type="pres">
      <dgm:prSet presAssocID="{11A6DBC7-2EE7-463D-BA1E-1FCB9AC3E69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0F24A6D-3F34-4061-8B9A-F9BD83C39992}" type="pres">
      <dgm:prSet presAssocID="{6F238889-AF60-4430-BC8C-F9BE6194EE8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E30B272-DD20-4CB2-AB4C-B45766F2CBD9}" type="pres">
      <dgm:prSet presAssocID="{23B9B404-CCFF-4837-8B07-DF6AB2D294A7}" presName="sibTrans" presStyleLbl="sibTrans1D1" presStyleIdx="0" presStyleCnt="2"/>
      <dgm:spPr/>
      <dgm:t>
        <a:bodyPr/>
        <a:lstStyle/>
        <a:p>
          <a:endParaRPr lang="en-GB"/>
        </a:p>
      </dgm:t>
    </dgm:pt>
    <dgm:pt modelId="{3915E078-2A7F-4149-AC41-C9956E91B865}" type="pres">
      <dgm:prSet presAssocID="{23B9B404-CCFF-4837-8B07-DF6AB2D294A7}" presName="connectorText" presStyleLbl="sibTrans1D1" presStyleIdx="0" presStyleCnt="2"/>
      <dgm:spPr/>
      <dgm:t>
        <a:bodyPr/>
        <a:lstStyle/>
        <a:p>
          <a:endParaRPr lang="en-GB"/>
        </a:p>
      </dgm:t>
    </dgm:pt>
    <dgm:pt modelId="{93A72D82-8977-488F-9FED-AF76795D550C}" type="pres">
      <dgm:prSet presAssocID="{9273A4EC-1B6B-4A10-882A-96A522C429A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ED85D09-EF94-4B7C-B7BD-ECB5B5177703}" type="pres">
      <dgm:prSet presAssocID="{BF15C6CB-A92F-40A8-A9AA-113382D969CF}" presName="sibTrans" presStyleLbl="sibTrans1D1" presStyleIdx="1" presStyleCnt="2"/>
      <dgm:spPr/>
      <dgm:t>
        <a:bodyPr/>
        <a:lstStyle/>
        <a:p>
          <a:endParaRPr lang="en-GB"/>
        </a:p>
      </dgm:t>
    </dgm:pt>
    <dgm:pt modelId="{903D6A00-62F4-4923-B6F6-EC796BEAA19B}" type="pres">
      <dgm:prSet presAssocID="{BF15C6CB-A92F-40A8-A9AA-113382D969CF}" presName="connectorText" presStyleLbl="sibTrans1D1" presStyleIdx="1" presStyleCnt="2"/>
      <dgm:spPr/>
      <dgm:t>
        <a:bodyPr/>
        <a:lstStyle/>
        <a:p>
          <a:endParaRPr lang="en-GB"/>
        </a:p>
      </dgm:t>
    </dgm:pt>
    <dgm:pt modelId="{3B564F65-92CB-4E08-9E65-822128195B28}" type="pres">
      <dgm:prSet presAssocID="{524A605C-A3AF-466A-9018-8B7C219086B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4D1EDB3-28BA-4CFE-9CF4-B1295F3A563E}" type="presOf" srcId="{BF15C6CB-A92F-40A8-A9AA-113382D969CF}" destId="{903D6A00-62F4-4923-B6F6-EC796BEAA19B}" srcOrd="1" destOrd="0" presId="urn:microsoft.com/office/officeart/2005/8/layout/bProcess3"/>
    <dgm:cxn modelId="{8AEF2DC4-4620-44F3-891C-4A88AA5C4461}" type="presOf" srcId="{23B9B404-CCFF-4837-8B07-DF6AB2D294A7}" destId="{3915E078-2A7F-4149-AC41-C9956E91B865}" srcOrd="1" destOrd="0" presId="urn:microsoft.com/office/officeart/2005/8/layout/bProcess3"/>
    <dgm:cxn modelId="{21073732-7FBE-4567-BB75-EEE3EDA12ABC}" type="presOf" srcId="{9273A4EC-1B6B-4A10-882A-96A522C429A7}" destId="{93A72D82-8977-488F-9FED-AF76795D550C}" srcOrd="0" destOrd="0" presId="urn:microsoft.com/office/officeart/2005/8/layout/bProcess3"/>
    <dgm:cxn modelId="{45F3DA6D-18E3-43F2-8836-BCE0638EF198}" type="presOf" srcId="{23B9B404-CCFF-4837-8B07-DF6AB2D294A7}" destId="{FE30B272-DD20-4CB2-AB4C-B45766F2CBD9}" srcOrd="0" destOrd="0" presId="urn:microsoft.com/office/officeart/2005/8/layout/bProcess3"/>
    <dgm:cxn modelId="{D3CE899C-D3C7-4312-B4CC-A177BD9E3ACA}" type="presOf" srcId="{524A605C-A3AF-466A-9018-8B7C219086B0}" destId="{3B564F65-92CB-4E08-9E65-822128195B28}" srcOrd="0" destOrd="0" presId="urn:microsoft.com/office/officeart/2005/8/layout/bProcess3"/>
    <dgm:cxn modelId="{090724AB-F68A-43B8-B670-B46E52D28DA2}" type="presOf" srcId="{BF15C6CB-A92F-40A8-A9AA-113382D969CF}" destId="{DED85D09-EF94-4B7C-B7BD-ECB5B5177703}" srcOrd="0" destOrd="0" presId="urn:microsoft.com/office/officeart/2005/8/layout/bProcess3"/>
    <dgm:cxn modelId="{89EE1D88-7E79-45C5-BEF1-CD93E9B07CEB}" srcId="{11A6DBC7-2EE7-463D-BA1E-1FCB9AC3E69C}" destId="{9273A4EC-1B6B-4A10-882A-96A522C429A7}" srcOrd="1" destOrd="0" parTransId="{822DE0A7-66E6-4913-A3D9-D882871E060B}" sibTransId="{BF15C6CB-A92F-40A8-A9AA-113382D969CF}"/>
    <dgm:cxn modelId="{1CA48F68-3095-488A-8399-9725FD3CBC9B}" type="presOf" srcId="{11A6DBC7-2EE7-463D-BA1E-1FCB9AC3E69C}" destId="{3AF2311A-1198-43AB-9BD2-CB1C07CA4865}" srcOrd="0" destOrd="0" presId="urn:microsoft.com/office/officeart/2005/8/layout/bProcess3"/>
    <dgm:cxn modelId="{7BB21533-98E8-4131-9EAF-D8DEC0AEC5E4}" type="presOf" srcId="{6F238889-AF60-4430-BC8C-F9BE6194EE88}" destId="{70F24A6D-3F34-4061-8B9A-F9BD83C39992}" srcOrd="0" destOrd="0" presId="urn:microsoft.com/office/officeart/2005/8/layout/bProcess3"/>
    <dgm:cxn modelId="{93DBECFC-1F15-4343-AA22-68172B88CE74}" srcId="{11A6DBC7-2EE7-463D-BA1E-1FCB9AC3E69C}" destId="{6F238889-AF60-4430-BC8C-F9BE6194EE88}" srcOrd="0" destOrd="0" parTransId="{EC09551F-9424-4D5D-A2AB-E5C35231EDEB}" sibTransId="{23B9B404-CCFF-4837-8B07-DF6AB2D294A7}"/>
    <dgm:cxn modelId="{627C7CBC-E4F8-460E-AB80-D68D074DFAB2}" srcId="{11A6DBC7-2EE7-463D-BA1E-1FCB9AC3E69C}" destId="{524A605C-A3AF-466A-9018-8B7C219086B0}" srcOrd="2" destOrd="0" parTransId="{07DED842-91F7-401F-A180-922D027D6167}" sibTransId="{7D1CCEB9-9C51-494B-88F5-CC26C7B42917}"/>
    <dgm:cxn modelId="{10CE32A7-57BF-45EA-8526-4D089B1C6CE9}" type="presParOf" srcId="{3AF2311A-1198-43AB-9BD2-CB1C07CA4865}" destId="{70F24A6D-3F34-4061-8B9A-F9BD83C39992}" srcOrd="0" destOrd="0" presId="urn:microsoft.com/office/officeart/2005/8/layout/bProcess3"/>
    <dgm:cxn modelId="{76B2EF4A-ADB9-4504-AFE4-A5B0C769B9DB}" type="presParOf" srcId="{3AF2311A-1198-43AB-9BD2-CB1C07CA4865}" destId="{FE30B272-DD20-4CB2-AB4C-B45766F2CBD9}" srcOrd="1" destOrd="0" presId="urn:microsoft.com/office/officeart/2005/8/layout/bProcess3"/>
    <dgm:cxn modelId="{71B4D30D-0A8D-47ED-906B-CD2EB650C0BB}" type="presParOf" srcId="{FE30B272-DD20-4CB2-AB4C-B45766F2CBD9}" destId="{3915E078-2A7F-4149-AC41-C9956E91B865}" srcOrd="0" destOrd="0" presId="urn:microsoft.com/office/officeart/2005/8/layout/bProcess3"/>
    <dgm:cxn modelId="{7027FE9E-6645-4A95-A166-362D5E580816}" type="presParOf" srcId="{3AF2311A-1198-43AB-9BD2-CB1C07CA4865}" destId="{93A72D82-8977-488F-9FED-AF76795D550C}" srcOrd="2" destOrd="0" presId="urn:microsoft.com/office/officeart/2005/8/layout/bProcess3"/>
    <dgm:cxn modelId="{2A76BDFB-2DAC-4ED6-B645-47AAE07642B4}" type="presParOf" srcId="{3AF2311A-1198-43AB-9BD2-CB1C07CA4865}" destId="{DED85D09-EF94-4B7C-B7BD-ECB5B5177703}" srcOrd="3" destOrd="0" presId="urn:microsoft.com/office/officeart/2005/8/layout/bProcess3"/>
    <dgm:cxn modelId="{06012F7D-2A08-41C5-820E-7382D188D083}" type="presParOf" srcId="{DED85D09-EF94-4B7C-B7BD-ECB5B5177703}" destId="{903D6A00-62F4-4923-B6F6-EC796BEAA19B}" srcOrd="0" destOrd="0" presId="urn:microsoft.com/office/officeart/2005/8/layout/bProcess3"/>
    <dgm:cxn modelId="{2300A3C4-8DAA-426A-8161-E7EB8B24E9A2}" type="presParOf" srcId="{3AF2311A-1198-43AB-9BD2-CB1C07CA4865}" destId="{3B564F65-92CB-4E08-9E65-822128195B28}" srcOrd="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0B272-DD20-4CB2-AB4C-B45766F2CBD9}">
      <dsp:nvSpPr>
        <dsp:cNvPr id="0" name=""/>
        <dsp:cNvSpPr/>
      </dsp:nvSpPr>
      <dsp:spPr>
        <a:xfrm>
          <a:off x="1850212" y="792480"/>
          <a:ext cx="3942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23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2036709" y="836075"/>
        <a:ext cx="21241" cy="4248"/>
      </dsp:txXfrm>
    </dsp:sp>
    <dsp:sp modelId="{70F24A6D-3F34-4061-8B9A-F9BD83C39992}">
      <dsp:nvSpPr>
        <dsp:cNvPr id="0" name=""/>
        <dsp:cNvSpPr/>
      </dsp:nvSpPr>
      <dsp:spPr>
        <a:xfrm>
          <a:off x="4906" y="284068"/>
          <a:ext cx="1847105" cy="11082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Predict new periods </a:t>
          </a:r>
          <a:endParaRPr lang="en-GB" sz="1600" kern="1200" dirty="0">
            <a:solidFill>
              <a:schemeClr val="tx1"/>
            </a:solidFill>
          </a:endParaRPr>
        </a:p>
      </dsp:txBody>
      <dsp:txXfrm>
        <a:off x="4906" y="284068"/>
        <a:ext cx="1847105" cy="1108263"/>
      </dsp:txXfrm>
    </dsp:sp>
    <dsp:sp modelId="{DED85D09-EF94-4B7C-B7BD-ECB5B5177703}">
      <dsp:nvSpPr>
        <dsp:cNvPr id="0" name=""/>
        <dsp:cNvSpPr/>
      </dsp:nvSpPr>
      <dsp:spPr>
        <a:xfrm>
          <a:off x="4122152" y="792480"/>
          <a:ext cx="3942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423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308649" y="836075"/>
        <a:ext cx="21241" cy="4248"/>
      </dsp:txXfrm>
    </dsp:sp>
    <dsp:sp modelId="{93A72D82-8977-488F-9FED-AF76795D550C}">
      <dsp:nvSpPr>
        <dsp:cNvPr id="0" name=""/>
        <dsp:cNvSpPr/>
      </dsp:nvSpPr>
      <dsp:spPr>
        <a:xfrm>
          <a:off x="2276847" y="284068"/>
          <a:ext cx="1847105" cy="11082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Construct tolerance bounds</a:t>
          </a:r>
          <a:endParaRPr lang="en-GB" sz="1600" kern="1200" dirty="0">
            <a:solidFill>
              <a:schemeClr val="tx1"/>
            </a:solidFill>
          </a:endParaRPr>
        </a:p>
      </dsp:txBody>
      <dsp:txXfrm>
        <a:off x="2276847" y="284068"/>
        <a:ext cx="1847105" cy="1108263"/>
      </dsp:txXfrm>
    </dsp:sp>
    <dsp:sp modelId="{3B564F65-92CB-4E08-9E65-822128195B28}">
      <dsp:nvSpPr>
        <dsp:cNvPr id="0" name=""/>
        <dsp:cNvSpPr/>
      </dsp:nvSpPr>
      <dsp:spPr>
        <a:xfrm>
          <a:off x="4548787" y="284068"/>
          <a:ext cx="1847105" cy="11082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</a:rPr>
            <a:t>Validate new period data</a:t>
          </a:r>
          <a:endParaRPr lang="en-GB" sz="1600" kern="1200" dirty="0">
            <a:solidFill>
              <a:schemeClr val="tx1"/>
            </a:solidFill>
          </a:endParaRPr>
        </a:p>
      </dsp:txBody>
      <dsp:txXfrm>
        <a:off x="4548787" y="284068"/>
        <a:ext cx="1847105" cy="11082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D3016-3A24-894A-8966-24096E57BD1B}" type="datetimeFigureOut">
              <a:rPr lang="en-US" smtClean="0"/>
              <a:t>7/13/2019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0F593-C4BA-DF4F-B602-5540693E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96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34F23-7739-4630-8E81-CCA802F8C3CD}" type="datetimeFigureOut">
              <a:rPr lang="en-US" smtClean="0"/>
              <a:pPr/>
              <a:t>7/13/2019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15983-A45F-4BAB-B9D2-9002C95F3F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1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15983-A45F-4BAB-B9D2-9002C95F3F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8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1_Title N-tab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019822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038351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3" name="Picture 12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2_Title Full Log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136393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112264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65176" y="1423175"/>
            <a:ext cx="950062" cy="336755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Blu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4"/>
          <p:cNvSpPr>
            <a:spLocks noGrp="1"/>
          </p:cNvSpPr>
          <p:nvPr>
            <p:ph type="ctrTitle"/>
          </p:nvPr>
        </p:nvSpPr>
        <p:spPr>
          <a:xfrm>
            <a:off x="296538" y="486990"/>
            <a:ext cx="7880978" cy="64921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z="4200" dirty="0" smtClean="0"/>
              <a:t>Headline goes here</a:t>
            </a:r>
            <a:endParaRPr lang="en-US" sz="4200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45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3_Title N-ta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lu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7"/>
          </p:nvPr>
        </p:nvSpPr>
        <p:spPr>
          <a:xfrm>
            <a:off x="296539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" y="1380253"/>
            <a:ext cx="378376" cy="378969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4_Title Full 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0" y="1412345"/>
            <a:ext cx="975939" cy="345927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3725" y="354014"/>
            <a:ext cx="8165592" cy="428625"/>
          </a:xfrm>
        </p:spPr>
        <p:txBody>
          <a:bodyPr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94360" y="1490473"/>
            <a:ext cx="8165592" cy="3059906"/>
          </a:xfrm>
        </p:spPr>
        <p:txBody>
          <a:bodyPr/>
          <a:lstStyle>
            <a:lvl1pPr>
              <a:spcBef>
                <a:spcPts val="800"/>
              </a:spcBef>
              <a:defRPr>
                <a:solidFill>
                  <a:schemeClr val="tx2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2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tx2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0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4360" y="353483"/>
            <a:ext cx="8166672" cy="433917"/>
          </a:xfrm>
        </p:spPr>
        <p:txBody>
          <a:bodyPr wrap="square"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0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27686"/>
            <a:ext cx="7876476" cy="188714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591172" y="2016354"/>
            <a:ext cx="7882286" cy="2429066"/>
          </a:xfrm>
        </p:spPr>
        <p:txBody>
          <a:bodyPr wrap="none"/>
          <a:lstStyle>
            <a:lvl1pPr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50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3"/>
          </p:nvPr>
        </p:nvSpPr>
        <p:spPr>
          <a:xfrm>
            <a:off x="613020" y="1682020"/>
            <a:ext cx="7616952" cy="2596754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063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Autofit/>
          </a:bodyPr>
          <a:lstStyle>
            <a:lvl1pPr algn="l">
              <a:defRPr sz="32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tx2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758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Quote Tex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12" name="Picture 11" descr="Blu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D805D-F6E5-43ED-9D8A-77676030D49C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35280" y="518622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115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944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vider_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Tex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End Slide N-tab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16" y="1767943"/>
            <a:ext cx="1604768" cy="160728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End Slide Full Log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2" y="1770502"/>
            <a:ext cx="3736616" cy="1324464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Title N-tab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242686" y="2037157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019822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1" name="Picture 10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Title Full Logo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112264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136393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65176" y="1423175"/>
            <a:ext cx="950062" cy="336755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10" name="Picture 9" descr="Purpl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itle 4"/>
          <p:cNvSpPr>
            <a:spLocks noGrp="1"/>
          </p:cNvSpPr>
          <p:nvPr>
            <p:ph type="ctrTitle"/>
          </p:nvPr>
        </p:nvSpPr>
        <p:spPr>
          <a:xfrm>
            <a:off x="296538" y="486990"/>
            <a:ext cx="7880978" cy="64921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z="4200" dirty="0" smtClean="0"/>
              <a:t>Headline goes here</a:t>
            </a:r>
            <a:endParaRPr lang="en-US" sz="42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391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1_Title N-ta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7"/>
          </p:nvPr>
        </p:nvSpPr>
        <p:spPr>
          <a:xfrm>
            <a:off x="296539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" y="1380253"/>
            <a:ext cx="378376" cy="3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77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Title Full 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2822" y="3175289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0" y="1412345"/>
            <a:ext cx="975939" cy="3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25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3725" y="354014"/>
            <a:ext cx="8165592" cy="428625"/>
          </a:xfrm>
        </p:spPr>
        <p:txBody>
          <a:bodyPr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94360" y="1490473"/>
            <a:ext cx="8165592" cy="3059906"/>
          </a:xfrm>
        </p:spPr>
        <p:txBody>
          <a:bodyPr/>
          <a:lstStyle>
            <a:lvl1pPr>
              <a:spcBef>
                <a:spcPts val="800"/>
              </a:spcBef>
              <a:defRPr>
                <a:solidFill>
                  <a:schemeClr val="tx2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2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tx2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3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4360" y="353483"/>
            <a:ext cx="8166672" cy="433917"/>
          </a:xfrm>
        </p:spPr>
        <p:txBody>
          <a:bodyPr wrap="square"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7" name="Picture 6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8965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27686"/>
            <a:ext cx="7876476" cy="188714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591172" y="2016354"/>
            <a:ext cx="7882286" cy="2429066"/>
          </a:xfrm>
        </p:spPr>
        <p:txBody>
          <a:bodyPr wrap="none"/>
          <a:lstStyle>
            <a:lvl1pPr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709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711200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hart Placeholder 12"/>
          <p:cNvSpPr>
            <a:spLocks noGrp="1"/>
          </p:cNvSpPr>
          <p:nvPr>
            <p:ph type="chart" sz="quarter" idx="18"/>
          </p:nvPr>
        </p:nvSpPr>
        <p:spPr>
          <a:xfrm>
            <a:off x="4862512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4761666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8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3105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3"/>
          </p:nvPr>
        </p:nvSpPr>
        <p:spPr>
          <a:xfrm>
            <a:off x="613020" y="1682020"/>
            <a:ext cx="7616952" cy="2596754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066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tx2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4" name="Picture 3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6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084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Quote Textur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0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8" name="Picture 7" descr="Purpl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D805D-F6E5-43ED-9D8A-77676030D49C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35280" y="518622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99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8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Divider_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urpl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2_Divider Textur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9739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3_End Slide N-tab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9141291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16" y="1767943"/>
            <a:ext cx="1604768" cy="160728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4_End Slide Full Logo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urp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2" y="1770502"/>
            <a:ext cx="3736616" cy="1324464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5399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7_Title N-t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038351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019822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06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8_Title Full Logo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112264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136393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65176" y="1423175"/>
            <a:ext cx="950062" cy="336755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Green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ctrTitle"/>
          </p:nvPr>
        </p:nvSpPr>
        <p:spPr>
          <a:xfrm>
            <a:off x="296538" y="486990"/>
            <a:ext cx="7880978" cy="64921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z="4200" dirty="0" smtClean="0"/>
              <a:t>Headline goes here</a:t>
            </a:r>
            <a:endParaRPr lang="en-US" sz="42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3906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9_Title N-ta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7"/>
          </p:nvPr>
        </p:nvSpPr>
        <p:spPr>
          <a:xfrm>
            <a:off x="296539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" y="1380253"/>
            <a:ext cx="378376" cy="3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258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0_Title Full 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0" y="1412345"/>
            <a:ext cx="975939" cy="3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658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3725" y="354014"/>
            <a:ext cx="8165592" cy="428625"/>
          </a:xfrm>
        </p:spPr>
        <p:txBody>
          <a:bodyPr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94360" y="1490473"/>
            <a:ext cx="8165592" cy="3059906"/>
          </a:xfrm>
        </p:spPr>
        <p:txBody>
          <a:bodyPr/>
          <a:lstStyle>
            <a:lvl1pPr>
              <a:spcBef>
                <a:spcPts val="800"/>
              </a:spcBef>
              <a:defRPr>
                <a:solidFill>
                  <a:schemeClr val="tx2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2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tx2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381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4360" y="353483"/>
            <a:ext cx="8166672" cy="433917"/>
          </a:xfrm>
        </p:spPr>
        <p:txBody>
          <a:bodyPr wrap="square"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7" name="Picture 6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7046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3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27686"/>
            <a:ext cx="7876476" cy="188714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591172" y="2016354"/>
            <a:ext cx="7882286" cy="2429066"/>
          </a:xfrm>
        </p:spPr>
        <p:txBody>
          <a:bodyPr wrap="none"/>
          <a:lstStyle>
            <a:lvl1pPr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073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4_Side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711200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hart Placeholder 12"/>
          <p:cNvSpPr>
            <a:spLocks noGrp="1"/>
          </p:cNvSpPr>
          <p:nvPr>
            <p:ph type="chart" sz="quarter" idx="18"/>
          </p:nvPr>
        </p:nvSpPr>
        <p:spPr>
          <a:xfrm>
            <a:off x="4862512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4761666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8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12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17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3"/>
          </p:nvPr>
        </p:nvSpPr>
        <p:spPr>
          <a:xfrm>
            <a:off x="613020" y="1682020"/>
            <a:ext cx="7616952" cy="2596754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203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tx2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4" name="Picture 3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31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7_Quote Tex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8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8" name="Picture 7" descr="Green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D805D-F6E5-43ED-9D8A-77676030D49C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35280" y="518622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6313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9_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785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_Divider_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een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0_Divider Tex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" y="0"/>
            <a:ext cx="91412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1_End Slide N-tab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16" y="1767943"/>
            <a:ext cx="1604768" cy="160728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2_End Slide Full Logo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e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2" y="1770502"/>
            <a:ext cx="3736616" cy="1324464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171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5_Title N-tab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038351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019822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6_Title Full Logo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112264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136393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65176" y="1423175"/>
            <a:ext cx="950062" cy="336755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8" descr="Orang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ctrTitle"/>
          </p:nvPr>
        </p:nvSpPr>
        <p:spPr>
          <a:xfrm>
            <a:off x="296538" y="486990"/>
            <a:ext cx="7880978" cy="64921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z="4200" dirty="0" smtClean="0"/>
              <a:t>Headline goes here</a:t>
            </a:r>
            <a:endParaRPr lang="en-US" sz="42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6189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7_Title N-ta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7"/>
          </p:nvPr>
        </p:nvSpPr>
        <p:spPr>
          <a:xfrm>
            <a:off x="296539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" y="1380253"/>
            <a:ext cx="378376" cy="3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258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8_Title Full 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38" y="3102721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297096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0" y="1412345"/>
            <a:ext cx="975939" cy="3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658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3725" y="354014"/>
            <a:ext cx="8165592" cy="428625"/>
          </a:xfrm>
        </p:spPr>
        <p:txBody>
          <a:bodyPr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94360" y="1490473"/>
            <a:ext cx="8165592" cy="3059906"/>
          </a:xfrm>
        </p:spPr>
        <p:txBody>
          <a:bodyPr/>
          <a:lstStyle>
            <a:lvl1pPr>
              <a:spcBef>
                <a:spcPts val="800"/>
              </a:spcBef>
              <a:defRPr>
                <a:solidFill>
                  <a:schemeClr val="tx2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2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tx2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381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4360" y="353483"/>
            <a:ext cx="8166672" cy="433917"/>
          </a:xfrm>
        </p:spPr>
        <p:txBody>
          <a:bodyPr wrap="square"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7" name="Picture 6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704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27686"/>
            <a:ext cx="7876476" cy="188714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591172" y="2016354"/>
            <a:ext cx="7882286" cy="2429066"/>
          </a:xfrm>
        </p:spPr>
        <p:txBody>
          <a:bodyPr wrap="none"/>
          <a:lstStyle>
            <a:lvl1pPr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073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2_Side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711200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hart Placeholder 12"/>
          <p:cNvSpPr>
            <a:spLocks noGrp="1"/>
          </p:cNvSpPr>
          <p:nvPr>
            <p:ph type="chart" sz="quarter" idx="18"/>
          </p:nvPr>
        </p:nvSpPr>
        <p:spPr>
          <a:xfrm>
            <a:off x="4862512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4761666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8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2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175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3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3"/>
          </p:nvPr>
        </p:nvSpPr>
        <p:spPr>
          <a:xfrm>
            <a:off x="613020" y="1682020"/>
            <a:ext cx="7616952" cy="2596754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203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4_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tx2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4" name="Picture 3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319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5_Quote Textur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6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8" name="Picture 7" descr="Orange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D805D-F6E5-43ED-9D8A-77676030D49C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35280" y="518622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63135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7_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785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8_Divider_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ange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8_Divider Textur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9_End Slide N-tab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16" y="1767943"/>
            <a:ext cx="1604768" cy="160728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060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0_End Slide Full Logo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r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2" y="1770502"/>
            <a:ext cx="3736616" cy="1324464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171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3_Title N-tab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038351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019822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4_Title Full Logo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42829" y="2112264"/>
            <a:ext cx="6919972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929" y="3136393"/>
            <a:ext cx="6919293" cy="49887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65176" y="1423175"/>
            <a:ext cx="950062" cy="336755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rgbClr val="FFFF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524"/>
            <a:ext cx="9141291" cy="514197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Red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ctrTitle"/>
          </p:nvPr>
        </p:nvSpPr>
        <p:spPr>
          <a:xfrm>
            <a:off x="296538" y="486990"/>
            <a:ext cx="7880978" cy="64921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z="4200" dirty="0" smtClean="0"/>
              <a:t>Headline goes here</a:t>
            </a:r>
            <a:endParaRPr lang="en-US" sz="42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810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5_Title N-ta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7"/>
          </p:nvPr>
        </p:nvSpPr>
        <p:spPr>
          <a:xfrm>
            <a:off x="296539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1" y="1380253"/>
            <a:ext cx="378376" cy="3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258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6_Title Full 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96538" y="2113300"/>
            <a:ext cx="7020154" cy="982664"/>
          </a:xfrm>
        </p:spPr>
        <p:txBody>
          <a:bodyPr wrap="square" tIns="0" bIns="0">
            <a:noAutofit/>
          </a:bodyPr>
          <a:lstStyle>
            <a:lvl1pPr algn="l">
              <a:lnSpc>
                <a:spcPct val="90000"/>
              </a:lnSpc>
              <a:tabLst>
                <a:tab pos="508000" algn="l"/>
              </a:tabLst>
              <a:defRPr sz="4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9106" y="3139005"/>
            <a:ext cx="7020154" cy="427422"/>
          </a:xfrm>
        </p:spPr>
        <p:txBody>
          <a:bodyPr wrap="square" tIns="0" bIns="0"/>
          <a:lstStyle>
            <a:lvl1pPr marL="0" indent="0" algn="l">
              <a:lnSpc>
                <a:spcPct val="100000"/>
              </a:lnSpc>
              <a:buNone/>
              <a:defRPr sz="2000" cap="none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292170" y="4496659"/>
            <a:ext cx="2891063" cy="523046"/>
          </a:xfrm>
        </p:spPr>
        <p:txBody>
          <a:bodyPr wrap="square"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0" y="1412345"/>
            <a:ext cx="975939" cy="3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658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3725" y="354014"/>
            <a:ext cx="8165592" cy="428625"/>
          </a:xfrm>
        </p:spPr>
        <p:txBody>
          <a:bodyPr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94360" y="1490473"/>
            <a:ext cx="8165592" cy="3059906"/>
          </a:xfrm>
        </p:spPr>
        <p:txBody>
          <a:bodyPr/>
          <a:lstStyle>
            <a:lvl1pPr>
              <a:spcBef>
                <a:spcPts val="800"/>
              </a:spcBef>
              <a:defRPr>
                <a:solidFill>
                  <a:schemeClr val="tx2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2"/>
                </a:solidFill>
                <a:latin typeface="Arial"/>
                <a:cs typeface="Arial"/>
              </a:defRPr>
            </a:lvl2pPr>
            <a:lvl3pPr>
              <a:defRPr>
                <a:solidFill>
                  <a:schemeClr val="tx2"/>
                </a:solidFill>
                <a:latin typeface="Arial"/>
                <a:cs typeface="Arial"/>
              </a:defRPr>
            </a:lvl3pPr>
            <a:lvl4pPr>
              <a:defRPr>
                <a:solidFill>
                  <a:schemeClr val="tx2"/>
                </a:solidFill>
                <a:latin typeface="Arial"/>
                <a:cs typeface="Arial"/>
              </a:defRPr>
            </a:lvl4pPr>
            <a:lvl5pPr>
              <a:defRPr>
                <a:solidFill>
                  <a:schemeClr val="tx2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381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594360" y="353483"/>
            <a:ext cx="8166672" cy="433917"/>
          </a:xfrm>
        </p:spPr>
        <p:txBody>
          <a:bodyPr wrap="square">
            <a:noAutofit/>
          </a:bodyPr>
          <a:lstStyle>
            <a:lvl1pPr>
              <a:defRPr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594360" y="819151"/>
            <a:ext cx="816559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7" name="Picture 6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7046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9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27686"/>
            <a:ext cx="7876476" cy="188714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591172" y="2016354"/>
            <a:ext cx="7882286" cy="2429066"/>
          </a:xfrm>
        </p:spPr>
        <p:txBody>
          <a:bodyPr wrap="none"/>
          <a:lstStyle>
            <a:lvl1pPr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073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0_Side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4"/>
          </p:nvPr>
        </p:nvSpPr>
        <p:spPr>
          <a:xfrm>
            <a:off x="594360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hart Placeholder 12"/>
          <p:cNvSpPr>
            <a:spLocks noGrp="1"/>
          </p:cNvSpPr>
          <p:nvPr>
            <p:ph type="chart" sz="quarter" idx="16"/>
          </p:nvPr>
        </p:nvSpPr>
        <p:spPr>
          <a:xfrm>
            <a:off x="711200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hart Placeholder 12"/>
          <p:cNvSpPr>
            <a:spLocks noGrp="1"/>
          </p:cNvSpPr>
          <p:nvPr>
            <p:ph type="chart" sz="quarter" idx="18"/>
          </p:nvPr>
        </p:nvSpPr>
        <p:spPr>
          <a:xfrm>
            <a:off x="4862512" y="1922023"/>
            <a:ext cx="3970338" cy="2429066"/>
          </a:xfrm>
        </p:spPr>
        <p:txBody>
          <a:bodyPr wrap="none"/>
          <a:lstStyle>
            <a:lvl1pPr>
              <a:buFontTx/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4761666" y="1316737"/>
            <a:ext cx="4087178" cy="132755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5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9" name="Picture 8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2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1751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3"/>
          </p:nvPr>
        </p:nvSpPr>
        <p:spPr>
          <a:xfrm>
            <a:off x="613020" y="1682020"/>
            <a:ext cx="7616952" cy="2596754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94360" y="354212"/>
            <a:ext cx="8155940" cy="428625"/>
          </a:xfrm>
        </p:spPr>
        <p:txBody>
          <a:bodyPr wrap="square"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94360" y="819879"/>
            <a:ext cx="8160322" cy="236339"/>
          </a:xfrm>
        </p:spPr>
        <p:txBody>
          <a:bodyPr wrap="square" tIns="0" bIns="0" anchor="t" anchorCtr="0"/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6"/>
          </p:nvPr>
        </p:nvSpPr>
        <p:spPr>
          <a:xfrm>
            <a:off x="594359" y="4780026"/>
            <a:ext cx="8165592" cy="274320"/>
          </a:xfrm>
        </p:spPr>
        <p:txBody>
          <a:bodyPr wrap="square" tIns="0" bIns="0" anchor="b" anchorCtr="0"/>
          <a:lstStyle>
            <a:lvl1pPr marL="0" indent="0">
              <a:spcBef>
                <a:spcPts val="60"/>
              </a:spcBef>
              <a:buNone/>
              <a:defRPr sz="8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8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203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2_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tx2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4" name="Picture 3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3193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3_Quote Textur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979453" y="1987550"/>
            <a:ext cx="6978810" cy="438912"/>
          </a:xfrm>
        </p:spPr>
        <p:txBody>
          <a:bodyPr wrap="square"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3087240"/>
            <a:ext cx="6976872" cy="533400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  <a:lvl2pPr marL="45085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4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762"/>
            <a:ext cx="9141291" cy="5141976"/>
          </a:xfrm>
          <a:prstGeom prst="rect">
            <a:avLst/>
          </a:prstGeom>
        </p:spPr>
      </p:pic>
      <p:pic>
        <p:nvPicPr>
          <p:cNvPr id="8" name="Picture 7" descr="Red stri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D805D-F6E5-43ED-9D8A-77676030D49C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5280" y="518622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6313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5_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7851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6_Divider_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d stri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7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6_Divider Textur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2064684"/>
            <a:ext cx="8046720" cy="438912"/>
          </a:xfrm>
        </p:spPr>
        <p:txBody>
          <a:bodyPr wrap="square" anchor="t">
            <a:noAutofit/>
          </a:bodyPr>
          <a:lstStyle>
            <a:lvl1pPr algn="l">
              <a:defRPr sz="5000" b="1" cap="all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849" y="0"/>
            <a:ext cx="235246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bg1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/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7_End Slide N-tab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16" y="1767943"/>
            <a:ext cx="1604768" cy="160728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060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8_End Slide Full Logo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Re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1291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2" y="1770502"/>
            <a:ext cx="3736616" cy="1324464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56821" y="4705351"/>
            <a:ext cx="35573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alibri" charset="0"/>
              </a:rPr>
              <a:t>This artwork was created using Nielsen data.</a:t>
            </a:r>
            <a:endParaRPr lang="en-US" sz="600" dirty="0" smtClean="0">
              <a:solidFill>
                <a:schemeClr val="bg1"/>
              </a:solidFill>
              <a:latin typeface="+mn-lt"/>
              <a:cs typeface="Calibri" charset="0"/>
            </a:endParaRPr>
          </a:p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171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3E24A31-5DDD-4664-ADCA-206931799C65}" type="datetimeFigureOut">
              <a:rPr lang="en-GB" smtClean="0"/>
              <a:t>13/07/2019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5E43029-A931-4028-9DF3-6E03B7AFD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9900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Chart">
  <p:cSld name="44_Chart"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88"/>
          <p:cNvSpPr txBox="1">
            <a:spLocks noGrp="1"/>
          </p:cNvSpPr>
          <p:nvPr>
            <p:ph type="body" idx="1"/>
          </p:nvPr>
        </p:nvSpPr>
        <p:spPr>
          <a:xfrm>
            <a:off x="594360" y="1351025"/>
            <a:ext cx="8168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sz="20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42" name="Google Shape;1142;p188"/>
          <p:cNvSpPr>
            <a:spLocks noGrp="1"/>
          </p:cNvSpPr>
          <p:nvPr>
            <p:ph type="chart" idx="2"/>
          </p:nvPr>
        </p:nvSpPr>
        <p:spPr>
          <a:xfrm>
            <a:off x="588818" y="1971485"/>
            <a:ext cx="81741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•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•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•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43" name="Google Shape;1143;p188"/>
          <p:cNvSpPr txBox="1">
            <a:spLocks noGrp="1"/>
          </p:cNvSpPr>
          <p:nvPr>
            <p:ph type="title"/>
          </p:nvPr>
        </p:nvSpPr>
        <p:spPr>
          <a:xfrm>
            <a:off x="593725" y="507206"/>
            <a:ext cx="8166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Narrow"/>
              <a:buNone/>
              <a:defRPr sz="3000" b="1" i="0" u="none" strike="noStrike" cap="none">
                <a:solidFill>
                  <a:schemeClr val="dk2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D9"/>
              </a:buClr>
              <a:buSzPts val="3000"/>
              <a:buFont typeface="Archivo Narrow"/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4" name="Google Shape;1144;p188"/>
          <p:cNvSpPr txBox="1">
            <a:spLocks noGrp="1"/>
          </p:cNvSpPr>
          <p:nvPr>
            <p:ph type="body" idx="3"/>
          </p:nvPr>
        </p:nvSpPr>
        <p:spPr>
          <a:xfrm>
            <a:off x="594360" y="960119"/>
            <a:ext cx="81603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None/>
              <a:defRPr sz="20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45" name="Google Shape;1145;p188"/>
          <p:cNvSpPr txBox="1">
            <a:spLocks noGrp="1"/>
          </p:cNvSpPr>
          <p:nvPr>
            <p:ph type="ftr" idx="11"/>
          </p:nvPr>
        </p:nvSpPr>
        <p:spPr>
          <a:xfrm>
            <a:off x="609600" y="4571999"/>
            <a:ext cx="81534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sz="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146" name="Google Shape;1146;p188" descr="Green Stri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73686" cy="5111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188"/>
          <p:cNvSpPr/>
          <p:nvPr/>
        </p:nvSpPr>
        <p:spPr>
          <a:xfrm rot="-5400000">
            <a:off x="-1103700" y="3799014"/>
            <a:ext cx="241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"/>
              <a:buFont typeface="Open Sans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Copyright © 2017 The Nielsen Company. Confidential and proprietary.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93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lue Strip.jpg"/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73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361951"/>
            <a:ext cx="8155940" cy="42862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90472"/>
            <a:ext cx="8155940" cy="3058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8877554" y="4932947"/>
            <a:ext cx="14106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spAutoFit/>
          </a:bodyPr>
          <a:lstStyle/>
          <a:p>
            <a:pPr algn="ctr" defTabSz="914400">
              <a:spcBef>
                <a:spcPts val="0"/>
              </a:spcBef>
            </a:pPr>
            <a:fld id="{0D7D805D-F6E5-43ED-9D8A-77676030D49C}" type="slidenum">
              <a:rPr lang="en-US" sz="900" b="0">
                <a:solidFill>
                  <a:schemeClr val="tx2"/>
                </a:solidFill>
              </a:rPr>
              <a:pPr algn="ctr" defTabSz="914400">
                <a:spcBef>
                  <a:spcPts val="0"/>
                </a:spcBef>
              </a:pPr>
              <a:t>‹#›</a:t>
            </a:fld>
            <a:endParaRPr lang="en-US" sz="900" b="0" dirty="0">
              <a:solidFill>
                <a:schemeClr val="tx2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gray">
          <a:xfrm rot="16200000">
            <a:off x="-1700358" y="3278887"/>
            <a:ext cx="355738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Copyright © 2018 The Nielsen Company</a:t>
            </a:r>
            <a:r>
              <a:rPr lang="en-US" sz="600" baseline="0" dirty="0" smtClean="0">
                <a:solidFill>
                  <a:schemeClr val="bg1"/>
                </a:solidFill>
                <a:latin typeface="+mn-lt"/>
                <a:cs typeface="Calibri" charset="0"/>
              </a:rPr>
              <a:t> </a:t>
            </a:r>
            <a:r>
              <a:rPr lang="en-US" sz="600" dirty="0" smtClean="0">
                <a:solidFill>
                  <a:schemeClr val="bg1"/>
                </a:solidFill>
                <a:latin typeface="+mn-lt"/>
                <a:cs typeface="Calibri" charset="0"/>
              </a:rPr>
              <a:t>(US), LLC. Confidential and proprietary. Do not distribute.</a:t>
            </a:r>
            <a:endParaRPr lang="en-US" sz="600" dirty="0">
              <a:solidFill>
                <a:schemeClr val="bg1"/>
              </a:solidFill>
              <a:latin typeface="+mn-lt"/>
              <a:cs typeface="Calibri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36" y="0"/>
            <a:ext cx="236347" cy="33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6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4015" r:id="rId3"/>
    <p:sldLayoutId id="2147483877" r:id="rId4"/>
    <p:sldLayoutId id="2147483849" r:id="rId5"/>
    <p:sldLayoutId id="2147483851" r:id="rId6"/>
    <p:sldLayoutId id="2147483853" r:id="rId7"/>
    <p:sldLayoutId id="2147483855" r:id="rId8"/>
    <p:sldLayoutId id="2147483856" r:id="rId9"/>
    <p:sldLayoutId id="2147483888" r:id="rId10"/>
    <p:sldLayoutId id="2147483993" r:id="rId11"/>
    <p:sldLayoutId id="2147483899" r:id="rId12"/>
    <p:sldLayoutId id="2147483900" r:id="rId13"/>
    <p:sldLayoutId id="2147484020" r:id="rId14"/>
    <p:sldLayoutId id="2147483994" r:id="rId15"/>
    <p:sldLayoutId id="2147483995" r:id="rId16"/>
    <p:sldLayoutId id="2147483996" r:id="rId17"/>
    <p:sldLayoutId id="2147484002" r:id="rId18"/>
    <p:sldLayoutId id="2147484001" r:id="rId19"/>
    <p:sldLayoutId id="2147484016" r:id="rId20"/>
    <p:sldLayoutId id="2147483904" r:id="rId21"/>
    <p:sldLayoutId id="2147483905" r:id="rId22"/>
    <p:sldLayoutId id="2147483908" r:id="rId23"/>
    <p:sldLayoutId id="2147483909" r:id="rId24"/>
    <p:sldLayoutId id="2147483910" r:id="rId25"/>
    <p:sldLayoutId id="2147483911" r:id="rId26"/>
    <p:sldLayoutId id="2147483912" r:id="rId27"/>
    <p:sldLayoutId id="2147483914" r:id="rId28"/>
    <p:sldLayoutId id="2147484000" r:id="rId29"/>
    <p:sldLayoutId id="2147483917" r:id="rId30"/>
    <p:sldLayoutId id="2147483918" r:id="rId31"/>
    <p:sldLayoutId id="2147484021" r:id="rId32"/>
    <p:sldLayoutId id="2147483921" r:id="rId33"/>
    <p:sldLayoutId id="2147483999" r:id="rId34"/>
    <p:sldLayoutId id="2147483922" r:id="rId35"/>
    <p:sldLayoutId id="2147483943" r:id="rId36"/>
    <p:sldLayoutId id="2147484004" r:id="rId37"/>
    <p:sldLayoutId id="2147484017" r:id="rId38"/>
    <p:sldLayoutId id="2147483926" r:id="rId39"/>
    <p:sldLayoutId id="2147483927" r:id="rId40"/>
    <p:sldLayoutId id="2147483930" r:id="rId41"/>
    <p:sldLayoutId id="2147483931" r:id="rId42"/>
    <p:sldLayoutId id="2147483932" r:id="rId43"/>
    <p:sldLayoutId id="2147483933" r:id="rId44"/>
    <p:sldLayoutId id="2147483934" r:id="rId45"/>
    <p:sldLayoutId id="2147483936" r:id="rId46"/>
    <p:sldLayoutId id="2147484005" r:id="rId47"/>
    <p:sldLayoutId id="2147483939" r:id="rId48"/>
    <p:sldLayoutId id="2147483940" r:id="rId49"/>
    <p:sldLayoutId id="2147484022" r:id="rId50"/>
    <p:sldLayoutId id="2147484006" r:id="rId51"/>
    <p:sldLayoutId id="2147484003" r:id="rId52"/>
    <p:sldLayoutId id="2147483944" r:id="rId53"/>
    <p:sldLayoutId id="2147484007" r:id="rId54"/>
    <p:sldLayoutId id="2147484009" r:id="rId55"/>
    <p:sldLayoutId id="2147484018" r:id="rId56"/>
    <p:sldLayoutId id="2147483948" r:id="rId57"/>
    <p:sldLayoutId id="2147483949" r:id="rId58"/>
    <p:sldLayoutId id="2147483952" r:id="rId59"/>
    <p:sldLayoutId id="2147483953" r:id="rId60"/>
    <p:sldLayoutId id="2147483954" r:id="rId61"/>
    <p:sldLayoutId id="2147483955" r:id="rId62"/>
    <p:sldLayoutId id="2147483956" r:id="rId63"/>
    <p:sldLayoutId id="2147483958" r:id="rId64"/>
    <p:sldLayoutId id="2147484010" r:id="rId65"/>
    <p:sldLayoutId id="2147483961" r:id="rId66"/>
    <p:sldLayoutId id="2147483962" r:id="rId67"/>
    <p:sldLayoutId id="2147484023" r:id="rId68"/>
    <p:sldLayoutId id="2147484008" r:id="rId69"/>
    <p:sldLayoutId id="2147483965" r:id="rId70"/>
    <p:sldLayoutId id="2147483966" r:id="rId71"/>
    <p:sldLayoutId id="2147484011" r:id="rId72"/>
    <p:sldLayoutId id="2147484014" r:id="rId73"/>
    <p:sldLayoutId id="2147484019" r:id="rId74"/>
    <p:sldLayoutId id="2147483970" r:id="rId75"/>
    <p:sldLayoutId id="2147483971" r:id="rId76"/>
    <p:sldLayoutId id="2147483974" r:id="rId77"/>
    <p:sldLayoutId id="2147483975" r:id="rId78"/>
    <p:sldLayoutId id="2147483976" r:id="rId79"/>
    <p:sldLayoutId id="2147483977" r:id="rId80"/>
    <p:sldLayoutId id="2147483978" r:id="rId81"/>
    <p:sldLayoutId id="2147483980" r:id="rId82"/>
    <p:sldLayoutId id="2147484013" r:id="rId83"/>
    <p:sldLayoutId id="2147483983" r:id="rId84"/>
    <p:sldLayoutId id="2147483984" r:id="rId85"/>
    <p:sldLayoutId id="2147484024" r:id="rId86"/>
    <p:sldLayoutId id="2147484012" r:id="rId87"/>
    <p:sldLayoutId id="2147483987" r:id="rId88"/>
    <p:sldLayoutId id="2147483988" r:id="rId89"/>
    <p:sldLayoutId id="2147484025" r:id="rId90"/>
    <p:sldLayoutId id="2147484026" r:id="rId9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4572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Font typeface="Arial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54025" indent="-220663" algn="l" defTabSz="287338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688975" indent="-228600" algn="l" defTabSz="457200" rtl="0" eaLnBrk="1" latinLnBrk="0" hangingPunct="1">
        <a:lnSpc>
          <a:spcPct val="100000"/>
        </a:lnSpc>
        <a:spcBef>
          <a:spcPts val="700"/>
        </a:spcBef>
        <a:buClr>
          <a:schemeClr val="tx2"/>
        </a:buClr>
        <a:buFont typeface="Arial"/>
        <a:buChar char="•"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915988" indent="-225425" algn="l" defTabSz="227013" rtl="0" eaLnBrk="1" latinLnBrk="0" hangingPunct="1">
        <a:lnSpc>
          <a:spcPct val="100000"/>
        </a:lnSpc>
        <a:spcBef>
          <a:spcPts val="700"/>
        </a:spcBef>
        <a:buClr>
          <a:schemeClr val="tx2"/>
        </a:buClr>
        <a:buFont typeface="Arial" pitchFamily="34" charset="0"/>
        <a:buChar char="•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30188" algn="l" defTabSz="457200" rtl="0" eaLnBrk="1" latinLnBrk="0" hangingPunct="1">
        <a:lnSpc>
          <a:spcPct val="100000"/>
        </a:lnSpc>
        <a:spcBef>
          <a:spcPts val="700"/>
        </a:spcBef>
        <a:buClr>
          <a:schemeClr val="tx2"/>
        </a:buClr>
        <a:buFont typeface="Arial" pitchFamily="34" charset="0"/>
        <a:buChar char="•"/>
        <a:defRPr sz="10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Trend check in VADE</a:t>
            </a:r>
            <a:endParaRPr lang="en-GB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Algorithm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7"/>
          </p:nvPr>
        </p:nvSpPr>
        <p:spPr>
          <a:xfrm>
            <a:off x="247427" y="4106104"/>
            <a:ext cx="4095973" cy="523046"/>
          </a:xfrm>
        </p:spPr>
        <p:txBody>
          <a:bodyPr/>
          <a:lstStyle/>
          <a:p>
            <a:r>
              <a:rPr lang="en-US" dirty="0" smtClean="0"/>
              <a:t>Marius Zabulionis,</a:t>
            </a:r>
          </a:p>
          <a:p>
            <a:r>
              <a:rPr lang="en-US" dirty="0"/>
              <a:t>Connect Data Science </a:t>
            </a:r>
            <a:r>
              <a:rPr lang="en-US" dirty="0" smtClean="0"/>
              <a:t>Product, Automation team</a:t>
            </a:r>
          </a:p>
          <a:p>
            <a:r>
              <a:rPr lang="en-US" dirty="0" smtClean="0"/>
              <a:t>2019.04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94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trend check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895350"/>
            <a:ext cx="82296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delivering new period RMS data to clients it should be validated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At individual market level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At individual product level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For specific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“Trend check” is a new period validation algorithm which is assessing if this data is in line with back period data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Consistent in terms of level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Reflect seasonal behavior</a:t>
            </a:r>
          </a:p>
          <a:p>
            <a:pPr marL="538163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Reflect effect of irregular events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r>
              <a:rPr lang="en-US" dirty="0" smtClean="0"/>
              <a:t>Markets*Items*Facts*Periods with data not consistent with back periods  are flagged as exceptions</a:t>
            </a:r>
          </a:p>
        </p:txBody>
      </p:sp>
    </p:spTree>
    <p:extLst>
      <p:ext uri="{BB962C8B-B14F-4D97-AF65-F5344CB8AC3E}">
        <p14:creationId xmlns:p14="http://schemas.microsoft.com/office/powerpoint/2010/main" val="256407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 check approach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572642" y="2419350"/>
            <a:ext cx="2512315" cy="1754326"/>
          </a:xfrm>
          <a:prstGeom prst="rect">
            <a:avLst/>
          </a:prstGeom>
          <a:noFill/>
          <a:ln w="6350" cmpd="sng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7602" y="2751947"/>
            <a:ext cx="2380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>
                <a:latin typeface="+mj-lt"/>
                <a:cs typeface="Calibri" pitchFamily="34" charset="0"/>
              </a:rPr>
              <a:t>Build time series model by Market*Product*Fact</a:t>
            </a:r>
            <a:r>
              <a:rPr lang="en-GB" dirty="0" smtClean="0">
                <a:solidFill>
                  <a:schemeClr val="accent1"/>
                </a:solidFill>
                <a:latin typeface="+mj-lt"/>
                <a:cs typeface="Calibri" pitchFamily="34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1463309"/>
            <a:ext cx="7922840" cy="877289"/>
            <a:chOff x="611560" y="1196814"/>
            <a:chExt cx="7922840" cy="877289"/>
          </a:xfrm>
        </p:grpSpPr>
        <p:sp>
          <p:nvSpPr>
            <p:cNvPr id="9" name="Rectangle 8"/>
            <p:cNvSpPr/>
            <p:nvPr/>
          </p:nvSpPr>
          <p:spPr>
            <a:xfrm>
              <a:off x="611560" y="1196814"/>
              <a:ext cx="7922840" cy="877289"/>
            </a:xfrm>
            <a:prstGeom prst="rect">
              <a:avLst/>
            </a:prstGeom>
            <a:solidFill>
              <a:schemeClr val="bg2"/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28800" y="1463309"/>
              <a:ext cx="630570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 smtClean="0">
                  <a:solidFill>
                    <a:schemeClr val="bg1"/>
                  </a:solidFill>
                </a:rPr>
                <a:t>IDEA</a:t>
              </a:r>
              <a:r>
                <a:rPr lang="en-US" b="1" dirty="0" smtClean="0">
                  <a:solidFill>
                    <a:schemeClr val="bg1"/>
                  </a:solidFill>
                </a:rPr>
                <a:t> 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Group 46"/>
            <p:cNvGrpSpPr>
              <a:grpSpLocks/>
            </p:cNvGrpSpPr>
            <p:nvPr/>
          </p:nvGrpSpPr>
          <p:grpSpPr bwMode="auto">
            <a:xfrm>
              <a:off x="914400" y="1296477"/>
              <a:ext cx="635793" cy="635794"/>
              <a:chOff x="5663300" y="1021018"/>
              <a:chExt cx="1271016" cy="1271016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5663300" y="1021018"/>
                <a:ext cx="1271016" cy="12710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pic>
            <p:nvPicPr>
              <p:cNvPr id="15" name="Picture 45" descr="Innovation_Renovation.emf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9476" y="1213042"/>
                <a:ext cx="438664" cy="886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7" name="TextBox 16"/>
          <p:cNvSpPr txBox="1"/>
          <p:nvPr/>
        </p:nvSpPr>
        <p:spPr>
          <a:xfrm>
            <a:off x="3338539" y="2419350"/>
            <a:ext cx="2540893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>
              <a:latin typeface="+mj-lt"/>
              <a:cs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>
                <a:latin typeface="+mj-lt"/>
                <a:cs typeface="Calibri" pitchFamily="34" charset="0"/>
              </a:rPr>
              <a:t>Predict new period data and establish Lower and Upper bounds of tolerance.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>
              <a:latin typeface="+mj-lt"/>
              <a:cs typeface="Calibri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65944" y="2419350"/>
            <a:ext cx="2555565" cy="1754326"/>
          </a:xfrm>
          <a:prstGeom prst="rect">
            <a:avLst/>
          </a:prstGeom>
          <a:noFill/>
          <a:ln w="6350" cmpd="sng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68642" y="2751947"/>
            <a:ext cx="235016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>
                <a:latin typeface="+mj-lt"/>
                <a:cs typeface="Calibri" pitchFamily="34" charset="0"/>
              </a:rPr>
              <a:t>Validate actual new period  data against tolerance bounds.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000" dirty="0" smtClean="0">
              <a:solidFill>
                <a:srgbClr val="009DD9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49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Time series model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9600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Data/Inputs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895350"/>
            <a:ext cx="838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Irregular event calendar</a:t>
            </a:r>
          </a:p>
          <a:p>
            <a:pPr marL="625475" lvl="1" indent="-265113">
              <a:buFont typeface="Arial" panose="020B0604020202020204" pitchFamily="34" charset="0"/>
              <a:buChar char="•"/>
            </a:pPr>
            <a:r>
              <a:rPr lang="en-US" sz="1600" dirty="0" smtClean="0"/>
              <a:t>It covers:</a:t>
            </a:r>
          </a:p>
          <a:p>
            <a:pPr marL="901700" lvl="3" indent="-265113">
              <a:buFont typeface="Arial" panose="020B0604020202020204" pitchFamily="34" charset="0"/>
              <a:buChar char="•"/>
            </a:pPr>
            <a:r>
              <a:rPr lang="en-US" sz="1600" dirty="0" smtClean="0"/>
              <a:t>Events/holidays that are present every year but at different time (e.g. Easter, Ramadan, etc.)</a:t>
            </a:r>
          </a:p>
          <a:p>
            <a:pPr marL="901700" lvl="3" indent="-265113">
              <a:buFont typeface="Arial" panose="020B0604020202020204" pitchFamily="34" charset="0"/>
              <a:buChar char="•"/>
            </a:pPr>
            <a:r>
              <a:rPr lang="en-US" sz="1600" dirty="0" smtClean="0"/>
              <a:t>Big events that are happening once (e.g. Olympic games, Football world cup, etc.)</a:t>
            </a:r>
          </a:p>
          <a:p>
            <a:pPr marL="625475" lvl="1" indent="-265113">
              <a:buFont typeface="Arial" panose="020B0604020202020204" pitchFamily="34" charset="0"/>
              <a:buChar char="•"/>
            </a:pPr>
            <a:r>
              <a:rPr lang="en-US" sz="1600" dirty="0" smtClean="0"/>
              <a:t>Event calendar is transformed into dichotomous indicator variables (one variable per event),</a:t>
            </a:r>
            <a:r>
              <a:rPr lang="en-GB" sz="1600" dirty="0" smtClean="0"/>
              <a:t> showing if given </a:t>
            </a:r>
            <a:r>
              <a:rPr lang="en-GB" sz="1600" dirty="0"/>
              <a:t>event </a:t>
            </a:r>
            <a:r>
              <a:rPr lang="en-US" sz="1600" dirty="0" smtClean="0"/>
              <a:t>is present in specific period (1) or not (0)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Data of given fact for specific product in specific market in historical periods</a:t>
            </a:r>
          </a:p>
          <a:p>
            <a:pPr marL="625475" lvl="1" indent="-277813">
              <a:buFont typeface="Arial" panose="020B0604020202020204" pitchFamily="34" charset="0"/>
              <a:buChar char="•"/>
            </a:pPr>
            <a:r>
              <a:rPr lang="en-US" sz="1600" dirty="0" smtClean="0"/>
              <a:t>Data of non-additive facts or additive facts for Total country and Total category is used as is</a:t>
            </a:r>
          </a:p>
          <a:p>
            <a:pPr marL="625475" lvl="1" indent="-277813">
              <a:buFont typeface="Arial" panose="020B0604020202020204" pitchFamily="34" charset="0"/>
              <a:buChar char="•"/>
            </a:pPr>
            <a:r>
              <a:rPr lang="en-US" sz="1600" dirty="0" smtClean="0"/>
              <a:t>Data of additive facts for more granular MBDs or products is first transformed into relative form by dividing it by Total country*Total category value in a given period (i.e. calculating contribution or share). This is used to perform validation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50190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4658018" y="2324909"/>
            <a:ext cx="2885782" cy="762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Exponential smoothing (Holt Winters)</a:t>
            </a:r>
            <a:endParaRPr lang="en-GB" b="1" dirty="0"/>
          </a:p>
        </p:txBody>
      </p:sp>
      <p:sp>
        <p:nvSpPr>
          <p:cNvPr id="7" name="Rounded Rectangle 6"/>
          <p:cNvSpPr/>
          <p:nvPr/>
        </p:nvSpPr>
        <p:spPr>
          <a:xfrm>
            <a:off x="1066800" y="2324909"/>
            <a:ext cx="2981619" cy="762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Regression method</a:t>
            </a:r>
            <a:endParaRPr lang="en-GB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5007488" y="3095448"/>
            <a:ext cx="2155312" cy="848710"/>
            <a:chOff x="1510862" y="2571750"/>
            <a:chExt cx="2155312" cy="848710"/>
          </a:xfrm>
        </p:grpSpPr>
        <p:sp>
          <p:nvSpPr>
            <p:cNvPr id="9" name="Rectangle 8"/>
            <p:cNvSpPr/>
            <p:nvPr/>
          </p:nvSpPr>
          <p:spPr>
            <a:xfrm>
              <a:off x="1721068" y="2887059"/>
              <a:ext cx="1945106" cy="533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chemeClr val="bg2"/>
                  </a:solidFill>
                </a:rPr>
                <a:t> capture level/trend</a:t>
              </a:r>
              <a:r>
                <a:rPr lang="en-US" sz="1400" dirty="0" smtClean="0">
                  <a:solidFill>
                    <a:schemeClr val="bg2"/>
                  </a:solidFill>
                </a:rPr>
                <a:t>/ regular seasonality</a:t>
              </a:r>
              <a:endParaRPr lang="en-GB" sz="1400" b="1" dirty="0">
                <a:solidFill>
                  <a:schemeClr val="bg2"/>
                </a:solidFill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510862" y="2571750"/>
              <a:ext cx="2117938" cy="838200"/>
              <a:chOff x="1510862" y="2571750"/>
              <a:chExt cx="2117938" cy="8382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1510862" y="2571750"/>
                <a:ext cx="317938" cy="838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1828800" y="3409950"/>
                <a:ext cx="1800000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1600200" y="3079025"/>
            <a:ext cx="2061964" cy="835573"/>
            <a:chOff x="1406450" y="2958003"/>
            <a:chExt cx="2061964" cy="835573"/>
          </a:xfrm>
        </p:grpSpPr>
        <p:sp>
          <p:nvSpPr>
            <p:cNvPr id="15" name="Rectangle 14"/>
            <p:cNvSpPr/>
            <p:nvPr/>
          </p:nvSpPr>
          <p:spPr>
            <a:xfrm>
              <a:off x="1406450" y="3260175"/>
              <a:ext cx="1833364" cy="5334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 smtClean="0">
                  <a:solidFill>
                    <a:schemeClr val="bg2"/>
                  </a:solidFill>
                </a:rPr>
                <a:t>Capture </a:t>
              </a:r>
              <a:r>
                <a:rPr lang="en-US" sz="1400" dirty="0">
                  <a:solidFill>
                    <a:schemeClr val="bg2"/>
                  </a:solidFill>
                </a:rPr>
                <a:t>effect of irregular events</a:t>
              </a:r>
              <a:endParaRPr lang="en-GB" sz="1400" b="1" dirty="0">
                <a:solidFill>
                  <a:schemeClr val="bg2"/>
                </a:solidFill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439814" y="2958003"/>
              <a:ext cx="2028600" cy="835573"/>
              <a:chOff x="1439814" y="2958003"/>
              <a:chExt cx="2028600" cy="8355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1439814" y="3793576"/>
                <a:ext cx="1800000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>
                <a:off x="3239814" y="2958003"/>
                <a:ext cx="228600" cy="835573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/>
          <p:cNvSpPr txBox="1"/>
          <p:nvPr/>
        </p:nvSpPr>
        <p:spPr>
          <a:xfrm>
            <a:off x="1762419" y="1385721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Model combines 2 techniques</a:t>
            </a:r>
            <a:endParaRPr lang="en-GB" sz="20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905000" y="1785891"/>
            <a:ext cx="5257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74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06029" y="2679463"/>
                <a:ext cx="2215414" cy="879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29" y="2679463"/>
                <a:ext cx="2215414" cy="87985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469861" y="2870739"/>
                <a:ext cx="28105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 smtClean="0">
                          <a:latin typeface="Cambria Math"/>
                          <a:ea typeface="Cambria Math"/>
                        </a:rPr>
                        <m:t>𝜙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861" y="2870739"/>
                <a:ext cx="2810577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022656" y="1481363"/>
                <a:ext cx="1952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656" y="1481363"/>
                <a:ext cx="1952714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>
            <a:off x="1759742" y="1936975"/>
            <a:ext cx="760416" cy="5648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469861" y="1936975"/>
            <a:ext cx="751480" cy="5648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34134" y="3484105"/>
                <a:ext cx="2651217" cy="865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Regression part , where: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269875" indent="-18573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j</m:t>
                        </m:r>
                        <m: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-indicator showing if event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j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is present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at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time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or not (1/0)</a:t>
                </a:r>
              </a:p>
              <a:p>
                <a:pPr marL="904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coefficient of event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j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34" y="3484105"/>
                <a:ext cx="2651217" cy="865237"/>
              </a:xfrm>
              <a:prstGeom prst="rect">
                <a:avLst/>
              </a:prstGeom>
              <a:blipFill rotWithShape="1">
                <a:blip r:embed="rId5"/>
                <a:stretch>
                  <a:fillRect t="-709" b="-2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657600" y="3484105"/>
                <a:ext cx="429230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Exponential smoothing part, where: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1793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-level component at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t-1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moment</a:t>
                </a:r>
              </a:p>
              <a:p>
                <a:pPr marL="1793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  <m: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trend component at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t-1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moment</a:t>
                </a:r>
              </a:p>
              <a:p>
                <a:pPr marL="1793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  <m: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seasonal component from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t-m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moment (a year ago)</a:t>
                </a:r>
              </a:p>
              <a:p>
                <a:pPr marL="179388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ϕ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– trend damping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parameter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484105"/>
                <a:ext cx="4292309" cy="1015663"/>
              </a:xfrm>
              <a:prstGeom prst="rect">
                <a:avLst/>
              </a:prstGeom>
              <a:blipFill rotWithShape="1">
                <a:blip r:embed="rId6"/>
                <a:stretch>
                  <a:fillRect t="-602" b="-3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84455" y="1835584"/>
                <a:ext cx="2930945" cy="1035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here:</a:t>
                </a:r>
              </a:p>
              <a:p>
                <a:pPr marL="904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value of fact at time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904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effect of irregular events at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time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904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level/trend/seasonal effect at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time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90488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 – remaining random error at time </a:t>
                </a:r>
                <a:r>
                  <a:rPr lang="en-US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455" y="1835584"/>
                <a:ext cx="2930945" cy="1035155"/>
              </a:xfrm>
              <a:prstGeom prst="rect">
                <a:avLst/>
              </a:prstGeom>
              <a:blipFill rotWithShape="1">
                <a:blip r:embed="rId7"/>
                <a:stretch>
                  <a:fillRect l="-208" t="-588" b="-1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5954" y="819150"/>
            <a:ext cx="836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Additive combination of both methods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06060" y="4574982"/>
            <a:ext cx="8369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Note: </a:t>
            </a:r>
            <a:r>
              <a:rPr lang="en-US" sz="1600" dirty="0" smtClean="0"/>
              <a:t>if historical periods contain less than 2 years of data regression part and seasonal components are not used - set to 0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3269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Process</a:t>
            </a:r>
            <a:endParaRPr lang="en-GB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756103756"/>
              </p:ext>
            </p:extLst>
          </p:nvPr>
        </p:nvGraphicFramePr>
        <p:xfrm>
          <a:off x="1295400" y="1428750"/>
          <a:ext cx="64008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53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part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895350"/>
            <a:ext cx="845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model is </a:t>
            </a:r>
            <a:r>
              <a:rPr lang="en-US" dirty="0" smtClean="0"/>
              <a:t>constructed separately from Exponential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use entire history of original data and indicator-transformed calendar.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Regression coefficients by event estimated using ordinary least square method in the following way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1600" b="1" dirty="0"/>
              <a:t>Note: </a:t>
            </a:r>
            <a:r>
              <a:rPr lang="en-US" sz="1600" dirty="0"/>
              <a:t>if historical periods contain less than 2 years of data regression part </a:t>
            </a:r>
            <a:r>
              <a:rPr lang="en-US" sz="1600" dirty="0" smtClean="0"/>
              <a:t>is </a:t>
            </a:r>
            <a:r>
              <a:rPr lang="en-US" sz="1600" dirty="0"/>
              <a:t>not </a:t>
            </a:r>
            <a:r>
              <a:rPr lang="en-US" sz="1600" dirty="0" smtClean="0"/>
              <a:t>used – regression coefficients set to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66800" y="2742009"/>
                <a:ext cx="19458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i="1" smtClean="0"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742009"/>
                <a:ext cx="1945854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66800" y="3234865"/>
                <a:ext cx="5638800" cy="1132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Here ingredients </a:t>
                </a:r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expressed </a:t>
                </a:r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in in matrix </a:t>
                </a:r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form are:</a:t>
                </a:r>
                <a:endParaRPr lang="en-US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GB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̂"/>
                                <m:ctrlPr>
                                  <a:rPr lang="en-GB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ea typeface="Cambria Math"/>
                                  </a:rPr>
                                  <m:t>η</m:t>
                                </m:r>
                              </m:e>
                            </m:acc>
                            <m:r>
                              <a:rPr lang="en-US" sz="14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1400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GB" sz="1400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l-GR" sz="1400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</a:rPr>
                                                      <m:t>𝜂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l-GR" sz="1400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GB" sz="1400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l-GR" sz="1400" i="1">
                                                        <a:solidFill>
                                                          <a:schemeClr val="bg2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</a:rPr>
                                                      <m:t>𝜂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bg2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GB" sz="1400" i="1">
                                                  <a:solidFill>
                                                    <a:schemeClr val="bg2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l-GR" sz="1400" i="1">
                                                  <a:solidFill>
                                                    <a:schemeClr val="bg2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𝜂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4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,</m:t>
                            </m:r>
                          </m:e>
                          <m:e>
                            <m:r>
                              <a:rPr lang="en-US" sz="14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𝑋</m:t>
                            </m:r>
                            <m:r>
                              <a:rPr lang="en-US" sz="14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1;1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GB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1;</m:t>
                                          </m:r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  <m:r>
                                  <a:rPr lang="en-US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GB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;1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GB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GB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GB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;</m:t>
                                          </m:r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14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,</m:t>
                            </m:r>
                          </m:e>
                          <m:e>
                            <m:r>
                              <a:rPr lang="en-US" sz="14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  <m:r>
                              <a:rPr lang="en-US" sz="14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i="1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GB" sz="1400" i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234865"/>
                <a:ext cx="5638800" cy="1132874"/>
              </a:xfrm>
              <a:prstGeom prst="rect">
                <a:avLst/>
              </a:prstGeom>
              <a:blipFill rotWithShape="1">
                <a:blip r:embed="rId3"/>
                <a:stretch>
                  <a:fillRect t="-5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15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excluding regression effect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19200" y="2266950"/>
                <a:ext cx="2944459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𝜂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266950"/>
                <a:ext cx="2944459" cy="9840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62000" y="104775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order to remove effect of irregular events from original series, results of regression model are subtracted tom original series.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75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Exponential smoothing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895350"/>
                <a:ext cx="8229600" cy="387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The aim of Exponential smoothing (Holt Winters) method is to capture level, trend and regular seasonality of time series and this way establish a model for future prediction.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We use additive form of model with damped trend which is more robust and less sensitive to sudden changes in the data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𝜙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Separation of seasonality depends on the length of data.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1600" dirty="0" smtClean="0"/>
                  <a:t>For Markets*Products*Facts with less </a:t>
                </a:r>
                <a:r>
                  <a:rPr lang="en-GB" sz="1600" dirty="0"/>
                  <a:t>than 2 </a:t>
                </a:r>
                <a:r>
                  <a:rPr lang="en-GB" sz="1600" dirty="0" smtClean="0"/>
                  <a:t>years of historical data seasonality is not considered (Holt model) due to insufficient data to estimate seasonal component and assess model precision. In those cases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𝑡</m:t>
                        </m:r>
                        <m:r>
                          <a:rPr lang="en-US" sz="1600" i="1">
                            <a:latin typeface="Cambria Math"/>
                          </a:rPr>
                          <m:t>−</m:t>
                        </m:r>
                        <m:r>
                          <a:rPr lang="en-US" sz="1600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1600" dirty="0" smtClean="0"/>
                  <a:t> is set to 0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895350"/>
                <a:ext cx="8229600" cy="3877985"/>
              </a:xfrm>
              <a:prstGeom prst="rect">
                <a:avLst/>
              </a:prstGeom>
              <a:blipFill rotWithShape="1">
                <a:blip r:embed="rId2"/>
                <a:stretch>
                  <a:fillRect l="-444" t="-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97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Exponential smoothing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895350"/>
                <a:ext cx="8229600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Exponential </a:t>
                </a:r>
                <a:r>
                  <a:rPr lang="en-US" dirty="0"/>
                  <a:t>smoothing model is build on regression-adjusted time series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Model is constructed in 2 steps: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000" dirty="0" smtClean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600" dirty="0" smtClean="0"/>
                  <a:t>Initialize level/trend/seasonal components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sz="1000" dirty="0" smtClean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600" dirty="0" smtClean="0"/>
                  <a:t>Update components in repetitive manner period by period to capture their evolution and arrive to final values right before prediction.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895350"/>
                <a:ext cx="8229600" cy="3077766"/>
              </a:xfrm>
              <a:prstGeom prst="rect">
                <a:avLst/>
              </a:prstGeom>
              <a:blipFill rotWithShape="1">
                <a:blip r:embed="rId2"/>
                <a:stretch>
                  <a:fillRect l="-444" r="-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26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Exponential smoothing - initialization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804329"/>
            <a:ext cx="8534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 smtClean="0">
                <a:solidFill>
                  <a:schemeClr val="accent2"/>
                </a:solidFill>
              </a:rPr>
              <a:t>Initial trend</a:t>
            </a:r>
          </a:p>
          <a:p>
            <a:pPr marL="0" lvl="1"/>
            <a:endParaRPr lang="en-US" dirty="0" smtClean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By default initial trend calculation is using first 2 years of data</a:t>
            </a:r>
            <a:endParaRPr lang="en-US" dirty="0"/>
          </a:p>
          <a:p>
            <a:pPr marL="0" lvl="1"/>
            <a:endParaRPr lang="en-US" dirty="0" smtClean="0"/>
          </a:p>
          <a:p>
            <a:pPr marL="0" lvl="1"/>
            <a:endParaRPr lang="en-US" dirty="0"/>
          </a:p>
          <a:p>
            <a:pPr marL="0" lvl="1"/>
            <a:endParaRPr lang="en-US" dirty="0" smtClean="0"/>
          </a:p>
          <a:p>
            <a:pPr marL="0" lvl="1"/>
            <a:endParaRPr lang="en-US" dirty="0"/>
          </a:p>
          <a:p>
            <a:pPr marL="0" lvl="1"/>
            <a:endParaRPr lang="en-US" dirty="0" smtClean="0"/>
          </a:p>
          <a:p>
            <a:pPr marL="0" lvl="1"/>
            <a:endParaRPr lang="en-US" dirty="0"/>
          </a:p>
          <a:p>
            <a:pPr marL="0" lvl="1"/>
            <a:endParaRPr lang="en-US" dirty="0" smtClean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If 2 years are not available </a:t>
            </a:r>
            <a:r>
              <a:rPr lang="en-US" dirty="0"/>
              <a:t>initial trend </a:t>
            </a:r>
            <a:r>
              <a:rPr lang="en-US" dirty="0" smtClean="0"/>
              <a:t>calculation </a:t>
            </a:r>
            <a:r>
              <a:rPr lang="en-US" dirty="0"/>
              <a:t>is simplified to:  </a:t>
            </a:r>
            <a:endParaRPr lang="en-US" dirty="0" smtClean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38233" y="1809750"/>
                <a:ext cx="5611088" cy="6594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𝜙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/>
                            </a:rPr>
                            <m:t>+…+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233" y="1809750"/>
                <a:ext cx="5611088" cy="6594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26201" y="2634597"/>
                <a:ext cx="725359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here:</a:t>
                </a:r>
              </a:p>
              <a:p>
                <a:pPr marL="90488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number of periods in one year</a:t>
                </a:r>
              </a:p>
              <a:p>
                <a:pPr marL="90488"/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𝜙</m:t>
                    </m:r>
                  </m:oMath>
                </a14:m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– is a damping parameter. By default it is set to 0.8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201" y="2634597"/>
                <a:ext cx="7253598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4" t="-943" b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26201" y="4047783"/>
                <a:ext cx="1897955" cy="6594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𝜙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201" y="4047783"/>
                <a:ext cx="1897955" cy="65941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98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686800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b="1" dirty="0" smtClean="0">
                    <a:solidFill>
                      <a:schemeClr val="accent2"/>
                    </a:solidFill>
                  </a:rPr>
                  <a:t>Initial seasonality</a:t>
                </a:r>
              </a:p>
              <a:p>
                <a:pPr marL="0" lvl="1"/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Amount of data used to calculate initial seasonality depend on number of total periods</a:t>
                </a:r>
              </a:p>
              <a:p>
                <a:pPr marL="1200150" lvl="3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3 years are available – 2 years are used for initial seasonality</a:t>
                </a:r>
              </a:p>
              <a:p>
                <a:pPr marL="1200150" lvl="3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2 years are available – 1 year is used</a:t>
                </a:r>
              </a:p>
              <a:p>
                <a:pPr marL="1200150" lvl="3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less than 2 years available – initial seasonality is not calculated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Remaining 1 year is reserved for precision assessment</a:t>
                </a:r>
              </a:p>
              <a:p>
                <a:pPr marL="0" lvl="1"/>
                <a:endParaRPr lang="en-US" b="1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Before estimating seasonality time series is </a:t>
                </a:r>
                <a:r>
                  <a:rPr lang="en-US" dirty="0" err="1" smtClean="0"/>
                  <a:t>detrended</a:t>
                </a: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541338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𝜙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360363" lvl="1"/>
                <a:endParaRPr lang="en-US" dirty="0"/>
              </a:p>
              <a:p>
                <a:pPr marL="546100"/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here</a:t>
                </a:r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:</a:t>
                </a:r>
              </a:p>
              <a:p>
                <a:pPr marL="546100"/>
                <a:endParaRPr lang="en-GB" sz="6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630238"/>
                <a14:m>
                  <m:oMath xmlns:m="http://schemas.openxmlformats.org/officeDocument/2006/math">
                    <m:sSubSup>
                      <m:sSubSup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</a:t>
                </a:r>
                <a:r>
                  <a:rPr lang="en-GB" sz="1200" dirty="0" err="1" smtClean="0">
                    <a:solidFill>
                      <a:schemeClr val="bg2">
                        <a:lumMod val="50000"/>
                      </a:schemeClr>
                    </a:solidFill>
                  </a:rPr>
                  <a:t>detrended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series for time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</a:p>
              <a:p>
                <a:pPr marL="0" lvl="1"/>
                <a:endParaRPr lang="en-US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686800" cy="4308872"/>
              </a:xfrm>
              <a:prstGeom prst="rect">
                <a:avLst/>
              </a:prstGeom>
              <a:blipFill rotWithShape="1">
                <a:blip r:embed="rId2"/>
                <a:stretch>
                  <a:fillRect l="-561" t="-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Exponential smoothing - initialization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88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686800" cy="430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b="1" dirty="0" smtClean="0">
                    <a:solidFill>
                      <a:schemeClr val="accent2"/>
                    </a:solidFill>
                  </a:rPr>
                  <a:t>Initial seasonality</a:t>
                </a:r>
              </a:p>
              <a:p>
                <a:pPr marL="0" lvl="1"/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Then we calculate yearly </a:t>
                </a:r>
                <a:r>
                  <a:rPr lang="en-US" dirty="0" smtClean="0"/>
                  <a:t>averages for 2 or 1 year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22313" indent="476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</a:rPr>
                        <m:t>, 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</a:rPr>
                        <m:t>=1,2</m:t>
                      </m:r>
                    </m:oMath>
                  </m:oMathPara>
                </a14:m>
                <a:endParaRPr lang="en-US" b="1" dirty="0" smtClean="0"/>
              </a:p>
              <a:p>
                <a:pPr marL="0" lvl="1"/>
                <a:endParaRPr lang="en-US" b="1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Finally, initia</a:t>
                </a:r>
                <a:r>
                  <a:rPr lang="en-US" dirty="0"/>
                  <a:t>l</a:t>
                </a:r>
                <a:r>
                  <a:rPr lang="en-US" dirty="0" smtClean="0"/>
                  <a:t> seasonal adjustments are calculated</a:t>
                </a:r>
              </a:p>
              <a:p>
                <a:pPr marL="0" lvl="1"/>
                <a:endParaRPr lang="en-US" dirty="0" smtClean="0"/>
              </a:p>
              <a:p>
                <a:pPr marL="722313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896938" indent="-90488"/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here:</a:t>
                </a:r>
              </a:p>
              <a:p>
                <a:pPr marL="896938"/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 is seasonal indicator in different years</a:t>
                </a:r>
              </a:p>
              <a:p>
                <a:pPr marL="896938"/>
                <a:endParaRPr lang="en-GB" sz="6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896938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– number of years included in calculation</a:t>
                </a:r>
                <a:endParaRPr lang="en-US" sz="600" i="1" dirty="0">
                  <a:solidFill>
                    <a:schemeClr val="bg2">
                      <a:lumMod val="50000"/>
                    </a:schemeClr>
                  </a:solidFill>
                  <a:latin typeface="Cambria Math"/>
                  <a:ea typeface="Cambria Math" panose="02040503050406030204" pitchFamily="18" charset="0"/>
                </a:endParaRPr>
              </a:p>
              <a:p>
                <a:pPr marL="360363" lvl="1"/>
                <a:endParaRPr lang="en-US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686800" cy="4303294"/>
              </a:xfrm>
              <a:prstGeom prst="rect">
                <a:avLst/>
              </a:prstGeom>
              <a:blipFill rotWithShape="1">
                <a:blip r:embed="rId2"/>
                <a:stretch>
                  <a:fillRect l="-561" t="-7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Exponential smoothing - initialization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45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229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b="1" dirty="0" smtClean="0">
                    <a:solidFill>
                      <a:schemeClr val="accent2"/>
                    </a:solidFill>
                  </a:rPr>
                  <a:t>Initial level</a:t>
                </a:r>
              </a:p>
              <a:p>
                <a:pPr marL="0" lvl="1"/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Initial level is a difference between first observation and first seasonal adjustment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27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 smtClean="0"/>
              </a:p>
              <a:p>
                <a:pPr marL="0" lvl="1"/>
                <a:endParaRPr lang="en-US" b="1" dirty="0" smtClean="0"/>
              </a:p>
              <a:p>
                <a:pPr marL="0" lvl="1"/>
                <a:endParaRPr lang="en-US" b="1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If seasonal component does not exist seasonal adjustment replaced by 0 and initial level becomes equal to first observation.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722313" lvl="1"/>
                <a:endParaRPr lang="en-US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2296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593" t="-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Exponential smoothing - initialization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932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800" y="742950"/>
                <a:ext cx="853440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endParaRPr lang="en-US" sz="1200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Starting from initial values level/trend/seasonality components are recalculated in every historical period (from first to last) taking into account new data and previous value of component</a:t>
                </a:r>
              </a:p>
              <a:p>
                <a:pPr marL="722313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+(1−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𝜙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Cambria Math"/>
                  </a:rPr>
                  <a:t> </a:t>
                </a:r>
              </a:p>
              <a:p>
                <a:endParaRPr lang="en-US" sz="1000" i="1" dirty="0">
                  <a:latin typeface="Cambria Math"/>
                </a:endParaRPr>
              </a:p>
              <a:p>
                <a:pPr marL="72231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+(1−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)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𝜙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marL="722313"/>
                <a:endParaRPr lang="en-GB" sz="1000" i="1" dirty="0">
                  <a:latin typeface="Cambria Math"/>
                </a:endParaRPr>
              </a:p>
              <a:p>
                <a:pPr marL="72231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𝛾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+(1−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𝛾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)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722313"/>
                <a:endParaRPr lang="en-US" sz="1000" dirty="0"/>
              </a:p>
              <a:p>
                <a:pPr marL="806450">
                  <a:tabLst>
                    <a:tab pos="444500" algn="l"/>
                  </a:tabLst>
                </a:pPr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here: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901700">
                  <a:tabLst>
                    <a:tab pos="444500" algn="l"/>
                  </a:tabLst>
                </a:pPr>
                <a14:m>
                  <m:oMath xmlns:m="http://schemas.openxmlformats.org/officeDocument/2006/math">
                    <m:r>
                      <a:rPr lang="en-GB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-smoothing parameter of level component</a:t>
                </a:r>
              </a:p>
              <a:p>
                <a:pPr marL="901700">
                  <a:tabLst>
                    <a:tab pos="4445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β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smoothing parameter of trend component</a:t>
                </a:r>
              </a:p>
              <a:p>
                <a:pPr marL="901700">
                  <a:tabLst>
                    <a:tab pos="4445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γ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smoothing parameter of seasonal component</a:t>
                </a:r>
              </a:p>
              <a:p>
                <a:pPr marL="901700">
                  <a:tabLst>
                    <a:tab pos="4445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ϕ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trend damping parameter</a:t>
                </a:r>
              </a:p>
              <a:p>
                <a:pPr marL="727075"/>
                <a:endParaRPr lang="en-US" sz="1000" b="1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Smoothing parameters are set to following default values</a:t>
                </a:r>
              </a:p>
              <a:p>
                <a:pPr marL="722313">
                  <a:tabLst>
                    <a:tab pos="72231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=0.4,  </m:t>
                      </m:r>
                      <m:r>
                        <m:rPr>
                          <m:sty m:val="p"/>
                        </m:rPr>
                        <a:rPr lang="el-GR" sz="16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β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=0.1,  </m:t>
                      </m:r>
                      <m:r>
                        <m:rPr>
                          <m:sty m:val="p"/>
                        </m:rPr>
                        <a:rPr lang="el-GR" sz="16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γ</m:t>
                      </m:r>
                      <m:r>
                        <a:rPr lang="en-US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=0.8</m:t>
                      </m:r>
                      <m:r>
                        <a:rPr lang="en-US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l-GR" sz="16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ϕ</m:t>
                      </m:r>
                      <m:r>
                        <a:rPr lang="en-US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=0.8</m:t>
                      </m:r>
                    </m:oMath>
                  </m:oMathPara>
                </a14:m>
                <a:endParaRPr lang="en-US" dirty="0" smtClean="0"/>
              </a:p>
              <a:p>
                <a:pPr marL="722313">
                  <a:tabLst>
                    <a:tab pos="722313" algn="l"/>
                  </a:tabLst>
                </a:pPr>
                <a:endParaRPr lang="en-US" sz="1000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If seasonal component does not exist seasonal </a:t>
                </a:r>
                <a:r>
                  <a:rPr lang="en-US" sz="1600" dirty="0" smtClean="0"/>
                  <a:t>adjustments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 smtClean="0"/>
                  <a:t> are set to 0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42950"/>
                <a:ext cx="8534400" cy="4493538"/>
              </a:xfrm>
              <a:prstGeom prst="rect">
                <a:avLst/>
              </a:prstGeom>
              <a:blipFill rotWithShape="1">
                <a:blip r:embed="rId2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53483"/>
            <a:ext cx="8991600" cy="433917"/>
          </a:xfrm>
        </p:spPr>
        <p:txBody>
          <a:bodyPr/>
          <a:lstStyle/>
          <a:p>
            <a:r>
              <a:rPr lang="en-US" dirty="0" smtClean="0"/>
              <a:t>Exponential smoothing - recalculation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912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229600" cy="366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order to assess precision of the </a:t>
                </a:r>
                <a:r>
                  <a:rPr lang="en-US" dirty="0" smtClean="0"/>
                  <a:t>model, </a:t>
                </a:r>
                <a:r>
                  <a:rPr lang="en-US" dirty="0"/>
                  <a:t>back periods should be </a:t>
                </a:r>
                <a:r>
                  <a:rPr lang="en-US" dirty="0" smtClean="0"/>
                  <a:t>predicted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Prediction combine both models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Regression, using irregular event flags and estimated coefficients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Exponential smoothing, using components from previous period – one step forward prediction.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27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𝜂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GB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𝜙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0" lvl="1"/>
                <a:endParaRPr lang="en-US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229600" cy="3661708"/>
              </a:xfrm>
              <a:prstGeom prst="rect">
                <a:avLst/>
              </a:prstGeom>
              <a:blipFill rotWithShape="1"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Back period prediction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61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229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Model precision is evaluated based on error of prediction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722313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GB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lvl="1"/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 We use 1 year of latest errors to assess precision.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These periods do not overlap with the ones used to estimate initial level, trend  and seasonality, i.e. we use  out-of-sample assessment (except regression)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1 year is not available – all periods except first 2 are taken.</a:t>
                </a: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Precision is measured by </a:t>
                </a:r>
                <a:r>
                  <a:rPr lang="en-US" dirty="0"/>
                  <a:t>standard deviation of prediction errors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𝑒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This is used later on  to build tolerance bounds for new period validation.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229600" cy="4154984"/>
              </a:xfrm>
              <a:prstGeom prst="rect">
                <a:avLst/>
              </a:prstGeom>
              <a:blipFill rotWithShape="1"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Model precision assessment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592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Tolerance bound construction and new data validation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3180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validation Process</a:t>
            </a:r>
            <a:endParaRPr lang="en-GB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99745158"/>
              </p:ext>
            </p:extLst>
          </p:nvPr>
        </p:nvGraphicFramePr>
        <p:xfrm>
          <a:off x="1219200" y="2038350"/>
          <a:ext cx="6400800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06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229600" cy="360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Combined model build on historical data is used to predict new periods</a:t>
                </a:r>
                <a:endParaRPr lang="en-US" dirty="0"/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It’s h-step forward prediction based on estimated coefficients by irregular event and latest level/trend/seasonal components from historical data  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0" lvl="1"/>
                <a:endParaRPr lang="en-US" dirty="0" smtClean="0"/>
              </a:p>
              <a:p>
                <a:pPr marL="1071563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𝜂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GB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h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h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GB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1165225"/>
                <a:endParaRPr lang="en-US" sz="1200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1165225"/>
                <a:r>
                  <a:rPr lang="en-US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here</a:t>
                </a:r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: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1249363"/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–latest available period in historical data</a:t>
                </a:r>
              </a:p>
              <a:p>
                <a:pPr marL="1249363"/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number of periods upfront (new periods) to be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predicted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lvl="1"/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229600" cy="3600153"/>
              </a:xfrm>
              <a:prstGeom prst="rect">
                <a:avLst/>
              </a:prstGeom>
              <a:blipFill rotWithShape="1"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New period prediction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060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200" y="1200150"/>
                <a:ext cx="8534400" cy="4121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Tolerance boundaries are set-up as confidence interval of prediction.</a:t>
                </a:r>
              </a:p>
              <a:p>
                <a:pPr marL="0" lvl="1"/>
                <a:endParaRPr lang="en-US" sz="1050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Depend on 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Prediction itself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Model precision measured in back periods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Confidence level (probability) specified as parameter by user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 smtClean="0"/>
              </a:p>
              <a:p>
                <a:pPr marL="9017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𝑙𝑏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𝑝𝑟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𝑑𝑓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i="1" dirty="0">
                  <a:ea typeface="Cambria Math"/>
                </a:endParaRPr>
              </a:p>
              <a:p>
                <a:pPr marL="9017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𝑢𝑏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𝑝𝑟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𝑑𝑓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1400" dirty="0" smtClean="0"/>
              </a:p>
              <a:p>
                <a:pPr marL="901700"/>
                <a:endParaRPr lang="en-US" sz="1600" dirty="0" smtClean="0"/>
              </a:p>
              <a:p>
                <a:pPr marL="985838"/>
                <a:r>
                  <a:rPr lang="en-US" sz="1200" dirty="0">
                    <a:solidFill>
                      <a:schemeClr val="bg2">
                        <a:lumMod val="50000"/>
                      </a:schemeClr>
                    </a:solidFill>
                  </a:rPr>
                  <a:t>here:</a:t>
                </a:r>
                <a:endParaRPr lang="en-GB" sz="12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1071563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𝑙𝑏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lower bound of </a:t>
                </a:r>
                <a:r>
                  <a:rPr lang="en-GB" sz="1200" i="1" dirty="0" err="1">
                    <a:solidFill>
                      <a:schemeClr val="bg2">
                        <a:lumMod val="50000"/>
                      </a:schemeClr>
                    </a:solidFill>
                  </a:rPr>
                  <a:t>h</a:t>
                </a:r>
                <a:r>
                  <a:rPr lang="en-GB" sz="1200" dirty="0" err="1">
                    <a:solidFill>
                      <a:schemeClr val="bg2">
                        <a:lumMod val="50000"/>
                      </a:schemeClr>
                    </a:solidFill>
                  </a:rPr>
                  <a:t>’th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period prediction from period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</a:p>
              <a:p>
                <a:pPr marL="1071563"/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𝑢𝑏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upper bound of </a:t>
                </a:r>
                <a:r>
                  <a:rPr lang="en-GB" sz="1200" i="1" dirty="0" err="1">
                    <a:solidFill>
                      <a:schemeClr val="bg2">
                        <a:lumMod val="50000"/>
                      </a:schemeClr>
                    </a:solidFill>
                  </a:rPr>
                  <a:t>h’</a:t>
                </a:r>
                <a:r>
                  <a:rPr lang="en-GB" sz="1200" dirty="0" err="1">
                    <a:solidFill>
                      <a:schemeClr val="bg2">
                        <a:lumMod val="50000"/>
                      </a:schemeClr>
                    </a:solidFill>
                  </a:rPr>
                  <a:t>th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period prediction from period 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t</a:t>
                </a:r>
              </a:p>
              <a:p>
                <a:pPr marL="1071563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standard  deviation of model prediction 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error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in historical periods.</a:t>
                </a:r>
              </a:p>
              <a:p>
                <a:pPr marL="1071563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𝑝𝑟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𝑑𝑓</m:t>
                        </m:r>
                      </m:sub>
                    </m:sSub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 - critical value of Student t-distribution  for confidence level </a:t>
                </a:r>
                <a:r>
                  <a:rPr lang="en-GB" sz="1200" i="1" dirty="0" err="1">
                    <a:solidFill>
                      <a:schemeClr val="bg2">
                        <a:lumMod val="50000"/>
                      </a:schemeClr>
                    </a:solidFill>
                  </a:rPr>
                  <a:t>pr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and degrees of freedom </a:t>
                </a:r>
                <a:r>
                  <a:rPr lang="en-GB" sz="1200" i="1" dirty="0" err="1">
                    <a:solidFill>
                      <a:schemeClr val="bg2">
                        <a:lumMod val="50000"/>
                      </a:schemeClr>
                    </a:solidFill>
                  </a:rPr>
                  <a:t>df</a:t>
                </a:r>
                <a:r>
                  <a:rPr lang="en-GB" sz="1200" i="1" dirty="0">
                    <a:solidFill>
                      <a:schemeClr val="bg2">
                        <a:lumMod val="50000"/>
                      </a:schemeClr>
                    </a:solidFill>
                  </a:rPr>
                  <a:t>. </a:t>
                </a:r>
                <a:endParaRPr lang="en-GB" sz="1200" i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1612900"/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Degrees </a:t>
                </a:r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of freedom is equal to number of periods included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𝑒</m:t>
                        </m:r>
                      </m:sub>
                    </m:sSub>
                    <m:r>
                      <a:rPr lang="en-US" sz="12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sz="1200" dirty="0">
                    <a:solidFill>
                      <a:schemeClr val="bg2">
                        <a:lumMod val="50000"/>
                      </a:schemeClr>
                    </a:solidFill>
                  </a:rPr>
                  <a:t>calculation -</a:t>
                </a:r>
                <a:r>
                  <a:rPr lang="en-GB" sz="1200" dirty="0" smtClean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00150"/>
                <a:ext cx="8534400" cy="4121962"/>
              </a:xfrm>
              <a:prstGeom prst="rect">
                <a:avLst/>
              </a:prstGeom>
              <a:blipFill rotWithShape="1">
                <a:blip r:embed="rId2"/>
                <a:stretch>
                  <a:fillRect l="-429" t="-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61950"/>
            <a:ext cx="8549640" cy="433917"/>
          </a:xfrm>
        </p:spPr>
        <p:txBody>
          <a:bodyPr/>
          <a:lstStyle/>
          <a:p>
            <a:r>
              <a:rPr lang="en-US" dirty="0" smtClean="0"/>
              <a:t>Tolerance boundary set-up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996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200" y="727911"/>
                <a:ext cx="853440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As a result distance between bounds is conditioned by: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Model precision –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dirty="0" smtClean="0"/>
                  <a:t> leads to wider bounds  </a:t>
                </a:r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# of periods used to assess precision – smaller # leads to wider</a:t>
                </a:r>
                <a:r>
                  <a:rPr lang="en-US" sz="1600" dirty="0"/>
                  <a:t> bounds</a:t>
                </a:r>
                <a:endParaRPr lang="en-US" sz="1600" dirty="0" smtClean="0"/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Confidence level – higher confidence leads to wider</a:t>
                </a:r>
                <a:r>
                  <a:rPr lang="en-US" sz="1600" dirty="0"/>
                  <a:t> </a:t>
                </a:r>
                <a:r>
                  <a:rPr lang="en-US" sz="1600" dirty="0" smtClean="0"/>
                  <a:t>bounds (recommended 99%)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27911"/>
                <a:ext cx="8534400" cy="1354217"/>
              </a:xfrm>
              <a:prstGeom prst="rect">
                <a:avLst/>
              </a:prstGeom>
              <a:blipFill rotWithShape="1">
                <a:blip r:embed="rId2"/>
                <a:stretch>
                  <a:fillRect l="-429" b="-4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94997"/>
            <a:ext cx="8549640" cy="433917"/>
          </a:xfrm>
        </p:spPr>
        <p:txBody>
          <a:bodyPr/>
          <a:lstStyle/>
          <a:p>
            <a:r>
              <a:rPr lang="en-US" dirty="0" smtClean="0"/>
              <a:t>Tolerance boundary set-up</a:t>
            </a:r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2266950"/>
            <a:ext cx="3428999" cy="2236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19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742950"/>
            <a:ext cx="8229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endParaRPr lang="en-US" b="1" dirty="0" smtClean="0">
              <a:solidFill>
                <a:schemeClr val="accent2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Real observed data in new periods compared  to established upper and lower tolerance boundaries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Observed values outside boundaries are considered as exceptions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lvl="1"/>
            <a:endParaRPr lang="en-US" dirty="0" smtClean="0"/>
          </a:p>
          <a:p>
            <a:pPr marL="1071563" lvl="1"/>
            <a:endParaRPr lang="en-US" dirty="0" smtClean="0"/>
          </a:p>
          <a:p>
            <a:pPr marL="0"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New period data validation</a:t>
            </a:r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226" y="2190750"/>
            <a:ext cx="587051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6705600" y="2579566"/>
            <a:ext cx="381000" cy="5367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86600" y="2510129"/>
            <a:ext cx="121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Exception</a:t>
            </a:r>
            <a:endParaRPr lang="en-GB" sz="1000" dirty="0"/>
          </a:p>
        </p:txBody>
      </p:sp>
      <p:sp>
        <p:nvSpPr>
          <p:cNvPr id="42" name="Oval 41"/>
          <p:cNvSpPr/>
          <p:nvPr/>
        </p:nvSpPr>
        <p:spPr>
          <a:xfrm>
            <a:off x="6614848" y="2563990"/>
            <a:ext cx="75672" cy="6925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71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09600" y="742950"/>
                <a:ext cx="8382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b="1" dirty="0" smtClean="0">
                    <a:solidFill>
                      <a:schemeClr val="accent2"/>
                    </a:solidFill>
                  </a:rPr>
                  <a:t>Additional criterion</a:t>
                </a:r>
                <a:endParaRPr lang="en-US" b="1" dirty="0" smtClean="0">
                  <a:solidFill>
                    <a:schemeClr val="accent2"/>
                  </a:solidFill>
                </a:endParaRP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Additional criterion is designed to keep focus on important products only within Trend check.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It is based on Numeric distribution of specific Market*Product combination</a:t>
                </a:r>
                <a:endParaRPr lang="en-US" dirty="0" smtClean="0"/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Market*Product is considered significant if highest numeric distribution between latest back period and new periods is above threshold</a:t>
                </a:r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000" dirty="0" smtClean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US"/>
                      <m:t>f</m:t>
                    </m:r>
                    <m:func>
                      <m:funcPr>
                        <m:ctrlPr>
                          <a:rPr lang="lt-LT" i="1"/>
                        </m:ctrlPr>
                      </m:funcPr>
                      <m:fName>
                        <m:r>
                          <a:rPr lang="en-US" i="1"/>
                          <m:t> </m:t>
                        </m:r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lt-LT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lt-LT" i="1"/>
                                </m:ctrlPr>
                              </m:sSubPr>
                              <m:e>
                                <m:r>
                                  <a:rPr lang="en-US" i="1"/>
                                  <m:t>𝑁𝐷</m:t>
                                </m:r>
                              </m:e>
                              <m:sub>
                                <m:r>
                                  <a:rPr lang="en-US" i="1"/>
                                  <m:t>𝑛</m:t>
                                </m:r>
                              </m:sub>
                            </m:sSub>
                            <m:r>
                              <a:rPr lang="en-US" i="1"/>
                              <m:t>,</m:t>
                            </m:r>
                            <m:sSub>
                              <m:sSubPr>
                                <m:ctrlPr>
                                  <a:rPr lang="lt-LT" i="1"/>
                                </m:ctrlPr>
                              </m:sSubPr>
                              <m:e>
                                <m:r>
                                  <a:rPr lang="en-US" i="1"/>
                                  <m:t>𝑁𝐷</m:t>
                                </m:r>
                              </m:e>
                              <m:sub>
                                <m:r>
                                  <a:rPr lang="en-US" i="1"/>
                                  <m:t>𝑛</m:t>
                                </m:r>
                                <m:r>
                                  <a:rPr lang="en-US" i="1"/>
                                  <m:t>+1</m:t>
                                </m:r>
                              </m:sub>
                            </m:sSub>
                            <m:r>
                              <a:rPr lang="en-US" i="1"/>
                              <m:t>,…,</m:t>
                            </m:r>
                            <m:sSub>
                              <m:sSubPr>
                                <m:ctrlPr>
                                  <a:rPr lang="lt-LT" i="1"/>
                                </m:ctrlPr>
                              </m:sSubPr>
                              <m:e>
                                <m:r>
                                  <a:rPr lang="en-US" i="1"/>
                                  <m:t>𝑁𝐷</m:t>
                                </m:r>
                              </m:e>
                              <m:sub>
                                <m:r>
                                  <a:rPr lang="en-US" i="1"/>
                                  <m:t>𝑛</m:t>
                                </m:r>
                                <m:r>
                                  <a:rPr lang="en-US" i="1"/>
                                  <m:t>+</m:t>
                                </m:r>
                                <m:r>
                                  <a:rPr lang="en-US" i="1"/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/>
                      <m:t>≥</m:t>
                    </m:r>
                    <m:r>
                      <a:rPr lang="en-US" i="1"/>
                      <m:t>𝑁𝐷</m:t>
                    </m:r>
                    <m:r>
                      <a:rPr lang="en-US" i="1"/>
                      <m:t>_</m:t>
                    </m:r>
                    <m:r>
                      <a:rPr lang="en-US" i="1"/>
                      <m:t>𝑡h𝑟𝑒𝑠h𝑜𝑙𝑑</m:t>
                    </m:r>
                    <m:r>
                      <a:rPr lang="en-US" i="1"/>
                      <m:t> </m:t>
                    </m:r>
                    <m:r>
                      <a:rPr lang="en-US"/>
                      <m:t>→</m:t>
                    </m:r>
                    <m:r>
                      <m:rPr>
                        <m:sty m:val="p"/>
                      </m:rPr>
                      <a:rPr lang="en-US"/>
                      <m:t>Significant</m:t>
                    </m:r>
                  </m:oMath>
                </a14:m>
                <a:r>
                  <a:rPr lang="en-US" dirty="0"/>
                  <a:t> </a:t>
                </a:r>
                <a:endParaRPr lang="lt-LT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/>
                        <m:t>else</m:t>
                      </m:r>
                      <m:r>
                        <a:rPr lang="en-US"/>
                        <m:t>→</m:t>
                      </m:r>
                      <m:r>
                        <m:rPr>
                          <m:sty m:val="p"/>
                        </m:rPr>
                        <a:rPr lang="en-US"/>
                        <m:t>Insignificant</m:t>
                      </m:r>
                    </m:oMath>
                  </m:oMathPara>
                </a14:m>
                <a:endParaRPr lang="en-US" dirty="0" smtClean="0"/>
              </a:p>
              <a:p>
                <a:pPr/>
                <a:endParaRPr lang="en-US" sz="1000" dirty="0" smtClean="0"/>
              </a:p>
              <a:p>
                <a:pPr marL="742950" lvl="2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Recommended threshold </a:t>
                </a:r>
                <a:r>
                  <a:rPr lang="en-US" sz="1600" dirty="0" smtClean="0">
                    <a:solidFill>
                      <a:srgbClr val="FF0000"/>
                    </a:solidFill>
                  </a:rPr>
                  <a:t>(preliminary, to be confirmed):</a:t>
                </a:r>
              </a:p>
              <a:p>
                <a:pPr marL="1200150" lvl="3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10% for well established/stable(or client-sensitive) categories</a:t>
                </a:r>
              </a:p>
              <a:p>
                <a:pPr marL="1200150" lvl="3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20% for the rest</a:t>
                </a:r>
                <a:endParaRPr lang="en-US" sz="1600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000" dirty="0" smtClean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Exceptions for insignificant Market*products combinations are disregarded</a:t>
                </a:r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42950"/>
                <a:ext cx="8382000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582" t="-831"/>
                </a:stretch>
              </a:blipFill>
            </p:spPr>
            <p:txBody>
              <a:bodyPr/>
              <a:lstStyle/>
              <a:p>
                <a:r>
                  <a:rPr lang="lt-L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53483"/>
            <a:ext cx="8549640" cy="433917"/>
          </a:xfrm>
        </p:spPr>
        <p:txBody>
          <a:bodyPr/>
          <a:lstStyle/>
          <a:p>
            <a:r>
              <a:rPr lang="en-US" dirty="0" smtClean="0"/>
              <a:t>New period data validation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46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- Example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94765" y="1123950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dirty="0" smtClean="0"/>
              <a:t>Algorithm replicated in Excel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10747"/>
              </p:ext>
            </p:extLst>
          </p:nvPr>
        </p:nvGraphicFramePr>
        <p:xfrm>
          <a:off x="1066800" y="1741159"/>
          <a:ext cx="914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Worksheet" showAsIcon="1" r:id="rId3" imgW="914400" imgH="714240" progId="Excel.Sheet.12">
                  <p:embed/>
                </p:oleObj>
              </mc:Choice>
              <mc:Fallback>
                <p:oleObj name="Worksheet" showAsIcon="1" r:id="rId3" imgW="914400" imgH="7142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800" y="1741159"/>
                        <a:ext cx="914400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08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 smtClean="0">
                <a:solidFill>
                  <a:srgbClr val="000000"/>
                </a:solidFill>
                <a:latin typeface="Arial"/>
                <a:ea typeface="+mj-ea"/>
                <a:cs typeface="+mj-cs"/>
              </a:rPr>
              <a:t>Testing results</a:t>
            </a:r>
            <a:endParaRPr lang="lt-LT" sz="2400" dirty="0">
              <a:solidFill>
                <a:schemeClr val="dk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23950"/>
            <a:ext cx="8499898" cy="3770263"/>
          </a:xfrm>
          <a:prstGeom prst="rect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Ins="0" rtlCol="0">
            <a:spAutoFit/>
          </a:bodyPr>
          <a:lstStyle/>
          <a:p>
            <a:r>
              <a:rPr lang="en-US" dirty="0" smtClean="0"/>
              <a:t>Model accuracy based on data of 13 categories:</a:t>
            </a:r>
          </a:p>
          <a:p>
            <a:endParaRPr lang="en-US" dirty="0" smtClean="0"/>
          </a:p>
          <a:p>
            <a:r>
              <a:rPr lang="en-US" dirty="0" smtClean="0"/>
              <a:t>Details:				</a:t>
            </a:r>
            <a:r>
              <a:rPr lang="en-US" dirty="0"/>
              <a:t> </a:t>
            </a:r>
            <a:r>
              <a:rPr lang="en-US" dirty="0" smtClean="0"/>
              <a:t>     	     </a:t>
            </a:r>
            <a:r>
              <a:rPr lang="en-US" dirty="0" smtClean="0"/>
              <a:t>					Summary:</a:t>
            </a:r>
            <a:endParaRPr lang="en-US" dirty="0" smtClean="0"/>
          </a:p>
          <a:p>
            <a:endParaRPr lang="en-US" sz="700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85725"/>
            <a:r>
              <a:rPr lang="en-US" sz="1600" dirty="0" smtClean="0">
                <a:solidFill>
                  <a:srgbClr val="000000"/>
                </a:solidFill>
              </a:rPr>
              <a:t>Products with Numeric distribution above 10% have much better accuracy than small ones </a:t>
            </a:r>
            <a:endParaRPr lang="lt-LT" sz="11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54754"/>
              </p:ext>
            </p:extLst>
          </p:nvPr>
        </p:nvGraphicFramePr>
        <p:xfrm>
          <a:off x="5429009" y="2041328"/>
          <a:ext cx="3181442" cy="15240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162898"/>
                <a:gridCol w="672848"/>
                <a:gridCol w="672848"/>
                <a:gridCol w="672848"/>
              </a:tblGrid>
              <a:tr h="190500">
                <a:tc>
                  <a:txBody>
                    <a:bodyPr/>
                    <a:lstStyle/>
                    <a:p>
                      <a:pPr algn="l" fontAlgn="t"/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1080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u="none" strike="noStrike" dirty="0" smtClean="0">
                          <a:effectLst/>
                        </a:rPr>
                        <a:t>s</a:t>
                      </a:r>
                      <a:r>
                        <a:rPr lang="lt-LT" sz="1000" b="1" u="none" strike="noStrike" dirty="0" smtClean="0">
                          <a:effectLst/>
                        </a:rPr>
                        <a:t>MAPE</a:t>
                      </a:r>
                      <a:r>
                        <a:rPr lang="en-US" sz="1000" b="1" u="none" strike="noStrike" dirty="0" smtClean="0">
                          <a:effectLst/>
                        </a:rPr>
                        <a:t>*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10800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lt-L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lt-L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u="none" strike="noStrike" dirty="0" smtClean="0">
                          <a:effectLst/>
                        </a:rPr>
                        <a:t>  </a:t>
                      </a:r>
                      <a:r>
                        <a:rPr lang="lt-LT" sz="1000" b="1" u="none" strike="noStrike" dirty="0" err="1" smtClean="0">
                          <a:effectLst/>
                        </a:rPr>
                        <a:t>Product</a:t>
                      </a:r>
                      <a:r>
                        <a:rPr lang="lt-LT" sz="1000" b="1" u="none" strike="noStrike" dirty="0" smtClean="0">
                          <a:effectLst/>
                        </a:rPr>
                        <a:t> </a:t>
                      </a:r>
                      <a:r>
                        <a:rPr lang="lt-LT" sz="1000" b="1" u="none" strike="noStrike" dirty="0" err="1">
                          <a:effectLst/>
                        </a:rPr>
                        <a:t>level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1080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1" u="none" strike="noStrike" dirty="0" smtClean="0">
                          <a:effectLst/>
                        </a:rPr>
                        <a:t>ND &gt; 10%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10800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dirty="0" smtClean="0">
                          <a:effectLst/>
                        </a:rPr>
                        <a:t>ND &lt; 10%</a:t>
                      </a:r>
                      <a:endParaRPr lang="lt-LT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1080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108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  <a:endParaRPr lang="lt-L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Manufacturer</a:t>
                      </a:r>
                      <a:endParaRPr lang="lt-L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18%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Brand</a:t>
                      </a:r>
                      <a:endParaRPr lang="lt-L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33%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Sub-Brand</a:t>
                      </a:r>
                      <a:endParaRPr lang="lt-L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38%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Item</a:t>
                      </a:r>
                      <a:endParaRPr lang="lt-L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17%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42%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lt-LT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10800" anchor="b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37%</a:t>
                      </a: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lt-L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2" y="2041328"/>
            <a:ext cx="4648126" cy="23148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29009" y="3790444"/>
            <a:ext cx="33200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Median of symmetric MAPE for products</a:t>
            </a:r>
          </a:p>
          <a:p>
            <a:pPr marL="361950" indent="-276225">
              <a:buFont typeface="Arial" panose="020B0604020202020204" pitchFamily="34" charset="0"/>
              <a:buChar char="•"/>
            </a:pPr>
            <a:r>
              <a:rPr lang="en-US" sz="1000" dirty="0"/>
              <a:t>grouped by Product hierarchy</a:t>
            </a:r>
          </a:p>
          <a:p>
            <a:pPr marL="361950" indent="-276225">
              <a:buFont typeface="Arial" panose="020B0604020202020204" pitchFamily="34" charset="0"/>
              <a:buChar char="•"/>
            </a:pPr>
            <a:r>
              <a:rPr lang="en-US" sz="1000" dirty="0"/>
              <a:t>grouped by Numeric distribution level</a:t>
            </a:r>
          </a:p>
        </p:txBody>
      </p:sp>
    </p:spTree>
    <p:extLst>
      <p:ext uri="{BB962C8B-B14F-4D97-AF65-F5344CB8AC3E}">
        <p14:creationId xmlns:p14="http://schemas.microsoft.com/office/powerpoint/2010/main" val="31528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ielsen Standard Texture 1">
  <a:themeElements>
    <a:clrScheme name="Nielsen 05222017">
      <a:dk1>
        <a:srgbClr val="000000"/>
      </a:dk1>
      <a:lt1>
        <a:srgbClr val="FFFFFF"/>
      </a:lt1>
      <a:dk2>
        <a:srgbClr val="000000"/>
      </a:dk2>
      <a:lt2>
        <a:srgbClr val="707276"/>
      </a:lt2>
      <a:accent1>
        <a:srgbClr val="00AEEF"/>
      </a:accent1>
      <a:accent2>
        <a:srgbClr val="B21DAC"/>
      </a:accent2>
      <a:accent3>
        <a:srgbClr val="8DC63F"/>
      </a:accent3>
      <a:accent4>
        <a:srgbClr val="FFB100"/>
      </a:accent4>
      <a:accent5>
        <a:srgbClr val="DC0015"/>
      </a:accent5>
      <a:accent6>
        <a:srgbClr val="8B95A6"/>
      </a:accent6>
      <a:hlink>
        <a:srgbClr val="B21DAC"/>
      </a:hlink>
      <a:folHlink>
        <a:srgbClr val="DC0015"/>
      </a:folHlink>
    </a:clrScheme>
    <a:fontScheme name="Office Classic 2">
      <a:majorFont>
        <a:latin typeface="Arial"/>
        <a:ea typeface=""/>
        <a:cs typeface=""/>
        <a:font script="Jpan" typeface="?? ?????"/>
        <a:font script="Hang" typeface="??"/>
        <a:font script="Hans" typeface="??"/>
        <a:font script="Hant" typeface="?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?? ?????"/>
        <a:font script="Hang" typeface="??"/>
        <a:font script="Hans" typeface="??"/>
        <a:font script="Hant" typeface="?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Deep Blue">
      <a:srgbClr val="00409E"/>
    </a:custClr>
    <a:custClr name="Dark Blue">
      <a:srgbClr val="0073C2"/>
    </a:custClr>
    <a:custClr name="Blue">
      <a:srgbClr val="00AEEF"/>
    </a:custClr>
    <a:custClr name="Light Blue">
      <a:srgbClr val="6BD6F7"/>
    </a:custClr>
    <a:custClr name="Pale Blue">
      <a:srgbClr val="BAEAF9"/>
    </a:custClr>
    <a:custClr name="Deep Violet">
      <a:srgbClr val="5C0A69"/>
    </a:custClr>
    <a:custClr name="Dark Violet">
      <a:srgbClr val="820C8E"/>
    </a:custClr>
    <a:custClr name="Violet">
      <a:srgbClr val="B21DAC"/>
    </a:custClr>
    <a:custClr name="Light Violet">
      <a:srgbClr val="E06EE5"/>
    </a:custClr>
    <a:custClr name="Pale Violet">
      <a:srgbClr val="F7BFF2"/>
    </a:custClr>
    <a:custClr name="Deep Green">
      <a:srgbClr val="21572B"/>
    </a:custClr>
    <a:custClr name="Dark Green">
      <a:srgbClr val="218535"/>
    </a:custClr>
    <a:custClr name="Green">
      <a:srgbClr val="8DC63F"/>
    </a:custClr>
    <a:custClr name="Light Green">
      <a:srgbClr val="C4DF9B"/>
    </a:custClr>
    <a:custClr name="Pale Green">
      <a:srgbClr val="E0EECB"/>
    </a:custClr>
    <a:custClr name="Deep Orange">
      <a:srgbClr val="ED721E"/>
    </a:custClr>
    <a:custClr name="Dark Orange">
      <a:srgbClr val="FF9305"/>
    </a:custClr>
    <a:custClr name="Orange">
      <a:srgbClr val="FFB100"/>
    </a:custClr>
    <a:custClr name="Light Orange">
      <a:srgbClr val="FFD147"/>
    </a:custClr>
    <a:custClr name="Pale Orange">
      <a:srgbClr val="FFE5AD"/>
    </a:custClr>
    <a:custClr name="Deep Red">
      <a:srgbClr val="761114"/>
    </a:custClr>
    <a:custClr name="Dark Red">
      <a:srgbClr val="A30000"/>
    </a:custClr>
    <a:custClr name="Red">
      <a:srgbClr val="DC0015"/>
    </a:custClr>
    <a:custClr name="Light Red">
      <a:srgbClr val="FA4F4F"/>
    </a:custClr>
    <a:custClr name="Pale Red">
      <a:srgbClr val="FFC9CC"/>
    </a:custClr>
    <a:custClr name="Deep Grey">
      <a:srgbClr val="000000"/>
    </a:custClr>
    <a:custClr name="Dark Grey">
      <a:srgbClr val="3E484E"/>
    </a:custClr>
    <a:custClr name="Grey">
      <a:srgbClr val="8B959B"/>
    </a:custClr>
    <a:custClr name="Light Grey">
      <a:srgbClr val="E4E8EB"/>
    </a:custClr>
    <a:custClr name="Pale Grey">
      <a:srgbClr val="F8F9FA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TopicTitle1 xmlns="2e8c896f-fd84-491a-bb16-fb60357350f9">Presentations</TopicTitle1>
    <Details xmlns="2e8c896f-fd84-491a-bb16-fb60357350f9" xsi:nil="true"/>
    <PublishingRollupImage xmlns="http://schemas.microsoft.com/sharepoint/v3">&lt;img alt="" src="/company/marketing/MktgImages/PowerPoint%20Template%202003.jpg" style="BORDER: 0px solid; "&gt;</PublishingRollupImage>
    <Country xmlns="2e8c896f-fd84-491a-bb16-fb60357350f9">*Global</Country>
    <FreshnessDate xmlns="2e8c896f-fd84-491a-bb16-fb60357350f9">2016-01-11T05:00:00+00:00</FreshnessDate>
    <Region xmlns="2e8c896f-fd84-491a-bb16-fb60357350f9">*Global</Region>
    <PrimaryContact xmlns="2e8c896f-fd84-491a-bb16-fb60357350f9">
      <UserInfo>
        <DisplayName>Sepulveda, Dolores</DisplayName>
        <AccountId>48356</AccountId>
        <AccountType/>
      </UserInfo>
    </PrimaryContact>
    <IconOverlay xmlns="http://schemas.microsoft.com/sharepoint/v4" xsi:nil="true"/>
    <Area_x0020_of_x0020_Focus xmlns="019b310f-9766-4173-a406-d30f26a03c52" xsi:nil="true"/>
    <Yes-No xmlns="019b310f-9766-4173-a406-d30f26a03c52">false</Yes-No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38880B7CE533409105C259AF09F19A" ma:contentTypeVersion="15" ma:contentTypeDescription="Create a new document." ma:contentTypeScope="" ma:versionID="32de0c4947d3b84e7c61d679e0e62cf9">
  <xsd:schema xmlns:xsd="http://www.w3.org/2001/XMLSchema" xmlns:xs="http://www.w3.org/2001/XMLSchema" xmlns:p="http://schemas.microsoft.com/office/2006/metadata/properties" xmlns:ns1="http://schemas.microsoft.com/sharepoint/v3" xmlns:ns2="2e8c896f-fd84-491a-bb16-fb60357350f9" xmlns:ns3="http://schemas.microsoft.com/sharepoint/v4" xmlns:ns4="019b310f-9766-4173-a406-d30f26a03c52" targetNamespace="http://schemas.microsoft.com/office/2006/metadata/properties" ma:root="true" ma:fieldsID="7b93cd1787ab4e06b21d3f122f9c7d1b" ns1:_="" ns2:_="" ns3:_="" ns4:_="">
    <xsd:import namespace="http://schemas.microsoft.com/sharepoint/v3"/>
    <xsd:import namespace="2e8c896f-fd84-491a-bb16-fb60357350f9"/>
    <xsd:import namespace="http://schemas.microsoft.com/sharepoint/v4"/>
    <xsd:import namespace="019b310f-9766-4173-a406-d30f26a03c52"/>
    <xsd:element name="properties">
      <xsd:complexType>
        <xsd:sequence>
          <xsd:element name="documentManagement">
            <xsd:complexType>
              <xsd:all>
                <xsd:element ref="ns2:Details" minOccurs="0"/>
                <xsd:element ref="ns2:FreshnessDate" minOccurs="0"/>
                <xsd:element ref="ns2:PrimaryContact"/>
                <xsd:element ref="ns2:Region" minOccurs="0"/>
                <xsd:element ref="ns2:Country" minOccurs="0"/>
                <xsd:element ref="ns1:PublishingRollupImage" minOccurs="0"/>
                <xsd:element ref="ns2:TopicTitle1" minOccurs="0"/>
                <xsd:element ref="ns3:IconOverlay" minOccurs="0"/>
                <xsd:element ref="ns4:Area_x0020_of_x0020_Focus" minOccurs="0"/>
                <xsd:element ref="ns4:Yes-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RollupImage" ma:index="13" nillable="true" ma:displayName="Rollup Image" ma:internalName="PublishingRollupImag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c896f-fd84-491a-bb16-fb60357350f9" elementFormDefault="qualified">
    <xsd:import namespace="http://schemas.microsoft.com/office/2006/documentManagement/types"/>
    <xsd:import namespace="http://schemas.microsoft.com/office/infopath/2007/PartnerControls"/>
    <xsd:element name="Details" ma:index="2" nillable="true" ma:displayName="Details" ma:default="" ma:description="Description of the document if needed." ma:internalName="Details">
      <xsd:simpleType>
        <xsd:restriction base="dms:Note">
          <xsd:maxLength value="255"/>
        </xsd:restriction>
      </xsd:simpleType>
    </xsd:element>
    <xsd:element name="FreshnessDate" ma:index="3" nillable="true" ma:displayName="Freshness Date" ma:default="[today]" ma:description="Date originally created or the last date the document was reviewed and considered current." ma:format="DateOnly" ma:internalName="FreshnessDate">
      <xsd:simpleType>
        <xsd:restriction base="dms:DateTime"/>
      </xsd:simpleType>
    </xsd:element>
    <xsd:element name="PrimaryContact" ma:index="4" ma:displayName="Primary Contact" ma:description="Primary contact for this document.  This is not necessarily the author but the person to which users can contact with questions." ma:list="UserInfo" ma:SearchPeopleOnly="false" ma:SharePointGroup="0" ma:internalName="PrimaryContact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gion" ma:index="5" nillable="true" ma:displayName="Region" ma:default="*Global" ma:description="Nielsen company region." ma:format="RadioButtons" ma:internalName="Region">
      <xsd:simpleType>
        <xsd:restriction base="dms:Choice">
          <xsd:enumeration value="*Global"/>
          <xsd:enumeration value="AME"/>
          <xsd:enumeration value="Americas"/>
          <xsd:enumeration value="APMEA"/>
          <xsd:enumeration value="Europe"/>
          <xsd:enumeration value="Greater China"/>
          <xsd:enumeration value="India"/>
          <xsd:enumeration value="Latin America"/>
          <xsd:enumeration value="North America"/>
          <xsd:enumeration value="SEANAP"/>
        </xsd:restriction>
      </xsd:simpleType>
    </xsd:element>
    <xsd:element name="Country" ma:index="12" nillable="true" ma:displayName="Country" ma:default="*Global" ma:format="Dropdown" ma:internalName="Country">
      <xsd:simpleType>
        <xsd:restriction base="dms:Choice">
          <xsd:enumeration value="*Global"/>
          <xsd:enumeration value="Albania"/>
          <xsd:enumeration value="Algeria"/>
          <xsd:enumeration value="Argentina"/>
          <xsd:enumeration value="Armenia"/>
          <xsd:enumeration value="Australia"/>
          <xsd:enumeration value="Austria"/>
          <xsd:enumeration value="Azerbaijan"/>
          <xsd:enumeration value="Bahrain"/>
          <xsd:enumeration value="Balkans"/>
          <xsd:enumeration value="Baltic States"/>
          <xsd:enumeration value="Bangladesh"/>
          <xsd:enumeration value="Belarus"/>
          <xsd:enumeration value="Belgium"/>
          <xsd:enumeration value="Bolivia"/>
          <xsd:enumeration value="Bosnia"/>
          <xsd:enumeration value="Brazil"/>
          <xsd:enumeration value="Bulgaria"/>
          <xsd:enumeration value="Cameroon"/>
          <xsd:enumeration value="Canada"/>
          <xsd:enumeration value="Chile"/>
          <xsd:enumeration value="China"/>
          <xsd:enumeration value="Colombia"/>
          <xsd:enumeration value="Costa Rica"/>
          <xsd:enumeration value="Croatia"/>
          <xsd:enumeration value="Cyprus"/>
          <xsd:enumeration value="Czech Republic"/>
          <xsd:enumeration value="Denmark"/>
          <xsd:enumeration value="Dominican Republic"/>
          <xsd:enumeration value="Ecuador"/>
          <xsd:enumeration value="Egypt"/>
          <xsd:enumeration value="El Salvador"/>
          <xsd:enumeration value="Estonia"/>
          <xsd:enumeration value="Ethiopia"/>
          <xsd:enumeration value="Finland"/>
          <xsd:enumeration value="France"/>
          <xsd:enumeration value="Georgia"/>
          <xsd:enumeration value="Germany"/>
          <xsd:enumeration value="Ghana"/>
          <xsd:enumeration value="Greece"/>
          <xsd:enumeration value="Guatemala"/>
          <xsd:enumeration value="Honduras"/>
          <xsd:enumeration value="Hong Kong"/>
          <xsd:enumeration value="Hungary"/>
          <xsd:enumeration value="India"/>
          <xsd:enumeration value="Indonesia"/>
          <xsd:enumeration value="Ireland"/>
          <xsd:enumeration value="Israel"/>
          <xsd:enumeration value="Italy"/>
          <xsd:enumeration value="Ivory Coast"/>
          <xsd:enumeration value="Japan"/>
          <xsd:enumeration value="Jordan"/>
          <xsd:enumeration value="Kazakhstan"/>
          <xsd:enumeration value="Kenya"/>
          <xsd:enumeration value="Kuwait"/>
          <xsd:enumeration value="Kyrgystan"/>
          <xsd:enumeration value="Latvia"/>
          <xsd:enumeration value="Lebanon"/>
          <xsd:enumeration value="Libya"/>
          <xsd:enumeration value="Lithuania"/>
          <xsd:enumeration value="Macedonia"/>
          <xsd:enumeration value="Malaysia"/>
          <xsd:enumeration value="Mexico"/>
          <xsd:enumeration value="Moldova"/>
          <xsd:enumeration value="Mongolia"/>
          <xsd:enumeration value="Montenegro"/>
          <xsd:enumeration value="Morocco"/>
          <xsd:enumeration value="Multiple Countries"/>
          <xsd:enumeration value="N/A"/>
          <xsd:enumeration value="Namibia"/>
          <xsd:enumeration value="Nepal"/>
          <xsd:enumeration value="Netherlands, The"/>
          <xsd:enumeration value="New Zealand"/>
          <xsd:enumeration value="Nicaragua"/>
          <xsd:enumeration value="Nigeria"/>
          <xsd:enumeration value="Norway"/>
          <xsd:enumeration value="Oman"/>
          <xsd:enumeration value="Pakistan"/>
          <xsd:enumeration value="Panama"/>
          <xsd:enumeration value="Paraguay"/>
          <xsd:enumeration value="Peru"/>
          <xsd:enumeration value="Philippines"/>
          <xsd:enumeration value="Poland"/>
          <xsd:enumeration value="Portugal"/>
          <xsd:enumeration value="Puerto Rico"/>
          <xsd:enumeration value="Qatar"/>
          <xsd:enumeration value="Romania"/>
          <xsd:enumeration value="Russia"/>
          <xsd:enumeration value="Saudi Arabia"/>
          <xsd:enumeration value="Serbia"/>
          <xsd:enumeration value="Singapore"/>
          <xsd:enumeration value="Slovakia"/>
          <xsd:enumeration value="Slovenia"/>
          <xsd:enumeration value="South Africa"/>
          <xsd:enumeration value="South Korea"/>
          <xsd:enumeration value="Spain"/>
          <xsd:enumeration value="Sri Lanka"/>
          <xsd:enumeration value="Sweden"/>
          <xsd:enumeration value="Switzerland"/>
          <xsd:enumeration value="Syria"/>
          <xsd:enumeration value="Taiwan"/>
          <xsd:enumeration value="Tajikistan"/>
          <xsd:enumeration value="Tanzania"/>
          <xsd:enumeration value="Thailand"/>
          <xsd:enumeration value="Tunisia"/>
          <xsd:enumeration value="Turkemenistan"/>
          <xsd:enumeration value="Turkey"/>
          <xsd:enumeration value="Uganda"/>
          <xsd:enumeration value="Ukraine"/>
          <xsd:enumeration value="United Arab Emirates"/>
          <xsd:enumeration value="United Kingdom"/>
          <xsd:enumeration value="United States"/>
          <xsd:enumeration value="Uruguay"/>
          <xsd:enumeration value="Uzbekistan"/>
          <xsd:enumeration value="Venezuela"/>
          <xsd:enumeration value="Vietnam"/>
          <xsd:enumeration value="Yemen"/>
        </xsd:restriction>
      </xsd:simpleType>
    </xsd:element>
    <xsd:element name="TopicTitle1" ma:index="14" nillable="true" ma:displayName="Topic" ma:default="Presentations" ma:description="Please select the relevant topic for this document." ma:format="RadioButtons" ma:internalName="TopicTitle1">
      <xsd:simpleType>
        <xsd:restriction base="dms:Choice">
          <xsd:enumeration value="Client-Related"/>
          <xsd:enumeration value="External Events"/>
          <xsd:enumeration value="HTML Email Instructions"/>
          <xsd:enumeration value="Internal Meeting Templates"/>
          <xsd:enumeration value="Guidelines"/>
          <xsd:enumeration value="Policies"/>
          <xsd:enumeration value="Presentations"/>
          <xsd:enumeration value="Business Cards"/>
          <xsd:enumeration value="Desktop"/>
          <xsd:enumeration value="Email Signature"/>
          <xsd:enumeration value="Stationery"/>
          <xsd:enumeration value="RFP Toolkit"/>
          <xsd:enumeration value="Presentations-Visual Checklist"/>
          <xsd:enumeration value="Social Media Templat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5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b310f-9766-4173-a406-d30f26a03c52" elementFormDefault="qualified">
    <xsd:import namespace="http://schemas.microsoft.com/office/2006/documentManagement/types"/>
    <xsd:import namespace="http://schemas.microsoft.com/office/infopath/2007/PartnerControls"/>
    <xsd:element name="Area_x0020_of_x0020_Focus" ma:index="16" nillable="true" ma:displayName="Desktop Color" ma:description="ONLY if this is a Desktop item, please indicate the background color." ma:format="RadioButtons" ma:internalName="Area_x0020_of_x0020_Focus">
      <xsd:simpleType>
        <xsd:restriction base="dms:Choice">
          <xsd:enumeration value="Black"/>
          <xsd:enumeration value="White"/>
        </xsd:restriction>
      </xsd:simpleType>
    </xsd:element>
    <xsd:element name="Yes-No" ma:index="17" nillable="true" ma:displayName="Yes-No" ma:default="0" ma:description="Intranet team use only - please do not use." ma:internalName="Yes_x002d_No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456CD2-2493-42F9-96A3-B8DA05D55F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369753-D426-4CE7-8FEC-28190D63E9A2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019b310f-9766-4173-a406-d30f26a03c52"/>
    <ds:schemaRef ds:uri="http://schemas.openxmlformats.org/package/2006/metadata/core-properties"/>
    <ds:schemaRef ds:uri="http://schemas.microsoft.com/office/2006/documentManagement/types"/>
    <ds:schemaRef ds:uri="2e8c896f-fd84-491a-bb16-fb60357350f9"/>
    <ds:schemaRef ds:uri="http://www.w3.org/XML/1998/namespace"/>
    <ds:schemaRef ds:uri="http://purl.org/dc/terms/"/>
    <ds:schemaRef ds:uri="http://schemas.microsoft.com/sharepoint/v4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C5EB55-014D-4F95-BCC2-7228610869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e8c896f-fd84-491a-bb16-fb60357350f9"/>
    <ds:schemaRef ds:uri="http://schemas.microsoft.com/sharepoint/v4"/>
    <ds:schemaRef ds:uri="019b310f-9766-4173-a406-d30f26a03c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2007-2010 Widescreen Template.potx</Template>
  <TotalTime>14275</TotalTime>
  <Words>1054</Words>
  <Application>Microsoft Office PowerPoint</Application>
  <PresentationFormat>On-screen Show (16:9)</PresentationFormat>
  <Paragraphs>321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ＭＳ Ｐゴシック</vt:lpstr>
      <vt:lpstr>Archivo Narrow</vt:lpstr>
      <vt:lpstr>Arial</vt:lpstr>
      <vt:lpstr>Calibri</vt:lpstr>
      <vt:lpstr>Cambria Math</vt:lpstr>
      <vt:lpstr>Open Sans</vt:lpstr>
      <vt:lpstr>Nielsen Standard Texture 1</vt:lpstr>
      <vt:lpstr>Worksheet</vt:lpstr>
      <vt:lpstr>Trend check in VADE</vt:lpstr>
      <vt:lpstr>What is a trend check</vt:lpstr>
      <vt:lpstr>Trend check approach</vt:lpstr>
      <vt:lpstr>Time series model</vt:lpstr>
      <vt:lpstr>Data/Inputs</vt:lpstr>
      <vt:lpstr>concept</vt:lpstr>
      <vt:lpstr>Concept</vt:lpstr>
      <vt:lpstr>Modeling Process</vt:lpstr>
      <vt:lpstr>Regression part</vt:lpstr>
      <vt:lpstr>excluding regression effect </vt:lpstr>
      <vt:lpstr>Exponential smoothing</vt:lpstr>
      <vt:lpstr>Exponential smoothing</vt:lpstr>
      <vt:lpstr>Exponential smoothing - initialization</vt:lpstr>
      <vt:lpstr>Exponential smoothing - initialization</vt:lpstr>
      <vt:lpstr>Exponential smoothing - initialization</vt:lpstr>
      <vt:lpstr>Exponential smoothing - initialization</vt:lpstr>
      <vt:lpstr>Exponential smoothing - recalculation</vt:lpstr>
      <vt:lpstr>Back period prediction</vt:lpstr>
      <vt:lpstr>Model precision assessment</vt:lpstr>
      <vt:lpstr>Tolerance bound construction and new data validation</vt:lpstr>
      <vt:lpstr>Data validation Process</vt:lpstr>
      <vt:lpstr>New period prediction</vt:lpstr>
      <vt:lpstr>Tolerance boundary set-up</vt:lpstr>
      <vt:lpstr>Tolerance boundary set-up</vt:lpstr>
      <vt:lpstr>New period data validation</vt:lpstr>
      <vt:lpstr>New period data validation</vt:lpstr>
      <vt:lpstr>Excel - Example</vt:lpstr>
      <vt:lpstr>Testing results</vt:lpstr>
    </vt:vector>
  </TitlesOfParts>
  <Company>Nielsen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2007-2010 Widescreen Template</dc:title>
  <dc:creator>Sepulveda, Dolores</dc:creator>
  <cp:lastModifiedBy>Zabulionis, Marius</cp:lastModifiedBy>
  <cp:revision>476</cp:revision>
  <cp:lastPrinted>2019-04-19T12:49:18Z</cp:lastPrinted>
  <dcterms:created xsi:type="dcterms:W3CDTF">2015-04-02T15:42:28Z</dcterms:created>
  <dcterms:modified xsi:type="dcterms:W3CDTF">2019-07-16T06:37:50Z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0x0101000538880B7CE533409105C259AF09F19A</vt:lpwstr>
  </property>
  <property fmtid="{D5CDD505-2E9C-101B-9397-08002B2CF9AE}" pid="3" name="URL">
    <vt:lpwstr/>
  </property>
  <property fmtid="{D5CDD505-2E9C-101B-9397-08002B2CF9AE}" pid="4" name="xd_Signature">
    <vt:bool>true</vt:bool>
  </property>
  <property fmtid="{D5CDD505-2E9C-101B-9397-08002B2CF9AE}" pid="5" name="xd_ProgID">
    <vt:lpwstr/>
  </property>
  <property fmtid="{D5CDD505-2E9C-101B-9397-08002B2CF9AE}" pid="6" name="TemplateUrl">
    <vt:lpwstr/>
  </property>
</Properties>
</file>